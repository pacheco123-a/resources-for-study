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592" r:id="rId3"/>
    <p:sldId id="593" r:id="rId5"/>
    <p:sldId id="594" r:id="rId6"/>
    <p:sldId id="595" r:id="rId7"/>
    <p:sldId id="596" r:id="rId8"/>
    <p:sldId id="597" r:id="rId9"/>
    <p:sldId id="598" r:id="rId10"/>
    <p:sldId id="599" r:id="rId11"/>
    <p:sldId id="600" r:id="rId12"/>
    <p:sldId id="601" r:id="rId13"/>
    <p:sldId id="602" r:id="rId14"/>
    <p:sldId id="603" r:id="rId15"/>
    <p:sldId id="604" r:id="rId16"/>
    <p:sldId id="605" r:id="rId17"/>
    <p:sldId id="606" r:id="rId18"/>
    <p:sldId id="607" r:id="rId19"/>
    <p:sldId id="652" r:id="rId20"/>
    <p:sldId id="609" r:id="rId21"/>
    <p:sldId id="610" r:id="rId22"/>
    <p:sldId id="611" r:id="rId23"/>
    <p:sldId id="612" r:id="rId24"/>
    <p:sldId id="613" r:id="rId25"/>
    <p:sldId id="614" r:id="rId26"/>
    <p:sldId id="615" r:id="rId27"/>
    <p:sldId id="616" r:id="rId28"/>
    <p:sldId id="617" r:id="rId29"/>
    <p:sldId id="618" r:id="rId30"/>
    <p:sldId id="619" r:id="rId31"/>
    <p:sldId id="620" r:id="rId32"/>
    <p:sldId id="621" r:id="rId33"/>
    <p:sldId id="622" r:id="rId34"/>
    <p:sldId id="623" r:id="rId35"/>
    <p:sldId id="624" r:id="rId36"/>
    <p:sldId id="625" r:id="rId37"/>
    <p:sldId id="626" r:id="rId38"/>
    <p:sldId id="627" r:id="rId39"/>
    <p:sldId id="628" r:id="rId40"/>
    <p:sldId id="629" r:id="rId41"/>
    <p:sldId id="630" r:id="rId42"/>
    <p:sldId id="631" r:id="rId43"/>
    <p:sldId id="632" r:id="rId44"/>
    <p:sldId id="633" r:id="rId45"/>
    <p:sldId id="634" r:id="rId46"/>
    <p:sldId id="635" r:id="rId47"/>
    <p:sldId id="636" r:id="rId48"/>
    <p:sldId id="637" r:id="rId49"/>
    <p:sldId id="638" r:id="rId50"/>
    <p:sldId id="639" r:id="rId51"/>
    <p:sldId id="640" r:id="rId52"/>
    <p:sldId id="653" r:id="rId53"/>
    <p:sldId id="655" r:id="rId54"/>
    <p:sldId id="656" r:id="rId55"/>
    <p:sldId id="658" r:id="rId56"/>
    <p:sldId id="659" r:id="rId57"/>
    <p:sldId id="660" r:id="rId58"/>
    <p:sldId id="661" r:id="rId59"/>
    <p:sldId id="662" r:id="rId60"/>
    <p:sldId id="663" r:id="rId61"/>
    <p:sldId id="664" r:id="rId62"/>
    <p:sldId id="665" r:id="rId63"/>
    <p:sldId id="666" r:id="rId64"/>
    <p:sldId id="667" r:id="rId65"/>
    <p:sldId id="668" r:id="rId66"/>
    <p:sldId id="669" r:id="rId67"/>
    <p:sldId id="670" r:id="rId68"/>
    <p:sldId id="671" r:id="rId69"/>
    <p:sldId id="672" r:id="rId70"/>
    <p:sldId id="673" r:id="rId71"/>
    <p:sldId id="674" r:id="rId72"/>
    <p:sldId id="675" r:id="rId73"/>
    <p:sldId id="676" r:id="rId74"/>
    <p:sldId id="677" r:id="rId75"/>
    <p:sldId id="678" r:id="rId76"/>
    <p:sldId id="679" r:id="rId77"/>
    <p:sldId id="680" r:id="rId78"/>
    <p:sldId id="681" r:id="rId79"/>
    <p:sldId id="682" r:id="rId80"/>
    <p:sldId id="683" r:id="rId81"/>
    <p:sldId id="684" r:id="rId82"/>
    <p:sldId id="685" r:id="rId83"/>
    <p:sldId id="654" r:id="rId84"/>
    <p:sldId id="463" r:id="rId85"/>
    <p:sldId id="464" r:id="rId86"/>
    <p:sldId id="411" r:id="rId87"/>
    <p:sldId id="414" r:id="rId88"/>
    <p:sldId id="415" r:id="rId89"/>
    <p:sldId id="416" r:id="rId90"/>
    <p:sldId id="421" r:id="rId91"/>
    <p:sldId id="465" r:id="rId92"/>
    <p:sldId id="486" r:id="rId93"/>
    <p:sldId id="489" r:id="rId9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0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1344" y="72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F6018-F71A-4782-ACC4-250A9DECD41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006B0-0F25-4E50-80B2-CA44D953435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27D20F-81E4-4805-B1FE-90F8B7E50060}" type="slidenum">
              <a:rPr lang="en-US" altLang="zh-CN" b="0"/>
            </a:fld>
            <a:endParaRPr lang="en-US" altLang="zh-CN" b="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E280A3-457A-4517-86F3-800F38C1C328}" type="slidenum">
              <a:rPr lang="en-US" altLang="zh-CN" b="0"/>
            </a:fld>
            <a:endParaRPr lang="en-US" altLang="zh-CN" b="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5186E6-76E8-4F19-8904-B86C88AABACA}" type="slidenum">
              <a:rPr lang="en-US" altLang="zh-CN" b="0"/>
            </a:fld>
            <a:endParaRPr lang="en-US" altLang="zh-CN" b="0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054045-C719-4E79-81D9-ABA6B224ABF4}" type="slidenum">
              <a:rPr lang="en-US" altLang="zh-CN" b="0"/>
            </a:fld>
            <a:endParaRPr lang="en-US" altLang="zh-CN" b="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28CC93-8697-411C-86EA-34FE4E4C4302}" type="slidenum">
              <a:rPr lang="en-US" altLang="zh-CN" b="0"/>
            </a:fld>
            <a:endParaRPr lang="en-US" altLang="zh-CN" b="0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DE9E1A-9FA1-484A-B142-2C809C9B743D}" type="slidenum">
              <a:rPr lang="en-US" altLang="zh-CN" b="0"/>
            </a:fld>
            <a:endParaRPr lang="en-US" altLang="zh-CN" b="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F43441-2972-4AAA-A66D-F0941176CCC3}" type="slidenum">
              <a:rPr lang="en-US" altLang="zh-CN" b="0"/>
            </a:fld>
            <a:endParaRPr lang="en-US" altLang="zh-CN" b="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E373200-10AD-40B9-80FB-239AEFF72924}" type="slidenum">
              <a:rPr lang="en-US" altLang="zh-CN" b="0"/>
            </a:fld>
            <a:endParaRPr lang="en-US" altLang="zh-CN" b="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EF162A-F9DE-4700-96A9-7A8BEE1D9DD0}" type="slidenum">
              <a:rPr lang="en-US" altLang="zh-CN" b="0"/>
            </a:fld>
            <a:endParaRPr lang="en-US" altLang="zh-CN" b="0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76C35F-BE89-4425-80E8-0C08789FDBAD}" type="slidenum">
              <a:rPr lang="en-US" altLang="zh-CN" b="0"/>
            </a:fld>
            <a:endParaRPr lang="en-US" altLang="zh-CN" b="0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B19DDD-BB3B-4F3C-9A10-3F5FB0C08E7A}" type="slidenum">
              <a:rPr lang="en-US" altLang="zh-CN" b="0"/>
            </a:fld>
            <a:endParaRPr lang="en-US" altLang="zh-CN" b="0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96F26D6-DEF0-4F66-81D4-18B3DF689227}" type="slidenum">
              <a:rPr lang="en-US" altLang="zh-CN" b="0"/>
            </a:fld>
            <a:endParaRPr lang="en-US" altLang="zh-CN" b="0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7E9CF-D1FC-4171-9B92-4D40E9878F45}" type="slidenum">
              <a:rPr lang="en-US" altLang="zh-CN" b="0"/>
            </a:fld>
            <a:endParaRPr lang="en-US" altLang="zh-CN" b="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64602B-7D14-4B57-9460-94AE3CFF8EE4}" type="slidenum">
              <a:rPr lang="en-US" altLang="zh-CN" b="0"/>
            </a:fld>
            <a:endParaRPr lang="en-US" altLang="zh-CN" b="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C64293B-1D72-484E-A060-616E7B4A3893}" type="slidenum">
              <a:rPr lang="en-US" altLang="zh-CN" b="0"/>
            </a:fld>
            <a:endParaRPr lang="en-US" altLang="zh-CN" b="0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82EAF4-D7CC-4C4C-9E35-3057506571DD}" type="slidenum">
              <a:rPr lang="en-US" altLang="zh-CN" b="0"/>
            </a:fld>
            <a:endParaRPr lang="en-US" altLang="zh-CN" b="0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E280A3-457A-4517-86F3-800F38C1C328}" type="slidenum">
              <a:rPr lang="en-US" altLang="zh-CN" b="0"/>
            </a:fld>
            <a:endParaRPr lang="en-US" altLang="zh-CN" b="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E280A3-457A-4517-86F3-800F38C1C328}" type="slidenum">
              <a:rPr lang="en-US" altLang="zh-CN" b="0"/>
            </a:fld>
            <a:endParaRPr lang="en-US" altLang="zh-CN" b="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A6B0-64F2-4946-B83B-99276EB2255E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E280A3-457A-4517-86F3-800F38C1C328}" type="slidenum">
              <a:rPr lang="en-US" altLang="zh-CN" b="0"/>
            </a:fld>
            <a:endParaRPr lang="en-US" altLang="zh-CN" b="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 </a:t>
            </a:r>
            <a:r>
              <a:rPr lang="en-US" dirty="0" err="1"/>
              <a:t>q&amp;a</a:t>
            </a:r>
            <a:r>
              <a:rPr lang="en-US" dirty="0"/>
              <a:t> at the end of each module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006B0-0F25-4E50-80B2-CA44D953435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 </a:t>
            </a:r>
            <a:r>
              <a:rPr lang="en-US" dirty="0" err="1"/>
              <a:t>q&amp;a</a:t>
            </a:r>
            <a:r>
              <a:rPr lang="en-US" dirty="0"/>
              <a:t> at the end of each module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006B0-0F25-4E50-80B2-CA44D953435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Feel free to interrupt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A55DE-DF10-4F8C-9E2A-4F1991D1FAD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C6E35-E367-451F-9A05-4DBEC7E26B7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/>
            </a:lvl3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C935E-3B00-45B6-9013-EACB10F90AF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66FC1-F9F2-4C52-B924-9C3B759B12F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155C7-F139-439E-8B1E-6669646EE3C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8221B-D1E3-4C01-B98A-C1C2BF0ED98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6261-75AD-4F39-8F09-467DB2845F6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B817-2BD0-479A-BAA4-5B692AB47F8C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CD339-C7CE-46BD-9F80-F58D7FBA1B7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1F18-2BDB-442A-A399-8DD28C98D37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8F3-5ECC-4905-8117-F83384CA23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914-77BF-4F17-9785-B65D8763166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4E9EE-2059-4092-97C4-FACE014251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35F12-AA12-4B31-8F39-2B897D3B96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image" Target="../media/image2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image" Target="../media/image2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4" Type="http://schemas.openxmlformats.org/officeDocument/2006/relationships/notesSlide" Target="../notesSlides/notesSlide30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6.png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3" Type="http://schemas.openxmlformats.org/officeDocument/2006/relationships/notesSlide" Target="../notesSlides/notesSlide31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47.png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8.png"/><Relationship Id="rId7" Type="http://schemas.openxmlformats.org/officeDocument/2006/relationships/image" Target="../media/image42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2" Type="http://schemas.openxmlformats.org/officeDocument/2006/relationships/notesSlide" Target="../notesSlides/notesSlide3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9.png"/><Relationship Id="rId1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1" Type="http://schemas.openxmlformats.org/officeDocument/2006/relationships/notesSlide" Target="../notesSlides/notesSlide3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2" Type="http://schemas.openxmlformats.org/officeDocument/2006/relationships/notesSlide" Target="../notesSlides/notesSlide34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2.png"/><Relationship Id="rId1" Type="http://schemas.openxmlformats.org/officeDocument/2006/relationships/image" Target="../media/image47.png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2" Type="http://schemas.openxmlformats.org/officeDocument/2006/relationships/notesSlide" Target="../notesSlides/notesSlide3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2.png"/><Relationship Id="rId1" Type="http://schemas.openxmlformats.org/officeDocument/2006/relationships/image" Target="../media/image5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17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jpe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2.png"/><Relationship Id="rId2" Type="http://schemas.openxmlformats.org/officeDocument/2006/relationships/image" Target="../media/image71.GIF"/><Relationship Id="rId1" Type="http://schemas.openxmlformats.org/officeDocument/2006/relationships/image" Target="../media/image70.jpeg"/></Relationships>
</file>

<file path=ppt/slides/_rels/slide9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Relationship Id="rId3" Type="http://schemas.openxmlformats.org/officeDocument/2006/relationships/image" Target="../media/image7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720850"/>
            <a:ext cx="7010400" cy="94615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Big Data Privacy Preservation 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1307575" y="3548063"/>
            <a:ext cx="6836090" cy="226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Font typeface="Symbol" panose="05050102010706020507" pitchFamily="18" charset="2"/>
              <a:buNone/>
            </a:pPr>
            <a:r>
              <a:rPr lang="en-US" altLang="zh-CN" sz="3200" dirty="0">
                <a:solidFill>
                  <a:srgbClr val="CC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Rong-Hua Li</a:t>
            </a:r>
            <a:endParaRPr lang="en-US" altLang="zh-CN" sz="2500" b="0" dirty="0">
              <a:solidFill>
                <a:srgbClr val="CC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Font typeface="Symbol" panose="05050102010706020507" pitchFamily="18" charset="2"/>
              <a:buNone/>
            </a:pPr>
            <a:r>
              <a:rPr lang="en-US" altLang="zh-CN" sz="2500" b="0" dirty="0" smtClean="0">
                <a:latin typeface="Calibri" panose="020F0502020204030204" pitchFamily="34" charset="0"/>
                <a:ea typeface="宋体" panose="02010600030101010101" pitchFamily="2" charset="-122"/>
              </a:rPr>
              <a:t>School </a:t>
            </a:r>
            <a:r>
              <a:rPr lang="en-US" altLang="zh-CN" sz="2500" b="0" dirty="0">
                <a:latin typeface="Calibri" panose="020F0502020204030204" pitchFamily="34" charset="0"/>
                <a:ea typeface="宋体" panose="02010600030101010101" pitchFamily="2" charset="-122"/>
              </a:rPr>
              <a:t>of Computer Science &amp; Technology, BIT </a:t>
            </a:r>
            <a:br>
              <a:rPr lang="en-US" altLang="zh-CN" sz="2500" b="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Emial: lironghuabit@126.com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Font typeface="Symbol" panose="05050102010706020507" pitchFamily="18" charset="2"/>
              <a:buNone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Personal Homepage: ronghuali.github.io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Font typeface="Symbol" panose="05050102010706020507" pitchFamily="18" charset="2"/>
              <a:buNone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Lab Homepage: gdilab.cn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Font typeface="Symbol" panose="05050102010706020507" pitchFamily="18" charset="2"/>
              <a:buNone/>
            </a:pP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微信公众号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145" y="4582795"/>
            <a:ext cx="1527175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8CACF9-1A23-47F1-A1D9-625F911F6BCB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600" b="1" dirty="0">
                <a:solidFill>
                  <a:srgbClr val="CC3300"/>
                </a:solidFill>
                <a:ea typeface="宋体" panose="02010600030101010101" pitchFamily="2" charset="-122"/>
              </a:rPr>
              <a:t>Part 1</a:t>
            </a:r>
            <a:endParaRPr lang="en-US" altLang="zh-CN" sz="36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Introduction to Anonymization and Uncertainty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Tabular Data Anonymization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200" b="1" dirty="0">
                <a:solidFill>
                  <a:srgbClr val="CC3300"/>
                </a:solidFill>
                <a:ea typeface="宋体" panose="02010600030101010101" pitchFamily="2" charset="-122"/>
              </a:rPr>
              <a:t>Part 2</a:t>
            </a:r>
            <a:endParaRPr lang="en-US" altLang="zh-CN" sz="32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Differential privacy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Local Differential privacy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5F0A4F-3690-46E4-9338-3A5FB43AA788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Why Anonymize?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458200" cy="434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Data Sharing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Give real(</a:t>
            </a:r>
            <a:r>
              <a:rPr lang="en-US" altLang="zh-CN" dirty="0" err="1">
                <a:ea typeface="宋体" panose="02010600030101010101" pitchFamily="2" charset="-122"/>
              </a:rPr>
              <a:t>istic</a:t>
            </a:r>
            <a:r>
              <a:rPr lang="en-US" altLang="zh-CN" dirty="0">
                <a:ea typeface="宋体" panose="02010600030101010101" pitchFamily="2" charset="-122"/>
              </a:rPr>
              <a:t>) data to others to study without compromising privacy of individuals in the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Allows third-parties to try new analysis and mining techniques not thought of by the data owner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Data Retention and Usage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Various requirements prevent companies from retaining customer information indefinitely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 Google progressively anonymizes IP addresses in search logs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Internal sharing across departments (e.g. billing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marketing)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6AE2BA-6331-43E5-8EC9-16FA61DA3413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Why Privacy?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724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subjects have inherent right and expectation of privacy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Privacy</a:t>
            </a:r>
            <a:r>
              <a:rPr lang="en-US" altLang="zh-CN" dirty="0">
                <a:ea typeface="宋体" panose="02010600030101010101" pitchFamily="2" charset="-122"/>
              </a:rPr>
              <a:t>” is a complex concept (beyond the scope of this lecture)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What </a:t>
            </a:r>
            <a:r>
              <a:rPr lang="en-US" altLang="zh-CN" dirty="0">
                <a:ea typeface="宋体" panose="02010600030101010101" pitchFamily="2" charset="-122"/>
              </a:rPr>
              <a:t>exactly does “privacy” mean? 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When</a:t>
            </a:r>
            <a:r>
              <a:rPr lang="en-US" altLang="zh-CN" dirty="0">
                <a:ea typeface="宋体" panose="02010600030101010101" pitchFamily="2" charset="-122"/>
              </a:rPr>
              <a:t> does it apply?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Could there exist societies without a concept of privacy?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Concretely: at collection “small print” outlines privacy rules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Most companies have adopted a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privacy policy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 AT&amp;T privacy policy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att.com/gen/privacy-policy?pid=2506</a:t>
            </a:r>
            <a:endParaRPr lang="en-US" altLang="zh-CN" sz="1600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Significant legal framework relating to privacy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UN Declaration of Human Rights, US Constitution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HIPAA, Video Privacy Protection, Data Protection Acts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6934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3589224"/>
            <a:ext cx="1873250" cy="126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3480D5-23A3-43F3-9D07-673AE0754E47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Case Study: US Census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Raw data</a:t>
            </a:r>
            <a:r>
              <a:rPr lang="en-US" altLang="zh-CN" dirty="0">
                <a:ea typeface="宋体" panose="02010600030101010101" pitchFamily="2" charset="-122"/>
              </a:rPr>
              <a:t>: information about every US household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Who, where; age, gender, racial, income and educational data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Why released</a:t>
            </a:r>
            <a:r>
              <a:rPr lang="en-US" altLang="zh-CN" dirty="0">
                <a:ea typeface="宋体" panose="02010600030101010101" pitchFamily="2" charset="-122"/>
              </a:rPr>
              <a:t>: determine representation, planning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How anonymized</a:t>
            </a:r>
            <a:r>
              <a:rPr lang="en-US" altLang="zh-CN" dirty="0">
                <a:ea typeface="宋体" panose="02010600030101010101" pitchFamily="2" charset="-122"/>
              </a:rPr>
              <a:t>: aggregated to geographic areas (Zip code)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Broken down by various combinations of dimensions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Released in full after 72 years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Attacks</a:t>
            </a:r>
            <a:r>
              <a:rPr lang="en-US" altLang="zh-CN" dirty="0">
                <a:ea typeface="宋体" panose="02010600030101010101" pitchFamily="2" charset="-122"/>
              </a:rPr>
              <a:t>: no reports of successful deanonymization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Recent attempts by FBI to access raw data rebuffed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Consequences</a:t>
            </a:r>
            <a:r>
              <a:rPr lang="en-US" altLang="zh-CN" dirty="0">
                <a:ea typeface="宋体" panose="02010600030101010101" pitchFamily="2" charset="-122"/>
              </a:rPr>
              <a:t>: greater understanding of US population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Affects representation, funding of civil projects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Rich source of data for future historians and genealogists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17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8288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98B610-67C3-4574-87DB-2BADA5922745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Case Study: Netflix Prize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534400" cy="48768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Raw data</a:t>
            </a:r>
            <a:r>
              <a:rPr lang="en-US" altLang="zh-CN" dirty="0">
                <a:ea typeface="宋体" panose="02010600030101010101" pitchFamily="2" charset="-122"/>
              </a:rPr>
              <a:t>: 100M dated ratings from 480K users to 18K movies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Why released</a:t>
            </a:r>
            <a:r>
              <a:rPr lang="en-US" altLang="zh-CN" dirty="0">
                <a:ea typeface="宋体" panose="02010600030101010101" pitchFamily="2" charset="-122"/>
              </a:rPr>
              <a:t>: improve predicting ratings of unlabeled examples</a:t>
            </a:r>
            <a:endParaRPr lang="en-US" altLang="zh-CN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How anonymized</a:t>
            </a:r>
            <a:r>
              <a:rPr lang="en-US" altLang="zh-CN" dirty="0">
                <a:ea typeface="宋体" panose="02010600030101010101" pitchFamily="2" charset="-122"/>
              </a:rPr>
              <a:t>: exact details not described by Netflix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All direct customer information removed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Only subset of full data; dates modified; some ratings deleted,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Movie title and year published in full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Attacks</a:t>
            </a:r>
            <a:r>
              <a:rPr lang="en-US" altLang="zh-CN" dirty="0">
                <a:ea typeface="宋体" panose="02010600030101010101" pitchFamily="2" charset="-122"/>
              </a:rPr>
              <a:t>: dataset is claimed vulnerable </a:t>
            </a:r>
            <a:r>
              <a:rPr lang="en-US" altLang="zh-CN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[Narayanan Shmatikov 08]</a:t>
            </a:r>
            <a:endParaRPr lang="en-US" altLang="zh-CN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Attack links data to IMDB where same users also rated movies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Find matches based on similar ratings or dates in both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Consequences</a:t>
            </a:r>
            <a:r>
              <a:rPr lang="en-US" altLang="zh-CN" dirty="0">
                <a:ea typeface="宋体" panose="02010600030101010101" pitchFamily="2" charset="-122"/>
              </a:rPr>
              <a:t>: rich source of user data for researchers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Unclear how serious the attacks are in practice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819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33375"/>
            <a:ext cx="19050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43AF34-DBEC-4065-A87D-18FD54474DFC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Case Study: AOL Search Data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3434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Raw data</a:t>
            </a:r>
            <a:r>
              <a:rPr lang="en-US" altLang="zh-CN" dirty="0">
                <a:ea typeface="宋体" panose="02010600030101010101" pitchFamily="2" charset="-122"/>
              </a:rPr>
              <a:t>: 20M search queries for 650K users from 2006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Why released</a:t>
            </a:r>
            <a:r>
              <a:rPr lang="en-US" altLang="zh-CN" dirty="0">
                <a:ea typeface="宋体" panose="02010600030101010101" pitchFamily="2" charset="-122"/>
              </a:rPr>
              <a:t>: allow researchers to understand search patterns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How anonymized</a:t>
            </a:r>
            <a:r>
              <a:rPr lang="en-US" altLang="zh-CN" dirty="0">
                <a:ea typeface="宋体" panose="02010600030101010101" pitchFamily="2" charset="-122"/>
              </a:rPr>
              <a:t>: user identifiers removed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All searches from same user linked by an arbitrary identifier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Attacks</a:t>
            </a:r>
            <a:r>
              <a:rPr lang="en-US" altLang="zh-CN" dirty="0">
                <a:ea typeface="宋体" panose="02010600030101010101" pitchFamily="2" charset="-122"/>
              </a:rPr>
              <a:t>: many successful attacks identified individual users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Ego-surfers: people typed in their own names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Zip codes and town names identify an area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NY Times identified 4417749 as 62yr old GA widow </a:t>
            </a:r>
            <a:r>
              <a:rPr lang="en-US" altLang="zh-CN" sz="2000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[Barbaro Zeller 06]</a:t>
            </a:r>
            <a:endParaRPr lang="en-US" altLang="zh-CN" sz="2000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Consequences</a:t>
            </a:r>
            <a:r>
              <a:rPr lang="en-US" altLang="zh-CN" dirty="0">
                <a:ea typeface="宋体" panose="02010600030101010101" pitchFamily="2" charset="-122"/>
              </a:rPr>
              <a:t>: CTO resigned, two researchers fired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Well-intentioned effort failed due to inadequate anonymization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22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47638"/>
            <a:ext cx="1838325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F7A118-2008-4982-A158-F8E366D3629F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Three Abstract Examples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Census</a:t>
            </a:r>
            <a:r>
              <a:rPr lang="en-US" altLang="zh-CN" dirty="0">
                <a:ea typeface="宋体" panose="02010600030101010101" pitchFamily="2" charset="-122"/>
              </a:rPr>
              <a:t>” data recording incomes and demographics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Schema: </a:t>
            </a:r>
            <a:r>
              <a:rPr lang="en-US" altLang="zh-CN" b="1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(SSN, DOB, Sex, ZIP, Salary)</a:t>
            </a:r>
            <a:endParaRPr lang="en-US" altLang="zh-CN" b="1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Tabular data—best represented as a table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Video</a:t>
            </a:r>
            <a:r>
              <a:rPr lang="en-US" altLang="zh-CN" dirty="0">
                <a:ea typeface="宋体" panose="02010600030101010101" pitchFamily="2" charset="-122"/>
              </a:rPr>
              <a:t>” data recording movies viewed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Schema: </a:t>
            </a:r>
            <a:r>
              <a:rPr lang="en-US" altLang="zh-CN" b="1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(Uid, DOB, Sex, ZIP), (Vid, title, genre), (Uid, Vid)</a:t>
            </a:r>
            <a:endParaRPr lang="en-US" altLang="zh-CN" b="1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Graph data—graph properties should be retained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Search</a:t>
            </a:r>
            <a:r>
              <a:rPr lang="en-US" altLang="zh-CN" dirty="0">
                <a:ea typeface="宋体" panose="02010600030101010101" pitchFamily="2" charset="-122"/>
              </a:rPr>
              <a:t>” data recording web searches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Schema: </a:t>
            </a:r>
            <a:r>
              <a:rPr lang="en-US" altLang="zh-CN" b="1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(Uid, Kw1, Kw2, …)</a:t>
            </a:r>
            <a:endParaRPr lang="en-US" altLang="zh-CN" b="1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Set data—each user has different set of keywords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Each example has different anonymization needs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7344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538412"/>
            <a:ext cx="1504950" cy="150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4334654"/>
            <a:ext cx="1330325" cy="998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300" y="3227513"/>
            <a:ext cx="1320800" cy="87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C1A8CF-7EA6-4254-BB79-19A6E813C675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Models of Anonymization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46482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Interactive Model</a:t>
            </a:r>
            <a:r>
              <a:rPr lang="en-US" altLang="zh-CN" dirty="0">
                <a:ea typeface="宋体" panose="02010600030101010101" pitchFamily="2" charset="-122"/>
              </a:rPr>
              <a:t> (akin to statistical databases)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Data owner acts as “gatekeeper” to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Researchers pose queries in some agreed language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Gatekeeper gives an (anonymized) answer, or refuses to answer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Send me your code</a:t>
            </a:r>
            <a:r>
              <a:rPr lang="en-US" altLang="zh-CN" dirty="0">
                <a:ea typeface="宋体" panose="02010600030101010101" pitchFamily="2" charset="-122"/>
              </a:rPr>
              <a:t>” model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Data owner executes code on their system and reports result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Cannot be sure that the code is not malicious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Offline</a:t>
            </a:r>
            <a:r>
              <a:rPr lang="en-US" altLang="zh-CN" dirty="0">
                <a:ea typeface="宋体" panose="02010600030101010101" pitchFamily="2" charset="-122"/>
              </a:rPr>
              <a:t>, aka “publish and be damned” model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Data owner somehow anonymizes data set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Publishes the results to the world, and retires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Our focus in this lecture – seems to model most real releases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" name="Group 79"/>
          <p:cNvGrpSpPr/>
          <p:nvPr/>
        </p:nvGrpSpPr>
        <p:grpSpPr bwMode="auto">
          <a:xfrm>
            <a:off x="7434748" y="3876353"/>
            <a:ext cx="1054100" cy="1279525"/>
            <a:chOff x="4424" y="2016"/>
            <a:chExt cx="664" cy="806"/>
          </a:xfrm>
        </p:grpSpPr>
        <p:sp>
          <p:nvSpPr>
            <p:cNvPr id="11314" name="Freeform 9"/>
            <p:cNvSpPr/>
            <p:nvPr/>
          </p:nvSpPr>
          <p:spPr bwMode="auto">
            <a:xfrm>
              <a:off x="4424" y="2016"/>
              <a:ext cx="664" cy="245"/>
            </a:xfrm>
            <a:custGeom>
              <a:avLst/>
              <a:gdLst>
                <a:gd name="T0" fmla="*/ 8 w 1992"/>
                <a:gd name="T1" fmla="*/ 1 h 734"/>
                <a:gd name="T2" fmla="*/ 8 w 1992"/>
                <a:gd name="T3" fmla="*/ 0 h 734"/>
                <a:gd name="T4" fmla="*/ 7 w 1992"/>
                <a:gd name="T5" fmla="*/ 0 h 734"/>
                <a:gd name="T6" fmla="*/ 7 w 1992"/>
                <a:gd name="T7" fmla="*/ 0 h 734"/>
                <a:gd name="T8" fmla="*/ 6 w 1992"/>
                <a:gd name="T9" fmla="*/ 0 h 734"/>
                <a:gd name="T10" fmla="*/ 6 w 1992"/>
                <a:gd name="T11" fmla="*/ 0 h 734"/>
                <a:gd name="T12" fmla="*/ 5 w 1992"/>
                <a:gd name="T13" fmla="*/ 0 h 734"/>
                <a:gd name="T14" fmla="*/ 5 w 1992"/>
                <a:gd name="T15" fmla="*/ 0 h 734"/>
                <a:gd name="T16" fmla="*/ 5 w 1992"/>
                <a:gd name="T17" fmla="*/ 0 h 734"/>
                <a:gd name="T18" fmla="*/ 4 w 1992"/>
                <a:gd name="T19" fmla="*/ 1 h 734"/>
                <a:gd name="T20" fmla="*/ 4 w 1992"/>
                <a:gd name="T21" fmla="*/ 1 h 734"/>
                <a:gd name="T22" fmla="*/ 4 w 1992"/>
                <a:gd name="T23" fmla="*/ 1 h 734"/>
                <a:gd name="T24" fmla="*/ 4 w 1992"/>
                <a:gd name="T25" fmla="*/ 0 h 734"/>
                <a:gd name="T26" fmla="*/ 3 w 1992"/>
                <a:gd name="T27" fmla="*/ 0 h 734"/>
                <a:gd name="T28" fmla="*/ 3 w 1992"/>
                <a:gd name="T29" fmla="*/ 0 h 734"/>
                <a:gd name="T30" fmla="*/ 2 w 1992"/>
                <a:gd name="T31" fmla="*/ 0 h 734"/>
                <a:gd name="T32" fmla="*/ 2 w 1992"/>
                <a:gd name="T33" fmla="*/ 0 h 734"/>
                <a:gd name="T34" fmla="*/ 1 w 1992"/>
                <a:gd name="T35" fmla="*/ 0 h 734"/>
                <a:gd name="T36" fmla="*/ 1 w 1992"/>
                <a:gd name="T37" fmla="*/ 0 h 734"/>
                <a:gd name="T38" fmla="*/ 0 w 1992"/>
                <a:gd name="T39" fmla="*/ 1 h 734"/>
                <a:gd name="T40" fmla="*/ 0 w 1992"/>
                <a:gd name="T41" fmla="*/ 1 h 734"/>
                <a:gd name="T42" fmla="*/ 0 w 1992"/>
                <a:gd name="T43" fmla="*/ 1 h 734"/>
                <a:gd name="T44" fmla="*/ 0 w 1992"/>
                <a:gd name="T45" fmla="*/ 3 h 734"/>
                <a:gd name="T46" fmla="*/ 0 w 1992"/>
                <a:gd name="T47" fmla="*/ 3 h 734"/>
                <a:gd name="T48" fmla="*/ 1 w 1992"/>
                <a:gd name="T49" fmla="*/ 2 h 734"/>
                <a:gd name="T50" fmla="*/ 1 w 1992"/>
                <a:gd name="T51" fmla="*/ 2 h 734"/>
                <a:gd name="T52" fmla="*/ 2 w 1992"/>
                <a:gd name="T53" fmla="*/ 2 h 734"/>
                <a:gd name="T54" fmla="*/ 2 w 1992"/>
                <a:gd name="T55" fmla="*/ 2 h 734"/>
                <a:gd name="T56" fmla="*/ 3 w 1992"/>
                <a:gd name="T57" fmla="*/ 2 h 734"/>
                <a:gd name="T58" fmla="*/ 3 w 1992"/>
                <a:gd name="T59" fmla="*/ 2 h 734"/>
                <a:gd name="T60" fmla="*/ 3 w 1992"/>
                <a:gd name="T61" fmla="*/ 3 h 734"/>
                <a:gd name="T62" fmla="*/ 4 w 1992"/>
                <a:gd name="T63" fmla="*/ 3 h 734"/>
                <a:gd name="T64" fmla="*/ 4 w 1992"/>
                <a:gd name="T65" fmla="*/ 3 h 734"/>
                <a:gd name="T66" fmla="*/ 5 w 1992"/>
                <a:gd name="T67" fmla="*/ 3 h 734"/>
                <a:gd name="T68" fmla="*/ 5 w 1992"/>
                <a:gd name="T69" fmla="*/ 3 h 734"/>
                <a:gd name="T70" fmla="*/ 5 w 1992"/>
                <a:gd name="T71" fmla="*/ 3 h 734"/>
                <a:gd name="T72" fmla="*/ 5 w 1992"/>
                <a:gd name="T73" fmla="*/ 2 h 734"/>
                <a:gd name="T74" fmla="*/ 6 w 1992"/>
                <a:gd name="T75" fmla="*/ 2 h 734"/>
                <a:gd name="T76" fmla="*/ 6 w 1992"/>
                <a:gd name="T77" fmla="*/ 2 h 734"/>
                <a:gd name="T78" fmla="*/ 7 w 1992"/>
                <a:gd name="T79" fmla="*/ 2 h 734"/>
                <a:gd name="T80" fmla="*/ 7 w 1992"/>
                <a:gd name="T81" fmla="*/ 3 h 734"/>
                <a:gd name="T82" fmla="*/ 8 w 1992"/>
                <a:gd name="T83" fmla="*/ 3 h 734"/>
                <a:gd name="T84" fmla="*/ 8 w 1992"/>
                <a:gd name="T85" fmla="*/ 3 h 734"/>
                <a:gd name="T86" fmla="*/ 8 w 1992"/>
                <a:gd name="T87" fmla="*/ 3 h 73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92"/>
                <a:gd name="T133" fmla="*/ 0 h 734"/>
                <a:gd name="T134" fmla="*/ 1992 w 1992"/>
                <a:gd name="T135" fmla="*/ 734 h 73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92" h="734">
                  <a:moveTo>
                    <a:pt x="1914" y="140"/>
                  </a:moveTo>
                  <a:lnTo>
                    <a:pt x="1910" y="139"/>
                  </a:lnTo>
                  <a:lnTo>
                    <a:pt x="1902" y="134"/>
                  </a:lnTo>
                  <a:lnTo>
                    <a:pt x="1888" y="128"/>
                  </a:lnTo>
                  <a:lnTo>
                    <a:pt x="1868" y="120"/>
                  </a:lnTo>
                  <a:lnTo>
                    <a:pt x="1845" y="110"/>
                  </a:lnTo>
                  <a:lnTo>
                    <a:pt x="1819" y="99"/>
                  </a:lnTo>
                  <a:lnTo>
                    <a:pt x="1788" y="87"/>
                  </a:lnTo>
                  <a:lnTo>
                    <a:pt x="1756" y="74"/>
                  </a:lnTo>
                  <a:lnTo>
                    <a:pt x="1721" y="63"/>
                  </a:lnTo>
                  <a:lnTo>
                    <a:pt x="1685" y="51"/>
                  </a:lnTo>
                  <a:lnTo>
                    <a:pt x="1647" y="40"/>
                  </a:lnTo>
                  <a:lnTo>
                    <a:pt x="1609" y="30"/>
                  </a:lnTo>
                  <a:lnTo>
                    <a:pt x="1572" y="22"/>
                  </a:lnTo>
                  <a:lnTo>
                    <a:pt x="1535" y="16"/>
                  </a:lnTo>
                  <a:lnTo>
                    <a:pt x="1499" y="11"/>
                  </a:lnTo>
                  <a:lnTo>
                    <a:pt x="1466" y="10"/>
                  </a:lnTo>
                  <a:lnTo>
                    <a:pt x="1431" y="11"/>
                  </a:lnTo>
                  <a:lnTo>
                    <a:pt x="1395" y="16"/>
                  </a:lnTo>
                  <a:lnTo>
                    <a:pt x="1357" y="25"/>
                  </a:lnTo>
                  <a:lnTo>
                    <a:pt x="1319" y="35"/>
                  </a:lnTo>
                  <a:lnTo>
                    <a:pt x="1280" y="46"/>
                  </a:lnTo>
                  <a:lnTo>
                    <a:pt x="1241" y="59"/>
                  </a:lnTo>
                  <a:lnTo>
                    <a:pt x="1203" y="73"/>
                  </a:lnTo>
                  <a:lnTo>
                    <a:pt x="1166" y="87"/>
                  </a:lnTo>
                  <a:lnTo>
                    <a:pt x="1132" y="102"/>
                  </a:lnTo>
                  <a:lnTo>
                    <a:pt x="1101" y="115"/>
                  </a:lnTo>
                  <a:lnTo>
                    <a:pt x="1072" y="129"/>
                  </a:lnTo>
                  <a:lnTo>
                    <a:pt x="1047" y="140"/>
                  </a:lnTo>
                  <a:lnTo>
                    <a:pt x="1028" y="150"/>
                  </a:lnTo>
                  <a:lnTo>
                    <a:pt x="1011" y="158"/>
                  </a:lnTo>
                  <a:lnTo>
                    <a:pt x="1003" y="163"/>
                  </a:lnTo>
                  <a:lnTo>
                    <a:pt x="999" y="165"/>
                  </a:lnTo>
                  <a:lnTo>
                    <a:pt x="995" y="163"/>
                  </a:lnTo>
                  <a:lnTo>
                    <a:pt x="983" y="157"/>
                  </a:lnTo>
                  <a:lnTo>
                    <a:pt x="964" y="150"/>
                  </a:lnTo>
                  <a:lnTo>
                    <a:pt x="938" y="139"/>
                  </a:lnTo>
                  <a:lnTo>
                    <a:pt x="909" y="126"/>
                  </a:lnTo>
                  <a:lnTo>
                    <a:pt x="873" y="113"/>
                  </a:lnTo>
                  <a:lnTo>
                    <a:pt x="834" y="98"/>
                  </a:lnTo>
                  <a:lnTo>
                    <a:pt x="792" y="82"/>
                  </a:lnTo>
                  <a:lnTo>
                    <a:pt x="748" y="67"/>
                  </a:lnTo>
                  <a:lnTo>
                    <a:pt x="702" y="52"/>
                  </a:lnTo>
                  <a:lnTo>
                    <a:pt x="656" y="38"/>
                  </a:lnTo>
                  <a:lnTo>
                    <a:pt x="610" y="26"/>
                  </a:lnTo>
                  <a:lnTo>
                    <a:pt x="566" y="15"/>
                  </a:lnTo>
                  <a:lnTo>
                    <a:pt x="522" y="7"/>
                  </a:lnTo>
                  <a:lnTo>
                    <a:pt x="483" y="1"/>
                  </a:lnTo>
                  <a:lnTo>
                    <a:pt x="446" y="0"/>
                  </a:lnTo>
                  <a:lnTo>
                    <a:pt x="411" y="2"/>
                  </a:lnTo>
                  <a:lnTo>
                    <a:pt x="376" y="7"/>
                  </a:lnTo>
                  <a:lnTo>
                    <a:pt x="342" y="16"/>
                  </a:lnTo>
                  <a:lnTo>
                    <a:pt x="308" y="27"/>
                  </a:lnTo>
                  <a:lnTo>
                    <a:pt x="276" y="41"/>
                  </a:lnTo>
                  <a:lnTo>
                    <a:pt x="245" y="56"/>
                  </a:lnTo>
                  <a:lnTo>
                    <a:pt x="215" y="71"/>
                  </a:lnTo>
                  <a:lnTo>
                    <a:pt x="187" y="87"/>
                  </a:lnTo>
                  <a:lnTo>
                    <a:pt x="161" y="104"/>
                  </a:lnTo>
                  <a:lnTo>
                    <a:pt x="139" y="119"/>
                  </a:lnTo>
                  <a:lnTo>
                    <a:pt x="118" y="134"/>
                  </a:lnTo>
                  <a:lnTo>
                    <a:pt x="100" y="147"/>
                  </a:lnTo>
                  <a:lnTo>
                    <a:pt x="85" y="158"/>
                  </a:lnTo>
                  <a:lnTo>
                    <a:pt x="76" y="167"/>
                  </a:lnTo>
                  <a:lnTo>
                    <a:pt x="69" y="172"/>
                  </a:lnTo>
                  <a:lnTo>
                    <a:pt x="67" y="175"/>
                  </a:lnTo>
                  <a:lnTo>
                    <a:pt x="19" y="349"/>
                  </a:lnTo>
                  <a:lnTo>
                    <a:pt x="0" y="692"/>
                  </a:lnTo>
                  <a:lnTo>
                    <a:pt x="4" y="690"/>
                  </a:lnTo>
                  <a:lnTo>
                    <a:pt x="16" y="685"/>
                  </a:lnTo>
                  <a:lnTo>
                    <a:pt x="36" y="676"/>
                  </a:lnTo>
                  <a:lnTo>
                    <a:pt x="62" y="665"/>
                  </a:lnTo>
                  <a:lnTo>
                    <a:pt x="93" y="651"/>
                  </a:lnTo>
                  <a:lnTo>
                    <a:pt x="129" y="638"/>
                  </a:lnTo>
                  <a:lnTo>
                    <a:pt x="167" y="622"/>
                  </a:lnTo>
                  <a:lnTo>
                    <a:pt x="209" y="605"/>
                  </a:lnTo>
                  <a:lnTo>
                    <a:pt x="254" y="591"/>
                  </a:lnTo>
                  <a:lnTo>
                    <a:pt x="298" y="576"/>
                  </a:lnTo>
                  <a:lnTo>
                    <a:pt x="344" y="562"/>
                  </a:lnTo>
                  <a:lnTo>
                    <a:pt x="389" y="551"/>
                  </a:lnTo>
                  <a:lnTo>
                    <a:pt x="432" y="541"/>
                  </a:lnTo>
                  <a:lnTo>
                    <a:pt x="473" y="535"/>
                  </a:lnTo>
                  <a:lnTo>
                    <a:pt x="510" y="532"/>
                  </a:lnTo>
                  <a:lnTo>
                    <a:pt x="543" y="534"/>
                  </a:lnTo>
                  <a:lnTo>
                    <a:pt x="574" y="539"/>
                  </a:lnTo>
                  <a:lnTo>
                    <a:pt x="605" y="545"/>
                  </a:lnTo>
                  <a:lnTo>
                    <a:pt x="635" y="553"/>
                  </a:lnTo>
                  <a:lnTo>
                    <a:pt x="665" y="565"/>
                  </a:lnTo>
                  <a:lnTo>
                    <a:pt x="693" y="576"/>
                  </a:lnTo>
                  <a:lnTo>
                    <a:pt x="721" y="587"/>
                  </a:lnTo>
                  <a:lnTo>
                    <a:pt x="747" y="599"/>
                  </a:lnTo>
                  <a:lnTo>
                    <a:pt x="770" y="612"/>
                  </a:lnTo>
                  <a:lnTo>
                    <a:pt x="792" y="624"/>
                  </a:lnTo>
                  <a:lnTo>
                    <a:pt x="813" y="635"/>
                  </a:lnTo>
                  <a:lnTo>
                    <a:pt x="831" y="646"/>
                  </a:lnTo>
                  <a:lnTo>
                    <a:pt x="846" y="655"/>
                  </a:lnTo>
                  <a:lnTo>
                    <a:pt x="858" y="664"/>
                  </a:lnTo>
                  <a:lnTo>
                    <a:pt x="867" y="670"/>
                  </a:lnTo>
                  <a:lnTo>
                    <a:pt x="872" y="674"/>
                  </a:lnTo>
                  <a:lnTo>
                    <a:pt x="874" y="675"/>
                  </a:lnTo>
                  <a:lnTo>
                    <a:pt x="1125" y="684"/>
                  </a:lnTo>
                  <a:lnTo>
                    <a:pt x="1128" y="682"/>
                  </a:lnTo>
                  <a:lnTo>
                    <a:pt x="1134" y="677"/>
                  </a:lnTo>
                  <a:lnTo>
                    <a:pt x="1145" y="671"/>
                  </a:lnTo>
                  <a:lnTo>
                    <a:pt x="1160" y="662"/>
                  </a:lnTo>
                  <a:lnTo>
                    <a:pt x="1177" y="651"/>
                  </a:lnTo>
                  <a:lnTo>
                    <a:pt x="1197" y="640"/>
                  </a:lnTo>
                  <a:lnTo>
                    <a:pt x="1219" y="628"/>
                  </a:lnTo>
                  <a:lnTo>
                    <a:pt x="1243" y="615"/>
                  </a:lnTo>
                  <a:lnTo>
                    <a:pt x="1268" y="603"/>
                  </a:lnTo>
                  <a:lnTo>
                    <a:pt x="1294" y="591"/>
                  </a:lnTo>
                  <a:lnTo>
                    <a:pt x="1320" y="578"/>
                  </a:lnTo>
                  <a:lnTo>
                    <a:pt x="1346" y="568"/>
                  </a:lnTo>
                  <a:lnTo>
                    <a:pt x="1371" y="560"/>
                  </a:lnTo>
                  <a:lnTo>
                    <a:pt x="1394" y="553"/>
                  </a:lnTo>
                  <a:lnTo>
                    <a:pt x="1416" y="550"/>
                  </a:lnTo>
                  <a:lnTo>
                    <a:pt x="1436" y="549"/>
                  </a:lnTo>
                  <a:lnTo>
                    <a:pt x="1473" y="551"/>
                  </a:lnTo>
                  <a:lnTo>
                    <a:pt x="1513" y="557"/>
                  </a:lnTo>
                  <a:lnTo>
                    <a:pt x="1556" y="567"/>
                  </a:lnTo>
                  <a:lnTo>
                    <a:pt x="1601" y="579"/>
                  </a:lnTo>
                  <a:lnTo>
                    <a:pt x="1648" y="593"/>
                  </a:lnTo>
                  <a:lnTo>
                    <a:pt x="1694" y="609"/>
                  </a:lnTo>
                  <a:lnTo>
                    <a:pt x="1739" y="625"/>
                  </a:lnTo>
                  <a:lnTo>
                    <a:pt x="1784" y="643"/>
                  </a:lnTo>
                  <a:lnTo>
                    <a:pt x="1826" y="660"/>
                  </a:lnTo>
                  <a:lnTo>
                    <a:pt x="1864" y="676"/>
                  </a:lnTo>
                  <a:lnTo>
                    <a:pt x="1900" y="692"/>
                  </a:lnTo>
                  <a:lnTo>
                    <a:pt x="1931" y="706"/>
                  </a:lnTo>
                  <a:lnTo>
                    <a:pt x="1956" y="717"/>
                  </a:lnTo>
                  <a:lnTo>
                    <a:pt x="1976" y="727"/>
                  </a:lnTo>
                  <a:lnTo>
                    <a:pt x="1988" y="732"/>
                  </a:lnTo>
                  <a:lnTo>
                    <a:pt x="1992" y="734"/>
                  </a:lnTo>
                  <a:lnTo>
                    <a:pt x="1990" y="349"/>
                  </a:lnTo>
                  <a:lnTo>
                    <a:pt x="1914" y="14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5" name="Freeform 10"/>
            <p:cNvSpPr/>
            <p:nvPr/>
          </p:nvSpPr>
          <p:spPr bwMode="auto">
            <a:xfrm>
              <a:off x="4441" y="2125"/>
              <a:ext cx="630" cy="106"/>
            </a:xfrm>
            <a:custGeom>
              <a:avLst/>
              <a:gdLst>
                <a:gd name="T0" fmla="*/ 8 w 1891"/>
                <a:gd name="T1" fmla="*/ 1 h 319"/>
                <a:gd name="T2" fmla="*/ 8 w 1891"/>
                <a:gd name="T3" fmla="*/ 0 h 319"/>
                <a:gd name="T4" fmla="*/ 8 w 1891"/>
                <a:gd name="T5" fmla="*/ 0 h 319"/>
                <a:gd name="T6" fmla="*/ 7 w 1891"/>
                <a:gd name="T7" fmla="*/ 0 h 319"/>
                <a:gd name="T8" fmla="*/ 7 w 1891"/>
                <a:gd name="T9" fmla="*/ 0 h 319"/>
                <a:gd name="T10" fmla="*/ 6 w 1891"/>
                <a:gd name="T11" fmla="*/ 0 h 319"/>
                <a:gd name="T12" fmla="*/ 6 w 1891"/>
                <a:gd name="T13" fmla="*/ 0 h 319"/>
                <a:gd name="T14" fmla="*/ 5 w 1891"/>
                <a:gd name="T15" fmla="*/ 0 h 319"/>
                <a:gd name="T16" fmla="*/ 5 w 1891"/>
                <a:gd name="T17" fmla="*/ 0 h 319"/>
                <a:gd name="T18" fmla="*/ 5 w 1891"/>
                <a:gd name="T19" fmla="*/ 1 h 319"/>
                <a:gd name="T20" fmla="*/ 4 w 1891"/>
                <a:gd name="T21" fmla="*/ 1 h 319"/>
                <a:gd name="T22" fmla="*/ 4 w 1891"/>
                <a:gd name="T23" fmla="*/ 1 h 319"/>
                <a:gd name="T24" fmla="*/ 4 w 1891"/>
                <a:gd name="T25" fmla="*/ 1 h 319"/>
                <a:gd name="T26" fmla="*/ 4 w 1891"/>
                <a:gd name="T27" fmla="*/ 1 h 319"/>
                <a:gd name="T28" fmla="*/ 3 w 1891"/>
                <a:gd name="T29" fmla="*/ 1 h 319"/>
                <a:gd name="T30" fmla="*/ 3 w 1891"/>
                <a:gd name="T31" fmla="*/ 0 h 319"/>
                <a:gd name="T32" fmla="*/ 2 w 1891"/>
                <a:gd name="T33" fmla="*/ 0 h 319"/>
                <a:gd name="T34" fmla="*/ 2 w 1891"/>
                <a:gd name="T35" fmla="*/ 0 h 319"/>
                <a:gd name="T36" fmla="*/ 1 w 1891"/>
                <a:gd name="T37" fmla="*/ 0 h 319"/>
                <a:gd name="T38" fmla="*/ 1 w 1891"/>
                <a:gd name="T39" fmla="*/ 0 h 319"/>
                <a:gd name="T40" fmla="*/ 0 w 1891"/>
                <a:gd name="T41" fmla="*/ 0 h 319"/>
                <a:gd name="T42" fmla="*/ 0 w 1891"/>
                <a:gd name="T43" fmla="*/ 0 h 319"/>
                <a:gd name="T44" fmla="*/ 0 w 1891"/>
                <a:gd name="T45" fmla="*/ 0 h 319"/>
                <a:gd name="T46" fmla="*/ 0 w 1891"/>
                <a:gd name="T47" fmla="*/ 1 h 319"/>
                <a:gd name="T48" fmla="*/ 0 w 1891"/>
                <a:gd name="T49" fmla="*/ 1 h 319"/>
                <a:gd name="T50" fmla="*/ 0 w 1891"/>
                <a:gd name="T51" fmla="*/ 1 h 319"/>
                <a:gd name="T52" fmla="*/ 1 w 1891"/>
                <a:gd name="T53" fmla="*/ 1 h 319"/>
                <a:gd name="T54" fmla="*/ 1 w 1891"/>
                <a:gd name="T55" fmla="*/ 1 h 319"/>
                <a:gd name="T56" fmla="*/ 1 w 1891"/>
                <a:gd name="T57" fmla="*/ 1 h 319"/>
                <a:gd name="T58" fmla="*/ 2 w 1891"/>
                <a:gd name="T59" fmla="*/ 1 h 319"/>
                <a:gd name="T60" fmla="*/ 2 w 1891"/>
                <a:gd name="T61" fmla="*/ 1 h 319"/>
                <a:gd name="T62" fmla="*/ 3 w 1891"/>
                <a:gd name="T63" fmla="*/ 1 h 319"/>
                <a:gd name="T64" fmla="*/ 3 w 1891"/>
                <a:gd name="T65" fmla="*/ 1 h 319"/>
                <a:gd name="T66" fmla="*/ 3 w 1891"/>
                <a:gd name="T67" fmla="*/ 1 h 319"/>
                <a:gd name="T68" fmla="*/ 4 w 1891"/>
                <a:gd name="T69" fmla="*/ 1 h 319"/>
                <a:gd name="T70" fmla="*/ 4 w 1891"/>
                <a:gd name="T71" fmla="*/ 1 h 319"/>
                <a:gd name="T72" fmla="*/ 4 w 1891"/>
                <a:gd name="T73" fmla="*/ 1 h 319"/>
                <a:gd name="T74" fmla="*/ 5 w 1891"/>
                <a:gd name="T75" fmla="*/ 1 h 319"/>
                <a:gd name="T76" fmla="*/ 5 w 1891"/>
                <a:gd name="T77" fmla="*/ 1 h 319"/>
                <a:gd name="T78" fmla="*/ 5 w 1891"/>
                <a:gd name="T79" fmla="*/ 1 h 319"/>
                <a:gd name="T80" fmla="*/ 6 w 1891"/>
                <a:gd name="T81" fmla="*/ 1 h 319"/>
                <a:gd name="T82" fmla="*/ 6 w 1891"/>
                <a:gd name="T83" fmla="*/ 1 h 319"/>
                <a:gd name="T84" fmla="*/ 7 w 1891"/>
                <a:gd name="T85" fmla="*/ 1 h 319"/>
                <a:gd name="T86" fmla="*/ 7 w 1891"/>
                <a:gd name="T87" fmla="*/ 1 h 319"/>
                <a:gd name="T88" fmla="*/ 8 w 1891"/>
                <a:gd name="T89" fmla="*/ 1 h 319"/>
                <a:gd name="T90" fmla="*/ 8 w 1891"/>
                <a:gd name="T91" fmla="*/ 1 h 319"/>
                <a:gd name="T92" fmla="*/ 7 w 1891"/>
                <a:gd name="T93" fmla="*/ 1 h 31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91"/>
                <a:gd name="T142" fmla="*/ 0 h 319"/>
                <a:gd name="T143" fmla="*/ 1891 w 1891"/>
                <a:gd name="T144" fmla="*/ 319 h 31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91" h="319">
                  <a:moveTo>
                    <a:pt x="1766" y="187"/>
                  </a:moveTo>
                  <a:lnTo>
                    <a:pt x="1891" y="237"/>
                  </a:lnTo>
                  <a:lnTo>
                    <a:pt x="1891" y="159"/>
                  </a:lnTo>
                  <a:lnTo>
                    <a:pt x="1626" y="84"/>
                  </a:lnTo>
                  <a:lnTo>
                    <a:pt x="1891" y="117"/>
                  </a:lnTo>
                  <a:lnTo>
                    <a:pt x="1891" y="80"/>
                  </a:lnTo>
                  <a:lnTo>
                    <a:pt x="1888" y="79"/>
                  </a:lnTo>
                  <a:lnTo>
                    <a:pt x="1875" y="78"/>
                  </a:lnTo>
                  <a:lnTo>
                    <a:pt x="1857" y="74"/>
                  </a:lnTo>
                  <a:lnTo>
                    <a:pt x="1833" y="69"/>
                  </a:lnTo>
                  <a:lnTo>
                    <a:pt x="1803" y="64"/>
                  </a:lnTo>
                  <a:lnTo>
                    <a:pt x="1769" y="59"/>
                  </a:lnTo>
                  <a:lnTo>
                    <a:pt x="1732" y="53"/>
                  </a:lnTo>
                  <a:lnTo>
                    <a:pt x="1691" y="48"/>
                  </a:lnTo>
                  <a:lnTo>
                    <a:pt x="1649" y="43"/>
                  </a:lnTo>
                  <a:lnTo>
                    <a:pt x="1605" y="38"/>
                  </a:lnTo>
                  <a:lnTo>
                    <a:pt x="1562" y="34"/>
                  </a:lnTo>
                  <a:lnTo>
                    <a:pt x="1519" y="32"/>
                  </a:lnTo>
                  <a:lnTo>
                    <a:pt x="1476" y="31"/>
                  </a:lnTo>
                  <a:lnTo>
                    <a:pt x="1437" y="32"/>
                  </a:lnTo>
                  <a:lnTo>
                    <a:pt x="1400" y="33"/>
                  </a:lnTo>
                  <a:lnTo>
                    <a:pt x="1366" y="38"/>
                  </a:lnTo>
                  <a:lnTo>
                    <a:pt x="1334" y="44"/>
                  </a:lnTo>
                  <a:lnTo>
                    <a:pt x="1301" y="53"/>
                  </a:lnTo>
                  <a:lnTo>
                    <a:pt x="1267" y="63"/>
                  </a:lnTo>
                  <a:lnTo>
                    <a:pt x="1231" y="75"/>
                  </a:lnTo>
                  <a:lnTo>
                    <a:pt x="1197" y="88"/>
                  </a:lnTo>
                  <a:lnTo>
                    <a:pt x="1163" y="101"/>
                  </a:lnTo>
                  <a:lnTo>
                    <a:pt x="1130" y="115"/>
                  </a:lnTo>
                  <a:lnTo>
                    <a:pt x="1098" y="128"/>
                  </a:lnTo>
                  <a:lnTo>
                    <a:pt x="1068" y="142"/>
                  </a:lnTo>
                  <a:lnTo>
                    <a:pt x="1041" y="154"/>
                  </a:lnTo>
                  <a:lnTo>
                    <a:pt x="1016" y="167"/>
                  </a:lnTo>
                  <a:lnTo>
                    <a:pt x="995" y="177"/>
                  </a:lnTo>
                  <a:lnTo>
                    <a:pt x="978" y="185"/>
                  </a:lnTo>
                  <a:lnTo>
                    <a:pt x="965" y="192"/>
                  </a:lnTo>
                  <a:lnTo>
                    <a:pt x="957" y="197"/>
                  </a:lnTo>
                  <a:lnTo>
                    <a:pt x="954" y="198"/>
                  </a:lnTo>
                  <a:lnTo>
                    <a:pt x="952" y="195"/>
                  </a:lnTo>
                  <a:lnTo>
                    <a:pt x="942" y="190"/>
                  </a:lnTo>
                  <a:lnTo>
                    <a:pt x="928" y="182"/>
                  </a:lnTo>
                  <a:lnTo>
                    <a:pt x="909" y="171"/>
                  </a:lnTo>
                  <a:lnTo>
                    <a:pt x="886" y="157"/>
                  </a:lnTo>
                  <a:lnTo>
                    <a:pt x="857" y="142"/>
                  </a:lnTo>
                  <a:lnTo>
                    <a:pt x="827" y="126"/>
                  </a:lnTo>
                  <a:lnTo>
                    <a:pt x="792" y="109"/>
                  </a:lnTo>
                  <a:lnTo>
                    <a:pt x="755" y="91"/>
                  </a:lnTo>
                  <a:lnTo>
                    <a:pt x="715" y="75"/>
                  </a:lnTo>
                  <a:lnTo>
                    <a:pt x="673" y="58"/>
                  </a:lnTo>
                  <a:lnTo>
                    <a:pt x="630" y="43"/>
                  </a:lnTo>
                  <a:lnTo>
                    <a:pt x="586" y="29"/>
                  </a:lnTo>
                  <a:lnTo>
                    <a:pt x="541" y="18"/>
                  </a:lnTo>
                  <a:lnTo>
                    <a:pt x="496" y="10"/>
                  </a:lnTo>
                  <a:lnTo>
                    <a:pt x="450" y="3"/>
                  </a:lnTo>
                  <a:lnTo>
                    <a:pt x="406" y="1"/>
                  </a:lnTo>
                  <a:lnTo>
                    <a:pt x="362" y="0"/>
                  </a:lnTo>
                  <a:lnTo>
                    <a:pt x="320" y="2"/>
                  </a:lnTo>
                  <a:lnTo>
                    <a:pt x="281" y="5"/>
                  </a:lnTo>
                  <a:lnTo>
                    <a:pt x="242" y="10"/>
                  </a:lnTo>
                  <a:lnTo>
                    <a:pt x="206" y="16"/>
                  </a:lnTo>
                  <a:lnTo>
                    <a:pt x="173" y="23"/>
                  </a:lnTo>
                  <a:lnTo>
                    <a:pt x="142" y="31"/>
                  </a:lnTo>
                  <a:lnTo>
                    <a:pt x="113" y="39"/>
                  </a:lnTo>
                  <a:lnTo>
                    <a:pt x="89" y="47"/>
                  </a:lnTo>
                  <a:lnTo>
                    <a:pt x="66" y="54"/>
                  </a:lnTo>
                  <a:lnTo>
                    <a:pt x="48" y="60"/>
                  </a:lnTo>
                  <a:lnTo>
                    <a:pt x="33" y="67"/>
                  </a:lnTo>
                  <a:lnTo>
                    <a:pt x="22" y="71"/>
                  </a:lnTo>
                  <a:lnTo>
                    <a:pt x="16" y="74"/>
                  </a:lnTo>
                  <a:lnTo>
                    <a:pt x="13" y="75"/>
                  </a:lnTo>
                  <a:lnTo>
                    <a:pt x="12" y="104"/>
                  </a:lnTo>
                  <a:lnTo>
                    <a:pt x="8" y="167"/>
                  </a:lnTo>
                  <a:lnTo>
                    <a:pt x="3" y="232"/>
                  </a:lnTo>
                  <a:lnTo>
                    <a:pt x="0" y="268"/>
                  </a:lnTo>
                  <a:lnTo>
                    <a:pt x="3" y="267"/>
                  </a:lnTo>
                  <a:lnTo>
                    <a:pt x="12" y="263"/>
                  </a:lnTo>
                  <a:lnTo>
                    <a:pt x="27" y="258"/>
                  </a:lnTo>
                  <a:lnTo>
                    <a:pt x="47" y="252"/>
                  </a:lnTo>
                  <a:lnTo>
                    <a:pt x="70" y="244"/>
                  </a:lnTo>
                  <a:lnTo>
                    <a:pt x="99" y="235"/>
                  </a:lnTo>
                  <a:lnTo>
                    <a:pt x="130" y="225"/>
                  </a:lnTo>
                  <a:lnTo>
                    <a:pt x="163" y="214"/>
                  </a:lnTo>
                  <a:lnTo>
                    <a:pt x="199" y="204"/>
                  </a:lnTo>
                  <a:lnTo>
                    <a:pt x="236" y="193"/>
                  </a:lnTo>
                  <a:lnTo>
                    <a:pt x="274" y="183"/>
                  </a:lnTo>
                  <a:lnTo>
                    <a:pt x="313" y="174"/>
                  </a:lnTo>
                  <a:lnTo>
                    <a:pt x="351" y="166"/>
                  </a:lnTo>
                  <a:lnTo>
                    <a:pt x="388" y="159"/>
                  </a:lnTo>
                  <a:lnTo>
                    <a:pt x="424" y="154"/>
                  </a:lnTo>
                  <a:lnTo>
                    <a:pt x="459" y="151"/>
                  </a:lnTo>
                  <a:lnTo>
                    <a:pt x="492" y="151"/>
                  </a:lnTo>
                  <a:lnTo>
                    <a:pt x="527" y="153"/>
                  </a:lnTo>
                  <a:lnTo>
                    <a:pt x="563" y="161"/>
                  </a:lnTo>
                  <a:lnTo>
                    <a:pt x="599" y="169"/>
                  </a:lnTo>
                  <a:lnTo>
                    <a:pt x="635" y="180"/>
                  </a:lnTo>
                  <a:lnTo>
                    <a:pt x="669" y="193"/>
                  </a:lnTo>
                  <a:lnTo>
                    <a:pt x="704" y="206"/>
                  </a:lnTo>
                  <a:lnTo>
                    <a:pt x="736" y="221"/>
                  </a:lnTo>
                  <a:lnTo>
                    <a:pt x="767" y="236"/>
                  </a:lnTo>
                  <a:lnTo>
                    <a:pt x="796" y="251"/>
                  </a:lnTo>
                  <a:lnTo>
                    <a:pt x="820" y="265"/>
                  </a:lnTo>
                  <a:lnTo>
                    <a:pt x="841" y="277"/>
                  </a:lnTo>
                  <a:lnTo>
                    <a:pt x="859" y="287"/>
                  </a:lnTo>
                  <a:lnTo>
                    <a:pt x="872" y="294"/>
                  </a:lnTo>
                  <a:lnTo>
                    <a:pt x="881" y="301"/>
                  </a:lnTo>
                  <a:lnTo>
                    <a:pt x="883" y="302"/>
                  </a:lnTo>
                  <a:lnTo>
                    <a:pt x="1056" y="302"/>
                  </a:lnTo>
                  <a:lnTo>
                    <a:pt x="1057" y="301"/>
                  </a:lnTo>
                  <a:lnTo>
                    <a:pt x="1061" y="297"/>
                  </a:lnTo>
                  <a:lnTo>
                    <a:pt x="1067" y="289"/>
                  </a:lnTo>
                  <a:lnTo>
                    <a:pt x="1075" y="282"/>
                  </a:lnTo>
                  <a:lnTo>
                    <a:pt x="1087" y="272"/>
                  </a:lnTo>
                  <a:lnTo>
                    <a:pt x="1101" y="261"/>
                  </a:lnTo>
                  <a:lnTo>
                    <a:pt x="1117" y="250"/>
                  </a:lnTo>
                  <a:lnTo>
                    <a:pt x="1137" y="237"/>
                  </a:lnTo>
                  <a:lnTo>
                    <a:pt x="1160" y="226"/>
                  </a:lnTo>
                  <a:lnTo>
                    <a:pt x="1184" y="214"/>
                  </a:lnTo>
                  <a:lnTo>
                    <a:pt x="1212" y="203"/>
                  </a:lnTo>
                  <a:lnTo>
                    <a:pt x="1241" y="193"/>
                  </a:lnTo>
                  <a:lnTo>
                    <a:pt x="1275" y="184"/>
                  </a:lnTo>
                  <a:lnTo>
                    <a:pt x="1311" y="178"/>
                  </a:lnTo>
                  <a:lnTo>
                    <a:pt x="1349" y="174"/>
                  </a:lnTo>
                  <a:lnTo>
                    <a:pt x="1391" y="172"/>
                  </a:lnTo>
                  <a:lnTo>
                    <a:pt x="1436" y="173"/>
                  </a:lnTo>
                  <a:lnTo>
                    <a:pt x="1480" y="178"/>
                  </a:lnTo>
                  <a:lnTo>
                    <a:pt x="1526" y="184"/>
                  </a:lnTo>
                  <a:lnTo>
                    <a:pt x="1569" y="194"/>
                  </a:lnTo>
                  <a:lnTo>
                    <a:pt x="1613" y="205"/>
                  </a:lnTo>
                  <a:lnTo>
                    <a:pt x="1654" y="218"/>
                  </a:lnTo>
                  <a:lnTo>
                    <a:pt x="1693" y="231"/>
                  </a:lnTo>
                  <a:lnTo>
                    <a:pt x="1730" y="245"/>
                  </a:lnTo>
                  <a:lnTo>
                    <a:pt x="1765" y="258"/>
                  </a:lnTo>
                  <a:lnTo>
                    <a:pt x="1796" y="272"/>
                  </a:lnTo>
                  <a:lnTo>
                    <a:pt x="1823" y="284"/>
                  </a:lnTo>
                  <a:lnTo>
                    <a:pt x="1847" y="296"/>
                  </a:lnTo>
                  <a:lnTo>
                    <a:pt x="1865" y="306"/>
                  </a:lnTo>
                  <a:lnTo>
                    <a:pt x="1880" y="313"/>
                  </a:lnTo>
                  <a:lnTo>
                    <a:pt x="1889" y="318"/>
                  </a:lnTo>
                  <a:lnTo>
                    <a:pt x="1891" y="319"/>
                  </a:lnTo>
                  <a:lnTo>
                    <a:pt x="1891" y="272"/>
                  </a:lnTo>
                  <a:lnTo>
                    <a:pt x="1766" y="187"/>
                  </a:lnTo>
                  <a:close/>
                </a:path>
              </a:pathLst>
            </a:custGeom>
            <a:solidFill>
              <a:srgbClr val="DDD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6" name="Freeform 11"/>
            <p:cNvSpPr/>
            <p:nvPr/>
          </p:nvSpPr>
          <p:spPr bwMode="auto">
            <a:xfrm>
              <a:off x="4596" y="2187"/>
              <a:ext cx="328" cy="635"/>
            </a:xfrm>
            <a:custGeom>
              <a:avLst/>
              <a:gdLst>
                <a:gd name="T0" fmla="*/ 2 w 983"/>
                <a:gd name="T1" fmla="*/ 3 h 1904"/>
                <a:gd name="T2" fmla="*/ 3 w 983"/>
                <a:gd name="T3" fmla="*/ 2 h 1904"/>
                <a:gd name="T4" fmla="*/ 3 w 983"/>
                <a:gd name="T5" fmla="*/ 2 h 1904"/>
                <a:gd name="T6" fmla="*/ 3 w 983"/>
                <a:gd name="T7" fmla="*/ 2 h 1904"/>
                <a:gd name="T8" fmla="*/ 3 w 983"/>
                <a:gd name="T9" fmla="*/ 1 h 1904"/>
                <a:gd name="T10" fmla="*/ 4 w 983"/>
                <a:gd name="T11" fmla="*/ 1 h 1904"/>
                <a:gd name="T12" fmla="*/ 4 w 983"/>
                <a:gd name="T13" fmla="*/ 0 h 1904"/>
                <a:gd name="T14" fmla="*/ 4 w 983"/>
                <a:gd name="T15" fmla="*/ 0 h 1904"/>
                <a:gd name="T16" fmla="*/ 3 w 983"/>
                <a:gd name="T17" fmla="*/ 0 h 1904"/>
                <a:gd name="T18" fmla="*/ 3 w 983"/>
                <a:gd name="T19" fmla="*/ 0 h 1904"/>
                <a:gd name="T20" fmla="*/ 3 w 983"/>
                <a:gd name="T21" fmla="*/ 1 h 1904"/>
                <a:gd name="T22" fmla="*/ 3 w 983"/>
                <a:gd name="T23" fmla="*/ 1 h 1904"/>
                <a:gd name="T24" fmla="*/ 3 w 983"/>
                <a:gd name="T25" fmla="*/ 1 h 1904"/>
                <a:gd name="T26" fmla="*/ 3 w 983"/>
                <a:gd name="T27" fmla="*/ 1 h 1904"/>
                <a:gd name="T28" fmla="*/ 3 w 983"/>
                <a:gd name="T29" fmla="*/ 1 h 1904"/>
                <a:gd name="T30" fmla="*/ 2 w 983"/>
                <a:gd name="T31" fmla="*/ 1 h 1904"/>
                <a:gd name="T32" fmla="*/ 2 w 983"/>
                <a:gd name="T33" fmla="*/ 1 h 1904"/>
                <a:gd name="T34" fmla="*/ 2 w 983"/>
                <a:gd name="T35" fmla="*/ 1 h 1904"/>
                <a:gd name="T36" fmla="*/ 2 w 983"/>
                <a:gd name="T37" fmla="*/ 1 h 1904"/>
                <a:gd name="T38" fmla="*/ 2 w 983"/>
                <a:gd name="T39" fmla="*/ 1 h 1904"/>
                <a:gd name="T40" fmla="*/ 2 w 983"/>
                <a:gd name="T41" fmla="*/ 1 h 1904"/>
                <a:gd name="T42" fmla="*/ 2 w 983"/>
                <a:gd name="T43" fmla="*/ 1 h 1904"/>
                <a:gd name="T44" fmla="*/ 2 w 983"/>
                <a:gd name="T45" fmla="*/ 1 h 1904"/>
                <a:gd name="T46" fmla="*/ 2 w 983"/>
                <a:gd name="T47" fmla="*/ 1 h 1904"/>
                <a:gd name="T48" fmla="*/ 2 w 983"/>
                <a:gd name="T49" fmla="*/ 1 h 1904"/>
                <a:gd name="T50" fmla="*/ 2 w 983"/>
                <a:gd name="T51" fmla="*/ 1 h 1904"/>
                <a:gd name="T52" fmla="*/ 2 w 983"/>
                <a:gd name="T53" fmla="*/ 1 h 1904"/>
                <a:gd name="T54" fmla="*/ 2 w 983"/>
                <a:gd name="T55" fmla="*/ 1 h 1904"/>
                <a:gd name="T56" fmla="*/ 2 w 983"/>
                <a:gd name="T57" fmla="*/ 1 h 1904"/>
                <a:gd name="T58" fmla="*/ 2 w 983"/>
                <a:gd name="T59" fmla="*/ 1 h 1904"/>
                <a:gd name="T60" fmla="*/ 2 w 983"/>
                <a:gd name="T61" fmla="*/ 1 h 1904"/>
                <a:gd name="T62" fmla="*/ 2 w 983"/>
                <a:gd name="T63" fmla="*/ 1 h 1904"/>
                <a:gd name="T64" fmla="*/ 2 w 983"/>
                <a:gd name="T65" fmla="*/ 1 h 1904"/>
                <a:gd name="T66" fmla="*/ 2 w 983"/>
                <a:gd name="T67" fmla="*/ 2 h 1904"/>
                <a:gd name="T68" fmla="*/ 2 w 983"/>
                <a:gd name="T69" fmla="*/ 2 h 1904"/>
                <a:gd name="T70" fmla="*/ 1 w 983"/>
                <a:gd name="T71" fmla="*/ 1 h 1904"/>
                <a:gd name="T72" fmla="*/ 1 w 983"/>
                <a:gd name="T73" fmla="*/ 1 h 1904"/>
                <a:gd name="T74" fmla="*/ 1 w 983"/>
                <a:gd name="T75" fmla="*/ 1 h 1904"/>
                <a:gd name="T76" fmla="*/ 1 w 983"/>
                <a:gd name="T77" fmla="*/ 0 h 1904"/>
                <a:gd name="T78" fmla="*/ 1 w 983"/>
                <a:gd name="T79" fmla="*/ 0 h 1904"/>
                <a:gd name="T80" fmla="*/ 0 w 983"/>
                <a:gd name="T81" fmla="*/ 0 h 1904"/>
                <a:gd name="T82" fmla="*/ 0 w 983"/>
                <a:gd name="T83" fmla="*/ 0 h 1904"/>
                <a:gd name="T84" fmla="*/ 0 w 983"/>
                <a:gd name="T85" fmla="*/ 0 h 1904"/>
                <a:gd name="T86" fmla="*/ 0 w 983"/>
                <a:gd name="T87" fmla="*/ 1 h 1904"/>
                <a:gd name="T88" fmla="*/ 1 w 983"/>
                <a:gd name="T89" fmla="*/ 1 h 1904"/>
                <a:gd name="T90" fmla="*/ 1 w 983"/>
                <a:gd name="T91" fmla="*/ 2 h 1904"/>
                <a:gd name="T92" fmla="*/ 1 w 983"/>
                <a:gd name="T93" fmla="*/ 2 h 1904"/>
                <a:gd name="T94" fmla="*/ 1 w 983"/>
                <a:gd name="T95" fmla="*/ 2 h 1904"/>
                <a:gd name="T96" fmla="*/ 1 w 983"/>
                <a:gd name="T97" fmla="*/ 2 h 1904"/>
                <a:gd name="T98" fmla="*/ 1 w 983"/>
                <a:gd name="T99" fmla="*/ 3 h 1904"/>
                <a:gd name="T100" fmla="*/ 1 w 983"/>
                <a:gd name="T101" fmla="*/ 3 h 1904"/>
                <a:gd name="T102" fmla="*/ 1 w 983"/>
                <a:gd name="T103" fmla="*/ 5 h 1904"/>
                <a:gd name="T104" fmla="*/ 2 w 983"/>
                <a:gd name="T105" fmla="*/ 8 h 1904"/>
                <a:gd name="T106" fmla="*/ 4 w 983"/>
                <a:gd name="T107" fmla="*/ 8 h 190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983"/>
                <a:gd name="T163" fmla="*/ 0 h 1904"/>
                <a:gd name="T164" fmla="*/ 983 w 983"/>
                <a:gd name="T165" fmla="*/ 1904 h 190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983" h="1904">
                  <a:moveTo>
                    <a:pt x="695" y="1145"/>
                  </a:moveTo>
                  <a:lnTo>
                    <a:pt x="886" y="1126"/>
                  </a:lnTo>
                  <a:lnTo>
                    <a:pt x="559" y="751"/>
                  </a:lnTo>
                  <a:lnTo>
                    <a:pt x="607" y="584"/>
                  </a:lnTo>
                  <a:lnTo>
                    <a:pt x="613" y="579"/>
                  </a:lnTo>
                  <a:lnTo>
                    <a:pt x="618" y="574"/>
                  </a:lnTo>
                  <a:lnTo>
                    <a:pt x="624" y="568"/>
                  </a:lnTo>
                  <a:lnTo>
                    <a:pt x="629" y="562"/>
                  </a:lnTo>
                  <a:lnTo>
                    <a:pt x="649" y="535"/>
                  </a:lnTo>
                  <a:lnTo>
                    <a:pt x="672" y="502"/>
                  </a:lnTo>
                  <a:lnTo>
                    <a:pt x="695" y="465"/>
                  </a:lnTo>
                  <a:lnTo>
                    <a:pt x="720" y="426"/>
                  </a:lnTo>
                  <a:lnTo>
                    <a:pt x="746" y="382"/>
                  </a:lnTo>
                  <a:lnTo>
                    <a:pt x="772" y="338"/>
                  </a:lnTo>
                  <a:lnTo>
                    <a:pt x="797" y="293"/>
                  </a:lnTo>
                  <a:lnTo>
                    <a:pt x="821" y="249"/>
                  </a:lnTo>
                  <a:lnTo>
                    <a:pt x="845" y="205"/>
                  </a:lnTo>
                  <a:lnTo>
                    <a:pt x="866" y="166"/>
                  </a:lnTo>
                  <a:lnTo>
                    <a:pt x="886" y="128"/>
                  </a:lnTo>
                  <a:lnTo>
                    <a:pt x="903" y="96"/>
                  </a:lnTo>
                  <a:lnTo>
                    <a:pt x="917" y="69"/>
                  </a:lnTo>
                  <a:lnTo>
                    <a:pt x="928" y="48"/>
                  </a:lnTo>
                  <a:lnTo>
                    <a:pt x="934" y="36"/>
                  </a:lnTo>
                  <a:lnTo>
                    <a:pt x="936" y="31"/>
                  </a:lnTo>
                  <a:lnTo>
                    <a:pt x="823" y="44"/>
                  </a:lnTo>
                  <a:lnTo>
                    <a:pt x="821" y="47"/>
                  </a:lnTo>
                  <a:lnTo>
                    <a:pt x="818" y="53"/>
                  </a:lnTo>
                  <a:lnTo>
                    <a:pt x="811" y="63"/>
                  </a:lnTo>
                  <a:lnTo>
                    <a:pt x="804" y="76"/>
                  </a:lnTo>
                  <a:lnTo>
                    <a:pt x="794" y="92"/>
                  </a:lnTo>
                  <a:lnTo>
                    <a:pt x="782" y="112"/>
                  </a:lnTo>
                  <a:lnTo>
                    <a:pt x="769" y="132"/>
                  </a:lnTo>
                  <a:lnTo>
                    <a:pt x="754" y="156"/>
                  </a:lnTo>
                  <a:lnTo>
                    <a:pt x="740" y="179"/>
                  </a:lnTo>
                  <a:lnTo>
                    <a:pt x="724" y="204"/>
                  </a:lnTo>
                  <a:lnTo>
                    <a:pt x="706" y="229"/>
                  </a:lnTo>
                  <a:lnTo>
                    <a:pt x="689" y="255"/>
                  </a:lnTo>
                  <a:lnTo>
                    <a:pt x="672" y="279"/>
                  </a:lnTo>
                  <a:lnTo>
                    <a:pt x="653" y="303"/>
                  </a:lnTo>
                  <a:lnTo>
                    <a:pt x="636" y="325"/>
                  </a:lnTo>
                  <a:lnTo>
                    <a:pt x="618" y="346"/>
                  </a:lnTo>
                  <a:lnTo>
                    <a:pt x="617" y="346"/>
                  </a:lnTo>
                  <a:lnTo>
                    <a:pt x="617" y="348"/>
                  </a:lnTo>
                  <a:lnTo>
                    <a:pt x="612" y="338"/>
                  </a:lnTo>
                  <a:lnTo>
                    <a:pt x="606" y="324"/>
                  </a:lnTo>
                  <a:lnTo>
                    <a:pt x="600" y="305"/>
                  </a:lnTo>
                  <a:lnTo>
                    <a:pt x="597" y="282"/>
                  </a:lnTo>
                  <a:lnTo>
                    <a:pt x="596" y="262"/>
                  </a:lnTo>
                  <a:lnTo>
                    <a:pt x="592" y="245"/>
                  </a:lnTo>
                  <a:lnTo>
                    <a:pt x="587" y="227"/>
                  </a:lnTo>
                  <a:lnTo>
                    <a:pt x="579" y="209"/>
                  </a:lnTo>
                  <a:lnTo>
                    <a:pt x="569" y="194"/>
                  </a:lnTo>
                  <a:lnTo>
                    <a:pt x="555" y="182"/>
                  </a:lnTo>
                  <a:lnTo>
                    <a:pt x="540" y="173"/>
                  </a:lnTo>
                  <a:lnTo>
                    <a:pt x="524" y="167"/>
                  </a:lnTo>
                  <a:lnTo>
                    <a:pt x="508" y="163"/>
                  </a:lnTo>
                  <a:lnTo>
                    <a:pt x="493" y="163"/>
                  </a:lnTo>
                  <a:lnTo>
                    <a:pt x="481" y="167"/>
                  </a:lnTo>
                  <a:lnTo>
                    <a:pt x="471" y="173"/>
                  </a:lnTo>
                  <a:lnTo>
                    <a:pt x="461" y="184"/>
                  </a:lnTo>
                  <a:lnTo>
                    <a:pt x="457" y="193"/>
                  </a:lnTo>
                  <a:lnTo>
                    <a:pt x="457" y="203"/>
                  </a:lnTo>
                  <a:lnTo>
                    <a:pt x="462" y="213"/>
                  </a:lnTo>
                  <a:lnTo>
                    <a:pt x="456" y="216"/>
                  </a:lnTo>
                  <a:lnTo>
                    <a:pt x="450" y="220"/>
                  </a:lnTo>
                  <a:lnTo>
                    <a:pt x="442" y="224"/>
                  </a:lnTo>
                  <a:lnTo>
                    <a:pt x="436" y="229"/>
                  </a:lnTo>
                  <a:lnTo>
                    <a:pt x="388" y="267"/>
                  </a:lnTo>
                  <a:lnTo>
                    <a:pt x="402" y="282"/>
                  </a:lnTo>
                  <a:lnTo>
                    <a:pt x="400" y="283"/>
                  </a:lnTo>
                  <a:lnTo>
                    <a:pt x="398" y="286"/>
                  </a:lnTo>
                  <a:lnTo>
                    <a:pt x="393" y="286"/>
                  </a:lnTo>
                  <a:lnTo>
                    <a:pt x="390" y="286"/>
                  </a:lnTo>
                  <a:lnTo>
                    <a:pt x="388" y="288"/>
                  </a:lnTo>
                  <a:lnTo>
                    <a:pt x="388" y="291"/>
                  </a:lnTo>
                  <a:lnTo>
                    <a:pt x="389" y="294"/>
                  </a:lnTo>
                  <a:lnTo>
                    <a:pt x="389" y="296"/>
                  </a:lnTo>
                  <a:lnTo>
                    <a:pt x="389" y="297"/>
                  </a:lnTo>
                  <a:lnTo>
                    <a:pt x="388" y="298"/>
                  </a:lnTo>
                  <a:lnTo>
                    <a:pt x="386" y="298"/>
                  </a:lnTo>
                  <a:lnTo>
                    <a:pt x="382" y="298"/>
                  </a:lnTo>
                  <a:lnTo>
                    <a:pt x="381" y="302"/>
                  </a:lnTo>
                  <a:lnTo>
                    <a:pt x="381" y="305"/>
                  </a:lnTo>
                  <a:lnTo>
                    <a:pt x="382" y="310"/>
                  </a:lnTo>
                  <a:lnTo>
                    <a:pt x="383" y="313"/>
                  </a:lnTo>
                  <a:lnTo>
                    <a:pt x="384" y="315"/>
                  </a:lnTo>
                  <a:lnTo>
                    <a:pt x="383" y="318"/>
                  </a:lnTo>
                  <a:lnTo>
                    <a:pt x="379" y="322"/>
                  </a:lnTo>
                  <a:lnTo>
                    <a:pt x="376" y="327"/>
                  </a:lnTo>
                  <a:lnTo>
                    <a:pt x="374" y="336"/>
                  </a:lnTo>
                  <a:lnTo>
                    <a:pt x="378" y="346"/>
                  </a:lnTo>
                  <a:lnTo>
                    <a:pt x="388" y="355"/>
                  </a:lnTo>
                  <a:lnTo>
                    <a:pt x="394" y="357"/>
                  </a:lnTo>
                  <a:lnTo>
                    <a:pt x="400" y="360"/>
                  </a:lnTo>
                  <a:lnTo>
                    <a:pt x="408" y="362"/>
                  </a:lnTo>
                  <a:lnTo>
                    <a:pt x="415" y="364"/>
                  </a:lnTo>
                  <a:lnTo>
                    <a:pt x="414" y="401"/>
                  </a:lnTo>
                  <a:lnTo>
                    <a:pt x="405" y="397"/>
                  </a:lnTo>
                  <a:lnTo>
                    <a:pt x="397" y="393"/>
                  </a:lnTo>
                  <a:lnTo>
                    <a:pt x="388" y="390"/>
                  </a:lnTo>
                  <a:lnTo>
                    <a:pt x="379" y="385"/>
                  </a:lnTo>
                  <a:lnTo>
                    <a:pt x="371" y="380"/>
                  </a:lnTo>
                  <a:lnTo>
                    <a:pt x="362" y="374"/>
                  </a:lnTo>
                  <a:lnTo>
                    <a:pt x="353" y="367"/>
                  </a:lnTo>
                  <a:lnTo>
                    <a:pt x="345" y="361"/>
                  </a:lnTo>
                  <a:lnTo>
                    <a:pt x="325" y="344"/>
                  </a:lnTo>
                  <a:lnTo>
                    <a:pt x="304" y="322"/>
                  </a:lnTo>
                  <a:lnTo>
                    <a:pt x="283" y="297"/>
                  </a:lnTo>
                  <a:lnTo>
                    <a:pt x="262" y="270"/>
                  </a:lnTo>
                  <a:lnTo>
                    <a:pt x="241" y="241"/>
                  </a:lnTo>
                  <a:lnTo>
                    <a:pt x="221" y="210"/>
                  </a:lnTo>
                  <a:lnTo>
                    <a:pt x="201" y="179"/>
                  </a:lnTo>
                  <a:lnTo>
                    <a:pt x="182" y="149"/>
                  </a:lnTo>
                  <a:lnTo>
                    <a:pt x="165" y="120"/>
                  </a:lnTo>
                  <a:lnTo>
                    <a:pt x="150" y="92"/>
                  </a:lnTo>
                  <a:lnTo>
                    <a:pt x="135" y="66"/>
                  </a:lnTo>
                  <a:lnTo>
                    <a:pt x="124" y="44"/>
                  </a:lnTo>
                  <a:lnTo>
                    <a:pt x="114" y="26"/>
                  </a:lnTo>
                  <a:lnTo>
                    <a:pt x="107" y="12"/>
                  </a:lnTo>
                  <a:lnTo>
                    <a:pt x="102" y="3"/>
                  </a:lnTo>
                  <a:lnTo>
                    <a:pt x="101" y="0"/>
                  </a:lnTo>
                  <a:lnTo>
                    <a:pt x="0" y="2"/>
                  </a:lnTo>
                  <a:lnTo>
                    <a:pt x="2" y="6"/>
                  </a:lnTo>
                  <a:lnTo>
                    <a:pt x="8" y="18"/>
                  </a:lnTo>
                  <a:lnTo>
                    <a:pt x="15" y="36"/>
                  </a:lnTo>
                  <a:lnTo>
                    <a:pt x="26" y="60"/>
                  </a:lnTo>
                  <a:lnTo>
                    <a:pt x="40" y="90"/>
                  </a:lnTo>
                  <a:lnTo>
                    <a:pt x="56" y="123"/>
                  </a:lnTo>
                  <a:lnTo>
                    <a:pt x="75" y="161"/>
                  </a:lnTo>
                  <a:lnTo>
                    <a:pt x="93" y="200"/>
                  </a:lnTo>
                  <a:lnTo>
                    <a:pt x="114" y="242"/>
                  </a:lnTo>
                  <a:lnTo>
                    <a:pt x="137" y="284"/>
                  </a:lnTo>
                  <a:lnTo>
                    <a:pt x="159" y="328"/>
                  </a:lnTo>
                  <a:lnTo>
                    <a:pt x="182" y="370"/>
                  </a:lnTo>
                  <a:lnTo>
                    <a:pt x="206" y="409"/>
                  </a:lnTo>
                  <a:lnTo>
                    <a:pt x="230" y="448"/>
                  </a:lnTo>
                  <a:lnTo>
                    <a:pt x="252" y="484"/>
                  </a:lnTo>
                  <a:lnTo>
                    <a:pt x="274" y="515"/>
                  </a:lnTo>
                  <a:lnTo>
                    <a:pt x="263" y="526"/>
                  </a:lnTo>
                  <a:lnTo>
                    <a:pt x="253" y="541"/>
                  </a:lnTo>
                  <a:lnTo>
                    <a:pt x="248" y="558"/>
                  </a:lnTo>
                  <a:lnTo>
                    <a:pt x="246" y="577"/>
                  </a:lnTo>
                  <a:lnTo>
                    <a:pt x="247" y="588"/>
                  </a:lnTo>
                  <a:lnTo>
                    <a:pt x="248" y="598"/>
                  </a:lnTo>
                  <a:lnTo>
                    <a:pt x="252" y="608"/>
                  </a:lnTo>
                  <a:lnTo>
                    <a:pt x="257" y="616"/>
                  </a:lnTo>
                  <a:lnTo>
                    <a:pt x="263" y="625"/>
                  </a:lnTo>
                  <a:lnTo>
                    <a:pt x="269" y="632"/>
                  </a:lnTo>
                  <a:lnTo>
                    <a:pt x="277" y="639"/>
                  </a:lnTo>
                  <a:lnTo>
                    <a:pt x="285" y="644"/>
                  </a:lnTo>
                  <a:lnTo>
                    <a:pt x="299" y="817"/>
                  </a:lnTo>
                  <a:lnTo>
                    <a:pt x="197" y="1192"/>
                  </a:lnTo>
                  <a:lnTo>
                    <a:pt x="256" y="1187"/>
                  </a:lnTo>
                  <a:lnTo>
                    <a:pt x="269" y="1900"/>
                  </a:lnTo>
                  <a:lnTo>
                    <a:pt x="366" y="1904"/>
                  </a:lnTo>
                  <a:lnTo>
                    <a:pt x="445" y="1169"/>
                  </a:lnTo>
                  <a:lnTo>
                    <a:pt x="488" y="1165"/>
                  </a:lnTo>
                  <a:lnTo>
                    <a:pt x="887" y="1888"/>
                  </a:lnTo>
                  <a:lnTo>
                    <a:pt x="983" y="1904"/>
                  </a:lnTo>
                  <a:lnTo>
                    <a:pt x="695" y="114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Freeform 12"/>
            <p:cNvSpPr/>
            <p:nvPr/>
          </p:nvSpPr>
          <p:spPr bwMode="auto">
            <a:xfrm>
              <a:off x="4764" y="2307"/>
              <a:ext cx="33" cy="16"/>
            </a:xfrm>
            <a:custGeom>
              <a:avLst/>
              <a:gdLst>
                <a:gd name="T0" fmla="*/ 0 w 100"/>
                <a:gd name="T1" fmla="*/ 0 h 47"/>
                <a:gd name="T2" fmla="*/ 0 w 100"/>
                <a:gd name="T3" fmla="*/ 0 h 47"/>
                <a:gd name="T4" fmla="*/ 0 w 100"/>
                <a:gd name="T5" fmla="*/ 0 h 47"/>
                <a:gd name="T6" fmla="*/ 0 w 100"/>
                <a:gd name="T7" fmla="*/ 0 h 47"/>
                <a:gd name="T8" fmla="*/ 0 w 100"/>
                <a:gd name="T9" fmla="*/ 0 h 47"/>
                <a:gd name="T10" fmla="*/ 0 w 100"/>
                <a:gd name="T11" fmla="*/ 0 h 47"/>
                <a:gd name="T12" fmla="*/ 0 w 100"/>
                <a:gd name="T13" fmla="*/ 0 h 47"/>
                <a:gd name="T14" fmla="*/ 0 w 100"/>
                <a:gd name="T15" fmla="*/ 0 h 47"/>
                <a:gd name="T16" fmla="*/ 0 w 100"/>
                <a:gd name="T17" fmla="*/ 0 h 47"/>
                <a:gd name="T18" fmla="*/ 0 w 100"/>
                <a:gd name="T19" fmla="*/ 0 h 47"/>
                <a:gd name="T20" fmla="*/ 0 w 100"/>
                <a:gd name="T21" fmla="*/ 0 h 47"/>
                <a:gd name="T22" fmla="*/ 0 w 100"/>
                <a:gd name="T23" fmla="*/ 0 h 47"/>
                <a:gd name="T24" fmla="*/ 0 w 100"/>
                <a:gd name="T25" fmla="*/ 0 h 47"/>
                <a:gd name="T26" fmla="*/ 0 w 100"/>
                <a:gd name="T27" fmla="*/ 0 h 47"/>
                <a:gd name="T28" fmla="*/ 0 w 100"/>
                <a:gd name="T29" fmla="*/ 0 h 47"/>
                <a:gd name="T30" fmla="*/ 0 w 100"/>
                <a:gd name="T31" fmla="*/ 0 h 47"/>
                <a:gd name="T32" fmla="*/ 0 w 100"/>
                <a:gd name="T33" fmla="*/ 0 h 47"/>
                <a:gd name="T34" fmla="*/ 0 w 100"/>
                <a:gd name="T35" fmla="*/ 0 h 47"/>
                <a:gd name="T36" fmla="*/ 0 w 100"/>
                <a:gd name="T37" fmla="*/ 0 h 47"/>
                <a:gd name="T38" fmla="*/ 0 w 100"/>
                <a:gd name="T39" fmla="*/ 0 h 47"/>
                <a:gd name="T40" fmla="*/ 0 w 100"/>
                <a:gd name="T41" fmla="*/ 0 h 47"/>
                <a:gd name="T42" fmla="*/ 0 w 100"/>
                <a:gd name="T43" fmla="*/ 0 h 47"/>
                <a:gd name="T44" fmla="*/ 0 w 100"/>
                <a:gd name="T45" fmla="*/ 0 h 47"/>
                <a:gd name="T46" fmla="*/ 0 w 100"/>
                <a:gd name="T47" fmla="*/ 0 h 47"/>
                <a:gd name="T48" fmla="*/ 0 w 100"/>
                <a:gd name="T49" fmla="*/ 0 h 47"/>
                <a:gd name="T50" fmla="*/ 0 w 100"/>
                <a:gd name="T51" fmla="*/ 0 h 4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00"/>
                <a:gd name="T79" fmla="*/ 0 h 47"/>
                <a:gd name="T80" fmla="*/ 100 w 100"/>
                <a:gd name="T81" fmla="*/ 47 h 4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00" h="47">
                  <a:moveTo>
                    <a:pt x="100" y="0"/>
                  </a:moveTo>
                  <a:lnTo>
                    <a:pt x="91" y="9"/>
                  </a:lnTo>
                  <a:lnTo>
                    <a:pt x="79" y="18"/>
                  </a:lnTo>
                  <a:lnTo>
                    <a:pt x="69" y="25"/>
                  </a:lnTo>
                  <a:lnTo>
                    <a:pt x="57" y="31"/>
                  </a:lnTo>
                  <a:lnTo>
                    <a:pt x="46" y="36"/>
                  </a:lnTo>
                  <a:lnTo>
                    <a:pt x="34" y="41"/>
                  </a:lnTo>
                  <a:lnTo>
                    <a:pt x="22" y="45"/>
                  </a:lnTo>
                  <a:lnTo>
                    <a:pt x="10" y="47"/>
                  </a:lnTo>
                  <a:lnTo>
                    <a:pt x="0" y="0"/>
                  </a:lnTo>
                  <a:lnTo>
                    <a:pt x="4" y="3"/>
                  </a:lnTo>
                  <a:lnTo>
                    <a:pt x="8" y="5"/>
                  </a:lnTo>
                  <a:lnTo>
                    <a:pt x="13" y="8"/>
                  </a:lnTo>
                  <a:lnTo>
                    <a:pt x="17" y="9"/>
                  </a:lnTo>
                  <a:lnTo>
                    <a:pt x="22" y="11"/>
                  </a:lnTo>
                  <a:lnTo>
                    <a:pt x="29" y="13"/>
                  </a:lnTo>
                  <a:lnTo>
                    <a:pt x="35" y="13"/>
                  </a:lnTo>
                  <a:lnTo>
                    <a:pt x="41" y="13"/>
                  </a:lnTo>
                  <a:lnTo>
                    <a:pt x="50" y="11"/>
                  </a:lnTo>
                  <a:lnTo>
                    <a:pt x="58" y="11"/>
                  </a:lnTo>
                  <a:lnTo>
                    <a:pt x="67" y="9"/>
                  </a:lnTo>
                  <a:lnTo>
                    <a:pt x="74" y="8"/>
                  </a:lnTo>
                  <a:lnTo>
                    <a:pt x="82" y="6"/>
                  </a:lnTo>
                  <a:lnTo>
                    <a:pt x="89" y="4"/>
                  </a:lnTo>
                  <a:lnTo>
                    <a:pt x="95" y="3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Freeform 13"/>
            <p:cNvSpPr/>
            <p:nvPr/>
          </p:nvSpPr>
          <p:spPr bwMode="auto">
            <a:xfrm>
              <a:off x="4747" y="2269"/>
              <a:ext cx="8" cy="9"/>
            </a:xfrm>
            <a:custGeom>
              <a:avLst/>
              <a:gdLst>
                <a:gd name="T0" fmla="*/ 0 w 24"/>
                <a:gd name="T1" fmla="*/ 0 h 26"/>
                <a:gd name="T2" fmla="*/ 0 w 24"/>
                <a:gd name="T3" fmla="*/ 0 h 26"/>
                <a:gd name="T4" fmla="*/ 0 w 24"/>
                <a:gd name="T5" fmla="*/ 0 h 26"/>
                <a:gd name="T6" fmla="*/ 0 w 24"/>
                <a:gd name="T7" fmla="*/ 0 h 26"/>
                <a:gd name="T8" fmla="*/ 0 w 24"/>
                <a:gd name="T9" fmla="*/ 0 h 26"/>
                <a:gd name="T10" fmla="*/ 0 w 24"/>
                <a:gd name="T11" fmla="*/ 0 h 26"/>
                <a:gd name="T12" fmla="*/ 0 w 24"/>
                <a:gd name="T13" fmla="*/ 0 h 26"/>
                <a:gd name="T14" fmla="*/ 0 w 24"/>
                <a:gd name="T15" fmla="*/ 0 h 26"/>
                <a:gd name="T16" fmla="*/ 0 w 24"/>
                <a:gd name="T17" fmla="*/ 0 h 26"/>
                <a:gd name="T18" fmla="*/ 0 w 24"/>
                <a:gd name="T19" fmla="*/ 0 h 26"/>
                <a:gd name="T20" fmla="*/ 0 w 24"/>
                <a:gd name="T21" fmla="*/ 0 h 26"/>
                <a:gd name="T22" fmla="*/ 0 w 24"/>
                <a:gd name="T23" fmla="*/ 0 h 26"/>
                <a:gd name="T24" fmla="*/ 0 w 24"/>
                <a:gd name="T25" fmla="*/ 0 h 26"/>
                <a:gd name="T26" fmla="*/ 0 w 24"/>
                <a:gd name="T27" fmla="*/ 0 h 26"/>
                <a:gd name="T28" fmla="*/ 0 w 24"/>
                <a:gd name="T29" fmla="*/ 0 h 26"/>
                <a:gd name="T30" fmla="*/ 0 w 24"/>
                <a:gd name="T31" fmla="*/ 0 h 26"/>
                <a:gd name="T32" fmla="*/ 0 w 24"/>
                <a:gd name="T33" fmla="*/ 0 h 2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4"/>
                <a:gd name="T52" fmla="*/ 0 h 26"/>
                <a:gd name="T53" fmla="*/ 24 w 24"/>
                <a:gd name="T54" fmla="*/ 26 h 2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4" h="26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3" y="3"/>
                  </a:lnTo>
                  <a:lnTo>
                    <a:pt x="19" y="7"/>
                  </a:lnTo>
                  <a:lnTo>
                    <a:pt x="23" y="15"/>
                  </a:lnTo>
                  <a:lnTo>
                    <a:pt x="24" y="21"/>
                  </a:lnTo>
                  <a:lnTo>
                    <a:pt x="23" y="25"/>
                  </a:lnTo>
                  <a:lnTo>
                    <a:pt x="23" y="26"/>
                  </a:lnTo>
                  <a:lnTo>
                    <a:pt x="21" y="26"/>
                  </a:lnTo>
                  <a:lnTo>
                    <a:pt x="16" y="24"/>
                  </a:lnTo>
                  <a:lnTo>
                    <a:pt x="10" y="21"/>
                  </a:lnTo>
                  <a:lnTo>
                    <a:pt x="5" y="16"/>
                  </a:lnTo>
                  <a:lnTo>
                    <a:pt x="2" y="10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Freeform 14"/>
            <p:cNvSpPr/>
            <p:nvPr/>
          </p:nvSpPr>
          <p:spPr bwMode="auto">
            <a:xfrm>
              <a:off x="4748" y="2270"/>
              <a:ext cx="6" cy="6"/>
            </a:xfrm>
            <a:custGeom>
              <a:avLst/>
              <a:gdLst>
                <a:gd name="T0" fmla="*/ 0 w 18"/>
                <a:gd name="T1" fmla="*/ 0 h 16"/>
                <a:gd name="T2" fmla="*/ 0 w 18"/>
                <a:gd name="T3" fmla="*/ 0 h 16"/>
                <a:gd name="T4" fmla="*/ 0 w 18"/>
                <a:gd name="T5" fmla="*/ 0 h 16"/>
                <a:gd name="T6" fmla="*/ 0 w 18"/>
                <a:gd name="T7" fmla="*/ 0 h 16"/>
                <a:gd name="T8" fmla="*/ 0 w 18"/>
                <a:gd name="T9" fmla="*/ 0 h 16"/>
                <a:gd name="T10" fmla="*/ 0 w 18"/>
                <a:gd name="T11" fmla="*/ 0 h 16"/>
                <a:gd name="T12" fmla="*/ 0 w 18"/>
                <a:gd name="T13" fmla="*/ 0 h 16"/>
                <a:gd name="T14" fmla="*/ 0 w 18"/>
                <a:gd name="T15" fmla="*/ 0 h 16"/>
                <a:gd name="T16" fmla="*/ 0 w 18"/>
                <a:gd name="T17" fmla="*/ 0 h 16"/>
                <a:gd name="T18" fmla="*/ 0 w 18"/>
                <a:gd name="T19" fmla="*/ 0 h 16"/>
                <a:gd name="T20" fmla="*/ 0 w 18"/>
                <a:gd name="T21" fmla="*/ 0 h 16"/>
                <a:gd name="T22" fmla="*/ 0 w 18"/>
                <a:gd name="T23" fmla="*/ 0 h 16"/>
                <a:gd name="T24" fmla="*/ 0 w 18"/>
                <a:gd name="T25" fmla="*/ 0 h 16"/>
                <a:gd name="T26" fmla="*/ 0 w 18"/>
                <a:gd name="T27" fmla="*/ 0 h 16"/>
                <a:gd name="T28" fmla="*/ 0 w 18"/>
                <a:gd name="T29" fmla="*/ 0 h 16"/>
                <a:gd name="T30" fmla="*/ 0 w 18"/>
                <a:gd name="T31" fmla="*/ 0 h 16"/>
                <a:gd name="T32" fmla="*/ 0 w 18"/>
                <a:gd name="T33" fmla="*/ 0 h 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8"/>
                <a:gd name="T52" fmla="*/ 0 h 16"/>
                <a:gd name="T53" fmla="*/ 18 w 18"/>
                <a:gd name="T54" fmla="*/ 16 h 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8" h="16">
                  <a:moveTo>
                    <a:pt x="13" y="15"/>
                  </a:moveTo>
                  <a:lnTo>
                    <a:pt x="16" y="12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6"/>
                  </a:lnTo>
                  <a:lnTo>
                    <a:pt x="10" y="16"/>
                  </a:lnTo>
                  <a:lnTo>
                    <a:pt x="13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Freeform 15"/>
            <p:cNvSpPr/>
            <p:nvPr/>
          </p:nvSpPr>
          <p:spPr bwMode="auto">
            <a:xfrm>
              <a:off x="4731" y="2266"/>
              <a:ext cx="13" cy="15"/>
            </a:xfrm>
            <a:custGeom>
              <a:avLst/>
              <a:gdLst>
                <a:gd name="T0" fmla="*/ 0 w 38"/>
                <a:gd name="T1" fmla="*/ 0 h 44"/>
                <a:gd name="T2" fmla="*/ 0 w 38"/>
                <a:gd name="T3" fmla="*/ 0 h 44"/>
                <a:gd name="T4" fmla="*/ 0 w 38"/>
                <a:gd name="T5" fmla="*/ 0 h 44"/>
                <a:gd name="T6" fmla="*/ 0 w 38"/>
                <a:gd name="T7" fmla="*/ 0 h 44"/>
                <a:gd name="T8" fmla="*/ 0 w 38"/>
                <a:gd name="T9" fmla="*/ 0 h 44"/>
                <a:gd name="T10" fmla="*/ 0 w 38"/>
                <a:gd name="T11" fmla="*/ 0 h 44"/>
                <a:gd name="T12" fmla="*/ 0 w 38"/>
                <a:gd name="T13" fmla="*/ 0 h 44"/>
                <a:gd name="T14" fmla="*/ 0 w 38"/>
                <a:gd name="T15" fmla="*/ 0 h 44"/>
                <a:gd name="T16" fmla="*/ 0 w 38"/>
                <a:gd name="T17" fmla="*/ 0 h 44"/>
                <a:gd name="T18" fmla="*/ 0 w 38"/>
                <a:gd name="T19" fmla="*/ 0 h 44"/>
                <a:gd name="T20" fmla="*/ 0 w 38"/>
                <a:gd name="T21" fmla="*/ 0 h 44"/>
                <a:gd name="T22" fmla="*/ 0 w 38"/>
                <a:gd name="T23" fmla="*/ 0 h 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"/>
                <a:gd name="T37" fmla="*/ 0 h 44"/>
                <a:gd name="T38" fmla="*/ 38 w 38"/>
                <a:gd name="T39" fmla="*/ 44 h 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" h="44">
                  <a:moveTo>
                    <a:pt x="38" y="0"/>
                  </a:moveTo>
                  <a:lnTo>
                    <a:pt x="0" y="31"/>
                  </a:lnTo>
                  <a:lnTo>
                    <a:pt x="9" y="44"/>
                  </a:lnTo>
                  <a:lnTo>
                    <a:pt x="10" y="44"/>
                  </a:lnTo>
                  <a:lnTo>
                    <a:pt x="11" y="41"/>
                  </a:lnTo>
                  <a:lnTo>
                    <a:pt x="12" y="40"/>
                  </a:lnTo>
                  <a:lnTo>
                    <a:pt x="14" y="36"/>
                  </a:lnTo>
                  <a:lnTo>
                    <a:pt x="14" y="33"/>
                  </a:lnTo>
                  <a:lnTo>
                    <a:pt x="12" y="30"/>
                  </a:lnTo>
                  <a:lnTo>
                    <a:pt x="11" y="29"/>
                  </a:lnTo>
                  <a:lnTo>
                    <a:pt x="10" y="29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1" name="Freeform 16"/>
            <p:cNvSpPr/>
            <p:nvPr/>
          </p:nvSpPr>
          <p:spPr bwMode="auto">
            <a:xfrm>
              <a:off x="4750" y="2307"/>
              <a:ext cx="11" cy="18"/>
            </a:xfrm>
            <a:custGeom>
              <a:avLst/>
              <a:gdLst>
                <a:gd name="T0" fmla="*/ 0 w 31"/>
                <a:gd name="T1" fmla="*/ 0 h 52"/>
                <a:gd name="T2" fmla="*/ 0 w 31"/>
                <a:gd name="T3" fmla="*/ 0 h 52"/>
                <a:gd name="T4" fmla="*/ 0 w 31"/>
                <a:gd name="T5" fmla="*/ 0 h 52"/>
                <a:gd name="T6" fmla="*/ 0 w 31"/>
                <a:gd name="T7" fmla="*/ 0 h 52"/>
                <a:gd name="T8" fmla="*/ 0 w 31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2"/>
                <a:gd name="T17" fmla="*/ 31 w 31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2">
                  <a:moveTo>
                    <a:pt x="0" y="4"/>
                  </a:moveTo>
                  <a:lnTo>
                    <a:pt x="8" y="52"/>
                  </a:lnTo>
                  <a:lnTo>
                    <a:pt x="31" y="50"/>
                  </a:lnTo>
                  <a:lnTo>
                    <a:pt x="26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2" name="Freeform 17"/>
            <p:cNvSpPr/>
            <p:nvPr/>
          </p:nvSpPr>
          <p:spPr bwMode="auto">
            <a:xfrm>
              <a:off x="4735" y="2281"/>
              <a:ext cx="31" cy="23"/>
            </a:xfrm>
            <a:custGeom>
              <a:avLst/>
              <a:gdLst>
                <a:gd name="T0" fmla="*/ 0 w 93"/>
                <a:gd name="T1" fmla="*/ 0 h 69"/>
                <a:gd name="T2" fmla="*/ 0 w 93"/>
                <a:gd name="T3" fmla="*/ 0 h 69"/>
                <a:gd name="T4" fmla="*/ 0 w 93"/>
                <a:gd name="T5" fmla="*/ 0 h 69"/>
                <a:gd name="T6" fmla="*/ 0 w 93"/>
                <a:gd name="T7" fmla="*/ 0 h 69"/>
                <a:gd name="T8" fmla="*/ 0 w 93"/>
                <a:gd name="T9" fmla="*/ 0 h 69"/>
                <a:gd name="T10" fmla="*/ 0 w 93"/>
                <a:gd name="T11" fmla="*/ 0 h 69"/>
                <a:gd name="T12" fmla="*/ 0 w 93"/>
                <a:gd name="T13" fmla="*/ 0 h 69"/>
                <a:gd name="T14" fmla="*/ 0 w 93"/>
                <a:gd name="T15" fmla="*/ 0 h 69"/>
                <a:gd name="T16" fmla="*/ 0 w 93"/>
                <a:gd name="T17" fmla="*/ 0 h 69"/>
                <a:gd name="T18" fmla="*/ 0 w 93"/>
                <a:gd name="T19" fmla="*/ 0 h 69"/>
                <a:gd name="T20" fmla="*/ 0 w 93"/>
                <a:gd name="T21" fmla="*/ 0 h 69"/>
                <a:gd name="T22" fmla="*/ 0 w 93"/>
                <a:gd name="T23" fmla="*/ 0 h 69"/>
                <a:gd name="T24" fmla="*/ 0 w 93"/>
                <a:gd name="T25" fmla="*/ 0 h 69"/>
                <a:gd name="T26" fmla="*/ 0 w 93"/>
                <a:gd name="T27" fmla="*/ 0 h 69"/>
                <a:gd name="T28" fmla="*/ 0 w 93"/>
                <a:gd name="T29" fmla="*/ 0 h 69"/>
                <a:gd name="T30" fmla="*/ 0 w 93"/>
                <a:gd name="T31" fmla="*/ 0 h 69"/>
                <a:gd name="T32" fmla="*/ 0 w 93"/>
                <a:gd name="T33" fmla="*/ 0 h 69"/>
                <a:gd name="T34" fmla="*/ 0 w 93"/>
                <a:gd name="T35" fmla="*/ 0 h 69"/>
                <a:gd name="T36" fmla="*/ 0 w 93"/>
                <a:gd name="T37" fmla="*/ 0 h 69"/>
                <a:gd name="T38" fmla="*/ 0 w 93"/>
                <a:gd name="T39" fmla="*/ 0 h 69"/>
                <a:gd name="T40" fmla="*/ 0 w 93"/>
                <a:gd name="T41" fmla="*/ 0 h 69"/>
                <a:gd name="T42" fmla="*/ 0 w 93"/>
                <a:gd name="T43" fmla="*/ 0 h 6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93"/>
                <a:gd name="T67" fmla="*/ 0 h 69"/>
                <a:gd name="T68" fmla="*/ 93 w 93"/>
                <a:gd name="T69" fmla="*/ 69 h 6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93" h="69">
                  <a:moveTo>
                    <a:pt x="91" y="0"/>
                  </a:moveTo>
                  <a:lnTo>
                    <a:pt x="0" y="69"/>
                  </a:lnTo>
                  <a:lnTo>
                    <a:pt x="3" y="69"/>
                  </a:lnTo>
                  <a:lnTo>
                    <a:pt x="9" y="69"/>
                  </a:lnTo>
                  <a:lnTo>
                    <a:pt x="18" y="68"/>
                  </a:lnTo>
                  <a:lnTo>
                    <a:pt x="29" y="68"/>
                  </a:lnTo>
                  <a:lnTo>
                    <a:pt x="40" y="67"/>
                  </a:lnTo>
                  <a:lnTo>
                    <a:pt x="52" y="66"/>
                  </a:lnTo>
                  <a:lnTo>
                    <a:pt x="65" y="63"/>
                  </a:lnTo>
                  <a:lnTo>
                    <a:pt x="75" y="61"/>
                  </a:lnTo>
                  <a:lnTo>
                    <a:pt x="77" y="59"/>
                  </a:lnTo>
                  <a:lnTo>
                    <a:pt x="79" y="58"/>
                  </a:lnTo>
                  <a:lnTo>
                    <a:pt x="81" y="58"/>
                  </a:lnTo>
                  <a:lnTo>
                    <a:pt x="83" y="57"/>
                  </a:lnTo>
                  <a:lnTo>
                    <a:pt x="84" y="56"/>
                  </a:lnTo>
                  <a:lnTo>
                    <a:pt x="84" y="54"/>
                  </a:lnTo>
                  <a:lnTo>
                    <a:pt x="86" y="53"/>
                  </a:lnTo>
                  <a:lnTo>
                    <a:pt x="89" y="43"/>
                  </a:lnTo>
                  <a:lnTo>
                    <a:pt x="93" y="31"/>
                  </a:lnTo>
                  <a:lnTo>
                    <a:pt x="93" y="1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3" name="Freeform 18"/>
            <p:cNvSpPr/>
            <p:nvPr/>
          </p:nvSpPr>
          <p:spPr bwMode="auto">
            <a:xfrm>
              <a:off x="4779" y="2253"/>
              <a:ext cx="11" cy="35"/>
            </a:xfrm>
            <a:custGeom>
              <a:avLst/>
              <a:gdLst>
                <a:gd name="T0" fmla="*/ 0 w 32"/>
                <a:gd name="T1" fmla="*/ 0 h 107"/>
                <a:gd name="T2" fmla="*/ 0 w 32"/>
                <a:gd name="T3" fmla="*/ 0 h 107"/>
                <a:gd name="T4" fmla="*/ 0 w 32"/>
                <a:gd name="T5" fmla="*/ 0 h 107"/>
                <a:gd name="T6" fmla="*/ 0 w 32"/>
                <a:gd name="T7" fmla="*/ 0 h 107"/>
                <a:gd name="T8" fmla="*/ 0 w 32"/>
                <a:gd name="T9" fmla="*/ 0 h 107"/>
                <a:gd name="T10" fmla="*/ 0 w 32"/>
                <a:gd name="T11" fmla="*/ 0 h 107"/>
                <a:gd name="T12" fmla="*/ 0 w 32"/>
                <a:gd name="T13" fmla="*/ 0 h 107"/>
                <a:gd name="T14" fmla="*/ 0 w 32"/>
                <a:gd name="T15" fmla="*/ 0 h 107"/>
                <a:gd name="T16" fmla="*/ 0 w 32"/>
                <a:gd name="T17" fmla="*/ 0 h 107"/>
                <a:gd name="T18" fmla="*/ 0 w 32"/>
                <a:gd name="T19" fmla="*/ 0 h 107"/>
                <a:gd name="T20" fmla="*/ 0 w 32"/>
                <a:gd name="T21" fmla="*/ 0 h 107"/>
                <a:gd name="T22" fmla="*/ 0 w 32"/>
                <a:gd name="T23" fmla="*/ 0 h 107"/>
                <a:gd name="T24" fmla="*/ 0 w 32"/>
                <a:gd name="T25" fmla="*/ 0 h 107"/>
                <a:gd name="T26" fmla="*/ 0 w 32"/>
                <a:gd name="T27" fmla="*/ 0 h 107"/>
                <a:gd name="T28" fmla="*/ 0 w 32"/>
                <a:gd name="T29" fmla="*/ 0 h 107"/>
                <a:gd name="T30" fmla="*/ 0 w 32"/>
                <a:gd name="T31" fmla="*/ 0 h 107"/>
                <a:gd name="T32" fmla="*/ 0 w 32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"/>
                <a:gd name="T52" fmla="*/ 0 h 107"/>
                <a:gd name="T53" fmla="*/ 32 w 32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" h="107">
                  <a:moveTo>
                    <a:pt x="0" y="0"/>
                  </a:moveTo>
                  <a:lnTo>
                    <a:pt x="3" y="3"/>
                  </a:lnTo>
                  <a:lnTo>
                    <a:pt x="11" y="13"/>
                  </a:lnTo>
                  <a:lnTo>
                    <a:pt x="20" y="29"/>
                  </a:lnTo>
                  <a:lnTo>
                    <a:pt x="26" y="49"/>
                  </a:lnTo>
                  <a:lnTo>
                    <a:pt x="28" y="69"/>
                  </a:lnTo>
                  <a:lnTo>
                    <a:pt x="31" y="86"/>
                  </a:lnTo>
                  <a:lnTo>
                    <a:pt x="32" y="100"/>
                  </a:lnTo>
                  <a:lnTo>
                    <a:pt x="32" y="107"/>
                  </a:lnTo>
                  <a:lnTo>
                    <a:pt x="29" y="100"/>
                  </a:lnTo>
                  <a:lnTo>
                    <a:pt x="24" y="79"/>
                  </a:lnTo>
                  <a:lnTo>
                    <a:pt x="20" y="54"/>
                  </a:lnTo>
                  <a:lnTo>
                    <a:pt x="16" y="35"/>
                  </a:lnTo>
                  <a:lnTo>
                    <a:pt x="11" y="23"/>
                  </a:lnTo>
                  <a:lnTo>
                    <a:pt x="6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4" name="Freeform 19"/>
            <p:cNvSpPr/>
            <p:nvPr/>
          </p:nvSpPr>
          <p:spPr bwMode="auto">
            <a:xfrm>
              <a:off x="4726" y="2332"/>
              <a:ext cx="38" cy="28"/>
            </a:xfrm>
            <a:custGeom>
              <a:avLst/>
              <a:gdLst>
                <a:gd name="T0" fmla="*/ 0 w 113"/>
                <a:gd name="T1" fmla="*/ 0 h 85"/>
                <a:gd name="T2" fmla="*/ 0 w 113"/>
                <a:gd name="T3" fmla="*/ 0 h 85"/>
                <a:gd name="T4" fmla="*/ 0 w 113"/>
                <a:gd name="T5" fmla="*/ 0 h 85"/>
                <a:gd name="T6" fmla="*/ 0 w 113"/>
                <a:gd name="T7" fmla="*/ 0 h 85"/>
                <a:gd name="T8" fmla="*/ 0 w 113"/>
                <a:gd name="T9" fmla="*/ 0 h 85"/>
                <a:gd name="T10" fmla="*/ 0 w 113"/>
                <a:gd name="T11" fmla="*/ 0 h 85"/>
                <a:gd name="T12" fmla="*/ 0 w 113"/>
                <a:gd name="T13" fmla="*/ 0 h 85"/>
                <a:gd name="T14" fmla="*/ 0 w 113"/>
                <a:gd name="T15" fmla="*/ 0 h 85"/>
                <a:gd name="T16" fmla="*/ 0 w 113"/>
                <a:gd name="T17" fmla="*/ 0 h 85"/>
                <a:gd name="T18" fmla="*/ 0 w 113"/>
                <a:gd name="T19" fmla="*/ 0 h 85"/>
                <a:gd name="T20" fmla="*/ 0 w 113"/>
                <a:gd name="T21" fmla="*/ 0 h 85"/>
                <a:gd name="T22" fmla="*/ 0 w 113"/>
                <a:gd name="T23" fmla="*/ 0 h 85"/>
                <a:gd name="T24" fmla="*/ 0 w 113"/>
                <a:gd name="T25" fmla="*/ 0 h 85"/>
                <a:gd name="T26" fmla="*/ 0 w 113"/>
                <a:gd name="T27" fmla="*/ 0 h 85"/>
                <a:gd name="T28" fmla="*/ 0 w 113"/>
                <a:gd name="T29" fmla="*/ 0 h 8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13"/>
                <a:gd name="T46" fmla="*/ 0 h 85"/>
                <a:gd name="T47" fmla="*/ 113 w 113"/>
                <a:gd name="T48" fmla="*/ 85 h 8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13" h="85">
                  <a:moveTo>
                    <a:pt x="9" y="0"/>
                  </a:moveTo>
                  <a:lnTo>
                    <a:pt x="0" y="85"/>
                  </a:lnTo>
                  <a:lnTo>
                    <a:pt x="113" y="9"/>
                  </a:lnTo>
                  <a:lnTo>
                    <a:pt x="111" y="9"/>
                  </a:lnTo>
                  <a:lnTo>
                    <a:pt x="104" y="10"/>
                  </a:lnTo>
                  <a:lnTo>
                    <a:pt x="95" y="12"/>
                  </a:lnTo>
                  <a:lnTo>
                    <a:pt x="83" y="13"/>
                  </a:lnTo>
                  <a:lnTo>
                    <a:pt x="72" y="13"/>
                  </a:lnTo>
                  <a:lnTo>
                    <a:pt x="60" y="14"/>
                  </a:lnTo>
                  <a:lnTo>
                    <a:pt x="50" y="14"/>
                  </a:lnTo>
                  <a:lnTo>
                    <a:pt x="41" y="13"/>
                  </a:lnTo>
                  <a:lnTo>
                    <a:pt x="29" y="9"/>
                  </a:lnTo>
                  <a:lnTo>
                    <a:pt x="19" y="5"/>
                  </a:lnTo>
                  <a:lnTo>
                    <a:pt x="12" y="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Freeform 20"/>
            <p:cNvSpPr/>
            <p:nvPr/>
          </p:nvSpPr>
          <p:spPr bwMode="auto">
            <a:xfrm>
              <a:off x="4686" y="2350"/>
              <a:ext cx="36" cy="112"/>
            </a:xfrm>
            <a:custGeom>
              <a:avLst/>
              <a:gdLst>
                <a:gd name="T0" fmla="*/ 0 w 109"/>
                <a:gd name="T1" fmla="*/ 0 h 336"/>
                <a:gd name="T2" fmla="*/ 0 w 109"/>
                <a:gd name="T3" fmla="*/ 0 h 336"/>
                <a:gd name="T4" fmla="*/ 0 w 109"/>
                <a:gd name="T5" fmla="*/ 0 h 336"/>
                <a:gd name="T6" fmla="*/ 0 w 109"/>
                <a:gd name="T7" fmla="*/ 0 h 336"/>
                <a:gd name="T8" fmla="*/ 0 w 109"/>
                <a:gd name="T9" fmla="*/ 0 h 336"/>
                <a:gd name="T10" fmla="*/ 0 w 109"/>
                <a:gd name="T11" fmla="*/ 0 h 336"/>
                <a:gd name="T12" fmla="*/ 0 w 109"/>
                <a:gd name="T13" fmla="*/ 0 h 336"/>
                <a:gd name="T14" fmla="*/ 0 w 109"/>
                <a:gd name="T15" fmla="*/ 0 h 336"/>
                <a:gd name="T16" fmla="*/ 0 w 109"/>
                <a:gd name="T17" fmla="*/ 0 h 336"/>
                <a:gd name="T18" fmla="*/ 0 w 109"/>
                <a:gd name="T19" fmla="*/ 0 h 336"/>
                <a:gd name="T20" fmla="*/ 0 w 109"/>
                <a:gd name="T21" fmla="*/ 0 h 336"/>
                <a:gd name="T22" fmla="*/ 0 w 109"/>
                <a:gd name="T23" fmla="*/ 0 h 336"/>
                <a:gd name="T24" fmla="*/ 0 w 109"/>
                <a:gd name="T25" fmla="*/ 1 h 336"/>
                <a:gd name="T26" fmla="*/ 0 w 109"/>
                <a:gd name="T27" fmla="*/ 1 h 336"/>
                <a:gd name="T28" fmla="*/ 0 w 109"/>
                <a:gd name="T29" fmla="*/ 1 h 336"/>
                <a:gd name="T30" fmla="*/ 0 w 109"/>
                <a:gd name="T31" fmla="*/ 1 h 336"/>
                <a:gd name="T32" fmla="*/ 0 w 109"/>
                <a:gd name="T33" fmla="*/ 1 h 336"/>
                <a:gd name="T34" fmla="*/ 0 w 109"/>
                <a:gd name="T35" fmla="*/ 1 h 336"/>
                <a:gd name="T36" fmla="*/ 0 w 109"/>
                <a:gd name="T37" fmla="*/ 1 h 336"/>
                <a:gd name="T38" fmla="*/ 0 w 109"/>
                <a:gd name="T39" fmla="*/ 1 h 336"/>
                <a:gd name="T40" fmla="*/ 0 w 109"/>
                <a:gd name="T41" fmla="*/ 1 h 336"/>
                <a:gd name="T42" fmla="*/ 0 w 109"/>
                <a:gd name="T43" fmla="*/ 1 h 336"/>
                <a:gd name="T44" fmla="*/ 0 w 109"/>
                <a:gd name="T45" fmla="*/ 1 h 336"/>
                <a:gd name="T46" fmla="*/ 0 w 109"/>
                <a:gd name="T47" fmla="*/ 1 h 336"/>
                <a:gd name="T48" fmla="*/ 0 w 109"/>
                <a:gd name="T49" fmla="*/ 1 h 336"/>
                <a:gd name="T50" fmla="*/ 0 w 109"/>
                <a:gd name="T51" fmla="*/ 1 h 336"/>
                <a:gd name="T52" fmla="*/ 0 w 109"/>
                <a:gd name="T53" fmla="*/ 1 h 336"/>
                <a:gd name="T54" fmla="*/ 0 w 109"/>
                <a:gd name="T55" fmla="*/ 1 h 336"/>
                <a:gd name="T56" fmla="*/ 0 w 109"/>
                <a:gd name="T57" fmla="*/ 1 h 336"/>
                <a:gd name="T58" fmla="*/ 0 w 109"/>
                <a:gd name="T59" fmla="*/ 1 h 336"/>
                <a:gd name="T60" fmla="*/ 0 w 109"/>
                <a:gd name="T61" fmla="*/ 0 h 336"/>
                <a:gd name="T62" fmla="*/ 0 w 109"/>
                <a:gd name="T63" fmla="*/ 0 h 336"/>
                <a:gd name="T64" fmla="*/ 0 w 109"/>
                <a:gd name="T65" fmla="*/ 0 h 336"/>
                <a:gd name="T66" fmla="*/ 0 w 109"/>
                <a:gd name="T67" fmla="*/ 0 h 336"/>
                <a:gd name="T68" fmla="*/ 0 w 109"/>
                <a:gd name="T69" fmla="*/ 0 h 336"/>
                <a:gd name="T70" fmla="*/ 0 w 109"/>
                <a:gd name="T71" fmla="*/ 0 h 336"/>
                <a:gd name="T72" fmla="*/ 0 w 109"/>
                <a:gd name="T73" fmla="*/ 0 h 336"/>
                <a:gd name="T74" fmla="*/ 0 w 109"/>
                <a:gd name="T75" fmla="*/ 0 h 336"/>
                <a:gd name="T76" fmla="*/ 0 w 109"/>
                <a:gd name="T77" fmla="*/ 0 h 336"/>
                <a:gd name="T78" fmla="*/ 0 w 109"/>
                <a:gd name="T79" fmla="*/ 0 h 336"/>
                <a:gd name="T80" fmla="*/ 0 w 109"/>
                <a:gd name="T81" fmla="*/ 0 h 336"/>
                <a:gd name="T82" fmla="*/ 0 w 109"/>
                <a:gd name="T83" fmla="*/ 0 h 3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9"/>
                <a:gd name="T127" fmla="*/ 0 h 336"/>
                <a:gd name="T128" fmla="*/ 109 w 109"/>
                <a:gd name="T129" fmla="*/ 336 h 3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9" h="336">
                  <a:moveTo>
                    <a:pt x="51" y="0"/>
                  </a:moveTo>
                  <a:lnTo>
                    <a:pt x="48" y="2"/>
                  </a:lnTo>
                  <a:lnTo>
                    <a:pt x="42" y="10"/>
                  </a:lnTo>
                  <a:lnTo>
                    <a:pt x="34" y="21"/>
                  </a:lnTo>
                  <a:lnTo>
                    <a:pt x="24" y="33"/>
                  </a:lnTo>
                  <a:lnTo>
                    <a:pt x="14" y="48"/>
                  </a:lnTo>
                  <a:lnTo>
                    <a:pt x="6" y="63"/>
                  </a:lnTo>
                  <a:lnTo>
                    <a:pt x="1" y="77"/>
                  </a:lnTo>
                  <a:lnTo>
                    <a:pt x="0" y="88"/>
                  </a:lnTo>
                  <a:lnTo>
                    <a:pt x="4" y="98"/>
                  </a:lnTo>
                  <a:lnTo>
                    <a:pt x="9" y="106"/>
                  </a:lnTo>
                  <a:lnTo>
                    <a:pt x="16" y="115"/>
                  </a:lnTo>
                  <a:lnTo>
                    <a:pt x="25" y="123"/>
                  </a:lnTo>
                  <a:lnTo>
                    <a:pt x="32" y="131"/>
                  </a:lnTo>
                  <a:lnTo>
                    <a:pt x="39" y="140"/>
                  </a:lnTo>
                  <a:lnTo>
                    <a:pt x="42" y="150"/>
                  </a:lnTo>
                  <a:lnTo>
                    <a:pt x="42" y="160"/>
                  </a:lnTo>
                  <a:lnTo>
                    <a:pt x="43" y="199"/>
                  </a:lnTo>
                  <a:lnTo>
                    <a:pt x="51" y="259"/>
                  </a:lnTo>
                  <a:lnTo>
                    <a:pt x="60" y="312"/>
                  </a:lnTo>
                  <a:lnTo>
                    <a:pt x="63" y="336"/>
                  </a:lnTo>
                  <a:lnTo>
                    <a:pt x="109" y="318"/>
                  </a:lnTo>
                  <a:lnTo>
                    <a:pt x="108" y="312"/>
                  </a:lnTo>
                  <a:lnTo>
                    <a:pt x="103" y="296"/>
                  </a:lnTo>
                  <a:lnTo>
                    <a:pt x="95" y="272"/>
                  </a:lnTo>
                  <a:lnTo>
                    <a:pt x="89" y="243"/>
                  </a:lnTo>
                  <a:lnTo>
                    <a:pt x="82" y="212"/>
                  </a:lnTo>
                  <a:lnTo>
                    <a:pt x="76" y="182"/>
                  </a:lnTo>
                  <a:lnTo>
                    <a:pt x="72" y="155"/>
                  </a:lnTo>
                  <a:lnTo>
                    <a:pt x="72" y="134"/>
                  </a:lnTo>
                  <a:lnTo>
                    <a:pt x="71" y="119"/>
                  </a:lnTo>
                  <a:lnTo>
                    <a:pt x="65" y="106"/>
                  </a:lnTo>
                  <a:lnTo>
                    <a:pt x="56" y="97"/>
                  </a:lnTo>
                  <a:lnTo>
                    <a:pt x="46" y="88"/>
                  </a:lnTo>
                  <a:lnTo>
                    <a:pt x="36" y="80"/>
                  </a:lnTo>
                  <a:lnTo>
                    <a:pt x="30" y="73"/>
                  </a:lnTo>
                  <a:lnTo>
                    <a:pt x="27" y="64"/>
                  </a:lnTo>
                  <a:lnTo>
                    <a:pt x="30" y="54"/>
                  </a:lnTo>
                  <a:lnTo>
                    <a:pt x="40" y="33"/>
                  </a:lnTo>
                  <a:lnTo>
                    <a:pt x="46" y="16"/>
                  </a:lnTo>
                  <a:lnTo>
                    <a:pt x="50" y="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6" name="Freeform 21"/>
            <p:cNvSpPr/>
            <p:nvPr/>
          </p:nvSpPr>
          <p:spPr bwMode="auto">
            <a:xfrm>
              <a:off x="4680" y="2465"/>
              <a:ext cx="90" cy="105"/>
            </a:xfrm>
            <a:custGeom>
              <a:avLst/>
              <a:gdLst>
                <a:gd name="T0" fmla="*/ 0 w 270"/>
                <a:gd name="T1" fmla="*/ 0 h 315"/>
                <a:gd name="T2" fmla="*/ 0 w 270"/>
                <a:gd name="T3" fmla="*/ 1 h 315"/>
                <a:gd name="T4" fmla="*/ 0 w 270"/>
                <a:gd name="T5" fmla="*/ 1 h 315"/>
                <a:gd name="T6" fmla="*/ 0 w 270"/>
                <a:gd name="T7" fmla="*/ 1 h 315"/>
                <a:gd name="T8" fmla="*/ 0 w 270"/>
                <a:gd name="T9" fmla="*/ 1 h 315"/>
                <a:gd name="T10" fmla="*/ 0 w 270"/>
                <a:gd name="T11" fmla="*/ 1 h 315"/>
                <a:gd name="T12" fmla="*/ 0 w 270"/>
                <a:gd name="T13" fmla="*/ 1 h 315"/>
                <a:gd name="T14" fmla="*/ 0 w 270"/>
                <a:gd name="T15" fmla="*/ 1 h 315"/>
                <a:gd name="T16" fmla="*/ 0 w 270"/>
                <a:gd name="T17" fmla="*/ 1 h 315"/>
                <a:gd name="T18" fmla="*/ 0 w 270"/>
                <a:gd name="T19" fmla="*/ 1 h 315"/>
                <a:gd name="T20" fmla="*/ 0 w 270"/>
                <a:gd name="T21" fmla="*/ 1 h 315"/>
                <a:gd name="T22" fmla="*/ 0 w 270"/>
                <a:gd name="T23" fmla="*/ 1 h 315"/>
                <a:gd name="T24" fmla="*/ 0 w 270"/>
                <a:gd name="T25" fmla="*/ 0 h 315"/>
                <a:gd name="T26" fmla="*/ 0 w 270"/>
                <a:gd name="T27" fmla="*/ 0 h 315"/>
                <a:gd name="T28" fmla="*/ 1 w 270"/>
                <a:gd name="T29" fmla="*/ 1 h 315"/>
                <a:gd name="T30" fmla="*/ 1 w 270"/>
                <a:gd name="T31" fmla="*/ 1 h 315"/>
                <a:gd name="T32" fmla="*/ 1 w 270"/>
                <a:gd name="T33" fmla="*/ 1 h 315"/>
                <a:gd name="T34" fmla="*/ 1 w 270"/>
                <a:gd name="T35" fmla="*/ 1 h 315"/>
                <a:gd name="T36" fmla="*/ 1 w 270"/>
                <a:gd name="T37" fmla="*/ 1 h 315"/>
                <a:gd name="T38" fmla="*/ 1 w 270"/>
                <a:gd name="T39" fmla="*/ 1 h 315"/>
                <a:gd name="T40" fmla="*/ 1 w 270"/>
                <a:gd name="T41" fmla="*/ 1 h 315"/>
                <a:gd name="T42" fmla="*/ 1 w 270"/>
                <a:gd name="T43" fmla="*/ 1 h 315"/>
                <a:gd name="T44" fmla="*/ 1 w 270"/>
                <a:gd name="T45" fmla="*/ 1 h 315"/>
                <a:gd name="T46" fmla="*/ 1 w 270"/>
                <a:gd name="T47" fmla="*/ 1 h 315"/>
                <a:gd name="T48" fmla="*/ 1 w 270"/>
                <a:gd name="T49" fmla="*/ 1 h 315"/>
                <a:gd name="T50" fmla="*/ 1 w 270"/>
                <a:gd name="T51" fmla="*/ 1 h 315"/>
                <a:gd name="T52" fmla="*/ 1 w 270"/>
                <a:gd name="T53" fmla="*/ 1 h 315"/>
                <a:gd name="T54" fmla="*/ 1 w 270"/>
                <a:gd name="T55" fmla="*/ 1 h 315"/>
                <a:gd name="T56" fmla="*/ 1 w 270"/>
                <a:gd name="T57" fmla="*/ 1 h 315"/>
                <a:gd name="T58" fmla="*/ 1 w 270"/>
                <a:gd name="T59" fmla="*/ 1 h 315"/>
                <a:gd name="T60" fmla="*/ 1 w 270"/>
                <a:gd name="T61" fmla="*/ 1 h 315"/>
                <a:gd name="T62" fmla="*/ 1 w 270"/>
                <a:gd name="T63" fmla="*/ 1 h 315"/>
                <a:gd name="T64" fmla="*/ 1 w 270"/>
                <a:gd name="T65" fmla="*/ 1 h 315"/>
                <a:gd name="T66" fmla="*/ 1 w 270"/>
                <a:gd name="T67" fmla="*/ 1 h 315"/>
                <a:gd name="T68" fmla="*/ 1 w 270"/>
                <a:gd name="T69" fmla="*/ 1 h 315"/>
                <a:gd name="T70" fmla="*/ 1 w 270"/>
                <a:gd name="T71" fmla="*/ 0 h 315"/>
                <a:gd name="T72" fmla="*/ 1 w 270"/>
                <a:gd name="T73" fmla="*/ 0 h 315"/>
                <a:gd name="T74" fmla="*/ 1 w 270"/>
                <a:gd name="T75" fmla="*/ 0 h 315"/>
                <a:gd name="T76" fmla="*/ 1 w 270"/>
                <a:gd name="T77" fmla="*/ 0 h 315"/>
                <a:gd name="T78" fmla="*/ 0 w 270"/>
                <a:gd name="T79" fmla="*/ 0 h 31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0"/>
                <a:gd name="T121" fmla="*/ 0 h 315"/>
                <a:gd name="T122" fmla="*/ 270 w 270"/>
                <a:gd name="T123" fmla="*/ 315 h 31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0" h="315">
                  <a:moveTo>
                    <a:pt x="68" y="29"/>
                  </a:moveTo>
                  <a:lnTo>
                    <a:pt x="0" y="307"/>
                  </a:lnTo>
                  <a:lnTo>
                    <a:pt x="1" y="307"/>
                  </a:lnTo>
                  <a:lnTo>
                    <a:pt x="6" y="306"/>
                  </a:lnTo>
                  <a:lnTo>
                    <a:pt x="13" y="306"/>
                  </a:lnTo>
                  <a:lnTo>
                    <a:pt x="23" y="305"/>
                  </a:lnTo>
                  <a:lnTo>
                    <a:pt x="33" y="304"/>
                  </a:lnTo>
                  <a:lnTo>
                    <a:pt x="44" y="304"/>
                  </a:lnTo>
                  <a:lnTo>
                    <a:pt x="57" y="302"/>
                  </a:lnTo>
                  <a:lnTo>
                    <a:pt x="68" y="302"/>
                  </a:lnTo>
                  <a:lnTo>
                    <a:pt x="84" y="265"/>
                  </a:lnTo>
                  <a:lnTo>
                    <a:pt x="91" y="185"/>
                  </a:lnTo>
                  <a:lnTo>
                    <a:pt x="93" y="104"/>
                  </a:lnTo>
                  <a:lnTo>
                    <a:pt x="93" y="67"/>
                  </a:lnTo>
                  <a:lnTo>
                    <a:pt x="135" y="315"/>
                  </a:lnTo>
                  <a:lnTo>
                    <a:pt x="136" y="315"/>
                  </a:lnTo>
                  <a:lnTo>
                    <a:pt x="141" y="313"/>
                  </a:lnTo>
                  <a:lnTo>
                    <a:pt x="148" y="313"/>
                  </a:lnTo>
                  <a:lnTo>
                    <a:pt x="156" y="311"/>
                  </a:lnTo>
                  <a:lnTo>
                    <a:pt x="164" y="310"/>
                  </a:lnTo>
                  <a:lnTo>
                    <a:pt x="173" y="306"/>
                  </a:lnTo>
                  <a:lnTo>
                    <a:pt x="179" y="302"/>
                  </a:lnTo>
                  <a:lnTo>
                    <a:pt x="184" y="299"/>
                  </a:lnTo>
                  <a:lnTo>
                    <a:pt x="189" y="294"/>
                  </a:lnTo>
                  <a:lnTo>
                    <a:pt x="195" y="289"/>
                  </a:lnTo>
                  <a:lnTo>
                    <a:pt x="204" y="285"/>
                  </a:lnTo>
                  <a:lnTo>
                    <a:pt x="215" y="283"/>
                  </a:lnTo>
                  <a:lnTo>
                    <a:pt x="226" y="281"/>
                  </a:lnTo>
                  <a:lnTo>
                    <a:pt x="239" y="283"/>
                  </a:lnTo>
                  <a:lnTo>
                    <a:pt x="251" y="286"/>
                  </a:lnTo>
                  <a:lnTo>
                    <a:pt x="264" y="294"/>
                  </a:lnTo>
                  <a:lnTo>
                    <a:pt x="270" y="289"/>
                  </a:lnTo>
                  <a:lnTo>
                    <a:pt x="264" y="259"/>
                  </a:lnTo>
                  <a:lnTo>
                    <a:pt x="249" y="212"/>
                  </a:lnTo>
                  <a:lnTo>
                    <a:pt x="229" y="156"/>
                  </a:lnTo>
                  <a:lnTo>
                    <a:pt x="207" y="101"/>
                  </a:lnTo>
                  <a:lnTo>
                    <a:pt x="187" y="50"/>
                  </a:lnTo>
                  <a:lnTo>
                    <a:pt x="173" y="14"/>
                  </a:lnTo>
                  <a:lnTo>
                    <a:pt x="167" y="0"/>
                  </a:lnTo>
                  <a:lnTo>
                    <a:pt x="68" y="29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7" name="Freeform 22"/>
            <p:cNvSpPr/>
            <p:nvPr/>
          </p:nvSpPr>
          <p:spPr bwMode="auto">
            <a:xfrm>
              <a:off x="4788" y="2461"/>
              <a:ext cx="83" cy="94"/>
            </a:xfrm>
            <a:custGeom>
              <a:avLst/>
              <a:gdLst>
                <a:gd name="T0" fmla="*/ 0 w 248"/>
                <a:gd name="T1" fmla="*/ 0 h 282"/>
                <a:gd name="T2" fmla="*/ 1 w 248"/>
                <a:gd name="T3" fmla="*/ 1 h 282"/>
                <a:gd name="T4" fmla="*/ 1 w 248"/>
                <a:gd name="T5" fmla="*/ 1 h 282"/>
                <a:gd name="T6" fmla="*/ 1 w 248"/>
                <a:gd name="T7" fmla="*/ 1 h 282"/>
                <a:gd name="T8" fmla="*/ 1 w 248"/>
                <a:gd name="T9" fmla="*/ 1 h 282"/>
                <a:gd name="T10" fmla="*/ 1 w 248"/>
                <a:gd name="T11" fmla="*/ 1 h 282"/>
                <a:gd name="T12" fmla="*/ 1 w 248"/>
                <a:gd name="T13" fmla="*/ 1 h 282"/>
                <a:gd name="T14" fmla="*/ 1 w 248"/>
                <a:gd name="T15" fmla="*/ 1 h 282"/>
                <a:gd name="T16" fmla="*/ 1 w 248"/>
                <a:gd name="T17" fmla="*/ 1 h 282"/>
                <a:gd name="T18" fmla="*/ 1 w 248"/>
                <a:gd name="T19" fmla="*/ 1 h 282"/>
                <a:gd name="T20" fmla="*/ 1 w 248"/>
                <a:gd name="T21" fmla="*/ 1 h 282"/>
                <a:gd name="T22" fmla="*/ 1 w 248"/>
                <a:gd name="T23" fmla="*/ 1 h 282"/>
                <a:gd name="T24" fmla="*/ 1 w 248"/>
                <a:gd name="T25" fmla="*/ 1 h 282"/>
                <a:gd name="T26" fmla="*/ 0 w 248"/>
                <a:gd name="T27" fmla="*/ 1 h 282"/>
                <a:gd name="T28" fmla="*/ 0 w 248"/>
                <a:gd name="T29" fmla="*/ 0 h 282"/>
                <a:gd name="T30" fmla="*/ 0 w 248"/>
                <a:gd name="T31" fmla="*/ 0 h 282"/>
                <a:gd name="T32" fmla="*/ 0 w 248"/>
                <a:gd name="T33" fmla="*/ 0 h 282"/>
                <a:gd name="T34" fmla="*/ 0 w 248"/>
                <a:gd name="T35" fmla="*/ 0 h 282"/>
                <a:gd name="T36" fmla="*/ 0 w 248"/>
                <a:gd name="T37" fmla="*/ 0 h 282"/>
                <a:gd name="T38" fmla="*/ 0 w 248"/>
                <a:gd name="T39" fmla="*/ 0 h 282"/>
                <a:gd name="T40" fmla="*/ 0 w 248"/>
                <a:gd name="T41" fmla="*/ 0 h 282"/>
                <a:gd name="T42" fmla="*/ 0 w 248"/>
                <a:gd name="T43" fmla="*/ 0 h 28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8"/>
                <a:gd name="T67" fmla="*/ 0 h 282"/>
                <a:gd name="T68" fmla="*/ 248 w 248"/>
                <a:gd name="T69" fmla="*/ 282 h 28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8" h="282">
                  <a:moveTo>
                    <a:pt x="0" y="0"/>
                  </a:moveTo>
                  <a:lnTo>
                    <a:pt x="248" y="270"/>
                  </a:lnTo>
                  <a:lnTo>
                    <a:pt x="246" y="272"/>
                  </a:lnTo>
                  <a:lnTo>
                    <a:pt x="243" y="277"/>
                  </a:lnTo>
                  <a:lnTo>
                    <a:pt x="235" y="282"/>
                  </a:lnTo>
                  <a:lnTo>
                    <a:pt x="223" y="282"/>
                  </a:lnTo>
                  <a:lnTo>
                    <a:pt x="217" y="278"/>
                  </a:lnTo>
                  <a:lnTo>
                    <a:pt x="207" y="268"/>
                  </a:lnTo>
                  <a:lnTo>
                    <a:pt x="194" y="255"/>
                  </a:lnTo>
                  <a:lnTo>
                    <a:pt x="179" y="236"/>
                  </a:lnTo>
                  <a:lnTo>
                    <a:pt x="162" y="215"/>
                  </a:lnTo>
                  <a:lnTo>
                    <a:pt x="144" y="192"/>
                  </a:lnTo>
                  <a:lnTo>
                    <a:pt x="124" y="166"/>
                  </a:lnTo>
                  <a:lnTo>
                    <a:pt x="104" y="140"/>
                  </a:lnTo>
                  <a:lnTo>
                    <a:pt x="84" y="114"/>
                  </a:lnTo>
                  <a:lnTo>
                    <a:pt x="64" y="87"/>
                  </a:lnTo>
                  <a:lnTo>
                    <a:pt x="47" y="64"/>
                  </a:lnTo>
                  <a:lnTo>
                    <a:pt x="32" y="43"/>
                  </a:lnTo>
                  <a:lnTo>
                    <a:pt x="19" y="26"/>
                  </a:lnTo>
                  <a:lnTo>
                    <a:pt x="9" y="12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Freeform 23"/>
            <p:cNvSpPr/>
            <p:nvPr/>
          </p:nvSpPr>
          <p:spPr bwMode="auto">
            <a:xfrm>
              <a:off x="4692" y="2586"/>
              <a:ext cx="12" cy="227"/>
            </a:xfrm>
            <a:custGeom>
              <a:avLst/>
              <a:gdLst>
                <a:gd name="T0" fmla="*/ 0 w 38"/>
                <a:gd name="T1" fmla="*/ 0 h 681"/>
                <a:gd name="T2" fmla="*/ 0 w 38"/>
                <a:gd name="T3" fmla="*/ 3 h 681"/>
                <a:gd name="T4" fmla="*/ 0 w 38"/>
                <a:gd name="T5" fmla="*/ 0 h 681"/>
                <a:gd name="T6" fmla="*/ 0 w 38"/>
                <a:gd name="T7" fmla="*/ 0 h 6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681"/>
                <a:gd name="T14" fmla="*/ 38 w 38"/>
                <a:gd name="T15" fmla="*/ 681 h 6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681">
                  <a:moveTo>
                    <a:pt x="0" y="3"/>
                  </a:moveTo>
                  <a:lnTo>
                    <a:pt x="13" y="681"/>
                  </a:lnTo>
                  <a:lnTo>
                    <a:pt x="38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Freeform 24"/>
            <p:cNvSpPr/>
            <p:nvPr/>
          </p:nvSpPr>
          <p:spPr bwMode="auto">
            <a:xfrm>
              <a:off x="4773" y="2580"/>
              <a:ext cx="123" cy="228"/>
            </a:xfrm>
            <a:custGeom>
              <a:avLst/>
              <a:gdLst>
                <a:gd name="T0" fmla="*/ 0 w 370"/>
                <a:gd name="T1" fmla="*/ 0 h 686"/>
                <a:gd name="T2" fmla="*/ 2 w 370"/>
                <a:gd name="T3" fmla="*/ 3 h 686"/>
                <a:gd name="T4" fmla="*/ 0 w 370"/>
                <a:gd name="T5" fmla="*/ 0 h 686"/>
                <a:gd name="T6" fmla="*/ 0 w 370"/>
                <a:gd name="T7" fmla="*/ 0 h 6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0"/>
                <a:gd name="T13" fmla="*/ 0 h 686"/>
                <a:gd name="T14" fmla="*/ 370 w 370"/>
                <a:gd name="T15" fmla="*/ 686 h 6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0" h="686">
                  <a:moveTo>
                    <a:pt x="0" y="9"/>
                  </a:moveTo>
                  <a:lnTo>
                    <a:pt x="370" y="686"/>
                  </a:lnTo>
                  <a:lnTo>
                    <a:pt x="4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0" name="Freeform 25"/>
            <p:cNvSpPr/>
            <p:nvPr/>
          </p:nvSpPr>
          <p:spPr bwMode="auto">
            <a:xfrm>
              <a:off x="4638" y="2217"/>
              <a:ext cx="76" cy="118"/>
            </a:xfrm>
            <a:custGeom>
              <a:avLst/>
              <a:gdLst>
                <a:gd name="T0" fmla="*/ 0 w 227"/>
                <a:gd name="T1" fmla="*/ 0 h 353"/>
                <a:gd name="T2" fmla="*/ 0 w 227"/>
                <a:gd name="T3" fmla="*/ 0 h 353"/>
                <a:gd name="T4" fmla="*/ 0 w 227"/>
                <a:gd name="T5" fmla="*/ 0 h 353"/>
                <a:gd name="T6" fmla="*/ 0 w 227"/>
                <a:gd name="T7" fmla="*/ 0 h 353"/>
                <a:gd name="T8" fmla="*/ 0 w 227"/>
                <a:gd name="T9" fmla="*/ 1 h 353"/>
                <a:gd name="T10" fmla="*/ 0 w 227"/>
                <a:gd name="T11" fmla="*/ 1 h 353"/>
                <a:gd name="T12" fmla="*/ 1 w 227"/>
                <a:gd name="T13" fmla="*/ 1 h 353"/>
                <a:gd name="T14" fmla="*/ 1 w 227"/>
                <a:gd name="T15" fmla="*/ 1 h 353"/>
                <a:gd name="T16" fmla="*/ 1 w 227"/>
                <a:gd name="T17" fmla="*/ 1 h 353"/>
                <a:gd name="T18" fmla="*/ 1 w 227"/>
                <a:gd name="T19" fmla="*/ 1 h 353"/>
                <a:gd name="T20" fmla="*/ 1 w 227"/>
                <a:gd name="T21" fmla="*/ 1 h 353"/>
                <a:gd name="T22" fmla="*/ 1 w 227"/>
                <a:gd name="T23" fmla="*/ 1 h 353"/>
                <a:gd name="T24" fmla="*/ 1 w 227"/>
                <a:gd name="T25" fmla="*/ 1 h 353"/>
                <a:gd name="T26" fmla="*/ 1 w 227"/>
                <a:gd name="T27" fmla="*/ 1 h 353"/>
                <a:gd name="T28" fmla="*/ 1 w 227"/>
                <a:gd name="T29" fmla="*/ 1 h 353"/>
                <a:gd name="T30" fmla="*/ 1 w 227"/>
                <a:gd name="T31" fmla="*/ 1 h 353"/>
                <a:gd name="T32" fmla="*/ 1 w 227"/>
                <a:gd name="T33" fmla="*/ 1 h 353"/>
                <a:gd name="T34" fmla="*/ 1 w 227"/>
                <a:gd name="T35" fmla="*/ 1 h 353"/>
                <a:gd name="T36" fmla="*/ 1 w 227"/>
                <a:gd name="T37" fmla="*/ 1 h 353"/>
                <a:gd name="T38" fmla="*/ 1 w 227"/>
                <a:gd name="T39" fmla="*/ 1 h 353"/>
                <a:gd name="T40" fmla="*/ 1 w 227"/>
                <a:gd name="T41" fmla="*/ 1 h 353"/>
                <a:gd name="T42" fmla="*/ 1 w 227"/>
                <a:gd name="T43" fmla="*/ 1 h 353"/>
                <a:gd name="T44" fmla="*/ 1 w 227"/>
                <a:gd name="T45" fmla="*/ 1 h 353"/>
                <a:gd name="T46" fmla="*/ 1 w 227"/>
                <a:gd name="T47" fmla="*/ 1 h 353"/>
                <a:gd name="T48" fmla="*/ 1 w 227"/>
                <a:gd name="T49" fmla="*/ 1 h 353"/>
                <a:gd name="T50" fmla="*/ 1 w 227"/>
                <a:gd name="T51" fmla="*/ 1 h 353"/>
                <a:gd name="T52" fmla="*/ 1 w 227"/>
                <a:gd name="T53" fmla="*/ 1 h 353"/>
                <a:gd name="T54" fmla="*/ 1 w 227"/>
                <a:gd name="T55" fmla="*/ 1 h 353"/>
                <a:gd name="T56" fmla="*/ 0 w 227"/>
                <a:gd name="T57" fmla="*/ 1 h 353"/>
                <a:gd name="T58" fmla="*/ 0 w 227"/>
                <a:gd name="T59" fmla="*/ 1 h 353"/>
                <a:gd name="T60" fmla="*/ 0 w 227"/>
                <a:gd name="T61" fmla="*/ 0 h 353"/>
                <a:gd name="T62" fmla="*/ 0 w 227"/>
                <a:gd name="T63" fmla="*/ 0 h 353"/>
                <a:gd name="T64" fmla="*/ 0 w 227"/>
                <a:gd name="T65" fmla="*/ 0 h 3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7"/>
                <a:gd name="T100" fmla="*/ 0 h 353"/>
                <a:gd name="T101" fmla="*/ 227 w 227"/>
                <a:gd name="T102" fmla="*/ 353 h 3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7" h="353">
                  <a:moveTo>
                    <a:pt x="0" y="0"/>
                  </a:moveTo>
                  <a:lnTo>
                    <a:pt x="6" y="11"/>
                  </a:lnTo>
                  <a:lnTo>
                    <a:pt x="22" y="40"/>
                  </a:lnTo>
                  <a:lnTo>
                    <a:pt x="45" y="82"/>
                  </a:lnTo>
                  <a:lnTo>
                    <a:pt x="74" y="130"/>
                  </a:lnTo>
                  <a:lnTo>
                    <a:pt x="104" y="181"/>
                  </a:lnTo>
                  <a:lnTo>
                    <a:pt x="132" y="228"/>
                  </a:lnTo>
                  <a:lnTo>
                    <a:pt x="156" y="264"/>
                  </a:lnTo>
                  <a:lnTo>
                    <a:pt x="173" y="286"/>
                  </a:lnTo>
                  <a:lnTo>
                    <a:pt x="185" y="297"/>
                  </a:lnTo>
                  <a:lnTo>
                    <a:pt x="195" y="307"/>
                  </a:lnTo>
                  <a:lnTo>
                    <a:pt x="205" y="316"/>
                  </a:lnTo>
                  <a:lnTo>
                    <a:pt x="212" y="322"/>
                  </a:lnTo>
                  <a:lnTo>
                    <a:pt x="219" y="327"/>
                  </a:lnTo>
                  <a:lnTo>
                    <a:pt x="224" y="331"/>
                  </a:lnTo>
                  <a:lnTo>
                    <a:pt x="226" y="332"/>
                  </a:lnTo>
                  <a:lnTo>
                    <a:pt x="227" y="333"/>
                  </a:lnTo>
                  <a:lnTo>
                    <a:pt x="226" y="334"/>
                  </a:lnTo>
                  <a:lnTo>
                    <a:pt x="224" y="338"/>
                  </a:lnTo>
                  <a:lnTo>
                    <a:pt x="219" y="342"/>
                  </a:lnTo>
                  <a:lnTo>
                    <a:pt x="212" y="347"/>
                  </a:lnTo>
                  <a:lnTo>
                    <a:pt x="206" y="350"/>
                  </a:lnTo>
                  <a:lnTo>
                    <a:pt x="199" y="353"/>
                  </a:lnTo>
                  <a:lnTo>
                    <a:pt x="191" y="353"/>
                  </a:lnTo>
                  <a:lnTo>
                    <a:pt x="185" y="349"/>
                  </a:lnTo>
                  <a:lnTo>
                    <a:pt x="173" y="334"/>
                  </a:lnTo>
                  <a:lnTo>
                    <a:pt x="153" y="302"/>
                  </a:lnTo>
                  <a:lnTo>
                    <a:pt x="126" y="258"/>
                  </a:lnTo>
                  <a:lnTo>
                    <a:pt x="96" y="204"/>
                  </a:lnTo>
                  <a:lnTo>
                    <a:pt x="65" y="147"/>
                  </a:lnTo>
                  <a:lnTo>
                    <a:pt x="37" y="90"/>
                  </a:lnTo>
                  <a:lnTo>
                    <a:pt x="14" y="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Freeform 26"/>
            <p:cNvSpPr/>
            <p:nvPr/>
          </p:nvSpPr>
          <p:spPr bwMode="auto">
            <a:xfrm>
              <a:off x="4704" y="2396"/>
              <a:ext cx="13" cy="60"/>
            </a:xfrm>
            <a:custGeom>
              <a:avLst/>
              <a:gdLst>
                <a:gd name="T0" fmla="*/ 0 w 41"/>
                <a:gd name="T1" fmla="*/ 0 h 182"/>
                <a:gd name="T2" fmla="*/ 0 w 41"/>
                <a:gd name="T3" fmla="*/ 0 h 182"/>
                <a:gd name="T4" fmla="*/ 0 w 41"/>
                <a:gd name="T5" fmla="*/ 0 h 182"/>
                <a:gd name="T6" fmla="*/ 0 w 41"/>
                <a:gd name="T7" fmla="*/ 0 h 182"/>
                <a:gd name="T8" fmla="*/ 0 w 41"/>
                <a:gd name="T9" fmla="*/ 1 h 182"/>
                <a:gd name="T10" fmla="*/ 0 w 41"/>
                <a:gd name="T11" fmla="*/ 1 h 182"/>
                <a:gd name="T12" fmla="*/ 0 w 41"/>
                <a:gd name="T13" fmla="*/ 1 h 182"/>
                <a:gd name="T14" fmla="*/ 0 w 41"/>
                <a:gd name="T15" fmla="*/ 1 h 182"/>
                <a:gd name="T16" fmla="*/ 0 w 41"/>
                <a:gd name="T17" fmla="*/ 1 h 182"/>
                <a:gd name="T18" fmla="*/ 0 w 41"/>
                <a:gd name="T19" fmla="*/ 1 h 182"/>
                <a:gd name="T20" fmla="*/ 0 w 41"/>
                <a:gd name="T21" fmla="*/ 1 h 182"/>
                <a:gd name="T22" fmla="*/ 0 w 41"/>
                <a:gd name="T23" fmla="*/ 1 h 182"/>
                <a:gd name="T24" fmla="*/ 0 w 41"/>
                <a:gd name="T25" fmla="*/ 1 h 182"/>
                <a:gd name="T26" fmla="*/ 0 w 41"/>
                <a:gd name="T27" fmla="*/ 1 h 182"/>
                <a:gd name="T28" fmla="*/ 0 w 41"/>
                <a:gd name="T29" fmla="*/ 0 h 182"/>
                <a:gd name="T30" fmla="*/ 0 w 41"/>
                <a:gd name="T31" fmla="*/ 0 h 182"/>
                <a:gd name="T32" fmla="*/ 0 w 41"/>
                <a:gd name="T33" fmla="*/ 0 h 182"/>
                <a:gd name="T34" fmla="*/ 0 w 41"/>
                <a:gd name="T35" fmla="*/ 0 h 182"/>
                <a:gd name="T36" fmla="*/ 0 w 41"/>
                <a:gd name="T37" fmla="*/ 0 h 182"/>
                <a:gd name="T38" fmla="*/ 0 w 41"/>
                <a:gd name="T39" fmla="*/ 0 h 182"/>
                <a:gd name="T40" fmla="*/ 0 w 41"/>
                <a:gd name="T41" fmla="*/ 0 h 1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1"/>
                <a:gd name="T64" fmla="*/ 0 h 182"/>
                <a:gd name="T65" fmla="*/ 41 w 41"/>
                <a:gd name="T66" fmla="*/ 182 h 1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1" h="182">
                  <a:moveTo>
                    <a:pt x="10" y="0"/>
                  </a:moveTo>
                  <a:lnTo>
                    <a:pt x="13" y="20"/>
                  </a:lnTo>
                  <a:lnTo>
                    <a:pt x="20" y="65"/>
                  </a:lnTo>
                  <a:lnTo>
                    <a:pt x="28" y="114"/>
                  </a:lnTo>
                  <a:lnTo>
                    <a:pt x="35" y="149"/>
                  </a:lnTo>
                  <a:lnTo>
                    <a:pt x="39" y="164"/>
                  </a:lnTo>
                  <a:lnTo>
                    <a:pt x="40" y="171"/>
                  </a:lnTo>
                  <a:lnTo>
                    <a:pt x="41" y="175"/>
                  </a:lnTo>
                  <a:lnTo>
                    <a:pt x="39" y="176"/>
                  </a:lnTo>
                  <a:lnTo>
                    <a:pt x="31" y="180"/>
                  </a:lnTo>
                  <a:lnTo>
                    <a:pt x="25" y="182"/>
                  </a:lnTo>
                  <a:lnTo>
                    <a:pt x="21" y="182"/>
                  </a:lnTo>
                  <a:lnTo>
                    <a:pt x="18" y="157"/>
                  </a:lnTo>
                  <a:lnTo>
                    <a:pt x="10" y="107"/>
                  </a:lnTo>
                  <a:lnTo>
                    <a:pt x="3" y="53"/>
                  </a:lnTo>
                  <a:lnTo>
                    <a:pt x="0" y="22"/>
                  </a:lnTo>
                  <a:lnTo>
                    <a:pt x="3" y="13"/>
                  </a:lnTo>
                  <a:lnTo>
                    <a:pt x="7" y="5"/>
                  </a:lnTo>
                  <a:lnTo>
                    <a:pt x="9" y="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Freeform 27"/>
            <p:cNvSpPr/>
            <p:nvPr/>
          </p:nvSpPr>
          <p:spPr bwMode="auto">
            <a:xfrm>
              <a:off x="4687" y="2475"/>
              <a:ext cx="61" cy="85"/>
            </a:xfrm>
            <a:custGeom>
              <a:avLst/>
              <a:gdLst>
                <a:gd name="T0" fmla="*/ 0 w 181"/>
                <a:gd name="T1" fmla="*/ 0 h 257"/>
                <a:gd name="T2" fmla="*/ 0 w 181"/>
                <a:gd name="T3" fmla="*/ 1 h 257"/>
                <a:gd name="T4" fmla="*/ 0 w 181"/>
                <a:gd name="T5" fmla="*/ 1 h 257"/>
                <a:gd name="T6" fmla="*/ 0 w 181"/>
                <a:gd name="T7" fmla="*/ 1 h 257"/>
                <a:gd name="T8" fmla="*/ 0 w 181"/>
                <a:gd name="T9" fmla="*/ 1 h 257"/>
                <a:gd name="T10" fmla="*/ 0 w 181"/>
                <a:gd name="T11" fmla="*/ 1 h 257"/>
                <a:gd name="T12" fmla="*/ 0 w 181"/>
                <a:gd name="T13" fmla="*/ 1 h 257"/>
                <a:gd name="T14" fmla="*/ 0 w 181"/>
                <a:gd name="T15" fmla="*/ 1 h 257"/>
                <a:gd name="T16" fmla="*/ 0 w 181"/>
                <a:gd name="T17" fmla="*/ 1 h 257"/>
                <a:gd name="T18" fmla="*/ 0 w 181"/>
                <a:gd name="T19" fmla="*/ 1 h 257"/>
                <a:gd name="T20" fmla="*/ 0 w 181"/>
                <a:gd name="T21" fmla="*/ 1 h 257"/>
                <a:gd name="T22" fmla="*/ 0 w 181"/>
                <a:gd name="T23" fmla="*/ 1 h 257"/>
                <a:gd name="T24" fmla="*/ 0 w 181"/>
                <a:gd name="T25" fmla="*/ 0 h 257"/>
                <a:gd name="T26" fmla="*/ 0 w 181"/>
                <a:gd name="T27" fmla="*/ 0 h 257"/>
                <a:gd name="T28" fmla="*/ 0 w 181"/>
                <a:gd name="T29" fmla="*/ 0 h 257"/>
                <a:gd name="T30" fmla="*/ 0 w 181"/>
                <a:gd name="T31" fmla="*/ 0 h 257"/>
                <a:gd name="T32" fmla="*/ 0 w 181"/>
                <a:gd name="T33" fmla="*/ 0 h 257"/>
                <a:gd name="T34" fmla="*/ 0 w 181"/>
                <a:gd name="T35" fmla="*/ 0 h 257"/>
                <a:gd name="T36" fmla="*/ 0 w 181"/>
                <a:gd name="T37" fmla="*/ 0 h 257"/>
                <a:gd name="T38" fmla="*/ 0 w 181"/>
                <a:gd name="T39" fmla="*/ 0 h 257"/>
                <a:gd name="T40" fmla="*/ 0 w 181"/>
                <a:gd name="T41" fmla="*/ 0 h 257"/>
                <a:gd name="T42" fmla="*/ 0 w 181"/>
                <a:gd name="T43" fmla="*/ 1 h 257"/>
                <a:gd name="T44" fmla="*/ 0 w 181"/>
                <a:gd name="T45" fmla="*/ 1 h 257"/>
                <a:gd name="T46" fmla="*/ 0 w 181"/>
                <a:gd name="T47" fmla="*/ 1 h 257"/>
                <a:gd name="T48" fmla="*/ 1 w 181"/>
                <a:gd name="T49" fmla="*/ 1 h 257"/>
                <a:gd name="T50" fmla="*/ 1 w 181"/>
                <a:gd name="T51" fmla="*/ 1 h 257"/>
                <a:gd name="T52" fmla="*/ 1 w 181"/>
                <a:gd name="T53" fmla="*/ 1 h 257"/>
                <a:gd name="T54" fmla="*/ 1 w 181"/>
                <a:gd name="T55" fmla="*/ 1 h 257"/>
                <a:gd name="T56" fmla="*/ 1 w 181"/>
                <a:gd name="T57" fmla="*/ 1 h 257"/>
                <a:gd name="T58" fmla="*/ 1 w 181"/>
                <a:gd name="T59" fmla="*/ 1 h 257"/>
                <a:gd name="T60" fmla="*/ 1 w 181"/>
                <a:gd name="T61" fmla="*/ 1 h 257"/>
                <a:gd name="T62" fmla="*/ 1 w 181"/>
                <a:gd name="T63" fmla="*/ 1 h 257"/>
                <a:gd name="T64" fmla="*/ 1 w 181"/>
                <a:gd name="T65" fmla="*/ 1 h 257"/>
                <a:gd name="T66" fmla="*/ 1 w 181"/>
                <a:gd name="T67" fmla="*/ 1 h 257"/>
                <a:gd name="T68" fmla="*/ 1 w 181"/>
                <a:gd name="T69" fmla="*/ 0 h 257"/>
                <a:gd name="T70" fmla="*/ 0 w 181"/>
                <a:gd name="T71" fmla="*/ 0 h 2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81"/>
                <a:gd name="T109" fmla="*/ 0 h 257"/>
                <a:gd name="T110" fmla="*/ 181 w 181"/>
                <a:gd name="T111" fmla="*/ 257 h 25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81" h="257">
                  <a:moveTo>
                    <a:pt x="54" y="13"/>
                  </a:moveTo>
                  <a:lnTo>
                    <a:pt x="0" y="255"/>
                  </a:lnTo>
                  <a:lnTo>
                    <a:pt x="1" y="255"/>
                  </a:lnTo>
                  <a:lnTo>
                    <a:pt x="4" y="256"/>
                  </a:lnTo>
                  <a:lnTo>
                    <a:pt x="9" y="257"/>
                  </a:lnTo>
                  <a:lnTo>
                    <a:pt x="15" y="257"/>
                  </a:lnTo>
                  <a:lnTo>
                    <a:pt x="21" y="257"/>
                  </a:lnTo>
                  <a:lnTo>
                    <a:pt x="27" y="256"/>
                  </a:lnTo>
                  <a:lnTo>
                    <a:pt x="32" y="254"/>
                  </a:lnTo>
                  <a:lnTo>
                    <a:pt x="37" y="249"/>
                  </a:lnTo>
                  <a:lnTo>
                    <a:pt x="46" y="214"/>
                  </a:lnTo>
                  <a:lnTo>
                    <a:pt x="56" y="148"/>
                  </a:lnTo>
                  <a:lnTo>
                    <a:pt x="63" y="84"/>
                  </a:lnTo>
                  <a:lnTo>
                    <a:pt x="65" y="45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8"/>
                  </a:lnTo>
                  <a:lnTo>
                    <a:pt x="83" y="44"/>
                  </a:lnTo>
                  <a:lnTo>
                    <a:pt x="85" y="54"/>
                  </a:lnTo>
                  <a:lnTo>
                    <a:pt x="89" y="76"/>
                  </a:lnTo>
                  <a:lnTo>
                    <a:pt x="95" y="105"/>
                  </a:lnTo>
                  <a:lnTo>
                    <a:pt x="103" y="138"/>
                  </a:lnTo>
                  <a:lnTo>
                    <a:pt x="109" y="172"/>
                  </a:lnTo>
                  <a:lnTo>
                    <a:pt x="115" y="203"/>
                  </a:lnTo>
                  <a:lnTo>
                    <a:pt x="121" y="225"/>
                  </a:lnTo>
                  <a:lnTo>
                    <a:pt x="125" y="237"/>
                  </a:lnTo>
                  <a:lnTo>
                    <a:pt x="130" y="242"/>
                  </a:lnTo>
                  <a:lnTo>
                    <a:pt x="137" y="245"/>
                  </a:lnTo>
                  <a:lnTo>
                    <a:pt x="146" y="246"/>
                  </a:lnTo>
                  <a:lnTo>
                    <a:pt x="156" y="245"/>
                  </a:lnTo>
                  <a:lnTo>
                    <a:pt x="165" y="245"/>
                  </a:lnTo>
                  <a:lnTo>
                    <a:pt x="173" y="244"/>
                  </a:lnTo>
                  <a:lnTo>
                    <a:pt x="178" y="242"/>
                  </a:lnTo>
                  <a:lnTo>
                    <a:pt x="181" y="242"/>
                  </a:lnTo>
                  <a:lnTo>
                    <a:pt x="125" y="0"/>
                  </a:lnTo>
                  <a:lnTo>
                    <a:pt x="54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3" name="Freeform 28"/>
            <p:cNvSpPr/>
            <p:nvPr/>
          </p:nvSpPr>
          <p:spPr bwMode="auto">
            <a:xfrm>
              <a:off x="4696" y="2593"/>
              <a:ext cx="3" cy="109"/>
            </a:xfrm>
            <a:custGeom>
              <a:avLst/>
              <a:gdLst>
                <a:gd name="T0" fmla="*/ 0 w 11"/>
                <a:gd name="T1" fmla="*/ 0 h 329"/>
                <a:gd name="T2" fmla="*/ 0 w 11"/>
                <a:gd name="T3" fmla="*/ 1 h 329"/>
                <a:gd name="T4" fmla="*/ 0 w 11"/>
                <a:gd name="T5" fmla="*/ 0 h 329"/>
                <a:gd name="T6" fmla="*/ 0 w 11"/>
                <a:gd name="T7" fmla="*/ 0 h 3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"/>
                <a:gd name="T13" fmla="*/ 0 h 329"/>
                <a:gd name="T14" fmla="*/ 11 w 11"/>
                <a:gd name="T15" fmla="*/ 329 h 3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" h="329">
                  <a:moveTo>
                    <a:pt x="11" y="0"/>
                  </a:moveTo>
                  <a:lnTo>
                    <a:pt x="6" y="329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4" name="Freeform 29"/>
            <p:cNvSpPr/>
            <p:nvPr/>
          </p:nvSpPr>
          <p:spPr bwMode="auto">
            <a:xfrm>
              <a:off x="4770" y="2041"/>
              <a:ext cx="290" cy="112"/>
            </a:xfrm>
            <a:custGeom>
              <a:avLst/>
              <a:gdLst>
                <a:gd name="T0" fmla="*/ 0 w 871"/>
                <a:gd name="T1" fmla="*/ 1 h 336"/>
                <a:gd name="T2" fmla="*/ 0 w 871"/>
                <a:gd name="T3" fmla="*/ 1 h 336"/>
                <a:gd name="T4" fmla="*/ 0 w 871"/>
                <a:gd name="T5" fmla="*/ 1 h 336"/>
                <a:gd name="T6" fmla="*/ 0 w 871"/>
                <a:gd name="T7" fmla="*/ 0 h 336"/>
                <a:gd name="T8" fmla="*/ 1 w 871"/>
                <a:gd name="T9" fmla="*/ 0 h 336"/>
                <a:gd name="T10" fmla="*/ 1 w 871"/>
                <a:gd name="T11" fmla="*/ 0 h 336"/>
                <a:gd name="T12" fmla="*/ 1 w 871"/>
                <a:gd name="T13" fmla="*/ 0 h 336"/>
                <a:gd name="T14" fmla="*/ 1 w 871"/>
                <a:gd name="T15" fmla="*/ 0 h 336"/>
                <a:gd name="T16" fmla="*/ 2 w 871"/>
                <a:gd name="T17" fmla="*/ 0 h 336"/>
                <a:gd name="T18" fmla="*/ 2 w 871"/>
                <a:gd name="T19" fmla="*/ 0 h 336"/>
                <a:gd name="T20" fmla="*/ 2 w 871"/>
                <a:gd name="T21" fmla="*/ 0 h 336"/>
                <a:gd name="T22" fmla="*/ 2 w 871"/>
                <a:gd name="T23" fmla="*/ 0 h 336"/>
                <a:gd name="T24" fmla="*/ 2 w 871"/>
                <a:gd name="T25" fmla="*/ 0 h 336"/>
                <a:gd name="T26" fmla="*/ 2 w 871"/>
                <a:gd name="T27" fmla="*/ 0 h 336"/>
                <a:gd name="T28" fmla="*/ 3 w 871"/>
                <a:gd name="T29" fmla="*/ 0 h 336"/>
                <a:gd name="T30" fmla="*/ 3 w 871"/>
                <a:gd name="T31" fmla="*/ 0 h 336"/>
                <a:gd name="T32" fmla="*/ 3 w 871"/>
                <a:gd name="T33" fmla="*/ 0 h 336"/>
                <a:gd name="T34" fmla="*/ 3 w 871"/>
                <a:gd name="T35" fmla="*/ 0 h 336"/>
                <a:gd name="T36" fmla="*/ 3 w 871"/>
                <a:gd name="T37" fmla="*/ 0 h 336"/>
                <a:gd name="T38" fmla="*/ 3 w 871"/>
                <a:gd name="T39" fmla="*/ 0 h 336"/>
                <a:gd name="T40" fmla="*/ 4 w 871"/>
                <a:gd name="T41" fmla="*/ 1 h 336"/>
                <a:gd name="T42" fmla="*/ 4 w 871"/>
                <a:gd name="T43" fmla="*/ 1 h 336"/>
                <a:gd name="T44" fmla="*/ 3 w 871"/>
                <a:gd name="T45" fmla="*/ 1 h 336"/>
                <a:gd name="T46" fmla="*/ 3 w 871"/>
                <a:gd name="T47" fmla="*/ 1 h 336"/>
                <a:gd name="T48" fmla="*/ 3 w 871"/>
                <a:gd name="T49" fmla="*/ 1 h 336"/>
                <a:gd name="T50" fmla="*/ 3 w 871"/>
                <a:gd name="T51" fmla="*/ 1 h 336"/>
                <a:gd name="T52" fmla="*/ 2 w 871"/>
                <a:gd name="T53" fmla="*/ 1 h 336"/>
                <a:gd name="T54" fmla="*/ 2 w 871"/>
                <a:gd name="T55" fmla="*/ 1 h 336"/>
                <a:gd name="T56" fmla="*/ 2 w 871"/>
                <a:gd name="T57" fmla="*/ 1 h 336"/>
                <a:gd name="T58" fmla="*/ 2 w 871"/>
                <a:gd name="T59" fmla="*/ 1 h 336"/>
                <a:gd name="T60" fmla="*/ 1 w 871"/>
                <a:gd name="T61" fmla="*/ 1 h 336"/>
                <a:gd name="T62" fmla="*/ 1 w 871"/>
                <a:gd name="T63" fmla="*/ 1 h 336"/>
                <a:gd name="T64" fmla="*/ 1 w 871"/>
                <a:gd name="T65" fmla="*/ 1 h 336"/>
                <a:gd name="T66" fmla="*/ 0 w 871"/>
                <a:gd name="T67" fmla="*/ 1 h 336"/>
                <a:gd name="T68" fmla="*/ 0 w 871"/>
                <a:gd name="T69" fmla="*/ 1 h 336"/>
                <a:gd name="T70" fmla="*/ 0 w 871"/>
                <a:gd name="T71" fmla="*/ 1 h 336"/>
                <a:gd name="T72" fmla="*/ 0 w 871"/>
                <a:gd name="T73" fmla="*/ 1 h 3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71"/>
                <a:gd name="T112" fmla="*/ 0 h 336"/>
                <a:gd name="T113" fmla="*/ 871 w 871"/>
                <a:gd name="T114" fmla="*/ 336 h 3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71" h="336">
                  <a:moveTo>
                    <a:pt x="0" y="158"/>
                  </a:moveTo>
                  <a:lnTo>
                    <a:pt x="3" y="156"/>
                  </a:lnTo>
                  <a:lnTo>
                    <a:pt x="12" y="151"/>
                  </a:lnTo>
                  <a:lnTo>
                    <a:pt x="25" y="145"/>
                  </a:lnTo>
                  <a:lnTo>
                    <a:pt x="43" y="137"/>
                  </a:lnTo>
                  <a:lnTo>
                    <a:pt x="64" y="127"/>
                  </a:lnTo>
                  <a:lnTo>
                    <a:pt x="87" y="114"/>
                  </a:lnTo>
                  <a:lnTo>
                    <a:pt x="113" y="102"/>
                  </a:lnTo>
                  <a:lnTo>
                    <a:pt x="142" y="89"/>
                  </a:lnTo>
                  <a:lnTo>
                    <a:pt x="170" y="76"/>
                  </a:lnTo>
                  <a:lnTo>
                    <a:pt x="200" y="63"/>
                  </a:lnTo>
                  <a:lnTo>
                    <a:pt x="228" y="51"/>
                  </a:lnTo>
                  <a:lnTo>
                    <a:pt x="257" y="39"/>
                  </a:lnTo>
                  <a:lnTo>
                    <a:pt x="284" y="29"/>
                  </a:lnTo>
                  <a:lnTo>
                    <a:pt x="309" y="20"/>
                  </a:lnTo>
                  <a:lnTo>
                    <a:pt x="331" y="13"/>
                  </a:lnTo>
                  <a:lnTo>
                    <a:pt x="350" y="9"/>
                  </a:lnTo>
                  <a:lnTo>
                    <a:pt x="373" y="5"/>
                  </a:lnTo>
                  <a:lnTo>
                    <a:pt x="397" y="3"/>
                  </a:lnTo>
                  <a:lnTo>
                    <a:pt x="419" y="2"/>
                  </a:lnTo>
                  <a:lnTo>
                    <a:pt x="441" y="0"/>
                  </a:lnTo>
                  <a:lnTo>
                    <a:pt x="462" y="0"/>
                  </a:lnTo>
                  <a:lnTo>
                    <a:pt x="483" y="2"/>
                  </a:lnTo>
                  <a:lnTo>
                    <a:pt x="504" y="4"/>
                  </a:lnTo>
                  <a:lnTo>
                    <a:pt x="524" y="6"/>
                  </a:lnTo>
                  <a:lnTo>
                    <a:pt x="543" y="9"/>
                  </a:lnTo>
                  <a:lnTo>
                    <a:pt x="561" y="13"/>
                  </a:lnTo>
                  <a:lnTo>
                    <a:pt x="580" y="16"/>
                  </a:lnTo>
                  <a:lnTo>
                    <a:pt x="596" y="21"/>
                  </a:lnTo>
                  <a:lnTo>
                    <a:pt x="612" y="25"/>
                  </a:lnTo>
                  <a:lnTo>
                    <a:pt x="627" y="29"/>
                  </a:lnTo>
                  <a:lnTo>
                    <a:pt x="641" y="34"/>
                  </a:lnTo>
                  <a:lnTo>
                    <a:pt x="654" y="37"/>
                  </a:lnTo>
                  <a:lnTo>
                    <a:pt x="688" y="49"/>
                  </a:lnTo>
                  <a:lnTo>
                    <a:pt x="721" y="60"/>
                  </a:lnTo>
                  <a:lnTo>
                    <a:pt x="751" y="70"/>
                  </a:lnTo>
                  <a:lnTo>
                    <a:pt x="777" y="80"/>
                  </a:lnTo>
                  <a:lnTo>
                    <a:pt x="799" y="88"/>
                  </a:lnTo>
                  <a:lnTo>
                    <a:pt x="816" y="94"/>
                  </a:lnTo>
                  <a:lnTo>
                    <a:pt x="827" y="99"/>
                  </a:lnTo>
                  <a:lnTo>
                    <a:pt x="831" y="101"/>
                  </a:lnTo>
                  <a:lnTo>
                    <a:pt x="871" y="260"/>
                  </a:lnTo>
                  <a:lnTo>
                    <a:pt x="867" y="259"/>
                  </a:lnTo>
                  <a:lnTo>
                    <a:pt x="857" y="258"/>
                  </a:lnTo>
                  <a:lnTo>
                    <a:pt x="841" y="254"/>
                  </a:lnTo>
                  <a:lnTo>
                    <a:pt x="821" y="249"/>
                  </a:lnTo>
                  <a:lnTo>
                    <a:pt x="795" y="244"/>
                  </a:lnTo>
                  <a:lnTo>
                    <a:pt x="767" y="239"/>
                  </a:lnTo>
                  <a:lnTo>
                    <a:pt x="736" y="233"/>
                  </a:lnTo>
                  <a:lnTo>
                    <a:pt x="702" y="227"/>
                  </a:lnTo>
                  <a:lnTo>
                    <a:pt x="667" y="222"/>
                  </a:lnTo>
                  <a:lnTo>
                    <a:pt x="631" y="216"/>
                  </a:lnTo>
                  <a:lnTo>
                    <a:pt x="595" y="211"/>
                  </a:lnTo>
                  <a:lnTo>
                    <a:pt x="560" y="207"/>
                  </a:lnTo>
                  <a:lnTo>
                    <a:pt x="527" y="205"/>
                  </a:lnTo>
                  <a:lnTo>
                    <a:pt x="494" y="202"/>
                  </a:lnTo>
                  <a:lnTo>
                    <a:pt x="466" y="202"/>
                  </a:lnTo>
                  <a:lnTo>
                    <a:pt x="441" y="203"/>
                  </a:lnTo>
                  <a:lnTo>
                    <a:pt x="408" y="208"/>
                  </a:lnTo>
                  <a:lnTo>
                    <a:pt x="373" y="215"/>
                  </a:lnTo>
                  <a:lnTo>
                    <a:pt x="337" y="222"/>
                  </a:lnTo>
                  <a:lnTo>
                    <a:pt x="300" y="232"/>
                  </a:lnTo>
                  <a:lnTo>
                    <a:pt x="263" y="242"/>
                  </a:lnTo>
                  <a:lnTo>
                    <a:pt x="226" y="253"/>
                  </a:lnTo>
                  <a:lnTo>
                    <a:pt x="190" y="264"/>
                  </a:lnTo>
                  <a:lnTo>
                    <a:pt x="156" y="276"/>
                  </a:lnTo>
                  <a:lnTo>
                    <a:pt x="124" y="288"/>
                  </a:lnTo>
                  <a:lnTo>
                    <a:pt x="95" y="299"/>
                  </a:lnTo>
                  <a:lnTo>
                    <a:pt x="69" y="309"/>
                  </a:lnTo>
                  <a:lnTo>
                    <a:pt x="45" y="317"/>
                  </a:lnTo>
                  <a:lnTo>
                    <a:pt x="26" y="325"/>
                  </a:lnTo>
                  <a:lnTo>
                    <a:pt x="13" y="331"/>
                  </a:lnTo>
                  <a:lnTo>
                    <a:pt x="3" y="335"/>
                  </a:lnTo>
                  <a:lnTo>
                    <a:pt x="0" y="336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DDD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Freeform 30"/>
            <p:cNvSpPr/>
            <p:nvPr/>
          </p:nvSpPr>
          <p:spPr bwMode="auto">
            <a:xfrm>
              <a:off x="4453" y="2136"/>
              <a:ext cx="273" cy="69"/>
            </a:xfrm>
            <a:custGeom>
              <a:avLst/>
              <a:gdLst>
                <a:gd name="T0" fmla="*/ 0 w 820"/>
                <a:gd name="T1" fmla="*/ 0 h 208"/>
                <a:gd name="T2" fmla="*/ 0 w 820"/>
                <a:gd name="T3" fmla="*/ 0 h 208"/>
                <a:gd name="T4" fmla="*/ 0 w 820"/>
                <a:gd name="T5" fmla="*/ 0 h 208"/>
                <a:gd name="T6" fmla="*/ 0 w 820"/>
                <a:gd name="T7" fmla="*/ 0 h 208"/>
                <a:gd name="T8" fmla="*/ 1 w 820"/>
                <a:gd name="T9" fmla="*/ 0 h 208"/>
                <a:gd name="T10" fmla="*/ 1 w 820"/>
                <a:gd name="T11" fmla="*/ 0 h 208"/>
                <a:gd name="T12" fmla="*/ 1 w 820"/>
                <a:gd name="T13" fmla="*/ 0 h 208"/>
                <a:gd name="T14" fmla="*/ 2 w 820"/>
                <a:gd name="T15" fmla="*/ 0 h 208"/>
                <a:gd name="T16" fmla="*/ 2 w 820"/>
                <a:gd name="T17" fmla="*/ 0 h 208"/>
                <a:gd name="T18" fmla="*/ 2 w 820"/>
                <a:gd name="T19" fmla="*/ 0 h 208"/>
                <a:gd name="T20" fmla="*/ 2 w 820"/>
                <a:gd name="T21" fmla="*/ 0 h 208"/>
                <a:gd name="T22" fmla="*/ 2 w 820"/>
                <a:gd name="T23" fmla="*/ 0 h 208"/>
                <a:gd name="T24" fmla="*/ 3 w 820"/>
                <a:gd name="T25" fmla="*/ 0 h 208"/>
                <a:gd name="T26" fmla="*/ 3 w 820"/>
                <a:gd name="T27" fmla="*/ 0 h 208"/>
                <a:gd name="T28" fmla="*/ 3 w 820"/>
                <a:gd name="T29" fmla="*/ 0 h 208"/>
                <a:gd name="T30" fmla="*/ 3 w 820"/>
                <a:gd name="T31" fmla="*/ 0 h 208"/>
                <a:gd name="T32" fmla="*/ 3 w 820"/>
                <a:gd name="T33" fmla="*/ 1 h 208"/>
                <a:gd name="T34" fmla="*/ 3 w 820"/>
                <a:gd name="T35" fmla="*/ 1 h 208"/>
                <a:gd name="T36" fmla="*/ 3 w 820"/>
                <a:gd name="T37" fmla="*/ 1 h 208"/>
                <a:gd name="T38" fmla="*/ 3 w 820"/>
                <a:gd name="T39" fmla="*/ 1 h 208"/>
                <a:gd name="T40" fmla="*/ 3 w 820"/>
                <a:gd name="T41" fmla="*/ 1 h 208"/>
                <a:gd name="T42" fmla="*/ 3 w 820"/>
                <a:gd name="T43" fmla="*/ 1 h 208"/>
                <a:gd name="T44" fmla="*/ 2 w 820"/>
                <a:gd name="T45" fmla="*/ 0 h 208"/>
                <a:gd name="T46" fmla="*/ 2 w 820"/>
                <a:gd name="T47" fmla="*/ 0 h 208"/>
                <a:gd name="T48" fmla="*/ 2 w 820"/>
                <a:gd name="T49" fmla="*/ 0 h 208"/>
                <a:gd name="T50" fmla="*/ 2 w 820"/>
                <a:gd name="T51" fmla="*/ 0 h 208"/>
                <a:gd name="T52" fmla="*/ 1 w 820"/>
                <a:gd name="T53" fmla="*/ 0 h 208"/>
                <a:gd name="T54" fmla="*/ 1 w 820"/>
                <a:gd name="T55" fmla="*/ 0 h 208"/>
                <a:gd name="T56" fmla="*/ 1 w 820"/>
                <a:gd name="T57" fmla="*/ 1 h 208"/>
                <a:gd name="T58" fmla="*/ 0 w 820"/>
                <a:gd name="T59" fmla="*/ 1 h 208"/>
                <a:gd name="T60" fmla="*/ 0 w 820"/>
                <a:gd name="T61" fmla="*/ 1 h 208"/>
                <a:gd name="T62" fmla="*/ 0 w 820"/>
                <a:gd name="T63" fmla="*/ 1 h 208"/>
                <a:gd name="T64" fmla="*/ 0 w 820"/>
                <a:gd name="T65" fmla="*/ 1 h 208"/>
                <a:gd name="T66" fmla="*/ 1 w 820"/>
                <a:gd name="T67" fmla="*/ 0 h 208"/>
                <a:gd name="T68" fmla="*/ 0 w 820"/>
                <a:gd name="T69" fmla="*/ 0 h 20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20"/>
                <a:gd name="T106" fmla="*/ 0 h 208"/>
                <a:gd name="T107" fmla="*/ 820 w 820"/>
                <a:gd name="T108" fmla="*/ 208 h 20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20" h="208">
                  <a:moveTo>
                    <a:pt x="13" y="62"/>
                  </a:moveTo>
                  <a:lnTo>
                    <a:pt x="16" y="61"/>
                  </a:lnTo>
                  <a:lnTo>
                    <a:pt x="23" y="58"/>
                  </a:lnTo>
                  <a:lnTo>
                    <a:pt x="34" y="56"/>
                  </a:lnTo>
                  <a:lnTo>
                    <a:pt x="50" y="51"/>
                  </a:lnTo>
                  <a:lnTo>
                    <a:pt x="70" y="46"/>
                  </a:lnTo>
                  <a:lnTo>
                    <a:pt x="93" y="40"/>
                  </a:lnTo>
                  <a:lnTo>
                    <a:pt x="117" y="34"/>
                  </a:lnTo>
                  <a:lnTo>
                    <a:pt x="146" y="27"/>
                  </a:lnTo>
                  <a:lnTo>
                    <a:pt x="175" y="21"/>
                  </a:lnTo>
                  <a:lnTo>
                    <a:pt x="208" y="15"/>
                  </a:lnTo>
                  <a:lnTo>
                    <a:pt x="240" y="10"/>
                  </a:lnTo>
                  <a:lnTo>
                    <a:pt x="275" y="5"/>
                  </a:lnTo>
                  <a:lnTo>
                    <a:pt x="309" y="3"/>
                  </a:lnTo>
                  <a:lnTo>
                    <a:pt x="344" y="0"/>
                  </a:lnTo>
                  <a:lnTo>
                    <a:pt x="379" y="0"/>
                  </a:lnTo>
                  <a:lnTo>
                    <a:pt x="413" y="1"/>
                  </a:lnTo>
                  <a:lnTo>
                    <a:pt x="437" y="4"/>
                  </a:lnTo>
                  <a:lnTo>
                    <a:pt x="460" y="8"/>
                  </a:lnTo>
                  <a:lnTo>
                    <a:pt x="485" y="12"/>
                  </a:lnTo>
                  <a:lnTo>
                    <a:pt x="510" y="17"/>
                  </a:lnTo>
                  <a:lnTo>
                    <a:pt x="534" y="24"/>
                  </a:lnTo>
                  <a:lnTo>
                    <a:pt x="559" y="31"/>
                  </a:lnTo>
                  <a:lnTo>
                    <a:pt x="583" y="38"/>
                  </a:lnTo>
                  <a:lnTo>
                    <a:pt x="606" y="46"/>
                  </a:lnTo>
                  <a:lnTo>
                    <a:pt x="627" y="52"/>
                  </a:lnTo>
                  <a:lnTo>
                    <a:pt x="647" y="60"/>
                  </a:lnTo>
                  <a:lnTo>
                    <a:pt x="664" y="66"/>
                  </a:lnTo>
                  <a:lnTo>
                    <a:pt x="679" y="72"/>
                  </a:lnTo>
                  <a:lnTo>
                    <a:pt x="692" y="77"/>
                  </a:lnTo>
                  <a:lnTo>
                    <a:pt x="702" y="79"/>
                  </a:lnTo>
                  <a:lnTo>
                    <a:pt x="707" y="82"/>
                  </a:lnTo>
                  <a:lnTo>
                    <a:pt x="709" y="83"/>
                  </a:lnTo>
                  <a:lnTo>
                    <a:pt x="820" y="208"/>
                  </a:lnTo>
                  <a:lnTo>
                    <a:pt x="819" y="207"/>
                  </a:lnTo>
                  <a:lnTo>
                    <a:pt x="813" y="203"/>
                  </a:lnTo>
                  <a:lnTo>
                    <a:pt x="804" y="198"/>
                  </a:lnTo>
                  <a:lnTo>
                    <a:pt x="793" y="192"/>
                  </a:lnTo>
                  <a:lnTo>
                    <a:pt x="778" y="183"/>
                  </a:lnTo>
                  <a:lnTo>
                    <a:pt x="761" y="175"/>
                  </a:lnTo>
                  <a:lnTo>
                    <a:pt x="741" y="164"/>
                  </a:lnTo>
                  <a:lnTo>
                    <a:pt x="719" y="154"/>
                  </a:lnTo>
                  <a:lnTo>
                    <a:pt x="693" y="142"/>
                  </a:lnTo>
                  <a:lnTo>
                    <a:pt x="666" y="131"/>
                  </a:lnTo>
                  <a:lnTo>
                    <a:pt x="636" y="121"/>
                  </a:lnTo>
                  <a:lnTo>
                    <a:pt x="605" y="112"/>
                  </a:lnTo>
                  <a:lnTo>
                    <a:pt x="572" y="103"/>
                  </a:lnTo>
                  <a:lnTo>
                    <a:pt x="537" y="94"/>
                  </a:lnTo>
                  <a:lnTo>
                    <a:pt x="501" y="88"/>
                  </a:lnTo>
                  <a:lnTo>
                    <a:pt x="464" y="83"/>
                  </a:lnTo>
                  <a:lnTo>
                    <a:pt x="430" y="82"/>
                  </a:lnTo>
                  <a:lnTo>
                    <a:pt x="395" y="83"/>
                  </a:lnTo>
                  <a:lnTo>
                    <a:pt x="357" y="87"/>
                  </a:lnTo>
                  <a:lnTo>
                    <a:pt x="319" y="93"/>
                  </a:lnTo>
                  <a:lnTo>
                    <a:pt x="279" y="100"/>
                  </a:lnTo>
                  <a:lnTo>
                    <a:pt x="241" y="109"/>
                  </a:lnTo>
                  <a:lnTo>
                    <a:pt x="204" y="120"/>
                  </a:lnTo>
                  <a:lnTo>
                    <a:pt x="167" y="130"/>
                  </a:lnTo>
                  <a:lnTo>
                    <a:pt x="133" y="141"/>
                  </a:lnTo>
                  <a:lnTo>
                    <a:pt x="101" y="152"/>
                  </a:lnTo>
                  <a:lnTo>
                    <a:pt x="73" y="162"/>
                  </a:lnTo>
                  <a:lnTo>
                    <a:pt x="48" y="171"/>
                  </a:lnTo>
                  <a:lnTo>
                    <a:pt x="28" y="180"/>
                  </a:lnTo>
                  <a:lnTo>
                    <a:pt x="12" y="186"/>
                  </a:lnTo>
                  <a:lnTo>
                    <a:pt x="3" y="190"/>
                  </a:lnTo>
                  <a:lnTo>
                    <a:pt x="0" y="191"/>
                  </a:lnTo>
                  <a:lnTo>
                    <a:pt x="0" y="156"/>
                  </a:lnTo>
                  <a:lnTo>
                    <a:pt x="125" y="97"/>
                  </a:lnTo>
                  <a:lnTo>
                    <a:pt x="8" y="121"/>
                  </a:lnTo>
                  <a:lnTo>
                    <a:pt x="13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6" name="Freeform 31"/>
            <p:cNvSpPr/>
            <p:nvPr/>
          </p:nvSpPr>
          <p:spPr bwMode="auto">
            <a:xfrm>
              <a:off x="4783" y="2050"/>
              <a:ext cx="166" cy="89"/>
            </a:xfrm>
            <a:custGeom>
              <a:avLst/>
              <a:gdLst>
                <a:gd name="T0" fmla="*/ 0 w 497"/>
                <a:gd name="T1" fmla="*/ 1 h 266"/>
                <a:gd name="T2" fmla="*/ 0 w 497"/>
                <a:gd name="T3" fmla="*/ 1 h 266"/>
                <a:gd name="T4" fmla="*/ 0 w 497"/>
                <a:gd name="T5" fmla="*/ 1 h 266"/>
                <a:gd name="T6" fmla="*/ 0 w 497"/>
                <a:gd name="T7" fmla="*/ 1 h 266"/>
                <a:gd name="T8" fmla="*/ 0 w 497"/>
                <a:gd name="T9" fmla="*/ 1 h 266"/>
                <a:gd name="T10" fmla="*/ 1 w 497"/>
                <a:gd name="T11" fmla="*/ 1 h 266"/>
                <a:gd name="T12" fmla="*/ 1 w 497"/>
                <a:gd name="T13" fmla="*/ 1 h 266"/>
                <a:gd name="T14" fmla="*/ 1 w 497"/>
                <a:gd name="T15" fmla="*/ 1 h 266"/>
                <a:gd name="T16" fmla="*/ 1 w 497"/>
                <a:gd name="T17" fmla="*/ 1 h 266"/>
                <a:gd name="T18" fmla="*/ 1 w 497"/>
                <a:gd name="T19" fmla="*/ 1 h 266"/>
                <a:gd name="T20" fmla="*/ 2 w 497"/>
                <a:gd name="T21" fmla="*/ 1 h 266"/>
                <a:gd name="T22" fmla="*/ 2 w 497"/>
                <a:gd name="T23" fmla="*/ 1 h 266"/>
                <a:gd name="T24" fmla="*/ 2 w 497"/>
                <a:gd name="T25" fmla="*/ 1 h 266"/>
                <a:gd name="T26" fmla="*/ 2 w 497"/>
                <a:gd name="T27" fmla="*/ 0 h 266"/>
                <a:gd name="T28" fmla="*/ 2 w 497"/>
                <a:gd name="T29" fmla="*/ 0 h 266"/>
                <a:gd name="T30" fmla="*/ 2 w 497"/>
                <a:gd name="T31" fmla="*/ 0 h 266"/>
                <a:gd name="T32" fmla="*/ 1 w 497"/>
                <a:gd name="T33" fmla="*/ 0 h 266"/>
                <a:gd name="T34" fmla="*/ 1 w 497"/>
                <a:gd name="T35" fmla="*/ 0 h 266"/>
                <a:gd name="T36" fmla="*/ 1 w 497"/>
                <a:gd name="T37" fmla="*/ 0 h 266"/>
                <a:gd name="T38" fmla="*/ 1 w 497"/>
                <a:gd name="T39" fmla="*/ 0 h 266"/>
                <a:gd name="T40" fmla="*/ 1 w 497"/>
                <a:gd name="T41" fmla="*/ 0 h 266"/>
                <a:gd name="T42" fmla="*/ 1 w 497"/>
                <a:gd name="T43" fmla="*/ 0 h 266"/>
                <a:gd name="T44" fmla="*/ 1 w 497"/>
                <a:gd name="T45" fmla="*/ 0 h 266"/>
                <a:gd name="T46" fmla="*/ 2 w 497"/>
                <a:gd name="T47" fmla="*/ 0 h 266"/>
                <a:gd name="T48" fmla="*/ 2 w 497"/>
                <a:gd name="T49" fmla="*/ 0 h 266"/>
                <a:gd name="T50" fmla="*/ 2 w 497"/>
                <a:gd name="T51" fmla="*/ 0 h 266"/>
                <a:gd name="T52" fmla="*/ 2 w 497"/>
                <a:gd name="T53" fmla="*/ 0 h 266"/>
                <a:gd name="T54" fmla="*/ 2 w 497"/>
                <a:gd name="T55" fmla="*/ 0 h 266"/>
                <a:gd name="T56" fmla="*/ 2 w 497"/>
                <a:gd name="T57" fmla="*/ 0 h 266"/>
                <a:gd name="T58" fmla="*/ 2 w 497"/>
                <a:gd name="T59" fmla="*/ 0 h 266"/>
                <a:gd name="T60" fmla="*/ 2 w 497"/>
                <a:gd name="T61" fmla="*/ 0 h 266"/>
                <a:gd name="T62" fmla="*/ 2 w 497"/>
                <a:gd name="T63" fmla="*/ 0 h 266"/>
                <a:gd name="T64" fmla="*/ 2 w 497"/>
                <a:gd name="T65" fmla="*/ 0 h 266"/>
                <a:gd name="T66" fmla="*/ 2 w 497"/>
                <a:gd name="T67" fmla="*/ 0 h 266"/>
                <a:gd name="T68" fmla="*/ 2 w 497"/>
                <a:gd name="T69" fmla="*/ 0 h 266"/>
                <a:gd name="T70" fmla="*/ 1 w 497"/>
                <a:gd name="T71" fmla="*/ 0 h 266"/>
                <a:gd name="T72" fmla="*/ 1 w 497"/>
                <a:gd name="T73" fmla="*/ 0 h 266"/>
                <a:gd name="T74" fmla="*/ 1 w 497"/>
                <a:gd name="T75" fmla="*/ 0 h 266"/>
                <a:gd name="T76" fmla="*/ 1 w 497"/>
                <a:gd name="T77" fmla="*/ 0 h 266"/>
                <a:gd name="T78" fmla="*/ 1 w 497"/>
                <a:gd name="T79" fmla="*/ 0 h 266"/>
                <a:gd name="T80" fmla="*/ 1 w 497"/>
                <a:gd name="T81" fmla="*/ 0 h 266"/>
                <a:gd name="T82" fmla="*/ 0 w 497"/>
                <a:gd name="T83" fmla="*/ 0 h 266"/>
                <a:gd name="T84" fmla="*/ 0 w 497"/>
                <a:gd name="T85" fmla="*/ 0 h 266"/>
                <a:gd name="T86" fmla="*/ 0 w 497"/>
                <a:gd name="T87" fmla="*/ 1 h 266"/>
                <a:gd name="T88" fmla="*/ 0 w 497"/>
                <a:gd name="T89" fmla="*/ 1 h 266"/>
                <a:gd name="T90" fmla="*/ 0 w 497"/>
                <a:gd name="T91" fmla="*/ 1 h 26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97"/>
                <a:gd name="T139" fmla="*/ 0 h 266"/>
                <a:gd name="T140" fmla="*/ 497 w 497"/>
                <a:gd name="T141" fmla="*/ 266 h 26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97" h="266">
                  <a:moveTo>
                    <a:pt x="6" y="143"/>
                  </a:moveTo>
                  <a:lnTo>
                    <a:pt x="0" y="266"/>
                  </a:lnTo>
                  <a:lnTo>
                    <a:pt x="3" y="265"/>
                  </a:lnTo>
                  <a:lnTo>
                    <a:pt x="9" y="262"/>
                  </a:lnTo>
                  <a:lnTo>
                    <a:pt x="19" y="257"/>
                  </a:lnTo>
                  <a:lnTo>
                    <a:pt x="32" y="251"/>
                  </a:lnTo>
                  <a:lnTo>
                    <a:pt x="48" y="244"/>
                  </a:lnTo>
                  <a:lnTo>
                    <a:pt x="67" y="235"/>
                  </a:lnTo>
                  <a:lnTo>
                    <a:pt x="88" y="226"/>
                  </a:lnTo>
                  <a:lnTo>
                    <a:pt x="110" y="216"/>
                  </a:lnTo>
                  <a:lnTo>
                    <a:pt x="133" y="207"/>
                  </a:lnTo>
                  <a:lnTo>
                    <a:pt x="156" y="198"/>
                  </a:lnTo>
                  <a:lnTo>
                    <a:pt x="180" y="188"/>
                  </a:lnTo>
                  <a:lnTo>
                    <a:pt x="203" y="179"/>
                  </a:lnTo>
                  <a:lnTo>
                    <a:pt x="225" y="172"/>
                  </a:lnTo>
                  <a:lnTo>
                    <a:pt x="246" y="164"/>
                  </a:lnTo>
                  <a:lnTo>
                    <a:pt x="266" y="158"/>
                  </a:lnTo>
                  <a:lnTo>
                    <a:pt x="284" y="155"/>
                  </a:lnTo>
                  <a:lnTo>
                    <a:pt x="317" y="150"/>
                  </a:lnTo>
                  <a:lnTo>
                    <a:pt x="350" y="147"/>
                  </a:lnTo>
                  <a:lnTo>
                    <a:pt x="384" y="146"/>
                  </a:lnTo>
                  <a:lnTo>
                    <a:pt x="414" y="147"/>
                  </a:lnTo>
                  <a:lnTo>
                    <a:pt x="440" y="148"/>
                  </a:lnTo>
                  <a:lnTo>
                    <a:pt x="461" y="150"/>
                  </a:lnTo>
                  <a:lnTo>
                    <a:pt x="474" y="152"/>
                  </a:lnTo>
                  <a:lnTo>
                    <a:pt x="479" y="152"/>
                  </a:lnTo>
                  <a:lnTo>
                    <a:pt x="471" y="109"/>
                  </a:lnTo>
                  <a:lnTo>
                    <a:pt x="467" y="108"/>
                  </a:lnTo>
                  <a:lnTo>
                    <a:pt x="458" y="106"/>
                  </a:lnTo>
                  <a:lnTo>
                    <a:pt x="445" y="105"/>
                  </a:lnTo>
                  <a:lnTo>
                    <a:pt x="427" y="103"/>
                  </a:lnTo>
                  <a:lnTo>
                    <a:pt x="406" y="101"/>
                  </a:lnTo>
                  <a:lnTo>
                    <a:pt x="384" y="100"/>
                  </a:lnTo>
                  <a:lnTo>
                    <a:pt x="359" y="100"/>
                  </a:lnTo>
                  <a:lnTo>
                    <a:pt x="336" y="103"/>
                  </a:lnTo>
                  <a:lnTo>
                    <a:pt x="315" y="106"/>
                  </a:lnTo>
                  <a:lnTo>
                    <a:pt x="297" y="109"/>
                  </a:lnTo>
                  <a:lnTo>
                    <a:pt x="284" y="111"/>
                  </a:lnTo>
                  <a:lnTo>
                    <a:pt x="274" y="114"/>
                  </a:lnTo>
                  <a:lnTo>
                    <a:pt x="266" y="115"/>
                  </a:lnTo>
                  <a:lnTo>
                    <a:pt x="263" y="116"/>
                  </a:lnTo>
                  <a:lnTo>
                    <a:pt x="260" y="117"/>
                  </a:lnTo>
                  <a:lnTo>
                    <a:pt x="259" y="117"/>
                  </a:lnTo>
                  <a:lnTo>
                    <a:pt x="265" y="116"/>
                  </a:lnTo>
                  <a:lnTo>
                    <a:pt x="281" y="111"/>
                  </a:lnTo>
                  <a:lnTo>
                    <a:pt x="306" y="105"/>
                  </a:lnTo>
                  <a:lnTo>
                    <a:pt x="336" y="99"/>
                  </a:lnTo>
                  <a:lnTo>
                    <a:pt x="368" y="93"/>
                  </a:lnTo>
                  <a:lnTo>
                    <a:pt x="400" y="88"/>
                  </a:lnTo>
                  <a:lnTo>
                    <a:pt x="430" y="84"/>
                  </a:lnTo>
                  <a:lnTo>
                    <a:pt x="453" y="85"/>
                  </a:lnTo>
                  <a:lnTo>
                    <a:pt x="466" y="86"/>
                  </a:lnTo>
                  <a:lnTo>
                    <a:pt x="475" y="88"/>
                  </a:lnTo>
                  <a:lnTo>
                    <a:pt x="483" y="86"/>
                  </a:lnTo>
                  <a:lnTo>
                    <a:pt x="489" y="85"/>
                  </a:lnTo>
                  <a:lnTo>
                    <a:pt x="493" y="84"/>
                  </a:lnTo>
                  <a:lnTo>
                    <a:pt x="495" y="83"/>
                  </a:lnTo>
                  <a:lnTo>
                    <a:pt x="497" y="81"/>
                  </a:lnTo>
                  <a:lnTo>
                    <a:pt x="484" y="6"/>
                  </a:lnTo>
                  <a:lnTo>
                    <a:pt x="483" y="6"/>
                  </a:lnTo>
                  <a:lnTo>
                    <a:pt x="479" y="5"/>
                  </a:lnTo>
                  <a:lnTo>
                    <a:pt x="473" y="3"/>
                  </a:lnTo>
                  <a:lnTo>
                    <a:pt x="464" y="2"/>
                  </a:lnTo>
                  <a:lnTo>
                    <a:pt x="453" y="2"/>
                  </a:lnTo>
                  <a:lnTo>
                    <a:pt x="441" y="1"/>
                  </a:lnTo>
                  <a:lnTo>
                    <a:pt x="426" y="0"/>
                  </a:lnTo>
                  <a:lnTo>
                    <a:pt x="410" y="0"/>
                  </a:lnTo>
                  <a:lnTo>
                    <a:pt x="393" y="0"/>
                  </a:lnTo>
                  <a:lnTo>
                    <a:pt x="374" y="1"/>
                  </a:lnTo>
                  <a:lnTo>
                    <a:pt x="353" y="2"/>
                  </a:lnTo>
                  <a:lnTo>
                    <a:pt x="332" y="6"/>
                  </a:lnTo>
                  <a:lnTo>
                    <a:pt x="310" y="10"/>
                  </a:lnTo>
                  <a:lnTo>
                    <a:pt x="286" y="15"/>
                  </a:lnTo>
                  <a:lnTo>
                    <a:pt x="263" y="21"/>
                  </a:lnTo>
                  <a:lnTo>
                    <a:pt x="238" y="29"/>
                  </a:lnTo>
                  <a:lnTo>
                    <a:pt x="219" y="37"/>
                  </a:lnTo>
                  <a:lnTo>
                    <a:pt x="201" y="44"/>
                  </a:lnTo>
                  <a:lnTo>
                    <a:pt x="182" y="53"/>
                  </a:lnTo>
                  <a:lnTo>
                    <a:pt x="162" y="63"/>
                  </a:lnTo>
                  <a:lnTo>
                    <a:pt x="142" y="72"/>
                  </a:lnTo>
                  <a:lnTo>
                    <a:pt x="123" y="81"/>
                  </a:lnTo>
                  <a:lnTo>
                    <a:pt x="104" y="90"/>
                  </a:lnTo>
                  <a:lnTo>
                    <a:pt x="87" y="100"/>
                  </a:lnTo>
                  <a:lnTo>
                    <a:pt x="71" y="109"/>
                  </a:lnTo>
                  <a:lnTo>
                    <a:pt x="55" y="117"/>
                  </a:lnTo>
                  <a:lnTo>
                    <a:pt x="41" y="125"/>
                  </a:lnTo>
                  <a:lnTo>
                    <a:pt x="30" y="131"/>
                  </a:lnTo>
                  <a:lnTo>
                    <a:pt x="20" y="136"/>
                  </a:lnTo>
                  <a:lnTo>
                    <a:pt x="12" y="140"/>
                  </a:lnTo>
                  <a:lnTo>
                    <a:pt x="8" y="142"/>
                  </a:lnTo>
                  <a:lnTo>
                    <a:pt x="6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Freeform 32"/>
            <p:cNvSpPr/>
            <p:nvPr/>
          </p:nvSpPr>
          <p:spPr bwMode="auto">
            <a:xfrm>
              <a:off x="4743" y="2292"/>
              <a:ext cx="14" cy="9"/>
            </a:xfrm>
            <a:custGeom>
              <a:avLst/>
              <a:gdLst>
                <a:gd name="T0" fmla="*/ 0 w 43"/>
                <a:gd name="T1" fmla="*/ 0 h 29"/>
                <a:gd name="T2" fmla="*/ 0 w 43"/>
                <a:gd name="T3" fmla="*/ 0 h 29"/>
                <a:gd name="T4" fmla="*/ 0 w 43"/>
                <a:gd name="T5" fmla="*/ 0 h 29"/>
                <a:gd name="T6" fmla="*/ 0 w 43"/>
                <a:gd name="T7" fmla="*/ 0 h 29"/>
                <a:gd name="T8" fmla="*/ 0 w 43"/>
                <a:gd name="T9" fmla="*/ 0 h 29"/>
                <a:gd name="T10" fmla="*/ 0 w 43"/>
                <a:gd name="T11" fmla="*/ 0 h 29"/>
                <a:gd name="T12" fmla="*/ 0 w 43"/>
                <a:gd name="T13" fmla="*/ 0 h 29"/>
                <a:gd name="T14" fmla="*/ 0 w 43"/>
                <a:gd name="T15" fmla="*/ 0 h 29"/>
                <a:gd name="T16" fmla="*/ 0 w 43"/>
                <a:gd name="T17" fmla="*/ 0 h 29"/>
                <a:gd name="T18" fmla="*/ 0 w 43"/>
                <a:gd name="T19" fmla="*/ 0 h 2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3"/>
                <a:gd name="T31" fmla="*/ 0 h 29"/>
                <a:gd name="T32" fmla="*/ 43 w 43"/>
                <a:gd name="T33" fmla="*/ 29 h 2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3" h="29">
                  <a:moveTo>
                    <a:pt x="37" y="0"/>
                  </a:moveTo>
                  <a:lnTo>
                    <a:pt x="0" y="29"/>
                  </a:lnTo>
                  <a:lnTo>
                    <a:pt x="2" y="29"/>
                  </a:lnTo>
                  <a:lnTo>
                    <a:pt x="10" y="29"/>
                  </a:lnTo>
                  <a:lnTo>
                    <a:pt x="20" y="26"/>
                  </a:lnTo>
                  <a:lnTo>
                    <a:pt x="34" y="21"/>
                  </a:lnTo>
                  <a:lnTo>
                    <a:pt x="43" y="15"/>
                  </a:lnTo>
                  <a:lnTo>
                    <a:pt x="43" y="8"/>
                  </a:lnTo>
                  <a:lnTo>
                    <a:pt x="39" y="3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71" name="Group 78"/>
          <p:cNvGrpSpPr/>
          <p:nvPr/>
        </p:nvGrpSpPr>
        <p:grpSpPr bwMode="auto">
          <a:xfrm>
            <a:off x="7183923" y="1113312"/>
            <a:ext cx="1333500" cy="1509712"/>
            <a:chOff x="4748" y="1008"/>
            <a:chExt cx="628" cy="711"/>
          </a:xfrm>
        </p:grpSpPr>
        <p:sp>
          <p:nvSpPr>
            <p:cNvPr id="11272" name="Freeform 36"/>
            <p:cNvSpPr/>
            <p:nvPr/>
          </p:nvSpPr>
          <p:spPr bwMode="auto">
            <a:xfrm>
              <a:off x="5124" y="1138"/>
              <a:ext cx="204" cy="168"/>
            </a:xfrm>
            <a:custGeom>
              <a:avLst/>
              <a:gdLst>
                <a:gd name="T0" fmla="*/ 2 w 407"/>
                <a:gd name="T1" fmla="*/ 1 h 336"/>
                <a:gd name="T2" fmla="*/ 2 w 407"/>
                <a:gd name="T3" fmla="*/ 1 h 336"/>
                <a:gd name="T4" fmla="*/ 2 w 407"/>
                <a:gd name="T5" fmla="*/ 1 h 336"/>
                <a:gd name="T6" fmla="*/ 3 w 407"/>
                <a:gd name="T7" fmla="*/ 1 h 336"/>
                <a:gd name="T8" fmla="*/ 3 w 407"/>
                <a:gd name="T9" fmla="*/ 1 h 336"/>
                <a:gd name="T10" fmla="*/ 4 w 407"/>
                <a:gd name="T11" fmla="*/ 1 h 336"/>
                <a:gd name="T12" fmla="*/ 5 w 407"/>
                <a:gd name="T13" fmla="*/ 3 h 336"/>
                <a:gd name="T14" fmla="*/ 5 w 407"/>
                <a:gd name="T15" fmla="*/ 3 h 336"/>
                <a:gd name="T16" fmla="*/ 6 w 407"/>
                <a:gd name="T17" fmla="*/ 3 h 336"/>
                <a:gd name="T18" fmla="*/ 7 w 407"/>
                <a:gd name="T19" fmla="*/ 3 h 336"/>
                <a:gd name="T20" fmla="*/ 8 w 407"/>
                <a:gd name="T21" fmla="*/ 5 h 336"/>
                <a:gd name="T22" fmla="*/ 9 w 407"/>
                <a:gd name="T23" fmla="*/ 5 h 336"/>
                <a:gd name="T24" fmla="*/ 9 w 407"/>
                <a:gd name="T25" fmla="*/ 5 h 336"/>
                <a:gd name="T26" fmla="*/ 10 w 407"/>
                <a:gd name="T27" fmla="*/ 6 h 336"/>
                <a:gd name="T28" fmla="*/ 11 w 407"/>
                <a:gd name="T29" fmla="*/ 6 h 336"/>
                <a:gd name="T30" fmla="*/ 11 w 407"/>
                <a:gd name="T31" fmla="*/ 7 h 336"/>
                <a:gd name="T32" fmla="*/ 12 w 407"/>
                <a:gd name="T33" fmla="*/ 7 h 336"/>
                <a:gd name="T34" fmla="*/ 12 w 407"/>
                <a:gd name="T35" fmla="*/ 9 h 336"/>
                <a:gd name="T36" fmla="*/ 13 w 407"/>
                <a:gd name="T37" fmla="*/ 9 h 336"/>
                <a:gd name="T38" fmla="*/ 13 w 407"/>
                <a:gd name="T39" fmla="*/ 9 h 336"/>
                <a:gd name="T40" fmla="*/ 13 w 407"/>
                <a:gd name="T41" fmla="*/ 10 h 336"/>
                <a:gd name="T42" fmla="*/ 13 w 407"/>
                <a:gd name="T43" fmla="*/ 10 h 336"/>
                <a:gd name="T44" fmla="*/ 13 w 407"/>
                <a:gd name="T45" fmla="*/ 10 h 336"/>
                <a:gd name="T46" fmla="*/ 12 w 407"/>
                <a:gd name="T47" fmla="*/ 11 h 336"/>
                <a:gd name="T48" fmla="*/ 12 w 407"/>
                <a:gd name="T49" fmla="*/ 11 h 336"/>
                <a:gd name="T50" fmla="*/ 12 w 407"/>
                <a:gd name="T51" fmla="*/ 11 h 336"/>
                <a:gd name="T52" fmla="*/ 11 w 407"/>
                <a:gd name="T53" fmla="*/ 11 h 336"/>
                <a:gd name="T54" fmla="*/ 11 w 407"/>
                <a:gd name="T55" fmla="*/ 11 h 336"/>
                <a:gd name="T56" fmla="*/ 11 w 407"/>
                <a:gd name="T57" fmla="*/ 10 h 336"/>
                <a:gd name="T58" fmla="*/ 10 w 407"/>
                <a:gd name="T59" fmla="*/ 10 h 336"/>
                <a:gd name="T60" fmla="*/ 10 w 407"/>
                <a:gd name="T61" fmla="*/ 10 h 336"/>
                <a:gd name="T62" fmla="*/ 9 w 407"/>
                <a:gd name="T63" fmla="*/ 9 h 336"/>
                <a:gd name="T64" fmla="*/ 8 w 407"/>
                <a:gd name="T65" fmla="*/ 9 h 336"/>
                <a:gd name="T66" fmla="*/ 8 w 407"/>
                <a:gd name="T67" fmla="*/ 7 h 336"/>
                <a:gd name="T68" fmla="*/ 7 w 407"/>
                <a:gd name="T69" fmla="*/ 6 h 336"/>
                <a:gd name="T70" fmla="*/ 6 w 407"/>
                <a:gd name="T71" fmla="*/ 6 h 336"/>
                <a:gd name="T72" fmla="*/ 5 w 407"/>
                <a:gd name="T73" fmla="*/ 5 h 336"/>
                <a:gd name="T74" fmla="*/ 5 w 407"/>
                <a:gd name="T75" fmla="*/ 5 h 336"/>
                <a:gd name="T76" fmla="*/ 4 w 407"/>
                <a:gd name="T77" fmla="*/ 5 h 336"/>
                <a:gd name="T78" fmla="*/ 3 w 407"/>
                <a:gd name="T79" fmla="*/ 3 h 336"/>
                <a:gd name="T80" fmla="*/ 2 w 407"/>
                <a:gd name="T81" fmla="*/ 3 h 336"/>
                <a:gd name="T82" fmla="*/ 2 w 407"/>
                <a:gd name="T83" fmla="*/ 3 h 336"/>
                <a:gd name="T84" fmla="*/ 1 w 407"/>
                <a:gd name="T85" fmla="*/ 3 h 336"/>
                <a:gd name="T86" fmla="*/ 1 w 407"/>
                <a:gd name="T87" fmla="*/ 1 h 336"/>
                <a:gd name="T88" fmla="*/ 1 w 407"/>
                <a:gd name="T89" fmla="*/ 1 h 336"/>
                <a:gd name="T90" fmla="*/ 0 w 407"/>
                <a:gd name="T91" fmla="*/ 1 h 336"/>
                <a:gd name="T92" fmla="*/ 1 w 407"/>
                <a:gd name="T93" fmla="*/ 1 h 336"/>
                <a:gd name="T94" fmla="*/ 1 w 407"/>
                <a:gd name="T95" fmla="*/ 1 h 336"/>
                <a:gd name="T96" fmla="*/ 1 w 407"/>
                <a:gd name="T97" fmla="*/ 1 h 336"/>
                <a:gd name="T98" fmla="*/ 2 w 407"/>
                <a:gd name="T99" fmla="*/ 1 h 336"/>
                <a:gd name="T100" fmla="*/ 2 w 407"/>
                <a:gd name="T101" fmla="*/ 1 h 336"/>
                <a:gd name="T102" fmla="*/ 2 w 407"/>
                <a:gd name="T103" fmla="*/ 0 h 3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407"/>
                <a:gd name="T157" fmla="*/ 0 h 336"/>
                <a:gd name="T158" fmla="*/ 407 w 407"/>
                <a:gd name="T159" fmla="*/ 336 h 3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407" h="336">
                  <a:moveTo>
                    <a:pt x="43" y="0"/>
                  </a:moveTo>
                  <a:lnTo>
                    <a:pt x="44" y="0"/>
                  </a:lnTo>
                  <a:lnTo>
                    <a:pt x="44" y="1"/>
                  </a:lnTo>
                  <a:lnTo>
                    <a:pt x="47" y="1"/>
                  </a:lnTo>
                  <a:lnTo>
                    <a:pt x="50" y="2"/>
                  </a:lnTo>
                  <a:lnTo>
                    <a:pt x="52" y="4"/>
                  </a:lnTo>
                  <a:lnTo>
                    <a:pt x="56" y="6"/>
                  </a:lnTo>
                  <a:lnTo>
                    <a:pt x="59" y="8"/>
                  </a:lnTo>
                  <a:lnTo>
                    <a:pt x="64" y="12"/>
                  </a:lnTo>
                  <a:lnTo>
                    <a:pt x="68" y="15"/>
                  </a:lnTo>
                  <a:lnTo>
                    <a:pt x="74" y="18"/>
                  </a:lnTo>
                  <a:lnTo>
                    <a:pt x="78" y="23"/>
                  </a:lnTo>
                  <a:lnTo>
                    <a:pt x="83" y="26"/>
                  </a:lnTo>
                  <a:lnTo>
                    <a:pt x="89" y="30"/>
                  </a:lnTo>
                  <a:lnTo>
                    <a:pt x="95" y="34"/>
                  </a:lnTo>
                  <a:lnTo>
                    <a:pt x="101" y="39"/>
                  </a:lnTo>
                  <a:lnTo>
                    <a:pt x="108" y="45"/>
                  </a:lnTo>
                  <a:lnTo>
                    <a:pt x="115" y="50"/>
                  </a:lnTo>
                  <a:lnTo>
                    <a:pt x="121" y="54"/>
                  </a:lnTo>
                  <a:lnTo>
                    <a:pt x="129" y="59"/>
                  </a:lnTo>
                  <a:lnTo>
                    <a:pt x="136" y="66"/>
                  </a:lnTo>
                  <a:lnTo>
                    <a:pt x="143" y="71"/>
                  </a:lnTo>
                  <a:lnTo>
                    <a:pt x="152" y="77"/>
                  </a:lnTo>
                  <a:lnTo>
                    <a:pt x="160" y="83"/>
                  </a:lnTo>
                  <a:lnTo>
                    <a:pt x="168" y="90"/>
                  </a:lnTo>
                  <a:lnTo>
                    <a:pt x="175" y="96"/>
                  </a:lnTo>
                  <a:lnTo>
                    <a:pt x="183" y="102"/>
                  </a:lnTo>
                  <a:lnTo>
                    <a:pt x="192" y="109"/>
                  </a:lnTo>
                  <a:lnTo>
                    <a:pt x="201" y="116"/>
                  </a:lnTo>
                  <a:lnTo>
                    <a:pt x="208" y="122"/>
                  </a:lnTo>
                  <a:lnTo>
                    <a:pt x="218" y="129"/>
                  </a:lnTo>
                  <a:lnTo>
                    <a:pt x="226" y="135"/>
                  </a:lnTo>
                  <a:lnTo>
                    <a:pt x="234" y="143"/>
                  </a:lnTo>
                  <a:lnTo>
                    <a:pt x="243" y="149"/>
                  </a:lnTo>
                  <a:lnTo>
                    <a:pt x="251" y="156"/>
                  </a:lnTo>
                  <a:lnTo>
                    <a:pt x="259" y="163"/>
                  </a:lnTo>
                  <a:lnTo>
                    <a:pt x="267" y="169"/>
                  </a:lnTo>
                  <a:lnTo>
                    <a:pt x="276" y="176"/>
                  </a:lnTo>
                  <a:lnTo>
                    <a:pt x="284" y="182"/>
                  </a:lnTo>
                  <a:lnTo>
                    <a:pt x="292" y="189"/>
                  </a:lnTo>
                  <a:lnTo>
                    <a:pt x="301" y="196"/>
                  </a:lnTo>
                  <a:lnTo>
                    <a:pt x="308" y="202"/>
                  </a:lnTo>
                  <a:lnTo>
                    <a:pt x="315" y="208"/>
                  </a:lnTo>
                  <a:lnTo>
                    <a:pt x="322" y="214"/>
                  </a:lnTo>
                  <a:lnTo>
                    <a:pt x="329" y="220"/>
                  </a:lnTo>
                  <a:lnTo>
                    <a:pt x="336" y="226"/>
                  </a:lnTo>
                  <a:lnTo>
                    <a:pt x="343" y="232"/>
                  </a:lnTo>
                  <a:lnTo>
                    <a:pt x="349" y="238"/>
                  </a:lnTo>
                  <a:lnTo>
                    <a:pt x="356" y="244"/>
                  </a:lnTo>
                  <a:lnTo>
                    <a:pt x="362" y="248"/>
                  </a:lnTo>
                  <a:lnTo>
                    <a:pt x="368" y="253"/>
                  </a:lnTo>
                  <a:lnTo>
                    <a:pt x="373" y="258"/>
                  </a:lnTo>
                  <a:lnTo>
                    <a:pt x="377" y="262"/>
                  </a:lnTo>
                  <a:lnTo>
                    <a:pt x="382" y="266"/>
                  </a:lnTo>
                  <a:lnTo>
                    <a:pt x="387" y="272"/>
                  </a:lnTo>
                  <a:lnTo>
                    <a:pt x="390" y="274"/>
                  </a:lnTo>
                  <a:lnTo>
                    <a:pt x="395" y="279"/>
                  </a:lnTo>
                  <a:lnTo>
                    <a:pt x="398" y="283"/>
                  </a:lnTo>
                  <a:lnTo>
                    <a:pt x="400" y="286"/>
                  </a:lnTo>
                  <a:lnTo>
                    <a:pt x="402" y="288"/>
                  </a:lnTo>
                  <a:lnTo>
                    <a:pt x="405" y="291"/>
                  </a:lnTo>
                  <a:lnTo>
                    <a:pt x="407" y="294"/>
                  </a:lnTo>
                  <a:lnTo>
                    <a:pt x="407" y="297"/>
                  </a:lnTo>
                  <a:lnTo>
                    <a:pt x="406" y="300"/>
                  </a:lnTo>
                  <a:lnTo>
                    <a:pt x="403" y="304"/>
                  </a:lnTo>
                  <a:lnTo>
                    <a:pt x="400" y="307"/>
                  </a:lnTo>
                  <a:lnTo>
                    <a:pt x="398" y="311"/>
                  </a:lnTo>
                  <a:lnTo>
                    <a:pt x="394" y="314"/>
                  </a:lnTo>
                  <a:lnTo>
                    <a:pt x="390" y="318"/>
                  </a:lnTo>
                  <a:lnTo>
                    <a:pt x="387" y="320"/>
                  </a:lnTo>
                  <a:lnTo>
                    <a:pt x="382" y="325"/>
                  </a:lnTo>
                  <a:lnTo>
                    <a:pt x="379" y="327"/>
                  </a:lnTo>
                  <a:lnTo>
                    <a:pt x="375" y="329"/>
                  </a:lnTo>
                  <a:lnTo>
                    <a:pt x="372" y="332"/>
                  </a:lnTo>
                  <a:lnTo>
                    <a:pt x="368" y="333"/>
                  </a:lnTo>
                  <a:lnTo>
                    <a:pt x="364" y="333"/>
                  </a:lnTo>
                  <a:lnTo>
                    <a:pt x="362" y="336"/>
                  </a:lnTo>
                  <a:lnTo>
                    <a:pt x="359" y="336"/>
                  </a:lnTo>
                  <a:lnTo>
                    <a:pt x="357" y="336"/>
                  </a:lnTo>
                  <a:lnTo>
                    <a:pt x="355" y="335"/>
                  </a:lnTo>
                  <a:lnTo>
                    <a:pt x="351" y="332"/>
                  </a:lnTo>
                  <a:lnTo>
                    <a:pt x="348" y="330"/>
                  </a:lnTo>
                  <a:lnTo>
                    <a:pt x="346" y="327"/>
                  </a:lnTo>
                  <a:lnTo>
                    <a:pt x="342" y="326"/>
                  </a:lnTo>
                  <a:lnTo>
                    <a:pt x="338" y="323"/>
                  </a:lnTo>
                  <a:lnTo>
                    <a:pt x="334" y="319"/>
                  </a:lnTo>
                  <a:lnTo>
                    <a:pt x="329" y="317"/>
                  </a:lnTo>
                  <a:lnTo>
                    <a:pt x="324" y="312"/>
                  </a:lnTo>
                  <a:lnTo>
                    <a:pt x="320" y="309"/>
                  </a:lnTo>
                  <a:lnTo>
                    <a:pt x="312" y="304"/>
                  </a:lnTo>
                  <a:lnTo>
                    <a:pt x="308" y="299"/>
                  </a:lnTo>
                  <a:lnTo>
                    <a:pt x="301" y="294"/>
                  </a:lnTo>
                  <a:lnTo>
                    <a:pt x="295" y="290"/>
                  </a:lnTo>
                  <a:lnTo>
                    <a:pt x="289" y="285"/>
                  </a:lnTo>
                  <a:lnTo>
                    <a:pt x="280" y="279"/>
                  </a:lnTo>
                  <a:lnTo>
                    <a:pt x="273" y="273"/>
                  </a:lnTo>
                  <a:lnTo>
                    <a:pt x="267" y="268"/>
                  </a:lnTo>
                  <a:lnTo>
                    <a:pt x="259" y="262"/>
                  </a:lnTo>
                  <a:lnTo>
                    <a:pt x="252" y="257"/>
                  </a:lnTo>
                  <a:lnTo>
                    <a:pt x="245" y="251"/>
                  </a:lnTo>
                  <a:lnTo>
                    <a:pt x="237" y="244"/>
                  </a:lnTo>
                  <a:lnTo>
                    <a:pt x="228" y="238"/>
                  </a:lnTo>
                  <a:lnTo>
                    <a:pt x="220" y="231"/>
                  </a:lnTo>
                  <a:lnTo>
                    <a:pt x="212" y="225"/>
                  </a:lnTo>
                  <a:lnTo>
                    <a:pt x="204" y="219"/>
                  </a:lnTo>
                  <a:lnTo>
                    <a:pt x="195" y="212"/>
                  </a:lnTo>
                  <a:lnTo>
                    <a:pt x="187" y="206"/>
                  </a:lnTo>
                  <a:lnTo>
                    <a:pt x="179" y="199"/>
                  </a:lnTo>
                  <a:lnTo>
                    <a:pt x="170" y="192"/>
                  </a:lnTo>
                  <a:lnTo>
                    <a:pt x="162" y="186"/>
                  </a:lnTo>
                  <a:lnTo>
                    <a:pt x="154" y="177"/>
                  </a:lnTo>
                  <a:lnTo>
                    <a:pt x="146" y="171"/>
                  </a:lnTo>
                  <a:lnTo>
                    <a:pt x="137" y="164"/>
                  </a:lnTo>
                  <a:lnTo>
                    <a:pt x="129" y="157"/>
                  </a:lnTo>
                  <a:lnTo>
                    <a:pt x="121" y="151"/>
                  </a:lnTo>
                  <a:lnTo>
                    <a:pt x="114" y="144"/>
                  </a:lnTo>
                  <a:lnTo>
                    <a:pt x="105" y="138"/>
                  </a:lnTo>
                  <a:lnTo>
                    <a:pt x="97" y="132"/>
                  </a:lnTo>
                  <a:lnTo>
                    <a:pt x="90" y="125"/>
                  </a:lnTo>
                  <a:lnTo>
                    <a:pt x="83" y="119"/>
                  </a:lnTo>
                  <a:lnTo>
                    <a:pt x="76" y="114"/>
                  </a:lnTo>
                  <a:lnTo>
                    <a:pt x="69" y="108"/>
                  </a:lnTo>
                  <a:lnTo>
                    <a:pt x="62" y="102"/>
                  </a:lnTo>
                  <a:lnTo>
                    <a:pt x="56" y="96"/>
                  </a:lnTo>
                  <a:lnTo>
                    <a:pt x="50" y="91"/>
                  </a:lnTo>
                  <a:lnTo>
                    <a:pt x="44" y="86"/>
                  </a:lnTo>
                  <a:lnTo>
                    <a:pt x="38" y="80"/>
                  </a:lnTo>
                  <a:lnTo>
                    <a:pt x="33" y="76"/>
                  </a:lnTo>
                  <a:lnTo>
                    <a:pt x="29" y="72"/>
                  </a:lnTo>
                  <a:lnTo>
                    <a:pt x="23" y="67"/>
                  </a:lnTo>
                  <a:lnTo>
                    <a:pt x="19" y="63"/>
                  </a:lnTo>
                  <a:lnTo>
                    <a:pt x="14" y="59"/>
                  </a:lnTo>
                  <a:lnTo>
                    <a:pt x="12" y="57"/>
                  </a:lnTo>
                  <a:lnTo>
                    <a:pt x="8" y="52"/>
                  </a:lnTo>
                  <a:lnTo>
                    <a:pt x="6" y="50"/>
                  </a:lnTo>
                  <a:lnTo>
                    <a:pt x="4" y="47"/>
                  </a:lnTo>
                  <a:lnTo>
                    <a:pt x="3" y="45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3" y="37"/>
                  </a:lnTo>
                  <a:lnTo>
                    <a:pt x="5" y="34"/>
                  </a:lnTo>
                  <a:lnTo>
                    <a:pt x="8" y="31"/>
                  </a:lnTo>
                  <a:lnTo>
                    <a:pt x="11" y="28"/>
                  </a:lnTo>
                  <a:lnTo>
                    <a:pt x="13" y="24"/>
                  </a:lnTo>
                  <a:lnTo>
                    <a:pt x="18" y="21"/>
                  </a:lnTo>
                  <a:lnTo>
                    <a:pt x="21" y="18"/>
                  </a:lnTo>
                  <a:lnTo>
                    <a:pt x="25" y="15"/>
                  </a:lnTo>
                  <a:lnTo>
                    <a:pt x="29" y="12"/>
                  </a:lnTo>
                  <a:lnTo>
                    <a:pt x="31" y="8"/>
                  </a:lnTo>
                  <a:lnTo>
                    <a:pt x="33" y="6"/>
                  </a:lnTo>
                  <a:lnTo>
                    <a:pt x="37" y="4"/>
                  </a:lnTo>
                  <a:lnTo>
                    <a:pt x="39" y="1"/>
                  </a:lnTo>
                  <a:lnTo>
                    <a:pt x="42" y="1"/>
                  </a:lnTo>
                  <a:lnTo>
                    <a:pt x="42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3" name="Freeform 37"/>
            <p:cNvSpPr/>
            <p:nvPr/>
          </p:nvSpPr>
          <p:spPr bwMode="auto">
            <a:xfrm>
              <a:off x="5135" y="1129"/>
              <a:ext cx="197" cy="180"/>
            </a:xfrm>
            <a:custGeom>
              <a:avLst/>
              <a:gdLst>
                <a:gd name="T0" fmla="*/ 11 w 392"/>
                <a:gd name="T1" fmla="*/ 0 h 361"/>
                <a:gd name="T2" fmla="*/ 11 w 392"/>
                <a:gd name="T3" fmla="*/ 0 h 361"/>
                <a:gd name="T4" fmla="*/ 10 w 392"/>
                <a:gd name="T5" fmla="*/ 0 h 361"/>
                <a:gd name="T6" fmla="*/ 10 w 392"/>
                <a:gd name="T7" fmla="*/ 0 h 361"/>
                <a:gd name="T8" fmla="*/ 9 w 392"/>
                <a:gd name="T9" fmla="*/ 1 h 361"/>
                <a:gd name="T10" fmla="*/ 9 w 392"/>
                <a:gd name="T11" fmla="*/ 1 h 361"/>
                <a:gd name="T12" fmla="*/ 8 w 392"/>
                <a:gd name="T13" fmla="*/ 2 h 361"/>
                <a:gd name="T14" fmla="*/ 8 w 392"/>
                <a:gd name="T15" fmla="*/ 3 h 361"/>
                <a:gd name="T16" fmla="*/ 7 w 392"/>
                <a:gd name="T17" fmla="*/ 3 h 361"/>
                <a:gd name="T18" fmla="*/ 6 w 392"/>
                <a:gd name="T19" fmla="*/ 4 h 361"/>
                <a:gd name="T20" fmla="*/ 5 w 392"/>
                <a:gd name="T21" fmla="*/ 5 h 361"/>
                <a:gd name="T22" fmla="*/ 5 w 392"/>
                <a:gd name="T23" fmla="*/ 5 h 361"/>
                <a:gd name="T24" fmla="*/ 4 w 392"/>
                <a:gd name="T25" fmla="*/ 6 h 361"/>
                <a:gd name="T26" fmla="*/ 3 w 392"/>
                <a:gd name="T27" fmla="*/ 6 h 361"/>
                <a:gd name="T28" fmla="*/ 3 w 392"/>
                <a:gd name="T29" fmla="*/ 7 h 361"/>
                <a:gd name="T30" fmla="*/ 2 w 392"/>
                <a:gd name="T31" fmla="*/ 8 h 361"/>
                <a:gd name="T32" fmla="*/ 2 w 392"/>
                <a:gd name="T33" fmla="*/ 8 h 361"/>
                <a:gd name="T34" fmla="*/ 1 w 392"/>
                <a:gd name="T35" fmla="*/ 9 h 361"/>
                <a:gd name="T36" fmla="*/ 1 w 392"/>
                <a:gd name="T37" fmla="*/ 9 h 361"/>
                <a:gd name="T38" fmla="*/ 1 w 392"/>
                <a:gd name="T39" fmla="*/ 9 h 361"/>
                <a:gd name="T40" fmla="*/ 1 w 392"/>
                <a:gd name="T41" fmla="*/ 9 h 361"/>
                <a:gd name="T42" fmla="*/ 1 w 392"/>
                <a:gd name="T43" fmla="*/ 10 h 361"/>
                <a:gd name="T44" fmla="*/ 1 w 392"/>
                <a:gd name="T45" fmla="*/ 10 h 361"/>
                <a:gd name="T46" fmla="*/ 2 w 392"/>
                <a:gd name="T47" fmla="*/ 10 h 361"/>
                <a:gd name="T48" fmla="*/ 2 w 392"/>
                <a:gd name="T49" fmla="*/ 11 h 361"/>
                <a:gd name="T50" fmla="*/ 2 w 392"/>
                <a:gd name="T51" fmla="*/ 11 h 361"/>
                <a:gd name="T52" fmla="*/ 2 w 392"/>
                <a:gd name="T53" fmla="*/ 11 h 361"/>
                <a:gd name="T54" fmla="*/ 2 w 392"/>
                <a:gd name="T55" fmla="*/ 10 h 361"/>
                <a:gd name="T56" fmla="*/ 3 w 392"/>
                <a:gd name="T57" fmla="*/ 10 h 361"/>
                <a:gd name="T58" fmla="*/ 3 w 392"/>
                <a:gd name="T59" fmla="*/ 10 h 361"/>
                <a:gd name="T60" fmla="*/ 4 w 392"/>
                <a:gd name="T61" fmla="*/ 9 h 361"/>
                <a:gd name="T62" fmla="*/ 4 w 392"/>
                <a:gd name="T63" fmla="*/ 9 h 361"/>
                <a:gd name="T64" fmla="*/ 5 w 392"/>
                <a:gd name="T65" fmla="*/ 8 h 361"/>
                <a:gd name="T66" fmla="*/ 6 w 392"/>
                <a:gd name="T67" fmla="*/ 8 h 361"/>
                <a:gd name="T68" fmla="*/ 6 w 392"/>
                <a:gd name="T69" fmla="*/ 7 h 361"/>
                <a:gd name="T70" fmla="*/ 7 w 392"/>
                <a:gd name="T71" fmla="*/ 6 h 361"/>
                <a:gd name="T72" fmla="*/ 8 w 392"/>
                <a:gd name="T73" fmla="*/ 6 h 361"/>
                <a:gd name="T74" fmla="*/ 9 w 392"/>
                <a:gd name="T75" fmla="*/ 5 h 361"/>
                <a:gd name="T76" fmla="*/ 9 w 392"/>
                <a:gd name="T77" fmla="*/ 4 h 361"/>
                <a:gd name="T78" fmla="*/ 10 w 392"/>
                <a:gd name="T79" fmla="*/ 4 h 361"/>
                <a:gd name="T80" fmla="*/ 11 w 392"/>
                <a:gd name="T81" fmla="*/ 3 h 361"/>
                <a:gd name="T82" fmla="*/ 11 w 392"/>
                <a:gd name="T83" fmla="*/ 3 h 361"/>
                <a:gd name="T84" fmla="*/ 12 w 392"/>
                <a:gd name="T85" fmla="*/ 2 h 361"/>
                <a:gd name="T86" fmla="*/ 12 w 392"/>
                <a:gd name="T87" fmla="*/ 2 h 361"/>
                <a:gd name="T88" fmla="*/ 13 w 392"/>
                <a:gd name="T89" fmla="*/ 2 h 361"/>
                <a:gd name="T90" fmla="*/ 13 w 392"/>
                <a:gd name="T91" fmla="*/ 1 h 361"/>
                <a:gd name="T92" fmla="*/ 13 w 392"/>
                <a:gd name="T93" fmla="*/ 1 h 361"/>
                <a:gd name="T94" fmla="*/ 12 w 392"/>
                <a:gd name="T95" fmla="*/ 1 h 361"/>
                <a:gd name="T96" fmla="*/ 12 w 392"/>
                <a:gd name="T97" fmla="*/ 0 h 361"/>
                <a:gd name="T98" fmla="*/ 12 w 392"/>
                <a:gd name="T99" fmla="*/ 0 h 361"/>
                <a:gd name="T100" fmla="*/ 11 w 392"/>
                <a:gd name="T101" fmla="*/ 0 h 36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92"/>
                <a:gd name="T154" fmla="*/ 0 h 361"/>
                <a:gd name="T155" fmla="*/ 392 w 392"/>
                <a:gd name="T156" fmla="*/ 361 h 36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92" h="361">
                  <a:moveTo>
                    <a:pt x="341" y="0"/>
                  </a:moveTo>
                  <a:lnTo>
                    <a:pt x="340" y="0"/>
                  </a:lnTo>
                  <a:lnTo>
                    <a:pt x="337" y="3"/>
                  </a:lnTo>
                  <a:lnTo>
                    <a:pt x="334" y="4"/>
                  </a:lnTo>
                  <a:lnTo>
                    <a:pt x="332" y="7"/>
                  </a:lnTo>
                  <a:lnTo>
                    <a:pt x="328" y="9"/>
                  </a:lnTo>
                  <a:lnTo>
                    <a:pt x="325" y="12"/>
                  </a:lnTo>
                  <a:lnTo>
                    <a:pt x="321" y="15"/>
                  </a:lnTo>
                  <a:lnTo>
                    <a:pt x="318" y="19"/>
                  </a:lnTo>
                  <a:lnTo>
                    <a:pt x="312" y="22"/>
                  </a:lnTo>
                  <a:lnTo>
                    <a:pt x="308" y="25"/>
                  </a:lnTo>
                  <a:lnTo>
                    <a:pt x="302" y="30"/>
                  </a:lnTo>
                  <a:lnTo>
                    <a:pt x="298" y="36"/>
                  </a:lnTo>
                  <a:lnTo>
                    <a:pt x="292" y="39"/>
                  </a:lnTo>
                  <a:lnTo>
                    <a:pt x="286" y="45"/>
                  </a:lnTo>
                  <a:lnTo>
                    <a:pt x="279" y="51"/>
                  </a:lnTo>
                  <a:lnTo>
                    <a:pt x="273" y="56"/>
                  </a:lnTo>
                  <a:lnTo>
                    <a:pt x="267" y="62"/>
                  </a:lnTo>
                  <a:lnTo>
                    <a:pt x="260" y="67"/>
                  </a:lnTo>
                  <a:lnTo>
                    <a:pt x="254" y="72"/>
                  </a:lnTo>
                  <a:lnTo>
                    <a:pt x="247" y="78"/>
                  </a:lnTo>
                  <a:lnTo>
                    <a:pt x="239" y="85"/>
                  </a:lnTo>
                  <a:lnTo>
                    <a:pt x="233" y="91"/>
                  </a:lnTo>
                  <a:lnTo>
                    <a:pt x="224" y="98"/>
                  </a:lnTo>
                  <a:lnTo>
                    <a:pt x="217" y="106"/>
                  </a:lnTo>
                  <a:lnTo>
                    <a:pt x="210" y="111"/>
                  </a:lnTo>
                  <a:lnTo>
                    <a:pt x="202" y="119"/>
                  </a:lnTo>
                  <a:lnTo>
                    <a:pt x="194" y="126"/>
                  </a:lnTo>
                  <a:lnTo>
                    <a:pt x="187" y="133"/>
                  </a:lnTo>
                  <a:lnTo>
                    <a:pt x="179" y="140"/>
                  </a:lnTo>
                  <a:lnTo>
                    <a:pt x="171" y="147"/>
                  </a:lnTo>
                  <a:lnTo>
                    <a:pt x="163" y="154"/>
                  </a:lnTo>
                  <a:lnTo>
                    <a:pt x="156" y="161"/>
                  </a:lnTo>
                  <a:lnTo>
                    <a:pt x="149" y="168"/>
                  </a:lnTo>
                  <a:lnTo>
                    <a:pt x="140" y="175"/>
                  </a:lnTo>
                  <a:lnTo>
                    <a:pt x="133" y="182"/>
                  </a:lnTo>
                  <a:lnTo>
                    <a:pt x="125" y="189"/>
                  </a:lnTo>
                  <a:lnTo>
                    <a:pt x="118" y="195"/>
                  </a:lnTo>
                  <a:lnTo>
                    <a:pt x="111" y="204"/>
                  </a:lnTo>
                  <a:lnTo>
                    <a:pt x="103" y="210"/>
                  </a:lnTo>
                  <a:lnTo>
                    <a:pt x="97" y="217"/>
                  </a:lnTo>
                  <a:lnTo>
                    <a:pt x="90" y="223"/>
                  </a:lnTo>
                  <a:lnTo>
                    <a:pt x="82" y="230"/>
                  </a:lnTo>
                  <a:lnTo>
                    <a:pt x="75" y="236"/>
                  </a:lnTo>
                  <a:lnTo>
                    <a:pt x="69" y="243"/>
                  </a:lnTo>
                  <a:lnTo>
                    <a:pt x="64" y="247"/>
                  </a:lnTo>
                  <a:lnTo>
                    <a:pt x="56" y="253"/>
                  </a:lnTo>
                  <a:lnTo>
                    <a:pt x="52" y="259"/>
                  </a:lnTo>
                  <a:lnTo>
                    <a:pt x="46" y="265"/>
                  </a:lnTo>
                  <a:lnTo>
                    <a:pt x="41" y="270"/>
                  </a:lnTo>
                  <a:lnTo>
                    <a:pt x="35" y="276"/>
                  </a:lnTo>
                  <a:lnTo>
                    <a:pt x="30" y="280"/>
                  </a:lnTo>
                  <a:lnTo>
                    <a:pt x="27" y="285"/>
                  </a:lnTo>
                  <a:lnTo>
                    <a:pt x="21" y="290"/>
                  </a:lnTo>
                  <a:lnTo>
                    <a:pt x="19" y="293"/>
                  </a:lnTo>
                  <a:lnTo>
                    <a:pt x="14" y="297"/>
                  </a:lnTo>
                  <a:lnTo>
                    <a:pt x="11" y="301"/>
                  </a:lnTo>
                  <a:lnTo>
                    <a:pt x="8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2" y="312"/>
                  </a:lnTo>
                  <a:lnTo>
                    <a:pt x="0" y="315"/>
                  </a:lnTo>
                  <a:lnTo>
                    <a:pt x="1" y="317"/>
                  </a:lnTo>
                  <a:lnTo>
                    <a:pt x="2" y="318"/>
                  </a:lnTo>
                  <a:lnTo>
                    <a:pt x="4" y="322"/>
                  </a:lnTo>
                  <a:lnTo>
                    <a:pt x="8" y="324"/>
                  </a:lnTo>
                  <a:lnTo>
                    <a:pt x="11" y="328"/>
                  </a:lnTo>
                  <a:lnTo>
                    <a:pt x="15" y="331"/>
                  </a:lnTo>
                  <a:lnTo>
                    <a:pt x="20" y="336"/>
                  </a:lnTo>
                  <a:lnTo>
                    <a:pt x="24" y="338"/>
                  </a:lnTo>
                  <a:lnTo>
                    <a:pt x="29" y="343"/>
                  </a:lnTo>
                  <a:lnTo>
                    <a:pt x="33" y="347"/>
                  </a:lnTo>
                  <a:lnTo>
                    <a:pt x="36" y="350"/>
                  </a:lnTo>
                  <a:lnTo>
                    <a:pt x="41" y="353"/>
                  </a:lnTo>
                  <a:lnTo>
                    <a:pt x="43" y="356"/>
                  </a:lnTo>
                  <a:lnTo>
                    <a:pt x="47" y="358"/>
                  </a:lnTo>
                  <a:lnTo>
                    <a:pt x="49" y="360"/>
                  </a:lnTo>
                  <a:lnTo>
                    <a:pt x="51" y="361"/>
                  </a:lnTo>
                  <a:lnTo>
                    <a:pt x="52" y="361"/>
                  </a:lnTo>
                  <a:lnTo>
                    <a:pt x="52" y="360"/>
                  </a:lnTo>
                  <a:lnTo>
                    <a:pt x="55" y="358"/>
                  </a:lnTo>
                  <a:lnTo>
                    <a:pt x="55" y="356"/>
                  </a:lnTo>
                  <a:lnTo>
                    <a:pt x="59" y="354"/>
                  </a:lnTo>
                  <a:lnTo>
                    <a:pt x="61" y="351"/>
                  </a:lnTo>
                  <a:lnTo>
                    <a:pt x="66" y="348"/>
                  </a:lnTo>
                  <a:lnTo>
                    <a:pt x="69" y="345"/>
                  </a:lnTo>
                  <a:lnTo>
                    <a:pt x="73" y="341"/>
                  </a:lnTo>
                  <a:lnTo>
                    <a:pt x="77" y="337"/>
                  </a:lnTo>
                  <a:lnTo>
                    <a:pt x="82" y="334"/>
                  </a:lnTo>
                  <a:lnTo>
                    <a:pt x="87" y="329"/>
                  </a:lnTo>
                  <a:lnTo>
                    <a:pt x="93" y="324"/>
                  </a:lnTo>
                  <a:lnTo>
                    <a:pt x="98" y="321"/>
                  </a:lnTo>
                  <a:lnTo>
                    <a:pt x="105" y="315"/>
                  </a:lnTo>
                  <a:lnTo>
                    <a:pt x="111" y="310"/>
                  </a:lnTo>
                  <a:lnTo>
                    <a:pt x="117" y="304"/>
                  </a:lnTo>
                  <a:lnTo>
                    <a:pt x="123" y="298"/>
                  </a:lnTo>
                  <a:lnTo>
                    <a:pt x="130" y="292"/>
                  </a:lnTo>
                  <a:lnTo>
                    <a:pt x="137" y="286"/>
                  </a:lnTo>
                  <a:lnTo>
                    <a:pt x="144" y="280"/>
                  </a:lnTo>
                  <a:lnTo>
                    <a:pt x="151" y="275"/>
                  </a:lnTo>
                  <a:lnTo>
                    <a:pt x="159" y="269"/>
                  </a:lnTo>
                  <a:lnTo>
                    <a:pt x="168" y="260"/>
                  </a:lnTo>
                  <a:lnTo>
                    <a:pt x="175" y="254"/>
                  </a:lnTo>
                  <a:lnTo>
                    <a:pt x="182" y="247"/>
                  </a:lnTo>
                  <a:lnTo>
                    <a:pt x="190" y="240"/>
                  </a:lnTo>
                  <a:lnTo>
                    <a:pt x="198" y="233"/>
                  </a:lnTo>
                  <a:lnTo>
                    <a:pt x="207" y="227"/>
                  </a:lnTo>
                  <a:lnTo>
                    <a:pt x="214" y="220"/>
                  </a:lnTo>
                  <a:lnTo>
                    <a:pt x="223" y="214"/>
                  </a:lnTo>
                  <a:lnTo>
                    <a:pt x="230" y="206"/>
                  </a:lnTo>
                  <a:lnTo>
                    <a:pt x="239" y="199"/>
                  </a:lnTo>
                  <a:lnTo>
                    <a:pt x="246" y="192"/>
                  </a:lnTo>
                  <a:lnTo>
                    <a:pt x="254" y="185"/>
                  </a:lnTo>
                  <a:lnTo>
                    <a:pt x="261" y="178"/>
                  </a:lnTo>
                  <a:lnTo>
                    <a:pt x="269" y="172"/>
                  </a:lnTo>
                  <a:lnTo>
                    <a:pt x="278" y="165"/>
                  </a:lnTo>
                  <a:lnTo>
                    <a:pt x="286" y="159"/>
                  </a:lnTo>
                  <a:lnTo>
                    <a:pt x="292" y="152"/>
                  </a:lnTo>
                  <a:lnTo>
                    <a:pt x="300" y="145"/>
                  </a:lnTo>
                  <a:lnTo>
                    <a:pt x="306" y="139"/>
                  </a:lnTo>
                  <a:lnTo>
                    <a:pt x="314" y="132"/>
                  </a:lnTo>
                  <a:lnTo>
                    <a:pt x="320" y="126"/>
                  </a:lnTo>
                  <a:lnTo>
                    <a:pt x="326" y="120"/>
                  </a:lnTo>
                  <a:lnTo>
                    <a:pt x="333" y="114"/>
                  </a:lnTo>
                  <a:lnTo>
                    <a:pt x="340" y="109"/>
                  </a:lnTo>
                  <a:lnTo>
                    <a:pt x="345" y="103"/>
                  </a:lnTo>
                  <a:lnTo>
                    <a:pt x="351" y="98"/>
                  </a:lnTo>
                  <a:lnTo>
                    <a:pt x="356" y="94"/>
                  </a:lnTo>
                  <a:lnTo>
                    <a:pt x="362" y="89"/>
                  </a:lnTo>
                  <a:lnTo>
                    <a:pt x="365" y="84"/>
                  </a:lnTo>
                  <a:lnTo>
                    <a:pt x="370" y="81"/>
                  </a:lnTo>
                  <a:lnTo>
                    <a:pt x="375" y="76"/>
                  </a:lnTo>
                  <a:lnTo>
                    <a:pt x="378" y="72"/>
                  </a:lnTo>
                  <a:lnTo>
                    <a:pt x="380" y="69"/>
                  </a:lnTo>
                  <a:lnTo>
                    <a:pt x="384" y="67"/>
                  </a:lnTo>
                  <a:lnTo>
                    <a:pt x="386" y="63"/>
                  </a:lnTo>
                  <a:lnTo>
                    <a:pt x="389" y="62"/>
                  </a:lnTo>
                  <a:lnTo>
                    <a:pt x="391" y="58"/>
                  </a:lnTo>
                  <a:lnTo>
                    <a:pt x="392" y="56"/>
                  </a:lnTo>
                  <a:lnTo>
                    <a:pt x="391" y="54"/>
                  </a:lnTo>
                  <a:lnTo>
                    <a:pt x="389" y="50"/>
                  </a:lnTo>
                  <a:lnTo>
                    <a:pt x="386" y="45"/>
                  </a:lnTo>
                  <a:lnTo>
                    <a:pt x="383" y="42"/>
                  </a:lnTo>
                  <a:lnTo>
                    <a:pt x="378" y="37"/>
                  </a:lnTo>
                  <a:lnTo>
                    <a:pt x="375" y="33"/>
                  </a:lnTo>
                  <a:lnTo>
                    <a:pt x="370" y="28"/>
                  </a:lnTo>
                  <a:lnTo>
                    <a:pt x="365" y="23"/>
                  </a:lnTo>
                  <a:lnTo>
                    <a:pt x="362" y="19"/>
                  </a:lnTo>
                  <a:lnTo>
                    <a:pt x="357" y="15"/>
                  </a:lnTo>
                  <a:lnTo>
                    <a:pt x="353" y="11"/>
                  </a:lnTo>
                  <a:lnTo>
                    <a:pt x="349" y="7"/>
                  </a:lnTo>
                  <a:lnTo>
                    <a:pt x="345" y="4"/>
                  </a:lnTo>
                  <a:lnTo>
                    <a:pt x="344" y="3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Freeform 38"/>
            <p:cNvSpPr/>
            <p:nvPr/>
          </p:nvSpPr>
          <p:spPr bwMode="auto">
            <a:xfrm>
              <a:off x="5181" y="1008"/>
              <a:ext cx="81" cy="79"/>
            </a:xfrm>
            <a:custGeom>
              <a:avLst/>
              <a:gdLst>
                <a:gd name="T0" fmla="*/ 4 w 163"/>
                <a:gd name="T1" fmla="*/ 1 h 158"/>
                <a:gd name="T2" fmla="*/ 4 w 163"/>
                <a:gd name="T3" fmla="*/ 1 h 158"/>
                <a:gd name="T4" fmla="*/ 4 w 163"/>
                <a:gd name="T5" fmla="*/ 1 h 158"/>
                <a:gd name="T6" fmla="*/ 3 w 163"/>
                <a:gd name="T7" fmla="*/ 1 h 158"/>
                <a:gd name="T8" fmla="*/ 3 w 163"/>
                <a:gd name="T9" fmla="*/ 1 h 158"/>
                <a:gd name="T10" fmla="*/ 3 w 163"/>
                <a:gd name="T11" fmla="*/ 1 h 158"/>
                <a:gd name="T12" fmla="*/ 2 w 163"/>
                <a:gd name="T13" fmla="*/ 1 h 158"/>
                <a:gd name="T14" fmla="*/ 2 w 163"/>
                <a:gd name="T15" fmla="*/ 0 h 158"/>
                <a:gd name="T16" fmla="*/ 2 w 163"/>
                <a:gd name="T17" fmla="*/ 0 h 158"/>
                <a:gd name="T18" fmla="*/ 2 w 163"/>
                <a:gd name="T19" fmla="*/ 0 h 158"/>
                <a:gd name="T20" fmla="*/ 2 w 163"/>
                <a:gd name="T21" fmla="*/ 1 h 158"/>
                <a:gd name="T22" fmla="*/ 1 w 163"/>
                <a:gd name="T23" fmla="*/ 1 h 158"/>
                <a:gd name="T24" fmla="*/ 1 w 163"/>
                <a:gd name="T25" fmla="*/ 1 h 158"/>
                <a:gd name="T26" fmla="*/ 1 w 163"/>
                <a:gd name="T27" fmla="*/ 1 h 158"/>
                <a:gd name="T28" fmla="*/ 1 w 163"/>
                <a:gd name="T29" fmla="*/ 1 h 158"/>
                <a:gd name="T30" fmla="*/ 0 w 163"/>
                <a:gd name="T31" fmla="*/ 1 h 158"/>
                <a:gd name="T32" fmla="*/ 0 w 163"/>
                <a:gd name="T33" fmla="*/ 1 h 158"/>
                <a:gd name="T34" fmla="*/ 0 w 163"/>
                <a:gd name="T35" fmla="*/ 1 h 158"/>
                <a:gd name="T36" fmla="*/ 0 w 163"/>
                <a:gd name="T37" fmla="*/ 1 h 158"/>
                <a:gd name="T38" fmla="*/ 0 w 163"/>
                <a:gd name="T39" fmla="*/ 1 h 158"/>
                <a:gd name="T40" fmla="*/ 0 w 163"/>
                <a:gd name="T41" fmla="*/ 1 h 158"/>
                <a:gd name="T42" fmla="*/ 0 w 163"/>
                <a:gd name="T43" fmla="*/ 2 h 158"/>
                <a:gd name="T44" fmla="*/ 0 w 163"/>
                <a:gd name="T45" fmla="*/ 2 h 158"/>
                <a:gd name="T46" fmla="*/ 0 w 163"/>
                <a:gd name="T47" fmla="*/ 2 h 158"/>
                <a:gd name="T48" fmla="*/ 0 w 163"/>
                <a:gd name="T49" fmla="*/ 2 h 158"/>
                <a:gd name="T50" fmla="*/ 0 w 163"/>
                <a:gd name="T51" fmla="*/ 3 h 158"/>
                <a:gd name="T52" fmla="*/ 0 w 163"/>
                <a:gd name="T53" fmla="*/ 3 h 158"/>
                <a:gd name="T54" fmla="*/ 0 w 163"/>
                <a:gd name="T55" fmla="*/ 3 h 158"/>
                <a:gd name="T56" fmla="*/ 0 w 163"/>
                <a:gd name="T57" fmla="*/ 3 h 158"/>
                <a:gd name="T58" fmla="*/ 0 w 163"/>
                <a:gd name="T59" fmla="*/ 3 h 158"/>
                <a:gd name="T60" fmla="*/ 0 w 163"/>
                <a:gd name="T61" fmla="*/ 5 h 158"/>
                <a:gd name="T62" fmla="*/ 0 w 163"/>
                <a:gd name="T63" fmla="*/ 5 h 158"/>
                <a:gd name="T64" fmla="*/ 1 w 163"/>
                <a:gd name="T65" fmla="*/ 5 h 158"/>
                <a:gd name="T66" fmla="*/ 1 w 163"/>
                <a:gd name="T67" fmla="*/ 5 h 158"/>
                <a:gd name="T68" fmla="*/ 1 w 163"/>
                <a:gd name="T69" fmla="*/ 5 h 158"/>
                <a:gd name="T70" fmla="*/ 1 w 163"/>
                <a:gd name="T71" fmla="*/ 5 h 158"/>
                <a:gd name="T72" fmla="*/ 2 w 163"/>
                <a:gd name="T73" fmla="*/ 5 h 158"/>
                <a:gd name="T74" fmla="*/ 2 w 163"/>
                <a:gd name="T75" fmla="*/ 5 h 158"/>
                <a:gd name="T76" fmla="*/ 2 w 163"/>
                <a:gd name="T77" fmla="*/ 5 h 158"/>
                <a:gd name="T78" fmla="*/ 2 w 163"/>
                <a:gd name="T79" fmla="*/ 5 h 158"/>
                <a:gd name="T80" fmla="*/ 3 w 163"/>
                <a:gd name="T81" fmla="*/ 5 h 158"/>
                <a:gd name="T82" fmla="*/ 3 w 163"/>
                <a:gd name="T83" fmla="*/ 5 h 158"/>
                <a:gd name="T84" fmla="*/ 3 w 163"/>
                <a:gd name="T85" fmla="*/ 5 h 158"/>
                <a:gd name="T86" fmla="*/ 3 w 163"/>
                <a:gd name="T87" fmla="*/ 5 h 158"/>
                <a:gd name="T88" fmla="*/ 4 w 163"/>
                <a:gd name="T89" fmla="*/ 5 h 158"/>
                <a:gd name="T90" fmla="*/ 4 w 163"/>
                <a:gd name="T91" fmla="*/ 5 h 158"/>
                <a:gd name="T92" fmla="*/ 4 w 163"/>
                <a:gd name="T93" fmla="*/ 5 h 158"/>
                <a:gd name="T94" fmla="*/ 4 w 163"/>
                <a:gd name="T95" fmla="*/ 3 h 158"/>
                <a:gd name="T96" fmla="*/ 4 w 163"/>
                <a:gd name="T97" fmla="*/ 3 h 158"/>
                <a:gd name="T98" fmla="*/ 4 w 163"/>
                <a:gd name="T99" fmla="*/ 3 h 158"/>
                <a:gd name="T100" fmla="*/ 4 w 163"/>
                <a:gd name="T101" fmla="*/ 3 h 158"/>
                <a:gd name="T102" fmla="*/ 5 w 163"/>
                <a:gd name="T103" fmla="*/ 2 h 158"/>
                <a:gd name="T104" fmla="*/ 5 w 163"/>
                <a:gd name="T105" fmla="*/ 2 h 158"/>
                <a:gd name="T106" fmla="*/ 5 w 163"/>
                <a:gd name="T107" fmla="*/ 2 h 158"/>
                <a:gd name="T108" fmla="*/ 5 w 163"/>
                <a:gd name="T109" fmla="*/ 2 h 158"/>
                <a:gd name="T110" fmla="*/ 5 w 163"/>
                <a:gd name="T111" fmla="*/ 2 h 158"/>
                <a:gd name="T112" fmla="*/ 5 w 163"/>
                <a:gd name="T113" fmla="*/ 1 h 158"/>
                <a:gd name="T114" fmla="*/ 4 w 163"/>
                <a:gd name="T115" fmla="*/ 1 h 158"/>
                <a:gd name="T116" fmla="*/ 4 w 163"/>
                <a:gd name="T117" fmla="*/ 1 h 158"/>
                <a:gd name="T118" fmla="*/ 4 w 163"/>
                <a:gd name="T119" fmla="*/ 1 h 158"/>
                <a:gd name="T120" fmla="*/ 4 w 163"/>
                <a:gd name="T121" fmla="*/ 1 h 158"/>
                <a:gd name="T122" fmla="*/ 4 w 163"/>
                <a:gd name="T123" fmla="*/ 1 h 1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63"/>
                <a:gd name="T187" fmla="*/ 0 h 158"/>
                <a:gd name="T188" fmla="*/ 163 w 163"/>
                <a:gd name="T189" fmla="*/ 158 h 15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63" h="158">
                  <a:moveTo>
                    <a:pt x="150" y="33"/>
                  </a:moveTo>
                  <a:lnTo>
                    <a:pt x="145" y="28"/>
                  </a:lnTo>
                  <a:lnTo>
                    <a:pt x="142" y="25"/>
                  </a:lnTo>
                  <a:lnTo>
                    <a:pt x="138" y="21"/>
                  </a:lnTo>
                  <a:lnTo>
                    <a:pt x="133" y="18"/>
                  </a:lnTo>
                  <a:lnTo>
                    <a:pt x="129" y="15"/>
                  </a:lnTo>
                  <a:lnTo>
                    <a:pt x="125" y="13"/>
                  </a:lnTo>
                  <a:lnTo>
                    <a:pt x="120" y="9"/>
                  </a:lnTo>
                  <a:lnTo>
                    <a:pt x="116" y="8"/>
                  </a:lnTo>
                  <a:lnTo>
                    <a:pt x="111" y="5"/>
                  </a:lnTo>
                  <a:lnTo>
                    <a:pt x="107" y="4"/>
                  </a:lnTo>
                  <a:lnTo>
                    <a:pt x="103" y="2"/>
                  </a:lnTo>
                  <a:lnTo>
                    <a:pt x="98" y="2"/>
                  </a:lnTo>
                  <a:lnTo>
                    <a:pt x="93" y="1"/>
                  </a:lnTo>
                  <a:lnTo>
                    <a:pt x="88" y="0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1" y="2"/>
                  </a:lnTo>
                  <a:lnTo>
                    <a:pt x="56" y="2"/>
                  </a:lnTo>
                  <a:lnTo>
                    <a:pt x="52" y="4"/>
                  </a:lnTo>
                  <a:lnTo>
                    <a:pt x="48" y="5"/>
                  </a:lnTo>
                  <a:lnTo>
                    <a:pt x="45" y="7"/>
                  </a:lnTo>
                  <a:lnTo>
                    <a:pt x="40" y="8"/>
                  </a:lnTo>
                  <a:lnTo>
                    <a:pt x="36" y="12"/>
                  </a:lnTo>
                  <a:lnTo>
                    <a:pt x="32" y="13"/>
                  </a:lnTo>
                  <a:lnTo>
                    <a:pt x="29" y="17"/>
                  </a:lnTo>
                  <a:lnTo>
                    <a:pt x="26" y="19"/>
                  </a:lnTo>
                  <a:lnTo>
                    <a:pt x="22" y="22"/>
                  </a:lnTo>
                  <a:lnTo>
                    <a:pt x="20" y="26"/>
                  </a:lnTo>
                  <a:lnTo>
                    <a:pt x="16" y="30"/>
                  </a:lnTo>
                  <a:lnTo>
                    <a:pt x="14" y="33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7" y="45"/>
                  </a:lnTo>
                  <a:lnTo>
                    <a:pt x="6" y="48"/>
                  </a:lnTo>
                  <a:lnTo>
                    <a:pt x="4" y="52"/>
                  </a:lnTo>
                  <a:lnTo>
                    <a:pt x="3" y="57"/>
                  </a:lnTo>
                  <a:lnTo>
                    <a:pt x="2" y="60"/>
                  </a:lnTo>
                  <a:lnTo>
                    <a:pt x="1" y="64"/>
                  </a:lnTo>
                  <a:lnTo>
                    <a:pt x="1" y="69"/>
                  </a:lnTo>
                  <a:lnTo>
                    <a:pt x="0" y="72"/>
                  </a:lnTo>
                  <a:lnTo>
                    <a:pt x="0" y="77"/>
                  </a:lnTo>
                  <a:lnTo>
                    <a:pt x="0" y="80"/>
                  </a:lnTo>
                  <a:lnTo>
                    <a:pt x="0" y="84"/>
                  </a:lnTo>
                  <a:lnTo>
                    <a:pt x="1" y="89"/>
                  </a:lnTo>
                  <a:lnTo>
                    <a:pt x="2" y="92"/>
                  </a:lnTo>
                  <a:lnTo>
                    <a:pt x="2" y="96"/>
                  </a:lnTo>
                  <a:lnTo>
                    <a:pt x="3" y="100"/>
                  </a:lnTo>
                  <a:lnTo>
                    <a:pt x="4" y="103"/>
                  </a:lnTo>
                  <a:lnTo>
                    <a:pt x="7" y="108"/>
                  </a:lnTo>
                  <a:lnTo>
                    <a:pt x="8" y="111"/>
                  </a:lnTo>
                  <a:lnTo>
                    <a:pt x="9" y="113"/>
                  </a:lnTo>
                  <a:lnTo>
                    <a:pt x="12" y="118"/>
                  </a:lnTo>
                  <a:lnTo>
                    <a:pt x="15" y="122"/>
                  </a:lnTo>
                  <a:lnTo>
                    <a:pt x="16" y="125"/>
                  </a:lnTo>
                  <a:lnTo>
                    <a:pt x="20" y="128"/>
                  </a:lnTo>
                  <a:lnTo>
                    <a:pt x="23" y="131"/>
                  </a:lnTo>
                  <a:lnTo>
                    <a:pt x="26" y="134"/>
                  </a:lnTo>
                  <a:lnTo>
                    <a:pt x="29" y="136"/>
                  </a:lnTo>
                  <a:lnTo>
                    <a:pt x="33" y="139"/>
                  </a:lnTo>
                  <a:lnTo>
                    <a:pt x="38" y="143"/>
                  </a:lnTo>
                  <a:lnTo>
                    <a:pt x="42" y="145"/>
                  </a:lnTo>
                  <a:lnTo>
                    <a:pt x="46" y="148"/>
                  </a:lnTo>
                  <a:lnTo>
                    <a:pt x="49" y="149"/>
                  </a:lnTo>
                  <a:lnTo>
                    <a:pt x="54" y="150"/>
                  </a:lnTo>
                  <a:lnTo>
                    <a:pt x="58" y="152"/>
                  </a:lnTo>
                  <a:lnTo>
                    <a:pt x="61" y="154"/>
                  </a:lnTo>
                  <a:lnTo>
                    <a:pt x="66" y="155"/>
                  </a:lnTo>
                  <a:lnTo>
                    <a:pt x="69" y="156"/>
                  </a:lnTo>
                  <a:lnTo>
                    <a:pt x="73" y="157"/>
                  </a:lnTo>
                  <a:lnTo>
                    <a:pt x="78" y="157"/>
                  </a:lnTo>
                  <a:lnTo>
                    <a:pt x="81" y="157"/>
                  </a:lnTo>
                  <a:lnTo>
                    <a:pt x="86" y="157"/>
                  </a:lnTo>
                  <a:lnTo>
                    <a:pt x="90" y="158"/>
                  </a:lnTo>
                  <a:lnTo>
                    <a:pt x="93" y="157"/>
                  </a:lnTo>
                  <a:lnTo>
                    <a:pt x="97" y="157"/>
                  </a:lnTo>
                  <a:lnTo>
                    <a:pt x="101" y="156"/>
                  </a:lnTo>
                  <a:lnTo>
                    <a:pt x="105" y="156"/>
                  </a:lnTo>
                  <a:lnTo>
                    <a:pt x="109" y="155"/>
                  </a:lnTo>
                  <a:lnTo>
                    <a:pt x="112" y="154"/>
                  </a:lnTo>
                  <a:lnTo>
                    <a:pt x="116" y="151"/>
                  </a:lnTo>
                  <a:lnTo>
                    <a:pt x="119" y="150"/>
                  </a:lnTo>
                  <a:lnTo>
                    <a:pt x="123" y="148"/>
                  </a:lnTo>
                  <a:lnTo>
                    <a:pt x="125" y="147"/>
                  </a:lnTo>
                  <a:lnTo>
                    <a:pt x="129" y="143"/>
                  </a:lnTo>
                  <a:lnTo>
                    <a:pt x="132" y="142"/>
                  </a:lnTo>
                  <a:lnTo>
                    <a:pt x="135" y="138"/>
                  </a:lnTo>
                  <a:lnTo>
                    <a:pt x="138" y="135"/>
                  </a:lnTo>
                  <a:lnTo>
                    <a:pt x="140" y="132"/>
                  </a:lnTo>
                  <a:lnTo>
                    <a:pt x="144" y="129"/>
                  </a:lnTo>
                  <a:lnTo>
                    <a:pt x="146" y="125"/>
                  </a:lnTo>
                  <a:lnTo>
                    <a:pt x="149" y="122"/>
                  </a:lnTo>
                  <a:lnTo>
                    <a:pt x="151" y="118"/>
                  </a:lnTo>
                  <a:lnTo>
                    <a:pt x="155" y="113"/>
                  </a:lnTo>
                  <a:lnTo>
                    <a:pt x="156" y="110"/>
                  </a:lnTo>
                  <a:lnTo>
                    <a:pt x="157" y="105"/>
                  </a:lnTo>
                  <a:lnTo>
                    <a:pt x="158" y="102"/>
                  </a:lnTo>
                  <a:lnTo>
                    <a:pt x="159" y="98"/>
                  </a:lnTo>
                  <a:lnTo>
                    <a:pt x="161" y="93"/>
                  </a:lnTo>
                  <a:lnTo>
                    <a:pt x="162" y="90"/>
                  </a:lnTo>
                  <a:lnTo>
                    <a:pt x="163" y="86"/>
                  </a:lnTo>
                  <a:lnTo>
                    <a:pt x="163" y="83"/>
                  </a:lnTo>
                  <a:lnTo>
                    <a:pt x="163" y="79"/>
                  </a:lnTo>
                  <a:lnTo>
                    <a:pt x="163" y="74"/>
                  </a:lnTo>
                  <a:lnTo>
                    <a:pt x="163" y="72"/>
                  </a:lnTo>
                  <a:lnTo>
                    <a:pt x="163" y="69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1" y="60"/>
                  </a:lnTo>
                  <a:lnTo>
                    <a:pt x="159" y="57"/>
                  </a:lnTo>
                  <a:lnTo>
                    <a:pt x="158" y="53"/>
                  </a:lnTo>
                  <a:lnTo>
                    <a:pt x="158" y="51"/>
                  </a:lnTo>
                  <a:lnTo>
                    <a:pt x="157" y="48"/>
                  </a:lnTo>
                  <a:lnTo>
                    <a:pt x="157" y="47"/>
                  </a:lnTo>
                  <a:lnTo>
                    <a:pt x="155" y="43"/>
                  </a:lnTo>
                  <a:lnTo>
                    <a:pt x="153" y="39"/>
                  </a:lnTo>
                  <a:lnTo>
                    <a:pt x="151" y="37"/>
                  </a:lnTo>
                  <a:lnTo>
                    <a:pt x="151" y="34"/>
                  </a:lnTo>
                  <a:lnTo>
                    <a:pt x="150" y="33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5" name="Freeform 39"/>
            <p:cNvSpPr/>
            <p:nvPr/>
          </p:nvSpPr>
          <p:spPr bwMode="auto">
            <a:xfrm>
              <a:off x="5206" y="1065"/>
              <a:ext cx="42" cy="599"/>
            </a:xfrm>
            <a:custGeom>
              <a:avLst/>
              <a:gdLst>
                <a:gd name="T0" fmla="*/ 0 w 82"/>
                <a:gd name="T1" fmla="*/ 0 h 1199"/>
                <a:gd name="T2" fmla="*/ 0 w 82"/>
                <a:gd name="T3" fmla="*/ 0 h 1199"/>
                <a:gd name="T4" fmla="*/ 0 w 82"/>
                <a:gd name="T5" fmla="*/ 0 h 1199"/>
                <a:gd name="T6" fmla="*/ 0 w 82"/>
                <a:gd name="T7" fmla="*/ 1 h 1199"/>
                <a:gd name="T8" fmla="*/ 0 w 82"/>
                <a:gd name="T9" fmla="*/ 2 h 1199"/>
                <a:gd name="T10" fmla="*/ 0 w 82"/>
                <a:gd name="T11" fmla="*/ 3 h 1199"/>
                <a:gd name="T12" fmla="*/ 0 w 82"/>
                <a:gd name="T13" fmla="*/ 4 h 1199"/>
                <a:gd name="T14" fmla="*/ 0 w 82"/>
                <a:gd name="T15" fmla="*/ 5 h 1199"/>
                <a:gd name="T16" fmla="*/ 0 w 82"/>
                <a:gd name="T17" fmla="*/ 7 h 1199"/>
                <a:gd name="T18" fmla="*/ 0 w 82"/>
                <a:gd name="T19" fmla="*/ 8 h 1199"/>
                <a:gd name="T20" fmla="*/ 0 w 82"/>
                <a:gd name="T21" fmla="*/ 10 h 1199"/>
                <a:gd name="T22" fmla="*/ 0 w 82"/>
                <a:gd name="T23" fmla="*/ 11 h 1199"/>
                <a:gd name="T24" fmla="*/ 0 w 82"/>
                <a:gd name="T25" fmla="*/ 13 h 1199"/>
                <a:gd name="T26" fmla="*/ 0 w 82"/>
                <a:gd name="T27" fmla="*/ 14 h 1199"/>
                <a:gd name="T28" fmla="*/ 0 w 82"/>
                <a:gd name="T29" fmla="*/ 16 h 1199"/>
                <a:gd name="T30" fmla="*/ 0 w 82"/>
                <a:gd name="T31" fmla="*/ 18 h 1199"/>
                <a:gd name="T32" fmla="*/ 0 w 82"/>
                <a:gd name="T33" fmla="*/ 20 h 1199"/>
                <a:gd name="T34" fmla="*/ 0 w 82"/>
                <a:gd name="T35" fmla="*/ 21 h 1199"/>
                <a:gd name="T36" fmla="*/ 0 w 82"/>
                <a:gd name="T37" fmla="*/ 23 h 1199"/>
                <a:gd name="T38" fmla="*/ 0 w 82"/>
                <a:gd name="T39" fmla="*/ 25 h 1199"/>
                <a:gd name="T40" fmla="*/ 0 w 82"/>
                <a:gd name="T41" fmla="*/ 26 h 1199"/>
                <a:gd name="T42" fmla="*/ 0 w 82"/>
                <a:gd name="T43" fmla="*/ 28 h 1199"/>
                <a:gd name="T44" fmla="*/ 0 w 82"/>
                <a:gd name="T45" fmla="*/ 29 h 1199"/>
                <a:gd name="T46" fmla="*/ 0 w 82"/>
                <a:gd name="T47" fmla="*/ 31 h 1199"/>
                <a:gd name="T48" fmla="*/ 0 w 82"/>
                <a:gd name="T49" fmla="*/ 32 h 1199"/>
                <a:gd name="T50" fmla="*/ 0 w 82"/>
                <a:gd name="T51" fmla="*/ 33 h 1199"/>
                <a:gd name="T52" fmla="*/ 0 w 82"/>
                <a:gd name="T53" fmla="*/ 34 h 1199"/>
                <a:gd name="T54" fmla="*/ 0 w 82"/>
                <a:gd name="T55" fmla="*/ 35 h 1199"/>
                <a:gd name="T56" fmla="*/ 0 w 82"/>
                <a:gd name="T57" fmla="*/ 36 h 1199"/>
                <a:gd name="T58" fmla="*/ 0 w 82"/>
                <a:gd name="T59" fmla="*/ 36 h 1199"/>
                <a:gd name="T60" fmla="*/ 0 w 82"/>
                <a:gd name="T61" fmla="*/ 37 h 1199"/>
                <a:gd name="T62" fmla="*/ 0 w 82"/>
                <a:gd name="T63" fmla="*/ 37 h 1199"/>
                <a:gd name="T64" fmla="*/ 3 w 82"/>
                <a:gd name="T65" fmla="*/ 37 h 1199"/>
                <a:gd name="T66" fmla="*/ 0 w 82"/>
                <a:gd name="T67" fmla="*/ 0 h 119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2"/>
                <a:gd name="T103" fmla="*/ 0 h 1199"/>
                <a:gd name="T104" fmla="*/ 82 w 82"/>
                <a:gd name="T105" fmla="*/ 1199 h 119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2" h="1199">
                  <a:moveTo>
                    <a:pt x="0" y="0"/>
                  </a:moveTo>
                  <a:lnTo>
                    <a:pt x="0" y="4"/>
                  </a:lnTo>
                  <a:lnTo>
                    <a:pt x="0" y="8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9"/>
                  </a:lnTo>
                  <a:lnTo>
                    <a:pt x="0" y="3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77"/>
                  </a:lnTo>
                  <a:lnTo>
                    <a:pt x="0" y="93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3"/>
                  </a:lnTo>
                  <a:lnTo>
                    <a:pt x="0" y="205"/>
                  </a:lnTo>
                  <a:lnTo>
                    <a:pt x="0" y="226"/>
                  </a:lnTo>
                  <a:lnTo>
                    <a:pt x="0" y="249"/>
                  </a:lnTo>
                  <a:lnTo>
                    <a:pt x="0" y="272"/>
                  </a:lnTo>
                  <a:lnTo>
                    <a:pt x="0" y="296"/>
                  </a:lnTo>
                  <a:lnTo>
                    <a:pt x="0" y="321"/>
                  </a:lnTo>
                  <a:lnTo>
                    <a:pt x="0" y="344"/>
                  </a:lnTo>
                  <a:lnTo>
                    <a:pt x="0" y="370"/>
                  </a:lnTo>
                  <a:lnTo>
                    <a:pt x="0" y="398"/>
                  </a:lnTo>
                  <a:lnTo>
                    <a:pt x="0" y="422"/>
                  </a:lnTo>
                  <a:lnTo>
                    <a:pt x="0" y="450"/>
                  </a:lnTo>
                  <a:lnTo>
                    <a:pt x="0" y="476"/>
                  </a:lnTo>
                  <a:lnTo>
                    <a:pt x="0" y="504"/>
                  </a:lnTo>
                  <a:lnTo>
                    <a:pt x="0" y="531"/>
                  </a:lnTo>
                  <a:lnTo>
                    <a:pt x="0" y="560"/>
                  </a:lnTo>
                  <a:lnTo>
                    <a:pt x="0" y="586"/>
                  </a:lnTo>
                  <a:lnTo>
                    <a:pt x="0" y="615"/>
                  </a:lnTo>
                  <a:lnTo>
                    <a:pt x="0" y="641"/>
                  </a:lnTo>
                  <a:lnTo>
                    <a:pt x="0" y="670"/>
                  </a:lnTo>
                  <a:lnTo>
                    <a:pt x="0" y="697"/>
                  </a:lnTo>
                  <a:lnTo>
                    <a:pt x="0" y="724"/>
                  </a:lnTo>
                  <a:lnTo>
                    <a:pt x="0" y="751"/>
                  </a:lnTo>
                  <a:lnTo>
                    <a:pt x="0" y="777"/>
                  </a:lnTo>
                  <a:lnTo>
                    <a:pt x="0" y="803"/>
                  </a:lnTo>
                  <a:lnTo>
                    <a:pt x="0" y="830"/>
                  </a:lnTo>
                  <a:lnTo>
                    <a:pt x="0" y="855"/>
                  </a:lnTo>
                  <a:lnTo>
                    <a:pt x="0" y="880"/>
                  </a:lnTo>
                  <a:lnTo>
                    <a:pt x="0" y="904"/>
                  </a:lnTo>
                  <a:lnTo>
                    <a:pt x="0" y="928"/>
                  </a:lnTo>
                  <a:lnTo>
                    <a:pt x="0" y="951"/>
                  </a:lnTo>
                  <a:lnTo>
                    <a:pt x="0" y="974"/>
                  </a:lnTo>
                  <a:lnTo>
                    <a:pt x="0" y="996"/>
                  </a:lnTo>
                  <a:lnTo>
                    <a:pt x="0" y="1017"/>
                  </a:lnTo>
                  <a:lnTo>
                    <a:pt x="0" y="1037"/>
                  </a:lnTo>
                  <a:lnTo>
                    <a:pt x="0" y="1056"/>
                  </a:lnTo>
                  <a:lnTo>
                    <a:pt x="0" y="1074"/>
                  </a:lnTo>
                  <a:lnTo>
                    <a:pt x="0" y="1092"/>
                  </a:lnTo>
                  <a:lnTo>
                    <a:pt x="0" y="1107"/>
                  </a:lnTo>
                  <a:lnTo>
                    <a:pt x="0" y="1122"/>
                  </a:lnTo>
                  <a:lnTo>
                    <a:pt x="0" y="1136"/>
                  </a:lnTo>
                  <a:lnTo>
                    <a:pt x="0" y="1149"/>
                  </a:lnTo>
                  <a:lnTo>
                    <a:pt x="0" y="1160"/>
                  </a:lnTo>
                  <a:lnTo>
                    <a:pt x="0" y="1170"/>
                  </a:lnTo>
                  <a:lnTo>
                    <a:pt x="0" y="1178"/>
                  </a:lnTo>
                  <a:lnTo>
                    <a:pt x="0" y="1186"/>
                  </a:lnTo>
                  <a:lnTo>
                    <a:pt x="0" y="1191"/>
                  </a:lnTo>
                  <a:lnTo>
                    <a:pt x="0" y="1196"/>
                  </a:lnTo>
                  <a:lnTo>
                    <a:pt x="0" y="1198"/>
                  </a:lnTo>
                  <a:lnTo>
                    <a:pt x="0" y="1199"/>
                  </a:lnTo>
                  <a:lnTo>
                    <a:pt x="82" y="1197"/>
                  </a:lnTo>
                  <a:lnTo>
                    <a:pt x="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Freeform 40"/>
            <p:cNvSpPr/>
            <p:nvPr/>
          </p:nvSpPr>
          <p:spPr bwMode="auto">
            <a:xfrm>
              <a:off x="4748" y="1413"/>
              <a:ext cx="464" cy="52"/>
            </a:xfrm>
            <a:custGeom>
              <a:avLst/>
              <a:gdLst>
                <a:gd name="T0" fmla="*/ 29 w 928"/>
                <a:gd name="T1" fmla="*/ 1 h 104"/>
                <a:gd name="T2" fmla="*/ 29 w 928"/>
                <a:gd name="T3" fmla="*/ 1 h 104"/>
                <a:gd name="T4" fmla="*/ 28 w 928"/>
                <a:gd name="T5" fmla="*/ 1 h 104"/>
                <a:gd name="T6" fmla="*/ 27 w 928"/>
                <a:gd name="T7" fmla="*/ 0 h 104"/>
                <a:gd name="T8" fmla="*/ 26 w 928"/>
                <a:gd name="T9" fmla="*/ 0 h 104"/>
                <a:gd name="T10" fmla="*/ 24 w 928"/>
                <a:gd name="T11" fmla="*/ 0 h 104"/>
                <a:gd name="T12" fmla="*/ 23 w 928"/>
                <a:gd name="T13" fmla="*/ 0 h 104"/>
                <a:gd name="T14" fmla="*/ 21 w 928"/>
                <a:gd name="T15" fmla="*/ 0 h 104"/>
                <a:gd name="T16" fmla="*/ 19 w 928"/>
                <a:gd name="T17" fmla="*/ 0 h 104"/>
                <a:gd name="T18" fmla="*/ 17 w 928"/>
                <a:gd name="T19" fmla="*/ 0 h 104"/>
                <a:gd name="T20" fmla="*/ 15 w 928"/>
                <a:gd name="T21" fmla="*/ 0 h 104"/>
                <a:gd name="T22" fmla="*/ 13 w 928"/>
                <a:gd name="T23" fmla="*/ 0 h 104"/>
                <a:gd name="T24" fmla="*/ 11 w 928"/>
                <a:gd name="T25" fmla="*/ 0 h 104"/>
                <a:gd name="T26" fmla="*/ 10 w 928"/>
                <a:gd name="T27" fmla="*/ 0 h 104"/>
                <a:gd name="T28" fmla="*/ 7 w 928"/>
                <a:gd name="T29" fmla="*/ 0 h 104"/>
                <a:gd name="T30" fmla="*/ 6 w 928"/>
                <a:gd name="T31" fmla="*/ 0 h 104"/>
                <a:gd name="T32" fmla="*/ 5 w 928"/>
                <a:gd name="T33" fmla="*/ 0 h 104"/>
                <a:gd name="T34" fmla="*/ 4 w 928"/>
                <a:gd name="T35" fmla="*/ 0 h 104"/>
                <a:gd name="T36" fmla="*/ 3 w 928"/>
                <a:gd name="T37" fmla="*/ 0 h 104"/>
                <a:gd name="T38" fmla="*/ 2 w 928"/>
                <a:gd name="T39" fmla="*/ 0 h 104"/>
                <a:gd name="T40" fmla="*/ 2 w 928"/>
                <a:gd name="T41" fmla="*/ 0 h 104"/>
                <a:gd name="T42" fmla="*/ 2 w 928"/>
                <a:gd name="T43" fmla="*/ 1 h 104"/>
                <a:gd name="T44" fmla="*/ 1 w 928"/>
                <a:gd name="T45" fmla="*/ 1 h 104"/>
                <a:gd name="T46" fmla="*/ 1 w 928"/>
                <a:gd name="T47" fmla="*/ 1 h 104"/>
                <a:gd name="T48" fmla="*/ 1 w 928"/>
                <a:gd name="T49" fmla="*/ 1 h 104"/>
                <a:gd name="T50" fmla="*/ 1 w 928"/>
                <a:gd name="T51" fmla="*/ 2 h 104"/>
                <a:gd name="T52" fmla="*/ 1 w 928"/>
                <a:gd name="T53" fmla="*/ 2 h 104"/>
                <a:gd name="T54" fmla="*/ 1 w 928"/>
                <a:gd name="T55" fmla="*/ 3 h 104"/>
                <a:gd name="T56" fmla="*/ 1 w 928"/>
                <a:gd name="T57" fmla="*/ 3 h 104"/>
                <a:gd name="T58" fmla="*/ 0 w 928"/>
                <a:gd name="T59" fmla="*/ 3 h 104"/>
                <a:gd name="T60" fmla="*/ 1 w 928"/>
                <a:gd name="T61" fmla="*/ 3 h 104"/>
                <a:gd name="T62" fmla="*/ 1 w 928"/>
                <a:gd name="T63" fmla="*/ 3 h 104"/>
                <a:gd name="T64" fmla="*/ 1 w 928"/>
                <a:gd name="T65" fmla="*/ 3 h 104"/>
                <a:gd name="T66" fmla="*/ 2 w 928"/>
                <a:gd name="T67" fmla="*/ 3 h 104"/>
                <a:gd name="T68" fmla="*/ 3 w 928"/>
                <a:gd name="T69" fmla="*/ 3 h 104"/>
                <a:gd name="T70" fmla="*/ 5 w 928"/>
                <a:gd name="T71" fmla="*/ 3 h 104"/>
                <a:gd name="T72" fmla="*/ 6 w 928"/>
                <a:gd name="T73" fmla="*/ 3 h 104"/>
                <a:gd name="T74" fmla="*/ 7 w 928"/>
                <a:gd name="T75" fmla="*/ 3 h 104"/>
                <a:gd name="T76" fmla="*/ 10 w 928"/>
                <a:gd name="T77" fmla="*/ 3 h 104"/>
                <a:gd name="T78" fmla="*/ 12 w 928"/>
                <a:gd name="T79" fmla="*/ 3 h 104"/>
                <a:gd name="T80" fmla="*/ 14 w 928"/>
                <a:gd name="T81" fmla="*/ 3 h 104"/>
                <a:gd name="T82" fmla="*/ 15 w 928"/>
                <a:gd name="T83" fmla="*/ 3 h 104"/>
                <a:gd name="T84" fmla="*/ 18 w 928"/>
                <a:gd name="T85" fmla="*/ 3 h 104"/>
                <a:gd name="T86" fmla="*/ 20 w 928"/>
                <a:gd name="T87" fmla="*/ 3 h 104"/>
                <a:gd name="T88" fmla="*/ 22 w 928"/>
                <a:gd name="T89" fmla="*/ 3 h 104"/>
                <a:gd name="T90" fmla="*/ 23 w 928"/>
                <a:gd name="T91" fmla="*/ 3 h 104"/>
                <a:gd name="T92" fmla="*/ 25 w 928"/>
                <a:gd name="T93" fmla="*/ 3 h 104"/>
                <a:gd name="T94" fmla="*/ 26 w 928"/>
                <a:gd name="T95" fmla="*/ 3 h 104"/>
                <a:gd name="T96" fmla="*/ 28 w 928"/>
                <a:gd name="T97" fmla="*/ 3 h 104"/>
                <a:gd name="T98" fmla="*/ 28 w 928"/>
                <a:gd name="T99" fmla="*/ 3 h 104"/>
                <a:gd name="T100" fmla="*/ 29 w 928"/>
                <a:gd name="T101" fmla="*/ 3 h 104"/>
                <a:gd name="T102" fmla="*/ 29 w 928"/>
                <a:gd name="T103" fmla="*/ 3 h 104"/>
                <a:gd name="T104" fmla="*/ 29 w 928"/>
                <a:gd name="T105" fmla="*/ 1 h 10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928"/>
                <a:gd name="T160" fmla="*/ 0 h 104"/>
                <a:gd name="T161" fmla="*/ 928 w 928"/>
                <a:gd name="T162" fmla="*/ 104 h 10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928" h="104">
                  <a:moveTo>
                    <a:pt x="928" y="2"/>
                  </a:moveTo>
                  <a:lnTo>
                    <a:pt x="926" y="2"/>
                  </a:lnTo>
                  <a:lnTo>
                    <a:pt x="924" y="2"/>
                  </a:lnTo>
                  <a:lnTo>
                    <a:pt x="920" y="1"/>
                  </a:lnTo>
                  <a:lnTo>
                    <a:pt x="914" y="1"/>
                  </a:lnTo>
                  <a:lnTo>
                    <a:pt x="908" y="1"/>
                  </a:lnTo>
                  <a:lnTo>
                    <a:pt x="900" y="1"/>
                  </a:lnTo>
                  <a:lnTo>
                    <a:pt x="892" y="1"/>
                  </a:lnTo>
                  <a:lnTo>
                    <a:pt x="882" y="1"/>
                  </a:lnTo>
                  <a:lnTo>
                    <a:pt x="873" y="0"/>
                  </a:lnTo>
                  <a:lnTo>
                    <a:pt x="861" y="0"/>
                  </a:lnTo>
                  <a:lnTo>
                    <a:pt x="849" y="0"/>
                  </a:lnTo>
                  <a:lnTo>
                    <a:pt x="836" y="0"/>
                  </a:lnTo>
                  <a:lnTo>
                    <a:pt x="823" y="0"/>
                  </a:lnTo>
                  <a:lnTo>
                    <a:pt x="809" y="0"/>
                  </a:lnTo>
                  <a:lnTo>
                    <a:pt x="794" y="0"/>
                  </a:lnTo>
                  <a:lnTo>
                    <a:pt x="778" y="0"/>
                  </a:lnTo>
                  <a:lnTo>
                    <a:pt x="762" y="0"/>
                  </a:lnTo>
                  <a:lnTo>
                    <a:pt x="744" y="0"/>
                  </a:lnTo>
                  <a:lnTo>
                    <a:pt x="727" y="0"/>
                  </a:lnTo>
                  <a:lnTo>
                    <a:pt x="710" y="0"/>
                  </a:lnTo>
                  <a:lnTo>
                    <a:pt x="691" y="0"/>
                  </a:lnTo>
                  <a:lnTo>
                    <a:pt x="673" y="0"/>
                  </a:lnTo>
                  <a:lnTo>
                    <a:pt x="654" y="0"/>
                  </a:lnTo>
                  <a:lnTo>
                    <a:pt x="634" y="0"/>
                  </a:lnTo>
                  <a:lnTo>
                    <a:pt x="614" y="0"/>
                  </a:lnTo>
                  <a:lnTo>
                    <a:pt x="594" y="0"/>
                  </a:lnTo>
                  <a:lnTo>
                    <a:pt x="575" y="0"/>
                  </a:lnTo>
                  <a:lnTo>
                    <a:pt x="555" y="0"/>
                  </a:lnTo>
                  <a:lnTo>
                    <a:pt x="533" y="0"/>
                  </a:lnTo>
                  <a:lnTo>
                    <a:pt x="513" y="0"/>
                  </a:lnTo>
                  <a:lnTo>
                    <a:pt x="492" y="0"/>
                  </a:lnTo>
                  <a:lnTo>
                    <a:pt x="471" y="0"/>
                  </a:lnTo>
                  <a:lnTo>
                    <a:pt x="451" y="0"/>
                  </a:lnTo>
                  <a:lnTo>
                    <a:pt x="429" y="0"/>
                  </a:lnTo>
                  <a:lnTo>
                    <a:pt x="409" y="0"/>
                  </a:lnTo>
                  <a:lnTo>
                    <a:pt x="389" y="0"/>
                  </a:lnTo>
                  <a:lnTo>
                    <a:pt x="369" y="0"/>
                  </a:lnTo>
                  <a:lnTo>
                    <a:pt x="349" y="0"/>
                  </a:lnTo>
                  <a:lnTo>
                    <a:pt x="329" y="0"/>
                  </a:lnTo>
                  <a:lnTo>
                    <a:pt x="310" y="0"/>
                  </a:lnTo>
                  <a:lnTo>
                    <a:pt x="290" y="0"/>
                  </a:lnTo>
                  <a:lnTo>
                    <a:pt x="272" y="0"/>
                  </a:lnTo>
                  <a:lnTo>
                    <a:pt x="253" y="0"/>
                  </a:lnTo>
                  <a:lnTo>
                    <a:pt x="235" y="0"/>
                  </a:lnTo>
                  <a:lnTo>
                    <a:pt x="218" y="0"/>
                  </a:lnTo>
                  <a:lnTo>
                    <a:pt x="201" y="0"/>
                  </a:lnTo>
                  <a:lnTo>
                    <a:pt x="184" y="0"/>
                  </a:lnTo>
                  <a:lnTo>
                    <a:pt x="169" y="0"/>
                  </a:lnTo>
                  <a:lnTo>
                    <a:pt x="154" y="0"/>
                  </a:lnTo>
                  <a:lnTo>
                    <a:pt x="140" y="0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01" y="0"/>
                  </a:lnTo>
                  <a:lnTo>
                    <a:pt x="90" y="0"/>
                  </a:lnTo>
                  <a:lnTo>
                    <a:pt x="79" y="0"/>
                  </a:lnTo>
                  <a:lnTo>
                    <a:pt x="70" y="0"/>
                  </a:lnTo>
                  <a:lnTo>
                    <a:pt x="61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43" y="0"/>
                  </a:lnTo>
                  <a:lnTo>
                    <a:pt x="38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3" y="1"/>
                  </a:lnTo>
                  <a:lnTo>
                    <a:pt x="33" y="2"/>
                  </a:lnTo>
                  <a:lnTo>
                    <a:pt x="31" y="4"/>
                  </a:lnTo>
                  <a:lnTo>
                    <a:pt x="30" y="6"/>
                  </a:lnTo>
                  <a:lnTo>
                    <a:pt x="28" y="9"/>
                  </a:lnTo>
                  <a:lnTo>
                    <a:pt x="27" y="13"/>
                  </a:lnTo>
                  <a:lnTo>
                    <a:pt x="27" y="15"/>
                  </a:lnTo>
                  <a:lnTo>
                    <a:pt x="25" y="19"/>
                  </a:lnTo>
                  <a:lnTo>
                    <a:pt x="24" y="23"/>
                  </a:lnTo>
                  <a:lnTo>
                    <a:pt x="21" y="27"/>
                  </a:lnTo>
                  <a:lnTo>
                    <a:pt x="20" y="30"/>
                  </a:lnTo>
                  <a:lnTo>
                    <a:pt x="18" y="35"/>
                  </a:lnTo>
                  <a:lnTo>
                    <a:pt x="17" y="40"/>
                  </a:lnTo>
                  <a:lnTo>
                    <a:pt x="14" y="43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8" y="58"/>
                  </a:lnTo>
                  <a:lnTo>
                    <a:pt x="7" y="62"/>
                  </a:lnTo>
                  <a:lnTo>
                    <a:pt x="6" y="67"/>
                  </a:lnTo>
                  <a:lnTo>
                    <a:pt x="5" y="71"/>
                  </a:lnTo>
                  <a:lnTo>
                    <a:pt x="4" y="75"/>
                  </a:lnTo>
                  <a:lnTo>
                    <a:pt x="2" y="79"/>
                  </a:lnTo>
                  <a:lnTo>
                    <a:pt x="2" y="82"/>
                  </a:lnTo>
                  <a:lnTo>
                    <a:pt x="0" y="86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2" y="100"/>
                  </a:lnTo>
                  <a:lnTo>
                    <a:pt x="5" y="100"/>
                  </a:lnTo>
                  <a:lnTo>
                    <a:pt x="7" y="100"/>
                  </a:lnTo>
                  <a:lnTo>
                    <a:pt x="13" y="100"/>
                  </a:lnTo>
                  <a:lnTo>
                    <a:pt x="18" y="100"/>
                  </a:lnTo>
                  <a:lnTo>
                    <a:pt x="25" y="100"/>
                  </a:lnTo>
                  <a:lnTo>
                    <a:pt x="33" y="100"/>
                  </a:lnTo>
                  <a:lnTo>
                    <a:pt x="43" y="101"/>
                  </a:lnTo>
                  <a:lnTo>
                    <a:pt x="53" y="101"/>
                  </a:lnTo>
                  <a:lnTo>
                    <a:pt x="64" y="101"/>
                  </a:lnTo>
                  <a:lnTo>
                    <a:pt x="77" y="101"/>
                  </a:lnTo>
                  <a:lnTo>
                    <a:pt x="90" y="101"/>
                  </a:lnTo>
                  <a:lnTo>
                    <a:pt x="103" y="101"/>
                  </a:lnTo>
                  <a:lnTo>
                    <a:pt x="117" y="101"/>
                  </a:lnTo>
                  <a:lnTo>
                    <a:pt x="134" y="101"/>
                  </a:lnTo>
                  <a:lnTo>
                    <a:pt x="150" y="101"/>
                  </a:lnTo>
                  <a:lnTo>
                    <a:pt x="167" y="101"/>
                  </a:lnTo>
                  <a:lnTo>
                    <a:pt x="183" y="101"/>
                  </a:lnTo>
                  <a:lnTo>
                    <a:pt x="201" y="101"/>
                  </a:lnTo>
                  <a:lnTo>
                    <a:pt x="220" y="101"/>
                  </a:lnTo>
                  <a:lnTo>
                    <a:pt x="239" y="101"/>
                  </a:lnTo>
                  <a:lnTo>
                    <a:pt x="258" y="101"/>
                  </a:lnTo>
                  <a:lnTo>
                    <a:pt x="278" y="101"/>
                  </a:lnTo>
                  <a:lnTo>
                    <a:pt x="298" y="103"/>
                  </a:lnTo>
                  <a:lnTo>
                    <a:pt x="318" y="103"/>
                  </a:lnTo>
                  <a:lnTo>
                    <a:pt x="339" y="103"/>
                  </a:lnTo>
                  <a:lnTo>
                    <a:pt x="360" y="103"/>
                  </a:lnTo>
                  <a:lnTo>
                    <a:pt x="382" y="103"/>
                  </a:lnTo>
                  <a:lnTo>
                    <a:pt x="403" y="103"/>
                  </a:lnTo>
                  <a:lnTo>
                    <a:pt x="425" y="103"/>
                  </a:lnTo>
                  <a:lnTo>
                    <a:pt x="446" y="103"/>
                  </a:lnTo>
                  <a:lnTo>
                    <a:pt x="468" y="103"/>
                  </a:lnTo>
                  <a:lnTo>
                    <a:pt x="490" y="103"/>
                  </a:lnTo>
                  <a:lnTo>
                    <a:pt x="510" y="103"/>
                  </a:lnTo>
                  <a:lnTo>
                    <a:pt x="532" y="103"/>
                  </a:lnTo>
                  <a:lnTo>
                    <a:pt x="553" y="103"/>
                  </a:lnTo>
                  <a:lnTo>
                    <a:pt x="575" y="103"/>
                  </a:lnTo>
                  <a:lnTo>
                    <a:pt x="594" y="103"/>
                  </a:lnTo>
                  <a:lnTo>
                    <a:pt x="615" y="103"/>
                  </a:lnTo>
                  <a:lnTo>
                    <a:pt x="636" y="104"/>
                  </a:lnTo>
                  <a:lnTo>
                    <a:pt x="655" y="104"/>
                  </a:lnTo>
                  <a:lnTo>
                    <a:pt x="675" y="104"/>
                  </a:lnTo>
                  <a:lnTo>
                    <a:pt x="694" y="104"/>
                  </a:lnTo>
                  <a:lnTo>
                    <a:pt x="713" y="104"/>
                  </a:lnTo>
                  <a:lnTo>
                    <a:pt x="732" y="104"/>
                  </a:lnTo>
                  <a:lnTo>
                    <a:pt x="750" y="104"/>
                  </a:lnTo>
                  <a:lnTo>
                    <a:pt x="765" y="104"/>
                  </a:lnTo>
                  <a:lnTo>
                    <a:pt x="783" y="104"/>
                  </a:lnTo>
                  <a:lnTo>
                    <a:pt x="798" y="104"/>
                  </a:lnTo>
                  <a:lnTo>
                    <a:pt x="814" y="104"/>
                  </a:lnTo>
                  <a:lnTo>
                    <a:pt x="828" y="104"/>
                  </a:lnTo>
                  <a:lnTo>
                    <a:pt x="841" y="104"/>
                  </a:lnTo>
                  <a:lnTo>
                    <a:pt x="853" y="104"/>
                  </a:lnTo>
                  <a:lnTo>
                    <a:pt x="866" y="104"/>
                  </a:lnTo>
                  <a:lnTo>
                    <a:pt x="876" y="104"/>
                  </a:lnTo>
                  <a:lnTo>
                    <a:pt x="887" y="104"/>
                  </a:lnTo>
                  <a:lnTo>
                    <a:pt x="895" y="104"/>
                  </a:lnTo>
                  <a:lnTo>
                    <a:pt x="904" y="104"/>
                  </a:lnTo>
                  <a:lnTo>
                    <a:pt x="911" y="104"/>
                  </a:lnTo>
                  <a:lnTo>
                    <a:pt x="917" y="104"/>
                  </a:lnTo>
                  <a:lnTo>
                    <a:pt x="920" y="104"/>
                  </a:lnTo>
                  <a:lnTo>
                    <a:pt x="924" y="104"/>
                  </a:lnTo>
                  <a:lnTo>
                    <a:pt x="926" y="104"/>
                  </a:lnTo>
                  <a:lnTo>
                    <a:pt x="927" y="104"/>
                  </a:lnTo>
                  <a:lnTo>
                    <a:pt x="928" y="2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Freeform 41"/>
            <p:cNvSpPr/>
            <p:nvPr/>
          </p:nvSpPr>
          <p:spPr bwMode="auto">
            <a:xfrm>
              <a:off x="5236" y="1384"/>
              <a:ext cx="140" cy="94"/>
            </a:xfrm>
            <a:custGeom>
              <a:avLst/>
              <a:gdLst>
                <a:gd name="T0" fmla="*/ 1 w 280"/>
                <a:gd name="T1" fmla="*/ 3 h 188"/>
                <a:gd name="T2" fmla="*/ 1 w 280"/>
                <a:gd name="T3" fmla="*/ 3 h 188"/>
                <a:gd name="T4" fmla="*/ 1 w 280"/>
                <a:gd name="T5" fmla="*/ 3 h 188"/>
                <a:gd name="T6" fmla="*/ 1 w 280"/>
                <a:gd name="T7" fmla="*/ 3 h 188"/>
                <a:gd name="T8" fmla="*/ 1 w 280"/>
                <a:gd name="T9" fmla="*/ 0 h 188"/>
                <a:gd name="T10" fmla="*/ 1 w 280"/>
                <a:gd name="T11" fmla="*/ 0 h 188"/>
                <a:gd name="T12" fmla="*/ 2 w 280"/>
                <a:gd name="T13" fmla="*/ 0 h 188"/>
                <a:gd name="T14" fmla="*/ 2 w 280"/>
                <a:gd name="T15" fmla="*/ 0 h 188"/>
                <a:gd name="T16" fmla="*/ 3 w 280"/>
                <a:gd name="T17" fmla="*/ 0 h 188"/>
                <a:gd name="T18" fmla="*/ 3 w 280"/>
                <a:gd name="T19" fmla="*/ 0 h 188"/>
                <a:gd name="T20" fmla="*/ 4 w 280"/>
                <a:gd name="T21" fmla="*/ 0 h 188"/>
                <a:gd name="T22" fmla="*/ 4 w 280"/>
                <a:gd name="T23" fmla="*/ 0 h 188"/>
                <a:gd name="T24" fmla="*/ 5 w 280"/>
                <a:gd name="T25" fmla="*/ 0 h 188"/>
                <a:gd name="T26" fmla="*/ 5 w 280"/>
                <a:gd name="T27" fmla="*/ 0 h 188"/>
                <a:gd name="T28" fmla="*/ 6 w 280"/>
                <a:gd name="T29" fmla="*/ 0 h 188"/>
                <a:gd name="T30" fmla="*/ 6 w 280"/>
                <a:gd name="T31" fmla="*/ 0 h 188"/>
                <a:gd name="T32" fmla="*/ 7 w 280"/>
                <a:gd name="T33" fmla="*/ 0 h 188"/>
                <a:gd name="T34" fmla="*/ 7 w 280"/>
                <a:gd name="T35" fmla="*/ 0 h 188"/>
                <a:gd name="T36" fmla="*/ 9 w 280"/>
                <a:gd name="T37" fmla="*/ 1 h 188"/>
                <a:gd name="T38" fmla="*/ 9 w 280"/>
                <a:gd name="T39" fmla="*/ 1 h 188"/>
                <a:gd name="T40" fmla="*/ 9 w 280"/>
                <a:gd name="T41" fmla="*/ 1 h 188"/>
                <a:gd name="T42" fmla="*/ 9 w 280"/>
                <a:gd name="T43" fmla="*/ 1 h 188"/>
                <a:gd name="T44" fmla="*/ 9 w 280"/>
                <a:gd name="T45" fmla="*/ 1 h 188"/>
                <a:gd name="T46" fmla="*/ 9 w 280"/>
                <a:gd name="T47" fmla="*/ 1 h 188"/>
                <a:gd name="T48" fmla="*/ 9 w 280"/>
                <a:gd name="T49" fmla="*/ 3 h 188"/>
                <a:gd name="T50" fmla="*/ 9 w 280"/>
                <a:gd name="T51" fmla="*/ 3 h 188"/>
                <a:gd name="T52" fmla="*/ 9 w 280"/>
                <a:gd name="T53" fmla="*/ 3 h 188"/>
                <a:gd name="T54" fmla="*/ 9 w 280"/>
                <a:gd name="T55" fmla="*/ 5 h 188"/>
                <a:gd name="T56" fmla="*/ 9 w 280"/>
                <a:gd name="T57" fmla="*/ 5 h 188"/>
                <a:gd name="T58" fmla="*/ 9 w 280"/>
                <a:gd name="T59" fmla="*/ 5 h 188"/>
                <a:gd name="T60" fmla="*/ 9 w 280"/>
                <a:gd name="T61" fmla="*/ 6 h 188"/>
                <a:gd name="T62" fmla="*/ 9 w 280"/>
                <a:gd name="T63" fmla="*/ 6 h 188"/>
                <a:gd name="T64" fmla="*/ 7 w 280"/>
                <a:gd name="T65" fmla="*/ 6 h 188"/>
                <a:gd name="T66" fmla="*/ 7 w 280"/>
                <a:gd name="T67" fmla="*/ 6 h 188"/>
                <a:gd name="T68" fmla="*/ 7 w 280"/>
                <a:gd name="T69" fmla="*/ 6 h 188"/>
                <a:gd name="T70" fmla="*/ 6 w 280"/>
                <a:gd name="T71" fmla="*/ 6 h 188"/>
                <a:gd name="T72" fmla="*/ 6 w 280"/>
                <a:gd name="T73" fmla="*/ 6 h 188"/>
                <a:gd name="T74" fmla="*/ 5 w 280"/>
                <a:gd name="T75" fmla="*/ 6 h 188"/>
                <a:gd name="T76" fmla="*/ 5 w 280"/>
                <a:gd name="T77" fmla="*/ 6 h 188"/>
                <a:gd name="T78" fmla="*/ 4 w 280"/>
                <a:gd name="T79" fmla="*/ 6 h 188"/>
                <a:gd name="T80" fmla="*/ 4 w 280"/>
                <a:gd name="T81" fmla="*/ 6 h 188"/>
                <a:gd name="T82" fmla="*/ 3 w 280"/>
                <a:gd name="T83" fmla="*/ 6 h 188"/>
                <a:gd name="T84" fmla="*/ 3 w 280"/>
                <a:gd name="T85" fmla="*/ 6 h 188"/>
                <a:gd name="T86" fmla="*/ 2 w 280"/>
                <a:gd name="T87" fmla="*/ 6 h 188"/>
                <a:gd name="T88" fmla="*/ 2 w 280"/>
                <a:gd name="T89" fmla="*/ 6 h 188"/>
                <a:gd name="T90" fmla="*/ 2 w 280"/>
                <a:gd name="T91" fmla="*/ 6 h 188"/>
                <a:gd name="T92" fmla="*/ 1 w 280"/>
                <a:gd name="T93" fmla="*/ 6 h 188"/>
                <a:gd name="T94" fmla="*/ 0 w 280"/>
                <a:gd name="T95" fmla="*/ 3 h 18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80"/>
                <a:gd name="T145" fmla="*/ 0 h 188"/>
                <a:gd name="T146" fmla="*/ 280 w 280"/>
                <a:gd name="T147" fmla="*/ 188 h 18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80" h="188">
                  <a:moveTo>
                    <a:pt x="7" y="72"/>
                  </a:moveTo>
                  <a:lnTo>
                    <a:pt x="8" y="72"/>
                  </a:lnTo>
                  <a:lnTo>
                    <a:pt x="10" y="72"/>
                  </a:lnTo>
                  <a:lnTo>
                    <a:pt x="13" y="72"/>
                  </a:lnTo>
                  <a:lnTo>
                    <a:pt x="16" y="72"/>
                  </a:lnTo>
                  <a:lnTo>
                    <a:pt x="21" y="72"/>
                  </a:lnTo>
                  <a:lnTo>
                    <a:pt x="25" y="72"/>
                  </a:lnTo>
                  <a:lnTo>
                    <a:pt x="28" y="72"/>
                  </a:lnTo>
                  <a:lnTo>
                    <a:pt x="33" y="72"/>
                  </a:lnTo>
                  <a:lnTo>
                    <a:pt x="36" y="72"/>
                  </a:lnTo>
                  <a:lnTo>
                    <a:pt x="40" y="72"/>
                  </a:lnTo>
                  <a:lnTo>
                    <a:pt x="43" y="72"/>
                  </a:lnTo>
                  <a:lnTo>
                    <a:pt x="47" y="73"/>
                  </a:lnTo>
                  <a:lnTo>
                    <a:pt x="48" y="73"/>
                  </a:lnTo>
                  <a:lnTo>
                    <a:pt x="51" y="73"/>
                  </a:lnTo>
                  <a:lnTo>
                    <a:pt x="53" y="73"/>
                  </a:lnTo>
                  <a:lnTo>
                    <a:pt x="52" y="1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1" y="0"/>
                  </a:lnTo>
                  <a:lnTo>
                    <a:pt x="73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10" y="0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9" y="0"/>
                  </a:lnTo>
                  <a:lnTo>
                    <a:pt x="153" y="0"/>
                  </a:lnTo>
                  <a:lnTo>
                    <a:pt x="157" y="0"/>
                  </a:lnTo>
                  <a:lnTo>
                    <a:pt x="163" y="0"/>
                  </a:lnTo>
                  <a:lnTo>
                    <a:pt x="166" y="0"/>
                  </a:lnTo>
                  <a:lnTo>
                    <a:pt x="171" y="0"/>
                  </a:lnTo>
                  <a:lnTo>
                    <a:pt x="176" y="0"/>
                  </a:lnTo>
                  <a:lnTo>
                    <a:pt x="181" y="0"/>
                  </a:lnTo>
                  <a:lnTo>
                    <a:pt x="184" y="0"/>
                  </a:lnTo>
                  <a:lnTo>
                    <a:pt x="189" y="0"/>
                  </a:lnTo>
                  <a:lnTo>
                    <a:pt x="194" y="0"/>
                  </a:lnTo>
                  <a:lnTo>
                    <a:pt x="197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10" y="0"/>
                  </a:lnTo>
                  <a:lnTo>
                    <a:pt x="214" y="0"/>
                  </a:lnTo>
                  <a:lnTo>
                    <a:pt x="217" y="0"/>
                  </a:lnTo>
                  <a:lnTo>
                    <a:pt x="221" y="0"/>
                  </a:lnTo>
                  <a:lnTo>
                    <a:pt x="226" y="0"/>
                  </a:lnTo>
                  <a:lnTo>
                    <a:pt x="228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9" y="0"/>
                  </a:lnTo>
                  <a:lnTo>
                    <a:pt x="241" y="0"/>
                  </a:lnTo>
                  <a:lnTo>
                    <a:pt x="243" y="0"/>
                  </a:lnTo>
                  <a:lnTo>
                    <a:pt x="247" y="0"/>
                  </a:lnTo>
                  <a:lnTo>
                    <a:pt x="248" y="0"/>
                  </a:lnTo>
                  <a:lnTo>
                    <a:pt x="250" y="1"/>
                  </a:lnTo>
                  <a:lnTo>
                    <a:pt x="255" y="1"/>
                  </a:lnTo>
                  <a:lnTo>
                    <a:pt x="259" y="1"/>
                  </a:lnTo>
                  <a:lnTo>
                    <a:pt x="260" y="1"/>
                  </a:lnTo>
                  <a:lnTo>
                    <a:pt x="263" y="4"/>
                  </a:lnTo>
                  <a:lnTo>
                    <a:pt x="265" y="6"/>
                  </a:lnTo>
                  <a:lnTo>
                    <a:pt x="267" y="9"/>
                  </a:lnTo>
                  <a:lnTo>
                    <a:pt x="268" y="11"/>
                  </a:lnTo>
                  <a:lnTo>
                    <a:pt x="269" y="13"/>
                  </a:lnTo>
                  <a:lnTo>
                    <a:pt x="269" y="17"/>
                  </a:lnTo>
                  <a:lnTo>
                    <a:pt x="271" y="19"/>
                  </a:lnTo>
                  <a:lnTo>
                    <a:pt x="272" y="21"/>
                  </a:lnTo>
                  <a:lnTo>
                    <a:pt x="273" y="24"/>
                  </a:lnTo>
                  <a:lnTo>
                    <a:pt x="273" y="27"/>
                  </a:lnTo>
                  <a:lnTo>
                    <a:pt x="274" y="31"/>
                  </a:lnTo>
                  <a:lnTo>
                    <a:pt x="274" y="34"/>
                  </a:lnTo>
                  <a:lnTo>
                    <a:pt x="275" y="38"/>
                  </a:lnTo>
                  <a:lnTo>
                    <a:pt x="275" y="41"/>
                  </a:lnTo>
                  <a:lnTo>
                    <a:pt x="276" y="45"/>
                  </a:lnTo>
                  <a:lnTo>
                    <a:pt x="276" y="48"/>
                  </a:lnTo>
                  <a:lnTo>
                    <a:pt x="278" y="52"/>
                  </a:lnTo>
                  <a:lnTo>
                    <a:pt x="278" y="57"/>
                  </a:lnTo>
                  <a:lnTo>
                    <a:pt x="279" y="60"/>
                  </a:lnTo>
                  <a:lnTo>
                    <a:pt x="279" y="65"/>
                  </a:lnTo>
                  <a:lnTo>
                    <a:pt x="280" y="70"/>
                  </a:lnTo>
                  <a:lnTo>
                    <a:pt x="280" y="73"/>
                  </a:lnTo>
                  <a:lnTo>
                    <a:pt x="280" y="77"/>
                  </a:lnTo>
                  <a:lnTo>
                    <a:pt x="280" y="82"/>
                  </a:lnTo>
                  <a:lnTo>
                    <a:pt x="280" y="85"/>
                  </a:lnTo>
                  <a:lnTo>
                    <a:pt x="280" y="91"/>
                  </a:lnTo>
                  <a:lnTo>
                    <a:pt x="280" y="96"/>
                  </a:lnTo>
                  <a:lnTo>
                    <a:pt x="280" y="99"/>
                  </a:lnTo>
                  <a:lnTo>
                    <a:pt x="280" y="104"/>
                  </a:lnTo>
                  <a:lnTo>
                    <a:pt x="280" y="108"/>
                  </a:lnTo>
                  <a:lnTo>
                    <a:pt x="280" y="112"/>
                  </a:lnTo>
                  <a:lnTo>
                    <a:pt x="280" y="116"/>
                  </a:lnTo>
                  <a:lnTo>
                    <a:pt x="279" y="121"/>
                  </a:lnTo>
                  <a:lnTo>
                    <a:pt x="278" y="125"/>
                  </a:lnTo>
                  <a:lnTo>
                    <a:pt x="278" y="129"/>
                  </a:lnTo>
                  <a:lnTo>
                    <a:pt x="278" y="132"/>
                  </a:lnTo>
                  <a:lnTo>
                    <a:pt x="276" y="137"/>
                  </a:lnTo>
                  <a:lnTo>
                    <a:pt x="275" y="141"/>
                  </a:lnTo>
                  <a:lnTo>
                    <a:pt x="275" y="144"/>
                  </a:lnTo>
                  <a:lnTo>
                    <a:pt x="274" y="148"/>
                  </a:lnTo>
                  <a:lnTo>
                    <a:pt x="274" y="151"/>
                  </a:lnTo>
                  <a:lnTo>
                    <a:pt x="273" y="156"/>
                  </a:lnTo>
                  <a:lnTo>
                    <a:pt x="273" y="160"/>
                  </a:lnTo>
                  <a:lnTo>
                    <a:pt x="272" y="162"/>
                  </a:lnTo>
                  <a:lnTo>
                    <a:pt x="271" y="165"/>
                  </a:lnTo>
                  <a:lnTo>
                    <a:pt x="269" y="168"/>
                  </a:lnTo>
                  <a:lnTo>
                    <a:pt x="268" y="170"/>
                  </a:lnTo>
                  <a:lnTo>
                    <a:pt x="267" y="173"/>
                  </a:lnTo>
                  <a:lnTo>
                    <a:pt x="266" y="175"/>
                  </a:lnTo>
                  <a:lnTo>
                    <a:pt x="265" y="177"/>
                  </a:lnTo>
                  <a:lnTo>
                    <a:pt x="263" y="180"/>
                  </a:lnTo>
                  <a:lnTo>
                    <a:pt x="260" y="182"/>
                  </a:lnTo>
                  <a:lnTo>
                    <a:pt x="258" y="184"/>
                  </a:lnTo>
                  <a:lnTo>
                    <a:pt x="253" y="186"/>
                  </a:lnTo>
                  <a:lnTo>
                    <a:pt x="249" y="188"/>
                  </a:lnTo>
                  <a:lnTo>
                    <a:pt x="248" y="188"/>
                  </a:lnTo>
                  <a:lnTo>
                    <a:pt x="245" y="188"/>
                  </a:lnTo>
                  <a:lnTo>
                    <a:pt x="242" y="188"/>
                  </a:lnTo>
                  <a:lnTo>
                    <a:pt x="241" y="188"/>
                  </a:lnTo>
                  <a:lnTo>
                    <a:pt x="237" y="186"/>
                  </a:lnTo>
                  <a:lnTo>
                    <a:pt x="234" y="186"/>
                  </a:lnTo>
                  <a:lnTo>
                    <a:pt x="232" y="186"/>
                  </a:lnTo>
                  <a:lnTo>
                    <a:pt x="229" y="186"/>
                  </a:lnTo>
                  <a:lnTo>
                    <a:pt x="226" y="186"/>
                  </a:lnTo>
                  <a:lnTo>
                    <a:pt x="222" y="186"/>
                  </a:lnTo>
                  <a:lnTo>
                    <a:pt x="219" y="186"/>
                  </a:lnTo>
                  <a:lnTo>
                    <a:pt x="216" y="186"/>
                  </a:lnTo>
                  <a:lnTo>
                    <a:pt x="211" y="186"/>
                  </a:lnTo>
                  <a:lnTo>
                    <a:pt x="209" y="186"/>
                  </a:lnTo>
                  <a:lnTo>
                    <a:pt x="205" y="186"/>
                  </a:lnTo>
                  <a:lnTo>
                    <a:pt x="202" y="186"/>
                  </a:lnTo>
                  <a:lnTo>
                    <a:pt x="197" y="186"/>
                  </a:lnTo>
                  <a:lnTo>
                    <a:pt x="195" y="186"/>
                  </a:lnTo>
                  <a:lnTo>
                    <a:pt x="190" y="186"/>
                  </a:lnTo>
                  <a:lnTo>
                    <a:pt x="187" y="186"/>
                  </a:lnTo>
                  <a:lnTo>
                    <a:pt x="182" y="186"/>
                  </a:lnTo>
                  <a:lnTo>
                    <a:pt x="178" y="186"/>
                  </a:lnTo>
                  <a:lnTo>
                    <a:pt x="175" y="186"/>
                  </a:lnTo>
                  <a:lnTo>
                    <a:pt x="171" y="186"/>
                  </a:lnTo>
                  <a:lnTo>
                    <a:pt x="165" y="186"/>
                  </a:lnTo>
                  <a:lnTo>
                    <a:pt x="163" y="186"/>
                  </a:lnTo>
                  <a:lnTo>
                    <a:pt x="157" y="186"/>
                  </a:lnTo>
                  <a:lnTo>
                    <a:pt x="153" y="186"/>
                  </a:lnTo>
                  <a:lnTo>
                    <a:pt x="150" y="186"/>
                  </a:lnTo>
                  <a:lnTo>
                    <a:pt x="146" y="186"/>
                  </a:lnTo>
                  <a:lnTo>
                    <a:pt x="142" y="186"/>
                  </a:lnTo>
                  <a:lnTo>
                    <a:pt x="138" y="186"/>
                  </a:lnTo>
                  <a:lnTo>
                    <a:pt x="133" y="186"/>
                  </a:lnTo>
                  <a:lnTo>
                    <a:pt x="130" y="186"/>
                  </a:lnTo>
                  <a:lnTo>
                    <a:pt x="125" y="186"/>
                  </a:lnTo>
                  <a:lnTo>
                    <a:pt x="122" y="186"/>
                  </a:lnTo>
                  <a:lnTo>
                    <a:pt x="118" y="186"/>
                  </a:lnTo>
                  <a:lnTo>
                    <a:pt x="114" y="186"/>
                  </a:lnTo>
                  <a:lnTo>
                    <a:pt x="111" y="186"/>
                  </a:lnTo>
                  <a:lnTo>
                    <a:pt x="107" y="186"/>
                  </a:lnTo>
                  <a:lnTo>
                    <a:pt x="103" y="186"/>
                  </a:lnTo>
                  <a:lnTo>
                    <a:pt x="100" y="186"/>
                  </a:lnTo>
                  <a:lnTo>
                    <a:pt x="97" y="186"/>
                  </a:lnTo>
                  <a:lnTo>
                    <a:pt x="93" y="186"/>
                  </a:lnTo>
                  <a:lnTo>
                    <a:pt x="91" y="186"/>
                  </a:lnTo>
                  <a:lnTo>
                    <a:pt x="87" y="186"/>
                  </a:lnTo>
                  <a:lnTo>
                    <a:pt x="85" y="186"/>
                  </a:lnTo>
                  <a:lnTo>
                    <a:pt x="82" y="186"/>
                  </a:lnTo>
                  <a:lnTo>
                    <a:pt x="79" y="186"/>
                  </a:lnTo>
                  <a:lnTo>
                    <a:pt x="77" y="186"/>
                  </a:lnTo>
                  <a:lnTo>
                    <a:pt x="74" y="186"/>
                  </a:lnTo>
                  <a:lnTo>
                    <a:pt x="72" y="186"/>
                  </a:lnTo>
                  <a:lnTo>
                    <a:pt x="67" y="186"/>
                  </a:lnTo>
                  <a:lnTo>
                    <a:pt x="65" y="186"/>
                  </a:lnTo>
                  <a:lnTo>
                    <a:pt x="61" y="186"/>
                  </a:lnTo>
                  <a:lnTo>
                    <a:pt x="60" y="186"/>
                  </a:lnTo>
                  <a:lnTo>
                    <a:pt x="58" y="186"/>
                  </a:lnTo>
                  <a:lnTo>
                    <a:pt x="58" y="188"/>
                  </a:lnTo>
                  <a:lnTo>
                    <a:pt x="55" y="122"/>
                  </a:lnTo>
                  <a:lnTo>
                    <a:pt x="0" y="125"/>
                  </a:lnTo>
                  <a:lnTo>
                    <a:pt x="7" y="72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Freeform 42"/>
            <p:cNvSpPr/>
            <p:nvPr/>
          </p:nvSpPr>
          <p:spPr bwMode="auto">
            <a:xfrm>
              <a:off x="5159" y="1652"/>
              <a:ext cx="131" cy="67"/>
            </a:xfrm>
            <a:custGeom>
              <a:avLst/>
              <a:gdLst>
                <a:gd name="T0" fmla="*/ 1 w 263"/>
                <a:gd name="T1" fmla="*/ 0 h 135"/>
                <a:gd name="T2" fmla="*/ 1 w 263"/>
                <a:gd name="T3" fmla="*/ 0 h 135"/>
                <a:gd name="T4" fmla="*/ 2 w 263"/>
                <a:gd name="T5" fmla="*/ 0 h 135"/>
                <a:gd name="T6" fmla="*/ 2 w 263"/>
                <a:gd name="T7" fmla="*/ 0 h 135"/>
                <a:gd name="T8" fmla="*/ 3 w 263"/>
                <a:gd name="T9" fmla="*/ 0 h 135"/>
                <a:gd name="T10" fmla="*/ 3 w 263"/>
                <a:gd name="T11" fmla="*/ 0 h 135"/>
                <a:gd name="T12" fmla="*/ 4 w 263"/>
                <a:gd name="T13" fmla="*/ 0 h 135"/>
                <a:gd name="T14" fmla="*/ 4 w 263"/>
                <a:gd name="T15" fmla="*/ 0 h 135"/>
                <a:gd name="T16" fmla="*/ 5 w 263"/>
                <a:gd name="T17" fmla="*/ 0 h 135"/>
                <a:gd name="T18" fmla="*/ 5 w 263"/>
                <a:gd name="T19" fmla="*/ 0 h 135"/>
                <a:gd name="T20" fmla="*/ 6 w 263"/>
                <a:gd name="T21" fmla="*/ 0 h 135"/>
                <a:gd name="T22" fmla="*/ 6 w 263"/>
                <a:gd name="T23" fmla="*/ 0 h 135"/>
                <a:gd name="T24" fmla="*/ 6 w 263"/>
                <a:gd name="T25" fmla="*/ 0 h 135"/>
                <a:gd name="T26" fmla="*/ 7 w 263"/>
                <a:gd name="T27" fmla="*/ 0 h 135"/>
                <a:gd name="T28" fmla="*/ 7 w 263"/>
                <a:gd name="T29" fmla="*/ 0 h 135"/>
                <a:gd name="T30" fmla="*/ 7 w 263"/>
                <a:gd name="T31" fmla="*/ 0 h 135"/>
                <a:gd name="T32" fmla="*/ 7 w 263"/>
                <a:gd name="T33" fmla="*/ 0 h 135"/>
                <a:gd name="T34" fmla="*/ 7 w 263"/>
                <a:gd name="T35" fmla="*/ 1 h 135"/>
                <a:gd name="T36" fmla="*/ 7 w 263"/>
                <a:gd name="T37" fmla="*/ 1 h 135"/>
                <a:gd name="T38" fmla="*/ 8 w 263"/>
                <a:gd name="T39" fmla="*/ 1 h 135"/>
                <a:gd name="T40" fmla="*/ 8 w 263"/>
                <a:gd name="T41" fmla="*/ 2 h 135"/>
                <a:gd name="T42" fmla="*/ 8 w 263"/>
                <a:gd name="T43" fmla="*/ 2 h 135"/>
                <a:gd name="T44" fmla="*/ 8 w 263"/>
                <a:gd name="T45" fmla="*/ 2 h 135"/>
                <a:gd name="T46" fmla="*/ 8 w 263"/>
                <a:gd name="T47" fmla="*/ 3 h 135"/>
                <a:gd name="T48" fmla="*/ 8 w 263"/>
                <a:gd name="T49" fmla="*/ 3 h 135"/>
                <a:gd name="T50" fmla="*/ 7 w 263"/>
                <a:gd name="T51" fmla="*/ 4 h 135"/>
                <a:gd name="T52" fmla="*/ 7 w 263"/>
                <a:gd name="T53" fmla="*/ 4 h 135"/>
                <a:gd name="T54" fmla="*/ 7 w 263"/>
                <a:gd name="T55" fmla="*/ 4 h 135"/>
                <a:gd name="T56" fmla="*/ 6 w 263"/>
                <a:gd name="T57" fmla="*/ 4 h 135"/>
                <a:gd name="T58" fmla="*/ 5 w 263"/>
                <a:gd name="T59" fmla="*/ 4 h 135"/>
                <a:gd name="T60" fmla="*/ 5 w 263"/>
                <a:gd name="T61" fmla="*/ 4 h 135"/>
                <a:gd name="T62" fmla="*/ 4 w 263"/>
                <a:gd name="T63" fmla="*/ 4 h 135"/>
                <a:gd name="T64" fmla="*/ 4 w 263"/>
                <a:gd name="T65" fmla="*/ 4 h 135"/>
                <a:gd name="T66" fmla="*/ 3 w 263"/>
                <a:gd name="T67" fmla="*/ 4 h 135"/>
                <a:gd name="T68" fmla="*/ 2 w 263"/>
                <a:gd name="T69" fmla="*/ 4 h 135"/>
                <a:gd name="T70" fmla="*/ 2 w 263"/>
                <a:gd name="T71" fmla="*/ 4 h 135"/>
                <a:gd name="T72" fmla="*/ 1 w 263"/>
                <a:gd name="T73" fmla="*/ 4 h 135"/>
                <a:gd name="T74" fmla="*/ 0 w 263"/>
                <a:gd name="T75" fmla="*/ 4 h 135"/>
                <a:gd name="T76" fmla="*/ 0 w 263"/>
                <a:gd name="T77" fmla="*/ 4 h 135"/>
                <a:gd name="T78" fmla="*/ 0 w 263"/>
                <a:gd name="T79" fmla="*/ 4 h 135"/>
                <a:gd name="T80" fmla="*/ 0 w 263"/>
                <a:gd name="T81" fmla="*/ 3 h 135"/>
                <a:gd name="T82" fmla="*/ 0 w 263"/>
                <a:gd name="T83" fmla="*/ 3 h 135"/>
                <a:gd name="T84" fmla="*/ 0 w 263"/>
                <a:gd name="T85" fmla="*/ 3 h 135"/>
                <a:gd name="T86" fmla="*/ 0 w 263"/>
                <a:gd name="T87" fmla="*/ 2 h 135"/>
                <a:gd name="T88" fmla="*/ 0 w 263"/>
                <a:gd name="T89" fmla="*/ 2 h 135"/>
                <a:gd name="T90" fmla="*/ 0 w 263"/>
                <a:gd name="T91" fmla="*/ 2 h 135"/>
                <a:gd name="T92" fmla="*/ 0 w 263"/>
                <a:gd name="T93" fmla="*/ 1 h 135"/>
                <a:gd name="T94" fmla="*/ 0 w 263"/>
                <a:gd name="T95" fmla="*/ 1 h 135"/>
                <a:gd name="T96" fmla="*/ 0 w 263"/>
                <a:gd name="T97" fmla="*/ 1 h 135"/>
                <a:gd name="T98" fmla="*/ 0 w 263"/>
                <a:gd name="T99" fmla="*/ 0 h 135"/>
                <a:gd name="T100" fmla="*/ 1 w 263"/>
                <a:gd name="T101" fmla="*/ 0 h 135"/>
                <a:gd name="T102" fmla="*/ 1 w 263"/>
                <a:gd name="T103" fmla="*/ 0 h 13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63"/>
                <a:gd name="T157" fmla="*/ 0 h 135"/>
                <a:gd name="T158" fmla="*/ 263 w 263"/>
                <a:gd name="T159" fmla="*/ 135 h 13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63" h="135">
                  <a:moveTo>
                    <a:pt x="37" y="3"/>
                  </a:moveTo>
                  <a:lnTo>
                    <a:pt x="39" y="3"/>
                  </a:lnTo>
                  <a:lnTo>
                    <a:pt x="44" y="3"/>
                  </a:lnTo>
                  <a:lnTo>
                    <a:pt x="46" y="3"/>
                  </a:lnTo>
                  <a:lnTo>
                    <a:pt x="48" y="3"/>
                  </a:lnTo>
                  <a:lnTo>
                    <a:pt x="51" y="3"/>
                  </a:lnTo>
                  <a:lnTo>
                    <a:pt x="54" y="3"/>
                  </a:lnTo>
                  <a:lnTo>
                    <a:pt x="58" y="3"/>
                  </a:lnTo>
                  <a:lnTo>
                    <a:pt x="60" y="3"/>
                  </a:lnTo>
                  <a:lnTo>
                    <a:pt x="64" y="3"/>
                  </a:lnTo>
                  <a:lnTo>
                    <a:pt x="67" y="3"/>
                  </a:lnTo>
                  <a:lnTo>
                    <a:pt x="70" y="3"/>
                  </a:lnTo>
                  <a:lnTo>
                    <a:pt x="73" y="3"/>
                  </a:lnTo>
                  <a:lnTo>
                    <a:pt x="77" y="3"/>
                  </a:lnTo>
                  <a:lnTo>
                    <a:pt x="80" y="3"/>
                  </a:lnTo>
                  <a:lnTo>
                    <a:pt x="84" y="3"/>
                  </a:lnTo>
                  <a:lnTo>
                    <a:pt x="89" y="3"/>
                  </a:lnTo>
                  <a:lnTo>
                    <a:pt x="92" y="3"/>
                  </a:lnTo>
                  <a:lnTo>
                    <a:pt x="96" y="3"/>
                  </a:lnTo>
                  <a:lnTo>
                    <a:pt x="99" y="1"/>
                  </a:lnTo>
                  <a:lnTo>
                    <a:pt x="104" y="1"/>
                  </a:lnTo>
                  <a:lnTo>
                    <a:pt x="108" y="1"/>
                  </a:lnTo>
                  <a:lnTo>
                    <a:pt x="112" y="1"/>
                  </a:lnTo>
                  <a:lnTo>
                    <a:pt x="116" y="1"/>
                  </a:lnTo>
                  <a:lnTo>
                    <a:pt x="121" y="1"/>
                  </a:lnTo>
                  <a:lnTo>
                    <a:pt x="124" y="1"/>
                  </a:lnTo>
                  <a:lnTo>
                    <a:pt x="129" y="1"/>
                  </a:lnTo>
                  <a:lnTo>
                    <a:pt x="132" y="1"/>
                  </a:lnTo>
                  <a:lnTo>
                    <a:pt x="136" y="1"/>
                  </a:lnTo>
                  <a:lnTo>
                    <a:pt x="141" y="1"/>
                  </a:lnTo>
                  <a:lnTo>
                    <a:pt x="145" y="1"/>
                  </a:lnTo>
                  <a:lnTo>
                    <a:pt x="149" y="0"/>
                  </a:lnTo>
                  <a:lnTo>
                    <a:pt x="154" y="0"/>
                  </a:lnTo>
                  <a:lnTo>
                    <a:pt x="157" y="0"/>
                  </a:lnTo>
                  <a:lnTo>
                    <a:pt x="161" y="0"/>
                  </a:lnTo>
                  <a:lnTo>
                    <a:pt x="164" y="0"/>
                  </a:lnTo>
                  <a:lnTo>
                    <a:pt x="169" y="0"/>
                  </a:lnTo>
                  <a:lnTo>
                    <a:pt x="173" y="0"/>
                  </a:lnTo>
                  <a:lnTo>
                    <a:pt x="177" y="0"/>
                  </a:lnTo>
                  <a:lnTo>
                    <a:pt x="181" y="0"/>
                  </a:lnTo>
                  <a:lnTo>
                    <a:pt x="184" y="0"/>
                  </a:lnTo>
                  <a:lnTo>
                    <a:pt x="187" y="0"/>
                  </a:lnTo>
                  <a:lnTo>
                    <a:pt x="192" y="0"/>
                  </a:lnTo>
                  <a:lnTo>
                    <a:pt x="194" y="0"/>
                  </a:lnTo>
                  <a:lnTo>
                    <a:pt x="197" y="0"/>
                  </a:lnTo>
                  <a:lnTo>
                    <a:pt x="201" y="0"/>
                  </a:lnTo>
                  <a:lnTo>
                    <a:pt x="203" y="0"/>
                  </a:lnTo>
                  <a:lnTo>
                    <a:pt x="207" y="0"/>
                  </a:lnTo>
                  <a:lnTo>
                    <a:pt x="209" y="0"/>
                  </a:lnTo>
                  <a:lnTo>
                    <a:pt x="212" y="0"/>
                  </a:lnTo>
                  <a:lnTo>
                    <a:pt x="215" y="0"/>
                  </a:lnTo>
                  <a:lnTo>
                    <a:pt x="218" y="0"/>
                  </a:lnTo>
                  <a:lnTo>
                    <a:pt x="220" y="0"/>
                  </a:lnTo>
                  <a:lnTo>
                    <a:pt x="222" y="0"/>
                  </a:lnTo>
                  <a:lnTo>
                    <a:pt x="225" y="0"/>
                  </a:lnTo>
                  <a:lnTo>
                    <a:pt x="228" y="0"/>
                  </a:lnTo>
                  <a:lnTo>
                    <a:pt x="231" y="1"/>
                  </a:lnTo>
                  <a:lnTo>
                    <a:pt x="233" y="1"/>
                  </a:lnTo>
                  <a:lnTo>
                    <a:pt x="234" y="3"/>
                  </a:lnTo>
                  <a:lnTo>
                    <a:pt x="235" y="4"/>
                  </a:lnTo>
                  <a:lnTo>
                    <a:pt x="236" y="5"/>
                  </a:lnTo>
                  <a:lnTo>
                    <a:pt x="239" y="6"/>
                  </a:lnTo>
                  <a:lnTo>
                    <a:pt x="240" y="10"/>
                  </a:lnTo>
                  <a:lnTo>
                    <a:pt x="241" y="12"/>
                  </a:lnTo>
                  <a:lnTo>
                    <a:pt x="242" y="17"/>
                  </a:lnTo>
                  <a:lnTo>
                    <a:pt x="244" y="19"/>
                  </a:lnTo>
                  <a:lnTo>
                    <a:pt x="246" y="25"/>
                  </a:lnTo>
                  <a:lnTo>
                    <a:pt x="247" y="29"/>
                  </a:lnTo>
                  <a:lnTo>
                    <a:pt x="248" y="33"/>
                  </a:lnTo>
                  <a:lnTo>
                    <a:pt x="248" y="36"/>
                  </a:lnTo>
                  <a:lnTo>
                    <a:pt x="250" y="39"/>
                  </a:lnTo>
                  <a:lnTo>
                    <a:pt x="251" y="42"/>
                  </a:lnTo>
                  <a:lnTo>
                    <a:pt x="251" y="44"/>
                  </a:lnTo>
                  <a:lnTo>
                    <a:pt x="252" y="48"/>
                  </a:lnTo>
                  <a:lnTo>
                    <a:pt x="253" y="49"/>
                  </a:lnTo>
                  <a:lnTo>
                    <a:pt x="253" y="51"/>
                  </a:lnTo>
                  <a:lnTo>
                    <a:pt x="254" y="56"/>
                  </a:lnTo>
                  <a:lnTo>
                    <a:pt x="254" y="58"/>
                  </a:lnTo>
                  <a:lnTo>
                    <a:pt x="255" y="61"/>
                  </a:lnTo>
                  <a:lnTo>
                    <a:pt x="257" y="63"/>
                  </a:lnTo>
                  <a:lnTo>
                    <a:pt x="257" y="66"/>
                  </a:lnTo>
                  <a:lnTo>
                    <a:pt x="257" y="70"/>
                  </a:lnTo>
                  <a:lnTo>
                    <a:pt x="258" y="71"/>
                  </a:lnTo>
                  <a:lnTo>
                    <a:pt x="258" y="74"/>
                  </a:lnTo>
                  <a:lnTo>
                    <a:pt x="259" y="77"/>
                  </a:lnTo>
                  <a:lnTo>
                    <a:pt x="259" y="79"/>
                  </a:lnTo>
                  <a:lnTo>
                    <a:pt x="260" y="82"/>
                  </a:lnTo>
                  <a:lnTo>
                    <a:pt x="260" y="85"/>
                  </a:lnTo>
                  <a:lnTo>
                    <a:pt x="261" y="88"/>
                  </a:lnTo>
                  <a:lnTo>
                    <a:pt x="261" y="90"/>
                  </a:lnTo>
                  <a:lnTo>
                    <a:pt x="261" y="92"/>
                  </a:lnTo>
                  <a:lnTo>
                    <a:pt x="261" y="95"/>
                  </a:lnTo>
                  <a:lnTo>
                    <a:pt x="263" y="98"/>
                  </a:lnTo>
                  <a:lnTo>
                    <a:pt x="263" y="103"/>
                  </a:lnTo>
                  <a:lnTo>
                    <a:pt x="263" y="108"/>
                  </a:lnTo>
                  <a:lnTo>
                    <a:pt x="263" y="111"/>
                  </a:lnTo>
                  <a:lnTo>
                    <a:pt x="261" y="115"/>
                  </a:lnTo>
                  <a:lnTo>
                    <a:pt x="261" y="118"/>
                  </a:lnTo>
                  <a:lnTo>
                    <a:pt x="260" y="122"/>
                  </a:lnTo>
                  <a:lnTo>
                    <a:pt x="259" y="124"/>
                  </a:lnTo>
                  <a:lnTo>
                    <a:pt x="257" y="126"/>
                  </a:lnTo>
                  <a:lnTo>
                    <a:pt x="255" y="127"/>
                  </a:lnTo>
                  <a:lnTo>
                    <a:pt x="253" y="128"/>
                  </a:lnTo>
                  <a:lnTo>
                    <a:pt x="250" y="128"/>
                  </a:lnTo>
                  <a:lnTo>
                    <a:pt x="246" y="129"/>
                  </a:lnTo>
                  <a:lnTo>
                    <a:pt x="244" y="129"/>
                  </a:lnTo>
                  <a:lnTo>
                    <a:pt x="241" y="130"/>
                  </a:lnTo>
                  <a:lnTo>
                    <a:pt x="238" y="130"/>
                  </a:lnTo>
                  <a:lnTo>
                    <a:pt x="234" y="130"/>
                  </a:lnTo>
                  <a:lnTo>
                    <a:pt x="232" y="130"/>
                  </a:lnTo>
                  <a:lnTo>
                    <a:pt x="228" y="131"/>
                  </a:lnTo>
                  <a:lnTo>
                    <a:pt x="225" y="131"/>
                  </a:lnTo>
                  <a:lnTo>
                    <a:pt x="221" y="131"/>
                  </a:lnTo>
                  <a:lnTo>
                    <a:pt x="216" y="131"/>
                  </a:lnTo>
                  <a:lnTo>
                    <a:pt x="212" y="131"/>
                  </a:lnTo>
                  <a:lnTo>
                    <a:pt x="208" y="133"/>
                  </a:lnTo>
                  <a:lnTo>
                    <a:pt x="203" y="133"/>
                  </a:lnTo>
                  <a:lnTo>
                    <a:pt x="200" y="133"/>
                  </a:lnTo>
                  <a:lnTo>
                    <a:pt x="195" y="133"/>
                  </a:lnTo>
                  <a:lnTo>
                    <a:pt x="190" y="133"/>
                  </a:lnTo>
                  <a:lnTo>
                    <a:pt x="186" y="133"/>
                  </a:lnTo>
                  <a:lnTo>
                    <a:pt x="181" y="133"/>
                  </a:lnTo>
                  <a:lnTo>
                    <a:pt x="176" y="134"/>
                  </a:lnTo>
                  <a:lnTo>
                    <a:pt x="170" y="134"/>
                  </a:lnTo>
                  <a:lnTo>
                    <a:pt x="166" y="134"/>
                  </a:lnTo>
                  <a:lnTo>
                    <a:pt x="160" y="134"/>
                  </a:lnTo>
                  <a:lnTo>
                    <a:pt x="155" y="134"/>
                  </a:lnTo>
                  <a:lnTo>
                    <a:pt x="149" y="134"/>
                  </a:lnTo>
                  <a:lnTo>
                    <a:pt x="144" y="134"/>
                  </a:lnTo>
                  <a:lnTo>
                    <a:pt x="138" y="134"/>
                  </a:lnTo>
                  <a:lnTo>
                    <a:pt x="132" y="135"/>
                  </a:lnTo>
                  <a:lnTo>
                    <a:pt x="128" y="135"/>
                  </a:lnTo>
                  <a:lnTo>
                    <a:pt x="123" y="135"/>
                  </a:lnTo>
                  <a:lnTo>
                    <a:pt x="116" y="135"/>
                  </a:lnTo>
                  <a:lnTo>
                    <a:pt x="112" y="135"/>
                  </a:lnTo>
                  <a:lnTo>
                    <a:pt x="105" y="135"/>
                  </a:lnTo>
                  <a:lnTo>
                    <a:pt x="100" y="135"/>
                  </a:lnTo>
                  <a:lnTo>
                    <a:pt x="96" y="135"/>
                  </a:lnTo>
                  <a:lnTo>
                    <a:pt x="90" y="135"/>
                  </a:lnTo>
                  <a:lnTo>
                    <a:pt x="84" y="135"/>
                  </a:lnTo>
                  <a:lnTo>
                    <a:pt x="80" y="135"/>
                  </a:lnTo>
                  <a:lnTo>
                    <a:pt x="74" y="135"/>
                  </a:lnTo>
                  <a:lnTo>
                    <a:pt x="70" y="135"/>
                  </a:lnTo>
                  <a:lnTo>
                    <a:pt x="65" y="135"/>
                  </a:lnTo>
                  <a:lnTo>
                    <a:pt x="60" y="135"/>
                  </a:lnTo>
                  <a:lnTo>
                    <a:pt x="56" y="135"/>
                  </a:lnTo>
                  <a:lnTo>
                    <a:pt x="51" y="135"/>
                  </a:lnTo>
                  <a:lnTo>
                    <a:pt x="47" y="135"/>
                  </a:lnTo>
                  <a:lnTo>
                    <a:pt x="44" y="135"/>
                  </a:lnTo>
                  <a:lnTo>
                    <a:pt x="39" y="134"/>
                  </a:lnTo>
                  <a:lnTo>
                    <a:pt x="35" y="134"/>
                  </a:lnTo>
                  <a:lnTo>
                    <a:pt x="31" y="134"/>
                  </a:lnTo>
                  <a:lnTo>
                    <a:pt x="27" y="134"/>
                  </a:lnTo>
                  <a:lnTo>
                    <a:pt x="25" y="133"/>
                  </a:lnTo>
                  <a:lnTo>
                    <a:pt x="20" y="133"/>
                  </a:lnTo>
                  <a:lnTo>
                    <a:pt x="18" y="133"/>
                  </a:lnTo>
                  <a:lnTo>
                    <a:pt x="15" y="133"/>
                  </a:lnTo>
                  <a:lnTo>
                    <a:pt x="13" y="131"/>
                  </a:lnTo>
                  <a:lnTo>
                    <a:pt x="11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4" y="130"/>
                  </a:lnTo>
                  <a:lnTo>
                    <a:pt x="2" y="128"/>
                  </a:lnTo>
                  <a:lnTo>
                    <a:pt x="1" y="127"/>
                  </a:lnTo>
                  <a:lnTo>
                    <a:pt x="0" y="124"/>
                  </a:lnTo>
                  <a:lnTo>
                    <a:pt x="0" y="122"/>
                  </a:lnTo>
                  <a:lnTo>
                    <a:pt x="0" y="120"/>
                  </a:lnTo>
                  <a:lnTo>
                    <a:pt x="0" y="115"/>
                  </a:lnTo>
                  <a:lnTo>
                    <a:pt x="0" y="111"/>
                  </a:lnTo>
                  <a:lnTo>
                    <a:pt x="0" y="108"/>
                  </a:lnTo>
                  <a:lnTo>
                    <a:pt x="2" y="103"/>
                  </a:lnTo>
                  <a:lnTo>
                    <a:pt x="2" y="101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4" y="92"/>
                  </a:lnTo>
                  <a:lnTo>
                    <a:pt x="5" y="90"/>
                  </a:lnTo>
                  <a:lnTo>
                    <a:pt x="5" y="88"/>
                  </a:lnTo>
                  <a:lnTo>
                    <a:pt x="6" y="85"/>
                  </a:lnTo>
                  <a:lnTo>
                    <a:pt x="6" y="82"/>
                  </a:lnTo>
                  <a:lnTo>
                    <a:pt x="7" y="79"/>
                  </a:lnTo>
                  <a:lnTo>
                    <a:pt x="8" y="77"/>
                  </a:lnTo>
                  <a:lnTo>
                    <a:pt x="8" y="74"/>
                  </a:lnTo>
                  <a:lnTo>
                    <a:pt x="9" y="71"/>
                  </a:lnTo>
                  <a:lnTo>
                    <a:pt x="11" y="68"/>
                  </a:lnTo>
                  <a:lnTo>
                    <a:pt x="12" y="65"/>
                  </a:lnTo>
                  <a:lnTo>
                    <a:pt x="13" y="63"/>
                  </a:lnTo>
                  <a:lnTo>
                    <a:pt x="14" y="61"/>
                  </a:lnTo>
                  <a:lnTo>
                    <a:pt x="14" y="57"/>
                  </a:lnTo>
                  <a:lnTo>
                    <a:pt x="15" y="55"/>
                  </a:lnTo>
                  <a:lnTo>
                    <a:pt x="17" y="51"/>
                  </a:lnTo>
                  <a:lnTo>
                    <a:pt x="18" y="49"/>
                  </a:lnTo>
                  <a:lnTo>
                    <a:pt x="18" y="46"/>
                  </a:lnTo>
                  <a:lnTo>
                    <a:pt x="19" y="44"/>
                  </a:lnTo>
                  <a:lnTo>
                    <a:pt x="20" y="40"/>
                  </a:lnTo>
                  <a:lnTo>
                    <a:pt x="21" y="38"/>
                  </a:lnTo>
                  <a:lnTo>
                    <a:pt x="22" y="36"/>
                  </a:lnTo>
                  <a:lnTo>
                    <a:pt x="22" y="33"/>
                  </a:lnTo>
                  <a:lnTo>
                    <a:pt x="25" y="31"/>
                  </a:lnTo>
                  <a:lnTo>
                    <a:pt x="25" y="29"/>
                  </a:lnTo>
                  <a:lnTo>
                    <a:pt x="27" y="25"/>
                  </a:lnTo>
                  <a:lnTo>
                    <a:pt x="28" y="20"/>
                  </a:lnTo>
                  <a:lnTo>
                    <a:pt x="30" y="16"/>
                  </a:lnTo>
                  <a:lnTo>
                    <a:pt x="31" y="12"/>
                  </a:lnTo>
                  <a:lnTo>
                    <a:pt x="33" y="10"/>
                  </a:lnTo>
                  <a:lnTo>
                    <a:pt x="34" y="7"/>
                  </a:lnTo>
                  <a:lnTo>
                    <a:pt x="35" y="4"/>
                  </a:lnTo>
                  <a:lnTo>
                    <a:pt x="37" y="3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Freeform 43"/>
            <p:cNvSpPr/>
            <p:nvPr/>
          </p:nvSpPr>
          <p:spPr bwMode="auto">
            <a:xfrm>
              <a:off x="4914" y="1389"/>
              <a:ext cx="26" cy="29"/>
            </a:xfrm>
            <a:custGeom>
              <a:avLst/>
              <a:gdLst>
                <a:gd name="T0" fmla="*/ 0 w 53"/>
                <a:gd name="T1" fmla="*/ 1 h 58"/>
                <a:gd name="T2" fmla="*/ 0 w 53"/>
                <a:gd name="T3" fmla="*/ 2 h 58"/>
                <a:gd name="T4" fmla="*/ 1 w 53"/>
                <a:gd name="T5" fmla="*/ 2 h 58"/>
                <a:gd name="T6" fmla="*/ 1 w 53"/>
                <a:gd name="T7" fmla="*/ 0 h 58"/>
                <a:gd name="T8" fmla="*/ 0 w 53"/>
                <a:gd name="T9" fmla="*/ 1 h 58"/>
                <a:gd name="T10" fmla="*/ 0 w 53"/>
                <a:gd name="T11" fmla="*/ 1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58"/>
                <a:gd name="T20" fmla="*/ 53 w 53"/>
                <a:gd name="T21" fmla="*/ 58 h 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58">
                  <a:moveTo>
                    <a:pt x="1" y="2"/>
                  </a:moveTo>
                  <a:lnTo>
                    <a:pt x="0" y="58"/>
                  </a:lnTo>
                  <a:lnTo>
                    <a:pt x="53" y="56"/>
                  </a:lnTo>
                  <a:lnTo>
                    <a:pt x="51" y="0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Freeform 44"/>
            <p:cNvSpPr/>
            <p:nvPr/>
          </p:nvSpPr>
          <p:spPr bwMode="auto">
            <a:xfrm>
              <a:off x="5034" y="1340"/>
              <a:ext cx="61" cy="58"/>
            </a:xfrm>
            <a:custGeom>
              <a:avLst/>
              <a:gdLst>
                <a:gd name="T0" fmla="*/ 2 w 122"/>
                <a:gd name="T1" fmla="*/ 4 h 116"/>
                <a:gd name="T2" fmla="*/ 1 w 122"/>
                <a:gd name="T3" fmla="*/ 4 h 116"/>
                <a:gd name="T4" fmla="*/ 1 w 122"/>
                <a:gd name="T5" fmla="*/ 4 h 116"/>
                <a:gd name="T6" fmla="*/ 1 w 122"/>
                <a:gd name="T7" fmla="*/ 4 h 116"/>
                <a:gd name="T8" fmla="*/ 1 w 122"/>
                <a:gd name="T9" fmla="*/ 3 h 116"/>
                <a:gd name="T10" fmla="*/ 1 w 122"/>
                <a:gd name="T11" fmla="*/ 3 h 116"/>
                <a:gd name="T12" fmla="*/ 1 w 122"/>
                <a:gd name="T13" fmla="*/ 3 h 116"/>
                <a:gd name="T14" fmla="*/ 1 w 122"/>
                <a:gd name="T15" fmla="*/ 3 h 116"/>
                <a:gd name="T16" fmla="*/ 1 w 122"/>
                <a:gd name="T17" fmla="*/ 3 h 116"/>
                <a:gd name="T18" fmla="*/ 0 w 122"/>
                <a:gd name="T19" fmla="*/ 2 h 116"/>
                <a:gd name="T20" fmla="*/ 0 w 122"/>
                <a:gd name="T21" fmla="*/ 2 h 116"/>
                <a:gd name="T22" fmla="*/ 1 w 122"/>
                <a:gd name="T23" fmla="*/ 2 h 116"/>
                <a:gd name="T24" fmla="*/ 1 w 122"/>
                <a:gd name="T25" fmla="*/ 2 h 116"/>
                <a:gd name="T26" fmla="*/ 1 w 122"/>
                <a:gd name="T27" fmla="*/ 2 h 116"/>
                <a:gd name="T28" fmla="*/ 1 w 122"/>
                <a:gd name="T29" fmla="*/ 1 h 116"/>
                <a:gd name="T30" fmla="*/ 1 w 122"/>
                <a:gd name="T31" fmla="*/ 1 h 116"/>
                <a:gd name="T32" fmla="*/ 1 w 122"/>
                <a:gd name="T33" fmla="*/ 1 h 116"/>
                <a:gd name="T34" fmla="*/ 1 w 122"/>
                <a:gd name="T35" fmla="*/ 1 h 116"/>
                <a:gd name="T36" fmla="*/ 2 w 122"/>
                <a:gd name="T37" fmla="*/ 1 h 116"/>
                <a:gd name="T38" fmla="*/ 2 w 122"/>
                <a:gd name="T39" fmla="*/ 1 h 116"/>
                <a:gd name="T40" fmla="*/ 2 w 122"/>
                <a:gd name="T41" fmla="*/ 0 h 116"/>
                <a:gd name="T42" fmla="*/ 2 w 122"/>
                <a:gd name="T43" fmla="*/ 0 h 116"/>
                <a:gd name="T44" fmla="*/ 3 w 122"/>
                <a:gd name="T45" fmla="*/ 0 h 116"/>
                <a:gd name="T46" fmla="*/ 3 w 122"/>
                <a:gd name="T47" fmla="*/ 1 h 116"/>
                <a:gd name="T48" fmla="*/ 3 w 122"/>
                <a:gd name="T49" fmla="*/ 1 h 116"/>
                <a:gd name="T50" fmla="*/ 3 w 122"/>
                <a:gd name="T51" fmla="*/ 1 h 116"/>
                <a:gd name="T52" fmla="*/ 3 w 122"/>
                <a:gd name="T53" fmla="*/ 1 h 116"/>
                <a:gd name="T54" fmla="*/ 4 w 122"/>
                <a:gd name="T55" fmla="*/ 1 h 116"/>
                <a:gd name="T56" fmla="*/ 4 w 122"/>
                <a:gd name="T57" fmla="*/ 1 h 116"/>
                <a:gd name="T58" fmla="*/ 4 w 122"/>
                <a:gd name="T59" fmla="*/ 1 h 116"/>
                <a:gd name="T60" fmla="*/ 4 w 122"/>
                <a:gd name="T61" fmla="*/ 1 h 116"/>
                <a:gd name="T62" fmla="*/ 4 w 122"/>
                <a:gd name="T63" fmla="*/ 1 h 116"/>
                <a:gd name="T64" fmla="*/ 4 w 122"/>
                <a:gd name="T65" fmla="*/ 2 h 116"/>
                <a:gd name="T66" fmla="*/ 4 w 122"/>
                <a:gd name="T67" fmla="*/ 2 h 116"/>
                <a:gd name="T68" fmla="*/ 4 w 122"/>
                <a:gd name="T69" fmla="*/ 2 h 116"/>
                <a:gd name="T70" fmla="*/ 4 w 122"/>
                <a:gd name="T71" fmla="*/ 2 h 116"/>
                <a:gd name="T72" fmla="*/ 4 w 122"/>
                <a:gd name="T73" fmla="*/ 2 h 116"/>
                <a:gd name="T74" fmla="*/ 4 w 122"/>
                <a:gd name="T75" fmla="*/ 2 h 116"/>
                <a:gd name="T76" fmla="*/ 4 w 122"/>
                <a:gd name="T77" fmla="*/ 3 h 116"/>
                <a:gd name="T78" fmla="*/ 4 w 122"/>
                <a:gd name="T79" fmla="*/ 3 h 116"/>
                <a:gd name="T80" fmla="*/ 4 w 122"/>
                <a:gd name="T81" fmla="*/ 3 h 116"/>
                <a:gd name="T82" fmla="*/ 4 w 122"/>
                <a:gd name="T83" fmla="*/ 3 h 116"/>
                <a:gd name="T84" fmla="*/ 4 w 122"/>
                <a:gd name="T85" fmla="*/ 3 h 116"/>
                <a:gd name="T86" fmla="*/ 4 w 122"/>
                <a:gd name="T87" fmla="*/ 3 h 116"/>
                <a:gd name="T88" fmla="*/ 4 w 122"/>
                <a:gd name="T89" fmla="*/ 4 h 116"/>
                <a:gd name="T90" fmla="*/ 3 w 122"/>
                <a:gd name="T91" fmla="*/ 4 h 116"/>
                <a:gd name="T92" fmla="*/ 3 w 122"/>
                <a:gd name="T93" fmla="*/ 4 h 116"/>
                <a:gd name="T94" fmla="*/ 3 w 122"/>
                <a:gd name="T95" fmla="*/ 4 h 116"/>
                <a:gd name="T96" fmla="*/ 3 w 122"/>
                <a:gd name="T97" fmla="*/ 4 h 116"/>
                <a:gd name="T98" fmla="*/ 3 w 122"/>
                <a:gd name="T99" fmla="*/ 4 h 116"/>
                <a:gd name="T100" fmla="*/ 3 w 122"/>
                <a:gd name="T101" fmla="*/ 4 h 116"/>
                <a:gd name="T102" fmla="*/ 3 w 122"/>
                <a:gd name="T103" fmla="*/ 4 h 116"/>
                <a:gd name="T104" fmla="*/ 2 w 122"/>
                <a:gd name="T105" fmla="*/ 4 h 116"/>
                <a:gd name="T106" fmla="*/ 2 w 122"/>
                <a:gd name="T107" fmla="*/ 4 h 116"/>
                <a:gd name="T108" fmla="*/ 2 w 122"/>
                <a:gd name="T109" fmla="*/ 4 h 116"/>
                <a:gd name="T110" fmla="*/ 2 w 122"/>
                <a:gd name="T111" fmla="*/ 4 h 116"/>
                <a:gd name="T112" fmla="*/ 2 w 122"/>
                <a:gd name="T113" fmla="*/ 4 h 1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22"/>
                <a:gd name="T172" fmla="*/ 0 h 116"/>
                <a:gd name="T173" fmla="*/ 122 w 122"/>
                <a:gd name="T174" fmla="*/ 116 h 1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22" h="116">
                  <a:moveTo>
                    <a:pt x="43" y="116"/>
                  </a:moveTo>
                  <a:lnTo>
                    <a:pt x="38" y="113"/>
                  </a:lnTo>
                  <a:lnTo>
                    <a:pt x="35" y="110"/>
                  </a:lnTo>
                  <a:lnTo>
                    <a:pt x="29" y="108"/>
                  </a:lnTo>
                  <a:lnTo>
                    <a:pt x="25" y="104"/>
                  </a:lnTo>
                  <a:lnTo>
                    <a:pt x="22" y="102"/>
                  </a:lnTo>
                  <a:lnTo>
                    <a:pt x="19" y="100"/>
                  </a:lnTo>
                  <a:lnTo>
                    <a:pt x="18" y="97"/>
                  </a:lnTo>
                  <a:lnTo>
                    <a:pt x="16" y="95"/>
                  </a:lnTo>
                  <a:lnTo>
                    <a:pt x="13" y="93"/>
                  </a:lnTo>
                  <a:lnTo>
                    <a:pt x="11" y="90"/>
                  </a:lnTo>
                  <a:lnTo>
                    <a:pt x="10" y="88"/>
                  </a:lnTo>
                  <a:lnTo>
                    <a:pt x="8" y="85"/>
                  </a:lnTo>
                  <a:lnTo>
                    <a:pt x="6" y="83"/>
                  </a:lnTo>
                  <a:lnTo>
                    <a:pt x="5" y="80"/>
                  </a:lnTo>
                  <a:lnTo>
                    <a:pt x="4" y="76"/>
                  </a:lnTo>
                  <a:lnTo>
                    <a:pt x="3" y="74"/>
                  </a:lnTo>
                  <a:lnTo>
                    <a:pt x="2" y="70"/>
                  </a:lnTo>
                  <a:lnTo>
                    <a:pt x="0" y="68"/>
                  </a:lnTo>
                  <a:lnTo>
                    <a:pt x="0" y="64"/>
                  </a:lnTo>
                  <a:lnTo>
                    <a:pt x="0" y="61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3" y="49"/>
                  </a:lnTo>
                  <a:lnTo>
                    <a:pt x="3" y="45"/>
                  </a:lnTo>
                  <a:lnTo>
                    <a:pt x="4" y="42"/>
                  </a:lnTo>
                  <a:lnTo>
                    <a:pt x="6" y="38"/>
                  </a:lnTo>
                  <a:lnTo>
                    <a:pt x="8" y="33"/>
                  </a:lnTo>
                  <a:lnTo>
                    <a:pt x="11" y="30"/>
                  </a:lnTo>
                  <a:lnTo>
                    <a:pt x="13" y="25"/>
                  </a:lnTo>
                  <a:lnTo>
                    <a:pt x="16" y="22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4" y="11"/>
                  </a:lnTo>
                  <a:lnTo>
                    <a:pt x="28" y="10"/>
                  </a:lnTo>
                  <a:lnTo>
                    <a:pt x="31" y="7"/>
                  </a:lnTo>
                  <a:lnTo>
                    <a:pt x="36" y="5"/>
                  </a:lnTo>
                  <a:lnTo>
                    <a:pt x="38" y="4"/>
                  </a:lnTo>
                  <a:lnTo>
                    <a:pt x="42" y="3"/>
                  </a:lnTo>
                  <a:lnTo>
                    <a:pt x="45" y="1"/>
                  </a:lnTo>
                  <a:lnTo>
                    <a:pt x="49" y="0"/>
                  </a:lnTo>
                  <a:lnTo>
                    <a:pt x="52" y="0"/>
                  </a:lnTo>
                  <a:lnTo>
                    <a:pt x="57" y="0"/>
                  </a:lnTo>
                  <a:lnTo>
                    <a:pt x="60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1" y="0"/>
                  </a:lnTo>
                  <a:lnTo>
                    <a:pt x="74" y="1"/>
                  </a:lnTo>
                  <a:lnTo>
                    <a:pt x="78" y="3"/>
                  </a:lnTo>
                  <a:lnTo>
                    <a:pt x="81" y="3"/>
                  </a:lnTo>
                  <a:lnTo>
                    <a:pt x="84" y="4"/>
                  </a:lnTo>
                  <a:lnTo>
                    <a:pt x="87" y="6"/>
                  </a:lnTo>
                  <a:lnTo>
                    <a:pt x="90" y="9"/>
                  </a:lnTo>
                  <a:lnTo>
                    <a:pt x="93" y="10"/>
                  </a:lnTo>
                  <a:lnTo>
                    <a:pt x="96" y="11"/>
                  </a:lnTo>
                  <a:lnTo>
                    <a:pt x="100" y="12"/>
                  </a:lnTo>
                  <a:lnTo>
                    <a:pt x="102" y="16"/>
                  </a:lnTo>
                  <a:lnTo>
                    <a:pt x="104" y="17"/>
                  </a:lnTo>
                  <a:lnTo>
                    <a:pt x="106" y="19"/>
                  </a:lnTo>
                  <a:lnTo>
                    <a:pt x="108" y="22"/>
                  </a:lnTo>
                  <a:lnTo>
                    <a:pt x="110" y="24"/>
                  </a:lnTo>
                  <a:lnTo>
                    <a:pt x="112" y="26"/>
                  </a:lnTo>
                  <a:lnTo>
                    <a:pt x="113" y="29"/>
                  </a:lnTo>
                  <a:lnTo>
                    <a:pt x="114" y="31"/>
                  </a:lnTo>
                  <a:lnTo>
                    <a:pt x="115" y="33"/>
                  </a:lnTo>
                  <a:lnTo>
                    <a:pt x="116" y="36"/>
                  </a:lnTo>
                  <a:lnTo>
                    <a:pt x="117" y="39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2"/>
                  </a:lnTo>
                  <a:lnTo>
                    <a:pt x="122" y="55"/>
                  </a:lnTo>
                  <a:lnTo>
                    <a:pt x="122" y="57"/>
                  </a:lnTo>
                  <a:lnTo>
                    <a:pt x="122" y="59"/>
                  </a:lnTo>
                  <a:lnTo>
                    <a:pt x="122" y="63"/>
                  </a:lnTo>
                  <a:lnTo>
                    <a:pt x="122" y="65"/>
                  </a:lnTo>
                  <a:lnTo>
                    <a:pt x="122" y="68"/>
                  </a:lnTo>
                  <a:lnTo>
                    <a:pt x="121" y="70"/>
                  </a:lnTo>
                  <a:lnTo>
                    <a:pt x="121" y="72"/>
                  </a:lnTo>
                  <a:lnTo>
                    <a:pt x="121" y="75"/>
                  </a:lnTo>
                  <a:lnTo>
                    <a:pt x="120" y="77"/>
                  </a:lnTo>
                  <a:lnTo>
                    <a:pt x="119" y="80"/>
                  </a:lnTo>
                  <a:lnTo>
                    <a:pt x="117" y="81"/>
                  </a:lnTo>
                  <a:lnTo>
                    <a:pt x="117" y="84"/>
                  </a:lnTo>
                  <a:lnTo>
                    <a:pt x="115" y="88"/>
                  </a:lnTo>
                  <a:lnTo>
                    <a:pt x="113" y="93"/>
                  </a:lnTo>
                  <a:lnTo>
                    <a:pt x="109" y="96"/>
                  </a:lnTo>
                  <a:lnTo>
                    <a:pt x="107" y="100"/>
                  </a:lnTo>
                  <a:lnTo>
                    <a:pt x="102" y="102"/>
                  </a:lnTo>
                  <a:lnTo>
                    <a:pt x="99" y="106"/>
                  </a:lnTo>
                  <a:lnTo>
                    <a:pt x="96" y="107"/>
                  </a:lnTo>
                  <a:lnTo>
                    <a:pt x="94" y="108"/>
                  </a:lnTo>
                  <a:lnTo>
                    <a:pt x="91" y="108"/>
                  </a:lnTo>
                  <a:lnTo>
                    <a:pt x="89" y="109"/>
                  </a:lnTo>
                  <a:lnTo>
                    <a:pt x="86" y="109"/>
                  </a:lnTo>
                  <a:lnTo>
                    <a:pt x="83" y="110"/>
                  </a:lnTo>
                  <a:lnTo>
                    <a:pt x="81" y="111"/>
                  </a:lnTo>
                  <a:lnTo>
                    <a:pt x="78" y="111"/>
                  </a:lnTo>
                  <a:lnTo>
                    <a:pt x="75" y="113"/>
                  </a:lnTo>
                  <a:lnTo>
                    <a:pt x="73" y="113"/>
                  </a:lnTo>
                  <a:lnTo>
                    <a:pt x="70" y="113"/>
                  </a:lnTo>
                  <a:lnTo>
                    <a:pt x="68" y="115"/>
                  </a:lnTo>
                  <a:lnTo>
                    <a:pt x="65" y="115"/>
                  </a:lnTo>
                  <a:lnTo>
                    <a:pt x="63" y="115"/>
                  </a:lnTo>
                  <a:lnTo>
                    <a:pt x="60" y="115"/>
                  </a:lnTo>
                  <a:lnTo>
                    <a:pt x="58" y="116"/>
                  </a:lnTo>
                  <a:lnTo>
                    <a:pt x="54" y="116"/>
                  </a:lnTo>
                  <a:lnTo>
                    <a:pt x="50" y="116"/>
                  </a:lnTo>
                  <a:lnTo>
                    <a:pt x="48" y="116"/>
                  </a:lnTo>
                  <a:lnTo>
                    <a:pt x="45" y="116"/>
                  </a:lnTo>
                  <a:lnTo>
                    <a:pt x="43" y="116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Freeform 45"/>
            <p:cNvSpPr/>
            <p:nvPr/>
          </p:nvSpPr>
          <p:spPr bwMode="auto">
            <a:xfrm>
              <a:off x="5053" y="1390"/>
              <a:ext cx="26" cy="29"/>
            </a:xfrm>
            <a:custGeom>
              <a:avLst/>
              <a:gdLst>
                <a:gd name="T0" fmla="*/ 0 w 53"/>
                <a:gd name="T1" fmla="*/ 1 h 58"/>
                <a:gd name="T2" fmla="*/ 0 w 53"/>
                <a:gd name="T3" fmla="*/ 2 h 58"/>
                <a:gd name="T4" fmla="*/ 1 w 53"/>
                <a:gd name="T5" fmla="*/ 2 h 58"/>
                <a:gd name="T6" fmla="*/ 1 w 53"/>
                <a:gd name="T7" fmla="*/ 0 h 58"/>
                <a:gd name="T8" fmla="*/ 0 w 53"/>
                <a:gd name="T9" fmla="*/ 1 h 58"/>
                <a:gd name="T10" fmla="*/ 0 w 53"/>
                <a:gd name="T11" fmla="*/ 1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58"/>
                <a:gd name="T20" fmla="*/ 53 w 53"/>
                <a:gd name="T21" fmla="*/ 58 h 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58">
                  <a:moveTo>
                    <a:pt x="1" y="1"/>
                  </a:moveTo>
                  <a:lnTo>
                    <a:pt x="0" y="58"/>
                  </a:lnTo>
                  <a:lnTo>
                    <a:pt x="53" y="55"/>
                  </a:lnTo>
                  <a:lnTo>
                    <a:pt x="52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Freeform 46"/>
            <p:cNvSpPr/>
            <p:nvPr/>
          </p:nvSpPr>
          <p:spPr bwMode="auto">
            <a:xfrm>
              <a:off x="4896" y="1344"/>
              <a:ext cx="60" cy="54"/>
            </a:xfrm>
            <a:custGeom>
              <a:avLst/>
              <a:gdLst>
                <a:gd name="T0" fmla="*/ 2 w 119"/>
                <a:gd name="T1" fmla="*/ 3 h 109"/>
                <a:gd name="T2" fmla="*/ 1 w 119"/>
                <a:gd name="T3" fmla="*/ 3 h 109"/>
                <a:gd name="T4" fmla="*/ 1 w 119"/>
                <a:gd name="T5" fmla="*/ 3 h 109"/>
                <a:gd name="T6" fmla="*/ 1 w 119"/>
                <a:gd name="T7" fmla="*/ 2 h 109"/>
                <a:gd name="T8" fmla="*/ 1 w 119"/>
                <a:gd name="T9" fmla="*/ 2 h 109"/>
                <a:gd name="T10" fmla="*/ 1 w 119"/>
                <a:gd name="T11" fmla="*/ 2 h 109"/>
                <a:gd name="T12" fmla="*/ 1 w 119"/>
                <a:gd name="T13" fmla="*/ 2 h 109"/>
                <a:gd name="T14" fmla="*/ 1 w 119"/>
                <a:gd name="T15" fmla="*/ 2 h 109"/>
                <a:gd name="T16" fmla="*/ 1 w 119"/>
                <a:gd name="T17" fmla="*/ 1 h 109"/>
                <a:gd name="T18" fmla="*/ 0 w 119"/>
                <a:gd name="T19" fmla="*/ 1 h 109"/>
                <a:gd name="T20" fmla="*/ 0 w 119"/>
                <a:gd name="T21" fmla="*/ 1 h 109"/>
                <a:gd name="T22" fmla="*/ 1 w 119"/>
                <a:gd name="T23" fmla="*/ 1 h 109"/>
                <a:gd name="T24" fmla="*/ 1 w 119"/>
                <a:gd name="T25" fmla="*/ 1 h 109"/>
                <a:gd name="T26" fmla="*/ 1 w 119"/>
                <a:gd name="T27" fmla="*/ 0 h 109"/>
                <a:gd name="T28" fmla="*/ 1 w 119"/>
                <a:gd name="T29" fmla="*/ 0 h 109"/>
                <a:gd name="T30" fmla="*/ 1 w 119"/>
                <a:gd name="T31" fmla="*/ 0 h 109"/>
                <a:gd name="T32" fmla="*/ 1 w 119"/>
                <a:gd name="T33" fmla="*/ 0 h 109"/>
                <a:gd name="T34" fmla="*/ 1 w 119"/>
                <a:gd name="T35" fmla="*/ 0 h 109"/>
                <a:gd name="T36" fmla="*/ 2 w 119"/>
                <a:gd name="T37" fmla="*/ 0 h 109"/>
                <a:gd name="T38" fmla="*/ 2 w 119"/>
                <a:gd name="T39" fmla="*/ 0 h 109"/>
                <a:gd name="T40" fmla="*/ 2 w 119"/>
                <a:gd name="T41" fmla="*/ 0 h 109"/>
                <a:gd name="T42" fmla="*/ 2 w 119"/>
                <a:gd name="T43" fmla="*/ 0 h 109"/>
                <a:gd name="T44" fmla="*/ 3 w 119"/>
                <a:gd name="T45" fmla="*/ 0 h 109"/>
                <a:gd name="T46" fmla="*/ 3 w 119"/>
                <a:gd name="T47" fmla="*/ 0 h 109"/>
                <a:gd name="T48" fmla="*/ 3 w 119"/>
                <a:gd name="T49" fmla="*/ 0 h 109"/>
                <a:gd name="T50" fmla="*/ 3 w 119"/>
                <a:gd name="T51" fmla="*/ 0 h 109"/>
                <a:gd name="T52" fmla="*/ 4 w 119"/>
                <a:gd name="T53" fmla="*/ 0 h 109"/>
                <a:gd name="T54" fmla="*/ 4 w 119"/>
                <a:gd name="T55" fmla="*/ 0 h 109"/>
                <a:gd name="T56" fmla="*/ 4 w 119"/>
                <a:gd name="T57" fmla="*/ 0 h 109"/>
                <a:gd name="T58" fmla="*/ 4 w 119"/>
                <a:gd name="T59" fmla="*/ 0 h 109"/>
                <a:gd name="T60" fmla="*/ 4 w 119"/>
                <a:gd name="T61" fmla="*/ 1 h 109"/>
                <a:gd name="T62" fmla="*/ 4 w 119"/>
                <a:gd name="T63" fmla="*/ 1 h 109"/>
                <a:gd name="T64" fmla="*/ 4 w 119"/>
                <a:gd name="T65" fmla="*/ 1 h 109"/>
                <a:gd name="T66" fmla="*/ 4 w 119"/>
                <a:gd name="T67" fmla="*/ 1 h 109"/>
                <a:gd name="T68" fmla="*/ 4 w 119"/>
                <a:gd name="T69" fmla="*/ 1 h 109"/>
                <a:gd name="T70" fmla="*/ 4 w 119"/>
                <a:gd name="T71" fmla="*/ 1 h 109"/>
                <a:gd name="T72" fmla="*/ 4 w 119"/>
                <a:gd name="T73" fmla="*/ 2 h 109"/>
                <a:gd name="T74" fmla="*/ 4 w 119"/>
                <a:gd name="T75" fmla="*/ 2 h 109"/>
                <a:gd name="T76" fmla="*/ 4 w 119"/>
                <a:gd name="T77" fmla="*/ 2 h 109"/>
                <a:gd name="T78" fmla="*/ 4 w 119"/>
                <a:gd name="T79" fmla="*/ 2 h 109"/>
                <a:gd name="T80" fmla="*/ 4 w 119"/>
                <a:gd name="T81" fmla="*/ 2 h 109"/>
                <a:gd name="T82" fmla="*/ 4 w 119"/>
                <a:gd name="T83" fmla="*/ 3 h 109"/>
                <a:gd name="T84" fmla="*/ 3 w 119"/>
                <a:gd name="T85" fmla="*/ 3 h 109"/>
                <a:gd name="T86" fmla="*/ 3 w 119"/>
                <a:gd name="T87" fmla="*/ 3 h 109"/>
                <a:gd name="T88" fmla="*/ 3 w 119"/>
                <a:gd name="T89" fmla="*/ 3 h 109"/>
                <a:gd name="T90" fmla="*/ 3 w 119"/>
                <a:gd name="T91" fmla="*/ 3 h 109"/>
                <a:gd name="T92" fmla="*/ 3 w 119"/>
                <a:gd name="T93" fmla="*/ 3 h 109"/>
                <a:gd name="T94" fmla="*/ 2 w 119"/>
                <a:gd name="T95" fmla="*/ 3 h 109"/>
                <a:gd name="T96" fmla="*/ 2 w 119"/>
                <a:gd name="T97" fmla="*/ 3 h 109"/>
                <a:gd name="T98" fmla="*/ 2 w 119"/>
                <a:gd name="T99" fmla="*/ 3 h 109"/>
                <a:gd name="T100" fmla="*/ 2 w 119"/>
                <a:gd name="T101" fmla="*/ 3 h 109"/>
                <a:gd name="T102" fmla="*/ 2 w 119"/>
                <a:gd name="T103" fmla="*/ 3 h 109"/>
                <a:gd name="T104" fmla="*/ 2 w 119"/>
                <a:gd name="T105" fmla="*/ 3 h 10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19"/>
                <a:gd name="T160" fmla="*/ 0 h 109"/>
                <a:gd name="T161" fmla="*/ 119 w 119"/>
                <a:gd name="T162" fmla="*/ 109 h 10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19" h="109">
                  <a:moveTo>
                    <a:pt x="41" y="109"/>
                  </a:moveTo>
                  <a:lnTo>
                    <a:pt x="39" y="108"/>
                  </a:lnTo>
                  <a:lnTo>
                    <a:pt x="35" y="106"/>
                  </a:lnTo>
                  <a:lnTo>
                    <a:pt x="32" y="103"/>
                  </a:lnTo>
                  <a:lnTo>
                    <a:pt x="27" y="101"/>
                  </a:lnTo>
                  <a:lnTo>
                    <a:pt x="22" y="99"/>
                  </a:lnTo>
                  <a:lnTo>
                    <a:pt x="19" y="94"/>
                  </a:lnTo>
                  <a:lnTo>
                    <a:pt x="15" y="91"/>
                  </a:lnTo>
                  <a:lnTo>
                    <a:pt x="14" y="89"/>
                  </a:lnTo>
                  <a:lnTo>
                    <a:pt x="11" y="87"/>
                  </a:lnTo>
                  <a:lnTo>
                    <a:pt x="10" y="83"/>
                  </a:lnTo>
                  <a:lnTo>
                    <a:pt x="8" y="81"/>
                  </a:lnTo>
                  <a:lnTo>
                    <a:pt x="7" y="78"/>
                  </a:lnTo>
                  <a:lnTo>
                    <a:pt x="6" y="74"/>
                  </a:lnTo>
                  <a:lnTo>
                    <a:pt x="4" y="71"/>
                  </a:lnTo>
                  <a:lnTo>
                    <a:pt x="2" y="69"/>
                  </a:lnTo>
                  <a:lnTo>
                    <a:pt x="2" y="65"/>
                  </a:lnTo>
                  <a:lnTo>
                    <a:pt x="1" y="62"/>
                  </a:lnTo>
                  <a:lnTo>
                    <a:pt x="1" y="58"/>
                  </a:lnTo>
                  <a:lnTo>
                    <a:pt x="0" y="55"/>
                  </a:lnTo>
                  <a:lnTo>
                    <a:pt x="0" y="51"/>
                  </a:lnTo>
                  <a:lnTo>
                    <a:pt x="0" y="48"/>
                  </a:lnTo>
                  <a:lnTo>
                    <a:pt x="1" y="45"/>
                  </a:lnTo>
                  <a:lnTo>
                    <a:pt x="2" y="41"/>
                  </a:lnTo>
                  <a:lnTo>
                    <a:pt x="2" y="37"/>
                  </a:lnTo>
                  <a:lnTo>
                    <a:pt x="4" y="33"/>
                  </a:lnTo>
                  <a:lnTo>
                    <a:pt x="7" y="30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4" y="18"/>
                  </a:lnTo>
                  <a:lnTo>
                    <a:pt x="16" y="16"/>
                  </a:lnTo>
                  <a:lnTo>
                    <a:pt x="19" y="12"/>
                  </a:lnTo>
                  <a:lnTo>
                    <a:pt x="22" y="11"/>
                  </a:lnTo>
                  <a:lnTo>
                    <a:pt x="25" y="9"/>
                  </a:lnTo>
                  <a:lnTo>
                    <a:pt x="29" y="7"/>
                  </a:lnTo>
                  <a:lnTo>
                    <a:pt x="32" y="4"/>
                  </a:lnTo>
                  <a:lnTo>
                    <a:pt x="35" y="4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7" y="2"/>
                  </a:lnTo>
                  <a:lnTo>
                    <a:pt x="52" y="0"/>
                  </a:lnTo>
                  <a:lnTo>
                    <a:pt x="55" y="0"/>
                  </a:lnTo>
                  <a:lnTo>
                    <a:pt x="59" y="0"/>
                  </a:lnTo>
                  <a:lnTo>
                    <a:pt x="62" y="0"/>
                  </a:lnTo>
                  <a:lnTo>
                    <a:pt x="67" y="0"/>
                  </a:lnTo>
                  <a:lnTo>
                    <a:pt x="69" y="2"/>
                  </a:lnTo>
                  <a:lnTo>
                    <a:pt x="74" y="2"/>
                  </a:lnTo>
                  <a:lnTo>
                    <a:pt x="78" y="3"/>
                  </a:lnTo>
                  <a:lnTo>
                    <a:pt x="81" y="4"/>
                  </a:lnTo>
                  <a:lnTo>
                    <a:pt x="85" y="4"/>
                  </a:lnTo>
                  <a:lnTo>
                    <a:pt x="88" y="5"/>
                  </a:lnTo>
                  <a:lnTo>
                    <a:pt x="92" y="7"/>
                  </a:lnTo>
                  <a:lnTo>
                    <a:pt x="94" y="9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3" y="15"/>
                  </a:lnTo>
                  <a:lnTo>
                    <a:pt x="105" y="17"/>
                  </a:lnTo>
                  <a:lnTo>
                    <a:pt x="107" y="18"/>
                  </a:lnTo>
                  <a:lnTo>
                    <a:pt x="110" y="22"/>
                  </a:lnTo>
                  <a:lnTo>
                    <a:pt x="112" y="25"/>
                  </a:lnTo>
                  <a:lnTo>
                    <a:pt x="116" y="31"/>
                  </a:lnTo>
                  <a:lnTo>
                    <a:pt x="116" y="33"/>
                  </a:lnTo>
                  <a:lnTo>
                    <a:pt x="117" y="36"/>
                  </a:lnTo>
                  <a:lnTo>
                    <a:pt x="117" y="38"/>
                  </a:lnTo>
                  <a:lnTo>
                    <a:pt x="118" y="42"/>
                  </a:lnTo>
                  <a:lnTo>
                    <a:pt x="118" y="45"/>
                  </a:lnTo>
                  <a:lnTo>
                    <a:pt x="118" y="47"/>
                  </a:lnTo>
                  <a:lnTo>
                    <a:pt x="118" y="49"/>
                  </a:lnTo>
                  <a:lnTo>
                    <a:pt x="119" y="52"/>
                  </a:lnTo>
                  <a:lnTo>
                    <a:pt x="118" y="55"/>
                  </a:lnTo>
                  <a:lnTo>
                    <a:pt x="118" y="57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8" y="65"/>
                  </a:lnTo>
                  <a:lnTo>
                    <a:pt x="117" y="68"/>
                  </a:lnTo>
                  <a:lnTo>
                    <a:pt x="117" y="70"/>
                  </a:lnTo>
                  <a:lnTo>
                    <a:pt x="116" y="73"/>
                  </a:lnTo>
                  <a:lnTo>
                    <a:pt x="114" y="77"/>
                  </a:lnTo>
                  <a:lnTo>
                    <a:pt x="112" y="81"/>
                  </a:lnTo>
                  <a:lnTo>
                    <a:pt x="110" y="86"/>
                  </a:lnTo>
                  <a:lnTo>
                    <a:pt x="108" y="89"/>
                  </a:lnTo>
                  <a:lnTo>
                    <a:pt x="105" y="91"/>
                  </a:lnTo>
                  <a:lnTo>
                    <a:pt x="103" y="95"/>
                  </a:lnTo>
                  <a:lnTo>
                    <a:pt x="99" y="96"/>
                  </a:lnTo>
                  <a:lnTo>
                    <a:pt x="95" y="99"/>
                  </a:lnTo>
                  <a:lnTo>
                    <a:pt x="91" y="101"/>
                  </a:lnTo>
                  <a:lnTo>
                    <a:pt x="87" y="102"/>
                  </a:lnTo>
                  <a:lnTo>
                    <a:pt x="85" y="102"/>
                  </a:lnTo>
                  <a:lnTo>
                    <a:pt x="81" y="102"/>
                  </a:lnTo>
                  <a:lnTo>
                    <a:pt x="79" y="103"/>
                  </a:lnTo>
                  <a:lnTo>
                    <a:pt x="77" y="103"/>
                  </a:lnTo>
                  <a:lnTo>
                    <a:pt x="74" y="104"/>
                  </a:lnTo>
                  <a:lnTo>
                    <a:pt x="71" y="104"/>
                  </a:lnTo>
                  <a:lnTo>
                    <a:pt x="68" y="104"/>
                  </a:lnTo>
                  <a:lnTo>
                    <a:pt x="67" y="106"/>
                  </a:lnTo>
                  <a:lnTo>
                    <a:pt x="64" y="106"/>
                  </a:lnTo>
                  <a:lnTo>
                    <a:pt x="61" y="106"/>
                  </a:lnTo>
                  <a:lnTo>
                    <a:pt x="59" y="106"/>
                  </a:lnTo>
                  <a:lnTo>
                    <a:pt x="56" y="108"/>
                  </a:lnTo>
                  <a:lnTo>
                    <a:pt x="53" y="108"/>
                  </a:lnTo>
                  <a:lnTo>
                    <a:pt x="49" y="109"/>
                  </a:lnTo>
                  <a:lnTo>
                    <a:pt x="46" y="109"/>
                  </a:lnTo>
                  <a:lnTo>
                    <a:pt x="43" y="109"/>
                  </a:lnTo>
                  <a:lnTo>
                    <a:pt x="41" y="109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Freeform 47"/>
            <p:cNvSpPr/>
            <p:nvPr/>
          </p:nvSpPr>
          <p:spPr bwMode="auto">
            <a:xfrm>
              <a:off x="5112" y="1425"/>
              <a:ext cx="34" cy="27"/>
            </a:xfrm>
            <a:custGeom>
              <a:avLst/>
              <a:gdLst>
                <a:gd name="T0" fmla="*/ 0 w 69"/>
                <a:gd name="T1" fmla="*/ 0 h 56"/>
                <a:gd name="T2" fmla="*/ 0 w 69"/>
                <a:gd name="T3" fmla="*/ 0 h 56"/>
                <a:gd name="T4" fmla="*/ 0 w 69"/>
                <a:gd name="T5" fmla="*/ 0 h 56"/>
                <a:gd name="T6" fmla="*/ 0 w 69"/>
                <a:gd name="T7" fmla="*/ 0 h 56"/>
                <a:gd name="T8" fmla="*/ 0 w 69"/>
                <a:gd name="T9" fmla="*/ 0 h 56"/>
                <a:gd name="T10" fmla="*/ 0 w 69"/>
                <a:gd name="T11" fmla="*/ 0 h 56"/>
                <a:gd name="T12" fmla="*/ 0 w 69"/>
                <a:gd name="T13" fmla="*/ 0 h 56"/>
                <a:gd name="T14" fmla="*/ 0 w 69"/>
                <a:gd name="T15" fmla="*/ 0 h 56"/>
                <a:gd name="T16" fmla="*/ 0 w 69"/>
                <a:gd name="T17" fmla="*/ 0 h 56"/>
                <a:gd name="T18" fmla="*/ 0 w 69"/>
                <a:gd name="T19" fmla="*/ 0 h 56"/>
                <a:gd name="T20" fmla="*/ 0 w 69"/>
                <a:gd name="T21" fmla="*/ 0 h 56"/>
                <a:gd name="T22" fmla="*/ 0 w 69"/>
                <a:gd name="T23" fmla="*/ 1 h 56"/>
                <a:gd name="T24" fmla="*/ 0 w 69"/>
                <a:gd name="T25" fmla="*/ 1 h 56"/>
                <a:gd name="T26" fmla="*/ 0 w 69"/>
                <a:gd name="T27" fmla="*/ 1 h 56"/>
                <a:gd name="T28" fmla="*/ 0 w 69"/>
                <a:gd name="T29" fmla="*/ 1 h 56"/>
                <a:gd name="T30" fmla="*/ 0 w 69"/>
                <a:gd name="T31" fmla="*/ 1 h 56"/>
                <a:gd name="T32" fmla="*/ 0 w 69"/>
                <a:gd name="T33" fmla="*/ 1 h 56"/>
                <a:gd name="T34" fmla="*/ 0 w 69"/>
                <a:gd name="T35" fmla="*/ 1 h 56"/>
                <a:gd name="T36" fmla="*/ 0 w 69"/>
                <a:gd name="T37" fmla="*/ 1 h 56"/>
                <a:gd name="T38" fmla="*/ 1 w 69"/>
                <a:gd name="T39" fmla="*/ 1 h 56"/>
                <a:gd name="T40" fmla="*/ 2 w 69"/>
                <a:gd name="T41" fmla="*/ 0 h 56"/>
                <a:gd name="T42" fmla="*/ 0 w 69"/>
                <a:gd name="T43" fmla="*/ 0 h 56"/>
                <a:gd name="T44" fmla="*/ 0 w 69"/>
                <a:gd name="T45" fmla="*/ 0 h 5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9"/>
                <a:gd name="T70" fmla="*/ 0 h 56"/>
                <a:gd name="T71" fmla="*/ 69 w 69"/>
                <a:gd name="T72" fmla="*/ 56 h 5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9" h="56">
                  <a:moveTo>
                    <a:pt x="25" y="0"/>
                  </a:moveTo>
                  <a:lnTo>
                    <a:pt x="23" y="3"/>
                  </a:lnTo>
                  <a:lnTo>
                    <a:pt x="22" y="5"/>
                  </a:lnTo>
                  <a:lnTo>
                    <a:pt x="20" y="9"/>
                  </a:lnTo>
                  <a:lnTo>
                    <a:pt x="17" y="12"/>
                  </a:lnTo>
                  <a:lnTo>
                    <a:pt x="16" y="17"/>
                  </a:lnTo>
                  <a:lnTo>
                    <a:pt x="13" y="22"/>
                  </a:lnTo>
                  <a:lnTo>
                    <a:pt x="12" y="24"/>
                  </a:lnTo>
                  <a:lnTo>
                    <a:pt x="12" y="26"/>
                  </a:lnTo>
                  <a:lnTo>
                    <a:pt x="11" y="28"/>
                  </a:lnTo>
                  <a:lnTo>
                    <a:pt x="10" y="31"/>
                  </a:lnTo>
                  <a:lnTo>
                    <a:pt x="7" y="36"/>
                  </a:lnTo>
                  <a:lnTo>
                    <a:pt x="5" y="39"/>
                  </a:lnTo>
                  <a:lnTo>
                    <a:pt x="4" y="44"/>
                  </a:lnTo>
                  <a:lnTo>
                    <a:pt x="3" y="48"/>
                  </a:lnTo>
                  <a:lnTo>
                    <a:pt x="2" y="50"/>
                  </a:lnTo>
                  <a:lnTo>
                    <a:pt x="0" y="54"/>
                  </a:lnTo>
                  <a:lnTo>
                    <a:pt x="0" y="55"/>
                  </a:lnTo>
                  <a:lnTo>
                    <a:pt x="0" y="56"/>
                  </a:lnTo>
                  <a:lnTo>
                    <a:pt x="46" y="56"/>
                  </a:lnTo>
                  <a:lnTo>
                    <a:pt x="69" y="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Freeform 48"/>
            <p:cNvSpPr/>
            <p:nvPr/>
          </p:nvSpPr>
          <p:spPr bwMode="auto">
            <a:xfrm>
              <a:off x="4783" y="1423"/>
              <a:ext cx="35" cy="28"/>
            </a:xfrm>
            <a:custGeom>
              <a:avLst/>
              <a:gdLst>
                <a:gd name="T0" fmla="*/ 1 w 70"/>
                <a:gd name="T1" fmla="*/ 0 h 55"/>
                <a:gd name="T2" fmla="*/ 1 w 70"/>
                <a:gd name="T3" fmla="*/ 1 h 55"/>
                <a:gd name="T4" fmla="*/ 1 w 70"/>
                <a:gd name="T5" fmla="*/ 1 h 55"/>
                <a:gd name="T6" fmla="*/ 1 w 70"/>
                <a:gd name="T7" fmla="*/ 1 h 55"/>
                <a:gd name="T8" fmla="*/ 1 w 70"/>
                <a:gd name="T9" fmla="*/ 1 h 55"/>
                <a:gd name="T10" fmla="*/ 1 w 70"/>
                <a:gd name="T11" fmla="*/ 1 h 55"/>
                <a:gd name="T12" fmla="*/ 1 w 70"/>
                <a:gd name="T13" fmla="*/ 1 h 55"/>
                <a:gd name="T14" fmla="*/ 1 w 70"/>
                <a:gd name="T15" fmla="*/ 1 h 55"/>
                <a:gd name="T16" fmla="*/ 1 w 70"/>
                <a:gd name="T17" fmla="*/ 1 h 55"/>
                <a:gd name="T18" fmla="*/ 1 w 70"/>
                <a:gd name="T19" fmla="*/ 1 h 55"/>
                <a:gd name="T20" fmla="*/ 1 w 70"/>
                <a:gd name="T21" fmla="*/ 1 h 55"/>
                <a:gd name="T22" fmla="*/ 1 w 70"/>
                <a:gd name="T23" fmla="*/ 2 h 55"/>
                <a:gd name="T24" fmla="*/ 1 w 70"/>
                <a:gd name="T25" fmla="*/ 2 h 55"/>
                <a:gd name="T26" fmla="*/ 1 w 70"/>
                <a:gd name="T27" fmla="*/ 2 h 55"/>
                <a:gd name="T28" fmla="*/ 1 w 70"/>
                <a:gd name="T29" fmla="*/ 2 h 55"/>
                <a:gd name="T30" fmla="*/ 1 w 70"/>
                <a:gd name="T31" fmla="*/ 2 h 55"/>
                <a:gd name="T32" fmla="*/ 1 w 70"/>
                <a:gd name="T33" fmla="*/ 2 h 55"/>
                <a:gd name="T34" fmla="*/ 0 w 70"/>
                <a:gd name="T35" fmla="*/ 2 h 55"/>
                <a:gd name="T36" fmla="*/ 0 w 70"/>
                <a:gd name="T37" fmla="*/ 2 h 55"/>
                <a:gd name="T38" fmla="*/ 1 w 70"/>
                <a:gd name="T39" fmla="*/ 2 h 55"/>
                <a:gd name="T40" fmla="*/ 2 w 70"/>
                <a:gd name="T41" fmla="*/ 1 h 55"/>
                <a:gd name="T42" fmla="*/ 1 w 70"/>
                <a:gd name="T43" fmla="*/ 0 h 55"/>
                <a:gd name="T44" fmla="*/ 1 w 70"/>
                <a:gd name="T45" fmla="*/ 0 h 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0"/>
                <a:gd name="T70" fmla="*/ 0 h 55"/>
                <a:gd name="T71" fmla="*/ 70 w 70"/>
                <a:gd name="T72" fmla="*/ 55 h 5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0" h="55">
                  <a:moveTo>
                    <a:pt x="26" y="0"/>
                  </a:moveTo>
                  <a:lnTo>
                    <a:pt x="24" y="3"/>
                  </a:lnTo>
                  <a:lnTo>
                    <a:pt x="21" y="6"/>
                  </a:lnTo>
                  <a:lnTo>
                    <a:pt x="20" y="8"/>
                  </a:lnTo>
                  <a:lnTo>
                    <a:pt x="18" y="13"/>
                  </a:lnTo>
                  <a:lnTo>
                    <a:pt x="15" y="16"/>
                  </a:lnTo>
                  <a:lnTo>
                    <a:pt x="13" y="21"/>
                  </a:lnTo>
                  <a:lnTo>
                    <a:pt x="12" y="23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9" y="31"/>
                  </a:lnTo>
                  <a:lnTo>
                    <a:pt x="7" y="36"/>
                  </a:lnTo>
                  <a:lnTo>
                    <a:pt x="6" y="40"/>
                  </a:lnTo>
                  <a:lnTo>
                    <a:pt x="4" y="44"/>
                  </a:lnTo>
                  <a:lnTo>
                    <a:pt x="2" y="48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0" y="55"/>
                  </a:lnTo>
                  <a:lnTo>
                    <a:pt x="46" y="55"/>
                  </a:lnTo>
                  <a:lnTo>
                    <a:pt x="70" y="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Freeform 49"/>
            <p:cNvSpPr/>
            <p:nvPr/>
          </p:nvSpPr>
          <p:spPr bwMode="auto">
            <a:xfrm>
              <a:off x="4862" y="1425"/>
              <a:ext cx="35" cy="27"/>
            </a:xfrm>
            <a:custGeom>
              <a:avLst/>
              <a:gdLst>
                <a:gd name="T0" fmla="*/ 1 w 70"/>
                <a:gd name="T1" fmla="*/ 0 h 55"/>
                <a:gd name="T2" fmla="*/ 1 w 70"/>
                <a:gd name="T3" fmla="*/ 0 h 55"/>
                <a:gd name="T4" fmla="*/ 1 w 70"/>
                <a:gd name="T5" fmla="*/ 0 h 55"/>
                <a:gd name="T6" fmla="*/ 1 w 70"/>
                <a:gd name="T7" fmla="*/ 0 h 55"/>
                <a:gd name="T8" fmla="*/ 1 w 70"/>
                <a:gd name="T9" fmla="*/ 0 h 55"/>
                <a:gd name="T10" fmla="*/ 1 w 70"/>
                <a:gd name="T11" fmla="*/ 0 h 55"/>
                <a:gd name="T12" fmla="*/ 1 w 70"/>
                <a:gd name="T13" fmla="*/ 0 h 55"/>
                <a:gd name="T14" fmla="*/ 1 w 70"/>
                <a:gd name="T15" fmla="*/ 0 h 55"/>
                <a:gd name="T16" fmla="*/ 1 w 70"/>
                <a:gd name="T17" fmla="*/ 0 h 55"/>
                <a:gd name="T18" fmla="*/ 1 w 70"/>
                <a:gd name="T19" fmla="*/ 0 h 55"/>
                <a:gd name="T20" fmla="*/ 1 w 70"/>
                <a:gd name="T21" fmla="*/ 0 h 55"/>
                <a:gd name="T22" fmla="*/ 1 w 70"/>
                <a:gd name="T23" fmla="*/ 1 h 55"/>
                <a:gd name="T24" fmla="*/ 1 w 70"/>
                <a:gd name="T25" fmla="*/ 1 h 55"/>
                <a:gd name="T26" fmla="*/ 1 w 70"/>
                <a:gd name="T27" fmla="*/ 1 h 55"/>
                <a:gd name="T28" fmla="*/ 1 w 70"/>
                <a:gd name="T29" fmla="*/ 1 h 55"/>
                <a:gd name="T30" fmla="*/ 1 w 70"/>
                <a:gd name="T31" fmla="*/ 1 h 55"/>
                <a:gd name="T32" fmla="*/ 0 w 70"/>
                <a:gd name="T33" fmla="*/ 1 h 55"/>
                <a:gd name="T34" fmla="*/ 0 w 70"/>
                <a:gd name="T35" fmla="*/ 1 h 55"/>
                <a:gd name="T36" fmla="*/ 0 w 70"/>
                <a:gd name="T37" fmla="*/ 1 h 55"/>
                <a:gd name="T38" fmla="*/ 1 w 70"/>
                <a:gd name="T39" fmla="*/ 1 h 55"/>
                <a:gd name="T40" fmla="*/ 2 w 70"/>
                <a:gd name="T41" fmla="*/ 0 h 55"/>
                <a:gd name="T42" fmla="*/ 1 w 70"/>
                <a:gd name="T43" fmla="*/ 0 h 55"/>
                <a:gd name="T44" fmla="*/ 1 w 70"/>
                <a:gd name="T45" fmla="*/ 0 h 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0"/>
                <a:gd name="T70" fmla="*/ 0 h 55"/>
                <a:gd name="T71" fmla="*/ 70 w 70"/>
                <a:gd name="T72" fmla="*/ 55 h 5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0" h="55">
                  <a:moveTo>
                    <a:pt x="26" y="0"/>
                  </a:moveTo>
                  <a:lnTo>
                    <a:pt x="24" y="2"/>
                  </a:lnTo>
                  <a:lnTo>
                    <a:pt x="22" y="5"/>
                  </a:lnTo>
                  <a:lnTo>
                    <a:pt x="20" y="7"/>
                  </a:lnTo>
                  <a:lnTo>
                    <a:pt x="18" y="12"/>
                  </a:lnTo>
                  <a:lnTo>
                    <a:pt x="17" y="16"/>
                  </a:lnTo>
                  <a:lnTo>
                    <a:pt x="14" y="20"/>
                  </a:lnTo>
                  <a:lnTo>
                    <a:pt x="13" y="23"/>
                  </a:lnTo>
                  <a:lnTo>
                    <a:pt x="12" y="25"/>
                  </a:lnTo>
                  <a:lnTo>
                    <a:pt x="11" y="28"/>
                  </a:lnTo>
                  <a:lnTo>
                    <a:pt x="11" y="30"/>
                  </a:lnTo>
                  <a:lnTo>
                    <a:pt x="9" y="35"/>
                  </a:lnTo>
                  <a:lnTo>
                    <a:pt x="6" y="39"/>
                  </a:lnTo>
                  <a:lnTo>
                    <a:pt x="5" y="42"/>
                  </a:lnTo>
                  <a:lnTo>
                    <a:pt x="4" y="46"/>
                  </a:lnTo>
                  <a:lnTo>
                    <a:pt x="3" y="49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5"/>
                  </a:lnTo>
                  <a:lnTo>
                    <a:pt x="48" y="55"/>
                  </a:lnTo>
                  <a:lnTo>
                    <a:pt x="70" y="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Freeform 50"/>
            <p:cNvSpPr/>
            <p:nvPr/>
          </p:nvSpPr>
          <p:spPr bwMode="auto">
            <a:xfrm>
              <a:off x="4940" y="1423"/>
              <a:ext cx="34" cy="28"/>
            </a:xfrm>
            <a:custGeom>
              <a:avLst/>
              <a:gdLst>
                <a:gd name="T0" fmla="*/ 0 w 69"/>
                <a:gd name="T1" fmla="*/ 0 h 55"/>
                <a:gd name="T2" fmla="*/ 0 w 69"/>
                <a:gd name="T3" fmla="*/ 1 h 55"/>
                <a:gd name="T4" fmla="*/ 0 w 69"/>
                <a:gd name="T5" fmla="*/ 1 h 55"/>
                <a:gd name="T6" fmla="*/ 0 w 69"/>
                <a:gd name="T7" fmla="*/ 1 h 55"/>
                <a:gd name="T8" fmla="*/ 0 w 69"/>
                <a:gd name="T9" fmla="*/ 1 h 55"/>
                <a:gd name="T10" fmla="*/ 0 w 69"/>
                <a:gd name="T11" fmla="*/ 1 h 55"/>
                <a:gd name="T12" fmla="*/ 0 w 69"/>
                <a:gd name="T13" fmla="*/ 1 h 55"/>
                <a:gd name="T14" fmla="*/ 0 w 69"/>
                <a:gd name="T15" fmla="*/ 1 h 55"/>
                <a:gd name="T16" fmla="*/ 0 w 69"/>
                <a:gd name="T17" fmla="*/ 1 h 55"/>
                <a:gd name="T18" fmla="*/ 0 w 69"/>
                <a:gd name="T19" fmla="*/ 1 h 55"/>
                <a:gd name="T20" fmla="*/ 0 w 69"/>
                <a:gd name="T21" fmla="*/ 1 h 55"/>
                <a:gd name="T22" fmla="*/ 0 w 69"/>
                <a:gd name="T23" fmla="*/ 2 h 55"/>
                <a:gd name="T24" fmla="*/ 0 w 69"/>
                <a:gd name="T25" fmla="*/ 2 h 55"/>
                <a:gd name="T26" fmla="*/ 0 w 69"/>
                <a:gd name="T27" fmla="*/ 2 h 55"/>
                <a:gd name="T28" fmla="*/ 0 w 69"/>
                <a:gd name="T29" fmla="*/ 2 h 55"/>
                <a:gd name="T30" fmla="*/ 0 w 69"/>
                <a:gd name="T31" fmla="*/ 2 h 55"/>
                <a:gd name="T32" fmla="*/ 0 w 69"/>
                <a:gd name="T33" fmla="*/ 2 h 55"/>
                <a:gd name="T34" fmla="*/ 0 w 69"/>
                <a:gd name="T35" fmla="*/ 2 h 55"/>
                <a:gd name="T36" fmla="*/ 0 w 69"/>
                <a:gd name="T37" fmla="*/ 2 h 55"/>
                <a:gd name="T38" fmla="*/ 1 w 69"/>
                <a:gd name="T39" fmla="*/ 2 h 55"/>
                <a:gd name="T40" fmla="*/ 2 w 69"/>
                <a:gd name="T41" fmla="*/ 1 h 55"/>
                <a:gd name="T42" fmla="*/ 0 w 69"/>
                <a:gd name="T43" fmla="*/ 0 h 55"/>
                <a:gd name="T44" fmla="*/ 0 w 69"/>
                <a:gd name="T45" fmla="*/ 0 h 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9"/>
                <a:gd name="T70" fmla="*/ 0 h 55"/>
                <a:gd name="T71" fmla="*/ 69 w 69"/>
                <a:gd name="T72" fmla="*/ 55 h 5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9" h="55">
                  <a:moveTo>
                    <a:pt x="24" y="0"/>
                  </a:moveTo>
                  <a:lnTo>
                    <a:pt x="21" y="3"/>
                  </a:lnTo>
                  <a:lnTo>
                    <a:pt x="20" y="6"/>
                  </a:lnTo>
                  <a:lnTo>
                    <a:pt x="18" y="8"/>
                  </a:lnTo>
                  <a:lnTo>
                    <a:pt x="16" y="13"/>
                  </a:lnTo>
                  <a:lnTo>
                    <a:pt x="14" y="16"/>
                  </a:lnTo>
                  <a:lnTo>
                    <a:pt x="12" y="21"/>
                  </a:lnTo>
                  <a:lnTo>
                    <a:pt x="11" y="23"/>
                  </a:lnTo>
                  <a:lnTo>
                    <a:pt x="11" y="27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7" y="36"/>
                  </a:lnTo>
                  <a:lnTo>
                    <a:pt x="5" y="40"/>
                  </a:lnTo>
                  <a:lnTo>
                    <a:pt x="4" y="44"/>
                  </a:lnTo>
                  <a:lnTo>
                    <a:pt x="1" y="48"/>
                  </a:lnTo>
                  <a:lnTo>
                    <a:pt x="1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45" y="55"/>
                  </a:lnTo>
                  <a:lnTo>
                    <a:pt x="69" y="3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Freeform 51"/>
            <p:cNvSpPr/>
            <p:nvPr/>
          </p:nvSpPr>
          <p:spPr bwMode="auto">
            <a:xfrm>
              <a:off x="5024" y="1423"/>
              <a:ext cx="35" cy="28"/>
            </a:xfrm>
            <a:custGeom>
              <a:avLst/>
              <a:gdLst>
                <a:gd name="T0" fmla="*/ 1 w 70"/>
                <a:gd name="T1" fmla="*/ 0 h 55"/>
                <a:gd name="T2" fmla="*/ 1 w 70"/>
                <a:gd name="T3" fmla="*/ 1 h 55"/>
                <a:gd name="T4" fmla="*/ 1 w 70"/>
                <a:gd name="T5" fmla="*/ 1 h 55"/>
                <a:gd name="T6" fmla="*/ 1 w 70"/>
                <a:gd name="T7" fmla="*/ 1 h 55"/>
                <a:gd name="T8" fmla="*/ 1 w 70"/>
                <a:gd name="T9" fmla="*/ 1 h 55"/>
                <a:gd name="T10" fmla="*/ 1 w 70"/>
                <a:gd name="T11" fmla="*/ 1 h 55"/>
                <a:gd name="T12" fmla="*/ 1 w 70"/>
                <a:gd name="T13" fmla="*/ 1 h 55"/>
                <a:gd name="T14" fmla="*/ 1 w 70"/>
                <a:gd name="T15" fmla="*/ 1 h 55"/>
                <a:gd name="T16" fmla="*/ 1 w 70"/>
                <a:gd name="T17" fmla="*/ 1 h 55"/>
                <a:gd name="T18" fmla="*/ 1 w 70"/>
                <a:gd name="T19" fmla="*/ 1 h 55"/>
                <a:gd name="T20" fmla="*/ 1 w 70"/>
                <a:gd name="T21" fmla="*/ 1 h 55"/>
                <a:gd name="T22" fmla="*/ 1 w 70"/>
                <a:gd name="T23" fmla="*/ 2 h 55"/>
                <a:gd name="T24" fmla="*/ 1 w 70"/>
                <a:gd name="T25" fmla="*/ 2 h 55"/>
                <a:gd name="T26" fmla="*/ 1 w 70"/>
                <a:gd name="T27" fmla="*/ 2 h 55"/>
                <a:gd name="T28" fmla="*/ 1 w 70"/>
                <a:gd name="T29" fmla="*/ 2 h 55"/>
                <a:gd name="T30" fmla="*/ 1 w 70"/>
                <a:gd name="T31" fmla="*/ 2 h 55"/>
                <a:gd name="T32" fmla="*/ 1 w 70"/>
                <a:gd name="T33" fmla="*/ 2 h 55"/>
                <a:gd name="T34" fmla="*/ 0 w 70"/>
                <a:gd name="T35" fmla="*/ 2 h 55"/>
                <a:gd name="T36" fmla="*/ 0 w 70"/>
                <a:gd name="T37" fmla="*/ 2 h 55"/>
                <a:gd name="T38" fmla="*/ 1 w 70"/>
                <a:gd name="T39" fmla="*/ 2 h 55"/>
                <a:gd name="T40" fmla="*/ 2 w 70"/>
                <a:gd name="T41" fmla="*/ 1 h 55"/>
                <a:gd name="T42" fmla="*/ 1 w 70"/>
                <a:gd name="T43" fmla="*/ 0 h 55"/>
                <a:gd name="T44" fmla="*/ 1 w 70"/>
                <a:gd name="T45" fmla="*/ 0 h 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0"/>
                <a:gd name="T70" fmla="*/ 0 h 55"/>
                <a:gd name="T71" fmla="*/ 70 w 70"/>
                <a:gd name="T72" fmla="*/ 55 h 5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0" h="55">
                  <a:moveTo>
                    <a:pt x="25" y="0"/>
                  </a:moveTo>
                  <a:lnTo>
                    <a:pt x="23" y="3"/>
                  </a:lnTo>
                  <a:lnTo>
                    <a:pt x="20" y="6"/>
                  </a:lnTo>
                  <a:lnTo>
                    <a:pt x="19" y="8"/>
                  </a:lnTo>
                  <a:lnTo>
                    <a:pt x="17" y="13"/>
                  </a:lnTo>
                  <a:lnTo>
                    <a:pt x="16" y="16"/>
                  </a:lnTo>
                  <a:lnTo>
                    <a:pt x="13" y="21"/>
                  </a:lnTo>
                  <a:lnTo>
                    <a:pt x="12" y="23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9" y="31"/>
                  </a:lnTo>
                  <a:lnTo>
                    <a:pt x="7" y="36"/>
                  </a:lnTo>
                  <a:lnTo>
                    <a:pt x="6" y="40"/>
                  </a:lnTo>
                  <a:lnTo>
                    <a:pt x="4" y="44"/>
                  </a:lnTo>
                  <a:lnTo>
                    <a:pt x="3" y="48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0" y="55"/>
                  </a:lnTo>
                  <a:lnTo>
                    <a:pt x="46" y="55"/>
                  </a:lnTo>
                  <a:lnTo>
                    <a:pt x="70" y="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Freeform 52"/>
            <p:cNvSpPr/>
            <p:nvPr/>
          </p:nvSpPr>
          <p:spPr bwMode="auto">
            <a:xfrm>
              <a:off x="5283" y="1407"/>
              <a:ext cx="65" cy="50"/>
            </a:xfrm>
            <a:custGeom>
              <a:avLst/>
              <a:gdLst>
                <a:gd name="T0" fmla="*/ 1 w 130"/>
                <a:gd name="T1" fmla="*/ 3 h 100"/>
                <a:gd name="T2" fmla="*/ 1 w 130"/>
                <a:gd name="T3" fmla="*/ 3 h 100"/>
                <a:gd name="T4" fmla="*/ 1 w 130"/>
                <a:gd name="T5" fmla="*/ 3 h 100"/>
                <a:gd name="T6" fmla="*/ 1 w 130"/>
                <a:gd name="T7" fmla="*/ 3 h 100"/>
                <a:gd name="T8" fmla="*/ 1 w 130"/>
                <a:gd name="T9" fmla="*/ 3 h 100"/>
                <a:gd name="T10" fmla="*/ 1 w 130"/>
                <a:gd name="T11" fmla="*/ 3 h 100"/>
                <a:gd name="T12" fmla="*/ 1 w 130"/>
                <a:gd name="T13" fmla="*/ 3 h 100"/>
                <a:gd name="T14" fmla="*/ 1 w 130"/>
                <a:gd name="T15" fmla="*/ 3 h 100"/>
                <a:gd name="T16" fmla="*/ 1 w 130"/>
                <a:gd name="T17" fmla="*/ 3 h 100"/>
                <a:gd name="T18" fmla="*/ 1 w 130"/>
                <a:gd name="T19" fmla="*/ 3 h 100"/>
                <a:gd name="T20" fmla="*/ 1 w 130"/>
                <a:gd name="T21" fmla="*/ 3 h 100"/>
                <a:gd name="T22" fmla="*/ 2 w 130"/>
                <a:gd name="T23" fmla="*/ 3 h 100"/>
                <a:gd name="T24" fmla="*/ 2 w 130"/>
                <a:gd name="T25" fmla="*/ 3 h 100"/>
                <a:gd name="T26" fmla="*/ 2 w 130"/>
                <a:gd name="T27" fmla="*/ 3 h 100"/>
                <a:gd name="T28" fmla="*/ 2 w 130"/>
                <a:gd name="T29" fmla="*/ 3 h 100"/>
                <a:gd name="T30" fmla="*/ 2 w 130"/>
                <a:gd name="T31" fmla="*/ 3 h 100"/>
                <a:gd name="T32" fmla="*/ 3 w 130"/>
                <a:gd name="T33" fmla="*/ 3 h 100"/>
                <a:gd name="T34" fmla="*/ 3 w 130"/>
                <a:gd name="T35" fmla="*/ 3 h 100"/>
                <a:gd name="T36" fmla="*/ 3 w 130"/>
                <a:gd name="T37" fmla="*/ 3 h 100"/>
                <a:gd name="T38" fmla="*/ 3 w 130"/>
                <a:gd name="T39" fmla="*/ 3 h 100"/>
                <a:gd name="T40" fmla="*/ 3 w 130"/>
                <a:gd name="T41" fmla="*/ 3 h 100"/>
                <a:gd name="T42" fmla="*/ 3 w 130"/>
                <a:gd name="T43" fmla="*/ 3 h 100"/>
                <a:gd name="T44" fmla="*/ 3 w 130"/>
                <a:gd name="T45" fmla="*/ 3 h 100"/>
                <a:gd name="T46" fmla="*/ 4 w 130"/>
                <a:gd name="T47" fmla="*/ 3 h 100"/>
                <a:gd name="T48" fmla="*/ 4 w 130"/>
                <a:gd name="T49" fmla="*/ 3 h 100"/>
                <a:gd name="T50" fmla="*/ 4 w 130"/>
                <a:gd name="T51" fmla="*/ 3 h 100"/>
                <a:gd name="T52" fmla="*/ 4 w 130"/>
                <a:gd name="T53" fmla="*/ 2 h 100"/>
                <a:gd name="T54" fmla="*/ 4 w 130"/>
                <a:gd name="T55" fmla="*/ 2 h 100"/>
                <a:gd name="T56" fmla="*/ 4 w 130"/>
                <a:gd name="T57" fmla="*/ 2 h 100"/>
                <a:gd name="T58" fmla="*/ 4 w 130"/>
                <a:gd name="T59" fmla="*/ 1 h 100"/>
                <a:gd name="T60" fmla="*/ 4 w 130"/>
                <a:gd name="T61" fmla="*/ 1 h 100"/>
                <a:gd name="T62" fmla="*/ 4 w 130"/>
                <a:gd name="T63" fmla="*/ 1 h 100"/>
                <a:gd name="T64" fmla="*/ 4 w 130"/>
                <a:gd name="T65" fmla="*/ 1 h 100"/>
                <a:gd name="T66" fmla="*/ 4 w 130"/>
                <a:gd name="T67" fmla="*/ 1 h 100"/>
                <a:gd name="T68" fmla="*/ 4 w 130"/>
                <a:gd name="T69" fmla="*/ 1 h 100"/>
                <a:gd name="T70" fmla="*/ 3 w 130"/>
                <a:gd name="T71" fmla="*/ 1 h 100"/>
                <a:gd name="T72" fmla="*/ 3 w 130"/>
                <a:gd name="T73" fmla="*/ 1 h 100"/>
                <a:gd name="T74" fmla="*/ 3 w 130"/>
                <a:gd name="T75" fmla="*/ 0 h 100"/>
                <a:gd name="T76" fmla="*/ 3 w 130"/>
                <a:gd name="T77" fmla="*/ 0 h 100"/>
                <a:gd name="T78" fmla="*/ 3 w 130"/>
                <a:gd name="T79" fmla="*/ 0 h 100"/>
                <a:gd name="T80" fmla="*/ 2 w 130"/>
                <a:gd name="T81" fmla="*/ 0 h 100"/>
                <a:gd name="T82" fmla="*/ 2 w 130"/>
                <a:gd name="T83" fmla="*/ 0 h 100"/>
                <a:gd name="T84" fmla="*/ 2 w 130"/>
                <a:gd name="T85" fmla="*/ 0 h 100"/>
                <a:gd name="T86" fmla="*/ 2 w 130"/>
                <a:gd name="T87" fmla="*/ 0 h 100"/>
                <a:gd name="T88" fmla="*/ 2 w 130"/>
                <a:gd name="T89" fmla="*/ 0 h 100"/>
                <a:gd name="T90" fmla="*/ 2 w 130"/>
                <a:gd name="T91" fmla="*/ 0 h 100"/>
                <a:gd name="T92" fmla="*/ 1 w 130"/>
                <a:gd name="T93" fmla="*/ 0 h 100"/>
                <a:gd name="T94" fmla="*/ 1 w 130"/>
                <a:gd name="T95" fmla="*/ 0 h 100"/>
                <a:gd name="T96" fmla="*/ 1 w 130"/>
                <a:gd name="T97" fmla="*/ 0 h 100"/>
                <a:gd name="T98" fmla="*/ 1 w 130"/>
                <a:gd name="T99" fmla="*/ 0 h 100"/>
                <a:gd name="T100" fmla="*/ 1 w 130"/>
                <a:gd name="T101" fmla="*/ 0 h 100"/>
                <a:gd name="T102" fmla="*/ 1 w 130"/>
                <a:gd name="T103" fmla="*/ 0 h 100"/>
                <a:gd name="T104" fmla="*/ 1 w 130"/>
                <a:gd name="T105" fmla="*/ 0 h 100"/>
                <a:gd name="T106" fmla="*/ 1 w 130"/>
                <a:gd name="T107" fmla="*/ 0 h 100"/>
                <a:gd name="T108" fmla="*/ 1 w 130"/>
                <a:gd name="T109" fmla="*/ 0 h 100"/>
                <a:gd name="T110" fmla="*/ 1 w 130"/>
                <a:gd name="T111" fmla="*/ 0 h 100"/>
                <a:gd name="T112" fmla="*/ 1 w 130"/>
                <a:gd name="T113" fmla="*/ 1 h 100"/>
                <a:gd name="T114" fmla="*/ 0 w 130"/>
                <a:gd name="T115" fmla="*/ 1 h 10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30"/>
                <a:gd name="T175" fmla="*/ 0 h 100"/>
                <a:gd name="T176" fmla="*/ 130 w 130"/>
                <a:gd name="T177" fmla="*/ 100 h 10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30" h="100">
                  <a:moveTo>
                    <a:pt x="0" y="1"/>
                  </a:moveTo>
                  <a:lnTo>
                    <a:pt x="4" y="100"/>
                  </a:lnTo>
                  <a:lnTo>
                    <a:pt x="4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10" y="99"/>
                  </a:lnTo>
                  <a:lnTo>
                    <a:pt x="13" y="99"/>
                  </a:lnTo>
                  <a:lnTo>
                    <a:pt x="17" y="99"/>
                  </a:lnTo>
                  <a:lnTo>
                    <a:pt x="20" y="99"/>
                  </a:lnTo>
                  <a:lnTo>
                    <a:pt x="24" y="99"/>
                  </a:lnTo>
                  <a:lnTo>
                    <a:pt x="29" y="99"/>
                  </a:lnTo>
                  <a:lnTo>
                    <a:pt x="32" y="99"/>
                  </a:lnTo>
                  <a:lnTo>
                    <a:pt x="37" y="99"/>
                  </a:lnTo>
                  <a:lnTo>
                    <a:pt x="40" y="99"/>
                  </a:lnTo>
                  <a:lnTo>
                    <a:pt x="43" y="99"/>
                  </a:lnTo>
                  <a:lnTo>
                    <a:pt x="46" y="99"/>
                  </a:lnTo>
                  <a:lnTo>
                    <a:pt x="49" y="99"/>
                  </a:lnTo>
                  <a:lnTo>
                    <a:pt x="51" y="99"/>
                  </a:lnTo>
                  <a:lnTo>
                    <a:pt x="53" y="99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60" y="99"/>
                  </a:lnTo>
                  <a:lnTo>
                    <a:pt x="63" y="99"/>
                  </a:lnTo>
                  <a:lnTo>
                    <a:pt x="65" y="99"/>
                  </a:lnTo>
                  <a:lnTo>
                    <a:pt x="69" y="99"/>
                  </a:lnTo>
                  <a:lnTo>
                    <a:pt x="70" y="99"/>
                  </a:lnTo>
                  <a:lnTo>
                    <a:pt x="72" y="98"/>
                  </a:lnTo>
                  <a:lnTo>
                    <a:pt x="75" y="98"/>
                  </a:lnTo>
                  <a:lnTo>
                    <a:pt x="78" y="98"/>
                  </a:lnTo>
                  <a:lnTo>
                    <a:pt x="81" y="98"/>
                  </a:lnTo>
                  <a:lnTo>
                    <a:pt x="84" y="98"/>
                  </a:lnTo>
                  <a:lnTo>
                    <a:pt x="89" y="98"/>
                  </a:lnTo>
                  <a:lnTo>
                    <a:pt x="94" y="98"/>
                  </a:lnTo>
                  <a:lnTo>
                    <a:pt x="98" y="98"/>
                  </a:lnTo>
                  <a:lnTo>
                    <a:pt x="102" y="98"/>
                  </a:lnTo>
                  <a:lnTo>
                    <a:pt x="107" y="98"/>
                  </a:lnTo>
                  <a:lnTo>
                    <a:pt x="109" y="97"/>
                  </a:lnTo>
                  <a:lnTo>
                    <a:pt x="112" y="97"/>
                  </a:lnTo>
                  <a:lnTo>
                    <a:pt x="115" y="97"/>
                  </a:lnTo>
                  <a:lnTo>
                    <a:pt x="117" y="97"/>
                  </a:lnTo>
                  <a:lnTo>
                    <a:pt x="120" y="97"/>
                  </a:lnTo>
                  <a:lnTo>
                    <a:pt x="121" y="97"/>
                  </a:lnTo>
                  <a:lnTo>
                    <a:pt x="123" y="94"/>
                  </a:lnTo>
                  <a:lnTo>
                    <a:pt x="126" y="91"/>
                  </a:lnTo>
                  <a:lnTo>
                    <a:pt x="126" y="89"/>
                  </a:lnTo>
                  <a:lnTo>
                    <a:pt x="127" y="86"/>
                  </a:lnTo>
                  <a:lnTo>
                    <a:pt x="127" y="83"/>
                  </a:lnTo>
                  <a:lnTo>
                    <a:pt x="128" y="81"/>
                  </a:lnTo>
                  <a:lnTo>
                    <a:pt x="128" y="77"/>
                  </a:lnTo>
                  <a:lnTo>
                    <a:pt x="128" y="73"/>
                  </a:lnTo>
                  <a:lnTo>
                    <a:pt x="128" y="70"/>
                  </a:lnTo>
                  <a:lnTo>
                    <a:pt x="129" y="65"/>
                  </a:lnTo>
                  <a:lnTo>
                    <a:pt x="129" y="61"/>
                  </a:lnTo>
                  <a:lnTo>
                    <a:pt x="129" y="58"/>
                  </a:lnTo>
                  <a:lnTo>
                    <a:pt x="129" y="52"/>
                  </a:lnTo>
                  <a:lnTo>
                    <a:pt x="130" y="48"/>
                  </a:lnTo>
                  <a:lnTo>
                    <a:pt x="129" y="44"/>
                  </a:lnTo>
                  <a:lnTo>
                    <a:pt x="129" y="40"/>
                  </a:lnTo>
                  <a:lnTo>
                    <a:pt x="129" y="35"/>
                  </a:lnTo>
                  <a:lnTo>
                    <a:pt x="129" y="31"/>
                  </a:lnTo>
                  <a:lnTo>
                    <a:pt x="129" y="27"/>
                  </a:lnTo>
                  <a:lnTo>
                    <a:pt x="129" y="25"/>
                  </a:lnTo>
                  <a:lnTo>
                    <a:pt x="129" y="20"/>
                  </a:lnTo>
                  <a:lnTo>
                    <a:pt x="129" y="18"/>
                  </a:lnTo>
                  <a:lnTo>
                    <a:pt x="129" y="14"/>
                  </a:lnTo>
                  <a:lnTo>
                    <a:pt x="129" y="12"/>
                  </a:lnTo>
                  <a:lnTo>
                    <a:pt x="129" y="8"/>
                  </a:lnTo>
                  <a:lnTo>
                    <a:pt x="129" y="7"/>
                  </a:lnTo>
                  <a:lnTo>
                    <a:pt x="129" y="5"/>
                  </a:lnTo>
                  <a:lnTo>
                    <a:pt x="129" y="3"/>
                  </a:lnTo>
                  <a:lnTo>
                    <a:pt x="126" y="3"/>
                  </a:lnTo>
                  <a:lnTo>
                    <a:pt x="122" y="1"/>
                  </a:lnTo>
                  <a:lnTo>
                    <a:pt x="117" y="1"/>
                  </a:lnTo>
                  <a:lnTo>
                    <a:pt x="112" y="1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5" y="0"/>
                  </a:lnTo>
                  <a:lnTo>
                    <a:pt x="103" y="0"/>
                  </a:lnTo>
                  <a:lnTo>
                    <a:pt x="101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0" y="0"/>
                  </a:lnTo>
                  <a:lnTo>
                    <a:pt x="88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3" y="0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Freeform 53"/>
            <p:cNvSpPr/>
            <p:nvPr/>
          </p:nvSpPr>
          <p:spPr bwMode="auto">
            <a:xfrm>
              <a:off x="5187" y="1164"/>
              <a:ext cx="114" cy="102"/>
            </a:xfrm>
            <a:custGeom>
              <a:avLst/>
              <a:gdLst>
                <a:gd name="T0" fmla="*/ 7 w 228"/>
                <a:gd name="T1" fmla="*/ 1 h 203"/>
                <a:gd name="T2" fmla="*/ 7 w 228"/>
                <a:gd name="T3" fmla="*/ 1 h 203"/>
                <a:gd name="T4" fmla="*/ 7 w 228"/>
                <a:gd name="T5" fmla="*/ 1 h 203"/>
                <a:gd name="T6" fmla="*/ 6 w 228"/>
                <a:gd name="T7" fmla="*/ 1 h 203"/>
                <a:gd name="T8" fmla="*/ 6 w 228"/>
                <a:gd name="T9" fmla="*/ 1 h 203"/>
                <a:gd name="T10" fmla="*/ 6 w 228"/>
                <a:gd name="T11" fmla="*/ 2 h 203"/>
                <a:gd name="T12" fmla="*/ 6 w 228"/>
                <a:gd name="T13" fmla="*/ 2 h 203"/>
                <a:gd name="T14" fmla="*/ 5 w 228"/>
                <a:gd name="T15" fmla="*/ 2 h 203"/>
                <a:gd name="T16" fmla="*/ 5 w 228"/>
                <a:gd name="T17" fmla="*/ 2 h 203"/>
                <a:gd name="T18" fmla="*/ 5 w 228"/>
                <a:gd name="T19" fmla="*/ 3 h 203"/>
                <a:gd name="T20" fmla="*/ 5 w 228"/>
                <a:gd name="T21" fmla="*/ 3 h 203"/>
                <a:gd name="T22" fmla="*/ 4 w 228"/>
                <a:gd name="T23" fmla="*/ 3 h 203"/>
                <a:gd name="T24" fmla="*/ 4 w 228"/>
                <a:gd name="T25" fmla="*/ 3 h 203"/>
                <a:gd name="T26" fmla="*/ 4 w 228"/>
                <a:gd name="T27" fmla="*/ 4 h 203"/>
                <a:gd name="T28" fmla="*/ 3 w 228"/>
                <a:gd name="T29" fmla="*/ 4 h 203"/>
                <a:gd name="T30" fmla="*/ 3 w 228"/>
                <a:gd name="T31" fmla="*/ 4 h 203"/>
                <a:gd name="T32" fmla="*/ 3 w 228"/>
                <a:gd name="T33" fmla="*/ 4 h 203"/>
                <a:gd name="T34" fmla="*/ 3 w 228"/>
                <a:gd name="T35" fmla="*/ 5 h 203"/>
                <a:gd name="T36" fmla="*/ 2 w 228"/>
                <a:gd name="T37" fmla="*/ 5 h 203"/>
                <a:gd name="T38" fmla="*/ 2 w 228"/>
                <a:gd name="T39" fmla="*/ 5 h 203"/>
                <a:gd name="T40" fmla="*/ 2 w 228"/>
                <a:gd name="T41" fmla="*/ 5 h 203"/>
                <a:gd name="T42" fmla="*/ 2 w 228"/>
                <a:gd name="T43" fmla="*/ 6 h 203"/>
                <a:gd name="T44" fmla="*/ 1 w 228"/>
                <a:gd name="T45" fmla="*/ 6 h 203"/>
                <a:gd name="T46" fmla="*/ 1 w 228"/>
                <a:gd name="T47" fmla="*/ 6 h 203"/>
                <a:gd name="T48" fmla="*/ 1 w 228"/>
                <a:gd name="T49" fmla="*/ 6 h 203"/>
                <a:gd name="T50" fmla="*/ 1 w 228"/>
                <a:gd name="T51" fmla="*/ 6 h 203"/>
                <a:gd name="T52" fmla="*/ 1 w 228"/>
                <a:gd name="T53" fmla="*/ 7 h 203"/>
                <a:gd name="T54" fmla="*/ 1 w 228"/>
                <a:gd name="T55" fmla="*/ 7 h 203"/>
                <a:gd name="T56" fmla="*/ 0 w 228"/>
                <a:gd name="T57" fmla="*/ 7 h 203"/>
                <a:gd name="T58" fmla="*/ 1 w 228"/>
                <a:gd name="T59" fmla="*/ 7 h 203"/>
                <a:gd name="T60" fmla="*/ 1 w 228"/>
                <a:gd name="T61" fmla="*/ 7 h 203"/>
                <a:gd name="T62" fmla="*/ 1 w 228"/>
                <a:gd name="T63" fmla="*/ 7 h 203"/>
                <a:gd name="T64" fmla="*/ 1 w 228"/>
                <a:gd name="T65" fmla="*/ 6 h 203"/>
                <a:gd name="T66" fmla="*/ 1 w 228"/>
                <a:gd name="T67" fmla="*/ 6 h 203"/>
                <a:gd name="T68" fmla="*/ 1 w 228"/>
                <a:gd name="T69" fmla="*/ 6 h 203"/>
                <a:gd name="T70" fmla="*/ 2 w 228"/>
                <a:gd name="T71" fmla="*/ 6 h 203"/>
                <a:gd name="T72" fmla="*/ 2 w 228"/>
                <a:gd name="T73" fmla="*/ 6 h 203"/>
                <a:gd name="T74" fmla="*/ 2 w 228"/>
                <a:gd name="T75" fmla="*/ 5 h 203"/>
                <a:gd name="T76" fmla="*/ 3 w 228"/>
                <a:gd name="T77" fmla="*/ 5 h 203"/>
                <a:gd name="T78" fmla="*/ 3 w 228"/>
                <a:gd name="T79" fmla="*/ 5 h 203"/>
                <a:gd name="T80" fmla="*/ 3 w 228"/>
                <a:gd name="T81" fmla="*/ 5 h 203"/>
                <a:gd name="T82" fmla="*/ 4 w 228"/>
                <a:gd name="T83" fmla="*/ 4 h 203"/>
                <a:gd name="T84" fmla="*/ 4 w 228"/>
                <a:gd name="T85" fmla="*/ 4 h 203"/>
                <a:gd name="T86" fmla="*/ 4 w 228"/>
                <a:gd name="T87" fmla="*/ 4 h 203"/>
                <a:gd name="T88" fmla="*/ 5 w 228"/>
                <a:gd name="T89" fmla="*/ 3 h 203"/>
                <a:gd name="T90" fmla="*/ 5 w 228"/>
                <a:gd name="T91" fmla="*/ 3 h 203"/>
                <a:gd name="T92" fmla="*/ 5 w 228"/>
                <a:gd name="T93" fmla="*/ 3 h 203"/>
                <a:gd name="T94" fmla="*/ 5 w 228"/>
                <a:gd name="T95" fmla="*/ 2 h 203"/>
                <a:gd name="T96" fmla="*/ 6 w 228"/>
                <a:gd name="T97" fmla="*/ 2 h 203"/>
                <a:gd name="T98" fmla="*/ 6 w 228"/>
                <a:gd name="T99" fmla="*/ 2 h 203"/>
                <a:gd name="T100" fmla="*/ 6 w 228"/>
                <a:gd name="T101" fmla="*/ 2 h 203"/>
                <a:gd name="T102" fmla="*/ 7 w 228"/>
                <a:gd name="T103" fmla="*/ 1 h 203"/>
                <a:gd name="T104" fmla="*/ 7 w 228"/>
                <a:gd name="T105" fmla="*/ 1 h 203"/>
                <a:gd name="T106" fmla="*/ 7 w 228"/>
                <a:gd name="T107" fmla="*/ 1 h 203"/>
                <a:gd name="T108" fmla="*/ 7 w 228"/>
                <a:gd name="T109" fmla="*/ 1 h 203"/>
                <a:gd name="T110" fmla="*/ 7 w 228"/>
                <a:gd name="T111" fmla="*/ 1 h 203"/>
                <a:gd name="T112" fmla="*/ 7 w 228"/>
                <a:gd name="T113" fmla="*/ 1 h 20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8"/>
                <a:gd name="T172" fmla="*/ 0 h 203"/>
                <a:gd name="T173" fmla="*/ 228 w 228"/>
                <a:gd name="T174" fmla="*/ 203 h 20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8" h="203">
                  <a:moveTo>
                    <a:pt x="208" y="7"/>
                  </a:moveTo>
                  <a:lnTo>
                    <a:pt x="205" y="8"/>
                  </a:lnTo>
                  <a:lnTo>
                    <a:pt x="202" y="11"/>
                  </a:lnTo>
                  <a:lnTo>
                    <a:pt x="199" y="13"/>
                  </a:lnTo>
                  <a:lnTo>
                    <a:pt x="197" y="15"/>
                  </a:lnTo>
                  <a:lnTo>
                    <a:pt x="194" y="18"/>
                  </a:lnTo>
                  <a:lnTo>
                    <a:pt x="190" y="20"/>
                  </a:lnTo>
                  <a:lnTo>
                    <a:pt x="186" y="24"/>
                  </a:lnTo>
                  <a:lnTo>
                    <a:pt x="184" y="26"/>
                  </a:lnTo>
                  <a:lnTo>
                    <a:pt x="180" y="28"/>
                  </a:lnTo>
                  <a:lnTo>
                    <a:pt x="176" y="32"/>
                  </a:lnTo>
                  <a:lnTo>
                    <a:pt x="172" y="36"/>
                  </a:lnTo>
                  <a:lnTo>
                    <a:pt x="169" y="39"/>
                  </a:lnTo>
                  <a:lnTo>
                    <a:pt x="164" y="43"/>
                  </a:lnTo>
                  <a:lnTo>
                    <a:pt x="160" y="46"/>
                  </a:lnTo>
                  <a:lnTo>
                    <a:pt x="156" y="50"/>
                  </a:lnTo>
                  <a:lnTo>
                    <a:pt x="152" y="53"/>
                  </a:lnTo>
                  <a:lnTo>
                    <a:pt x="147" y="58"/>
                  </a:lnTo>
                  <a:lnTo>
                    <a:pt x="143" y="60"/>
                  </a:lnTo>
                  <a:lnTo>
                    <a:pt x="139" y="65"/>
                  </a:lnTo>
                  <a:lnTo>
                    <a:pt x="134" y="69"/>
                  </a:lnTo>
                  <a:lnTo>
                    <a:pt x="130" y="73"/>
                  </a:lnTo>
                  <a:lnTo>
                    <a:pt x="125" y="77"/>
                  </a:lnTo>
                  <a:lnTo>
                    <a:pt x="121" y="82"/>
                  </a:lnTo>
                  <a:lnTo>
                    <a:pt x="117" y="86"/>
                  </a:lnTo>
                  <a:lnTo>
                    <a:pt x="112" y="90"/>
                  </a:lnTo>
                  <a:lnTo>
                    <a:pt x="107" y="95"/>
                  </a:lnTo>
                  <a:lnTo>
                    <a:pt x="102" y="99"/>
                  </a:lnTo>
                  <a:lnTo>
                    <a:pt x="99" y="103"/>
                  </a:lnTo>
                  <a:lnTo>
                    <a:pt x="94" y="106"/>
                  </a:lnTo>
                  <a:lnTo>
                    <a:pt x="89" y="112"/>
                  </a:lnTo>
                  <a:lnTo>
                    <a:pt x="85" y="116"/>
                  </a:lnTo>
                  <a:lnTo>
                    <a:pt x="81" y="119"/>
                  </a:lnTo>
                  <a:lnTo>
                    <a:pt x="76" y="124"/>
                  </a:lnTo>
                  <a:lnTo>
                    <a:pt x="72" y="128"/>
                  </a:lnTo>
                  <a:lnTo>
                    <a:pt x="67" y="132"/>
                  </a:lnTo>
                  <a:lnTo>
                    <a:pt x="63" y="136"/>
                  </a:lnTo>
                  <a:lnTo>
                    <a:pt x="59" y="140"/>
                  </a:lnTo>
                  <a:lnTo>
                    <a:pt x="55" y="144"/>
                  </a:lnTo>
                  <a:lnTo>
                    <a:pt x="50" y="148"/>
                  </a:lnTo>
                  <a:lnTo>
                    <a:pt x="48" y="153"/>
                  </a:lnTo>
                  <a:lnTo>
                    <a:pt x="43" y="156"/>
                  </a:lnTo>
                  <a:lnTo>
                    <a:pt x="40" y="160"/>
                  </a:lnTo>
                  <a:lnTo>
                    <a:pt x="36" y="162"/>
                  </a:lnTo>
                  <a:lnTo>
                    <a:pt x="33" y="167"/>
                  </a:lnTo>
                  <a:lnTo>
                    <a:pt x="29" y="169"/>
                  </a:lnTo>
                  <a:lnTo>
                    <a:pt x="26" y="173"/>
                  </a:lnTo>
                  <a:lnTo>
                    <a:pt x="24" y="176"/>
                  </a:lnTo>
                  <a:lnTo>
                    <a:pt x="21" y="179"/>
                  </a:lnTo>
                  <a:lnTo>
                    <a:pt x="17" y="181"/>
                  </a:lnTo>
                  <a:lnTo>
                    <a:pt x="15" y="183"/>
                  </a:lnTo>
                  <a:lnTo>
                    <a:pt x="13" y="187"/>
                  </a:lnTo>
                  <a:lnTo>
                    <a:pt x="11" y="189"/>
                  </a:lnTo>
                  <a:lnTo>
                    <a:pt x="7" y="193"/>
                  </a:lnTo>
                  <a:lnTo>
                    <a:pt x="4" y="197"/>
                  </a:lnTo>
                  <a:lnTo>
                    <a:pt x="2" y="200"/>
                  </a:lnTo>
                  <a:lnTo>
                    <a:pt x="1" y="201"/>
                  </a:lnTo>
                  <a:lnTo>
                    <a:pt x="0" y="202"/>
                  </a:lnTo>
                  <a:lnTo>
                    <a:pt x="2" y="203"/>
                  </a:lnTo>
                  <a:lnTo>
                    <a:pt x="3" y="201"/>
                  </a:lnTo>
                  <a:lnTo>
                    <a:pt x="5" y="200"/>
                  </a:lnTo>
                  <a:lnTo>
                    <a:pt x="8" y="197"/>
                  </a:lnTo>
                  <a:lnTo>
                    <a:pt x="10" y="196"/>
                  </a:lnTo>
                  <a:lnTo>
                    <a:pt x="13" y="194"/>
                  </a:lnTo>
                  <a:lnTo>
                    <a:pt x="16" y="192"/>
                  </a:lnTo>
                  <a:lnTo>
                    <a:pt x="18" y="189"/>
                  </a:lnTo>
                  <a:lnTo>
                    <a:pt x="21" y="187"/>
                  </a:lnTo>
                  <a:lnTo>
                    <a:pt x="24" y="183"/>
                  </a:lnTo>
                  <a:lnTo>
                    <a:pt x="28" y="181"/>
                  </a:lnTo>
                  <a:lnTo>
                    <a:pt x="31" y="177"/>
                  </a:lnTo>
                  <a:lnTo>
                    <a:pt x="35" y="175"/>
                  </a:lnTo>
                  <a:lnTo>
                    <a:pt x="40" y="170"/>
                  </a:lnTo>
                  <a:lnTo>
                    <a:pt x="44" y="168"/>
                  </a:lnTo>
                  <a:lnTo>
                    <a:pt x="48" y="163"/>
                  </a:lnTo>
                  <a:lnTo>
                    <a:pt x="53" y="160"/>
                  </a:lnTo>
                  <a:lnTo>
                    <a:pt x="57" y="156"/>
                  </a:lnTo>
                  <a:lnTo>
                    <a:pt x="61" y="151"/>
                  </a:lnTo>
                  <a:lnTo>
                    <a:pt x="67" y="147"/>
                  </a:lnTo>
                  <a:lnTo>
                    <a:pt x="72" y="143"/>
                  </a:lnTo>
                  <a:lnTo>
                    <a:pt x="76" y="138"/>
                  </a:lnTo>
                  <a:lnTo>
                    <a:pt x="81" y="134"/>
                  </a:lnTo>
                  <a:lnTo>
                    <a:pt x="86" y="129"/>
                  </a:lnTo>
                  <a:lnTo>
                    <a:pt x="92" y="124"/>
                  </a:lnTo>
                  <a:lnTo>
                    <a:pt x="98" y="119"/>
                  </a:lnTo>
                  <a:lnTo>
                    <a:pt x="102" y="115"/>
                  </a:lnTo>
                  <a:lnTo>
                    <a:pt x="107" y="109"/>
                  </a:lnTo>
                  <a:lnTo>
                    <a:pt x="113" y="105"/>
                  </a:lnTo>
                  <a:lnTo>
                    <a:pt x="119" y="101"/>
                  </a:lnTo>
                  <a:lnTo>
                    <a:pt x="125" y="96"/>
                  </a:lnTo>
                  <a:lnTo>
                    <a:pt x="130" y="91"/>
                  </a:lnTo>
                  <a:lnTo>
                    <a:pt x="134" y="85"/>
                  </a:lnTo>
                  <a:lnTo>
                    <a:pt x="139" y="80"/>
                  </a:lnTo>
                  <a:lnTo>
                    <a:pt x="145" y="76"/>
                  </a:lnTo>
                  <a:lnTo>
                    <a:pt x="150" y="71"/>
                  </a:lnTo>
                  <a:lnTo>
                    <a:pt x="154" y="66"/>
                  </a:lnTo>
                  <a:lnTo>
                    <a:pt x="160" y="62"/>
                  </a:lnTo>
                  <a:lnTo>
                    <a:pt x="165" y="58"/>
                  </a:lnTo>
                  <a:lnTo>
                    <a:pt x="170" y="52"/>
                  </a:lnTo>
                  <a:lnTo>
                    <a:pt x="175" y="47"/>
                  </a:lnTo>
                  <a:lnTo>
                    <a:pt x="180" y="43"/>
                  </a:lnTo>
                  <a:lnTo>
                    <a:pt x="185" y="39"/>
                  </a:lnTo>
                  <a:lnTo>
                    <a:pt x="189" y="36"/>
                  </a:lnTo>
                  <a:lnTo>
                    <a:pt x="194" y="31"/>
                  </a:lnTo>
                  <a:lnTo>
                    <a:pt x="197" y="27"/>
                  </a:lnTo>
                  <a:lnTo>
                    <a:pt x="202" y="24"/>
                  </a:lnTo>
                  <a:lnTo>
                    <a:pt x="205" y="20"/>
                  </a:lnTo>
                  <a:lnTo>
                    <a:pt x="209" y="17"/>
                  </a:lnTo>
                  <a:lnTo>
                    <a:pt x="212" y="13"/>
                  </a:lnTo>
                  <a:lnTo>
                    <a:pt x="216" y="11"/>
                  </a:lnTo>
                  <a:lnTo>
                    <a:pt x="220" y="7"/>
                  </a:lnTo>
                  <a:lnTo>
                    <a:pt x="222" y="5"/>
                  </a:lnTo>
                  <a:lnTo>
                    <a:pt x="224" y="2"/>
                  </a:lnTo>
                  <a:lnTo>
                    <a:pt x="228" y="0"/>
                  </a:lnTo>
                  <a:lnTo>
                    <a:pt x="208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Freeform 54"/>
            <p:cNvSpPr/>
            <p:nvPr/>
          </p:nvSpPr>
          <p:spPr bwMode="auto">
            <a:xfrm>
              <a:off x="5151" y="1164"/>
              <a:ext cx="55" cy="40"/>
            </a:xfrm>
            <a:custGeom>
              <a:avLst/>
              <a:gdLst>
                <a:gd name="T0" fmla="*/ 1 w 110"/>
                <a:gd name="T1" fmla="*/ 1 h 79"/>
                <a:gd name="T2" fmla="*/ 1 w 110"/>
                <a:gd name="T3" fmla="*/ 1 h 79"/>
                <a:gd name="T4" fmla="*/ 1 w 110"/>
                <a:gd name="T5" fmla="*/ 1 h 79"/>
                <a:gd name="T6" fmla="*/ 2 w 110"/>
                <a:gd name="T7" fmla="*/ 1 h 79"/>
                <a:gd name="T8" fmla="*/ 2 w 110"/>
                <a:gd name="T9" fmla="*/ 1 h 79"/>
                <a:gd name="T10" fmla="*/ 2 w 110"/>
                <a:gd name="T11" fmla="*/ 1 h 79"/>
                <a:gd name="T12" fmla="*/ 2 w 110"/>
                <a:gd name="T13" fmla="*/ 2 h 79"/>
                <a:gd name="T14" fmla="*/ 3 w 110"/>
                <a:gd name="T15" fmla="*/ 2 h 79"/>
                <a:gd name="T16" fmla="*/ 3 w 110"/>
                <a:gd name="T17" fmla="*/ 2 h 79"/>
                <a:gd name="T18" fmla="*/ 3 w 110"/>
                <a:gd name="T19" fmla="*/ 2 h 79"/>
                <a:gd name="T20" fmla="*/ 3 w 110"/>
                <a:gd name="T21" fmla="*/ 2 h 79"/>
                <a:gd name="T22" fmla="*/ 3 w 110"/>
                <a:gd name="T23" fmla="*/ 3 h 79"/>
                <a:gd name="T24" fmla="*/ 3 w 110"/>
                <a:gd name="T25" fmla="*/ 3 h 79"/>
                <a:gd name="T26" fmla="*/ 3 w 110"/>
                <a:gd name="T27" fmla="*/ 3 h 79"/>
                <a:gd name="T28" fmla="*/ 3 w 110"/>
                <a:gd name="T29" fmla="*/ 3 h 79"/>
                <a:gd name="T30" fmla="*/ 3 w 110"/>
                <a:gd name="T31" fmla="*/ 3 h 79"/>
                <a:gd name="T32" fmla="*/ 3 w 110"/>
                <a:gd name="T33" fmla="*/ 3 h 79"/>
                <a:gd name="T34" fmla="*/ 3 w 110"/>
                <a:gd name="T35" fmla="*/ 3 h 79"/>
                <a:gd name="T36" fmla="*/ 3 w 110"/>
                <a:gd name="T37" fmla="*/ 3 h 79"/>
                <a:gd name="T38" fmla="*/ 3 w 110"/>
                <a:gd name="T39" fmla="*/ 2 h 79"/>
                <a:gd name="T40" fmla="*/ 3 w 110"/>
                <a:gd name="T41" fmla="*/ 2 h 79"/>
                <a:gd name="T42" fmla="*/ 3 w 110"/>
                <a:gd name="T43" fmla="*/ 2 h 79"/>
                <a:gd name="T44" fmla="*/ 2 w 110"/>
                <a:gd name="T45" fmla="*/ 2 h 79"/>
                <a:gd name="T46" fmla="*/ 2 w 110"/>
                <a:gd name="T47" fmla="*/ 2 h 79"/>
                <a:gd name="T48" fmla="*/ 2 w 110"/>
                <a:gd name="T49" fmla="*/ 2 h 79"/>
                <a:gd name="T50" fmla="*/ 2 w 110"/>
                <a:gd name="T51" fmla="*/ 2 h 79"/>
                <a:gd name="T52" fmla="*/ 2 w 110"/>
                <a:gd name="T53" fmla="*/ 1 h 79"/>
                <a:gd name="T54" fmla="*/ 2 w 110"/>
                <a:gd name="T55" fmla="*/ 1 h 79"/>
                <a:gd name="T56" fmla="*/ 1 w 110"/>
                <a:gd name="T57" fmla="*/ 1 h 79"/>
                <a:gd name="T58" fmla="*/ 1 w 110"/>
                <a:gd name="T59" fmla="*/ 1 h 79"/>
                <a:gd name="T60" fmla="*/ 1 w 110"/>
                <a:gd name="T61" fmla="*/ 1 h 79"/>
                <a:gd name="T62" fmla="*/ 1 w 110"/>
                <a:gd name="T63" fmla="*/ 1 h 79"/>
                <a:gd name="T64" fmla="*/ 1 w 110"/>
                <a:gd name="T65" fmla="*/ 0 h 79"/>
                <a:gd name="T66" fmla="*/ 1 w 110"/>
                <a:gd name="T67" fmla="*/ 1 h 7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0"/>
                <a:gd name="T103" fmla="*/ 0 h 79"/>
                <a:gd name="T104" fmla="*/ 110 w 110"/>
                <a:gd name="T105" fmla="*/ 79 h 7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0" h="79">
                  <a:moveTo>
                    <a:pt x="15" y="1"/>
                  </a:moveTo>
                  <a:lnTo>
                    <a:pt x="16" y="1"/>
                  </a:lnTo>
                  <a:lnTo>
                    <a:pt x="19" y="2"/>
                  </a:lnTo>
                  <a:lnTo>
                    <a:pt x="21" y="5"/>
                  </a:lnTo>
                  <a:lnTo>
                    <a:pt x="23" y="6"/>
                  </a:lnTo>
                  <a:lnTo>
                    <a:pt x="27" y="8"/>
                  </a:lnTo>
                  <a:lnTo>
                    <a:pt x="30" y="11"/>
                  </a:lnTo>
                  <a:lnTo>
                    <a:pt x="34" y="14"/>
                  </a:lnTo>
                  <a:lnTo>
                    <a:pt x="39" y="17"/>
                  </a:lnTo>
                  <a:lnTo>
                    <a:pt x="42" y="19"/>
                  </a:lnTo>
                  <a:lnTo>
                    <a:pt x="46" y="23"/>
                  </a:lnTo>
                  <a:lnTo>
                    <a:pt x="50" y="26"/>
                  </a:lnTo>
                  <a:lnTo>
                    <a:pt x="54" y="30"/>
                  </a:lnTo>
                  <a:lnTo>
                    <a:pt x="59" y="33"/>
                  </a:lnTo>
                  <a:lnTo>
                    <a:pt x="62" y="37"/>
                  </a:lnTo>
                  <a:lnTo>
                    <a:pt x="67" y="39"/>
                  </a:lnTo>
                  <a:lnTo>
                    <a:pt x="72" y="44"/>
                  </a:lnTo>
                  <a:lnTo>
                    <a:pt x="75" y="47"/>
                  </a:lnTo>
                  <a:lnTo>
                    <a:pt x="79" y="51"/>
                  </a:lnTo>
                  <a:lnTo>
                    <a:pt x="84" y="53"/>
                  </a:lnTo>
                  <a:lnTo>
                    <a:pt x="87" y="58"/>
                  </a:lnTo>
                  <a:lnTo>
                    <a:pt x="91" y="60"/>
                  </a:lnTo>
                  <a:lnTo>
                    <a:pt x="94" y="64"/>
                  </a:lnTo>
                  <a:lnTo>
                    <a:pt x="97" y="66"/>
                  </a:lnTo>
                  <a:lnTo>
                    <a:pt x="100" y="70"/>
                  </a:lnTo>
                  <a:lnTo>
                    <a:pt x="102" y="71"/>
                  </a:lnTo>
                  <a:lnTo>
                    <a:pt x="105" y="73"/>
                  </a:lnTo>
                  <a:lnTo>
                    <a:pt x="106" y="75"/>
                  </a:lnTo>
                  <a:lnTo>
                    <a:pt x="108" y="77"/>
                  </a:lnTo>
                  <a:lnTo>
                    <a:pt x="110" y="79"/>
                  </a:lnTo>
                  <a:lnTo>
                    <a:pt x="107" y="78"/>
                  </a:lnTo>
                  <a:lnTo>
                    <a:pt x="106" y="77"/>
                  </a:lnTo>
                  <a:lnTo>
                    <a:pt x="105" y="76"/>
                  </a:lnTo>
                  <a:lnTo>
                    <a:pt x="101" y="75"/>
                  </a:lnTo>
                  <a:lnTo>
                    <a:pt x="99" y="72"/>
                  </a:lnTo>
                  <a:lnTo>
                    <a:pt x="95" y="70"/>
                  </a:lnTo>
                  <a:lnTo>
                    <a:pt x="92" y="67"/>
                  </a:lnTo>
                  <a:lnTo>
                    <a:pt x="88" y="65"/>
                  </a:lnTo>
                  <a:lnTo>
                    <a:pt x="84" y="62"/>
                  </a:lnTo>
                  <a:lnTo>
                    <a:pt x="80" y="58"/>
                  </a:lnTo>
                  <a:lnTo>
                    <a:pt x="75" y="56"/>
                  </a:lnTo>
                  <a:lnTo>
                    <a:pt x="71" y="52"/>
                  </a:lnTo>
                  <a:lnTo>
                    <a:pt x="67" y="50"/>
                  </a:lnTo>
                  <a:lnTo>
                    <a:pt x="66" y="49"/>
                  </a:lnTo>
                  <a:lnTo>
                    <a:pt x="62" y="46"/>
                  </a:lnTo>
                  <a:lnTo>
                    <a:pt x="61" y="45"/>
                  </a:lnTo>
                  <a:lnTo>
                    <a:pt x="59" y="43"/>
                  </a:lnTo>
                  <a:lnTo>
                    <a:pt x="56" y="41"/>
                  </a:lnTo>
                  <a:lnTo>
                    <a:pt x="53" y="39"/>
                  </a:lnTo>
                  <a:lnTo>
                    <a:pt x="52" y="38"/>
                  </a:lnTo>
                  <a:lnTo>
                    <a:pt x="49" y="37"/>
                  </a:lnTo>
                  <a:lnTo>
                    <a:pt x="46" y="34"/>
                  </a:lnTo>
                  <a:lnTo>
                    <a:pt x="43" y="32"/>
                  </a:lnTo>
                  <a:lnTo>
                    <a:pt x="41" y="31"/>
                  </a:lnTo>
                  <a:lnTo>
                    <a:pt x="36" y="27"/>
                  </a:lnTo>
                  <a:lnTo>
                    <a:pt x="32" y="24"/>
                  </a:lnTo>
                  <a:lnTo>
                    <a:pt x="27" y="20"/>
                  </a:lnTo>
                  <a:lnTo>
                    <a:pt x="23" y="17"/>
                  </a:lnTo>
                  <a:lnTo>
                    <a:pt x="19" y="14"/>
                  </a:lnTo>
                  <a:lnTo>
                    <a:pt x="15" y="12"/>
                  </a:lnTo>
                  <a:lnTo>
                    <a:pt x="11" y="8"/>
                  </a:lnTo>
                  <a:lnTo>
                    <a:pt x="9" y="7"/>
                  </a:lnTo>
                  <a:lnTo>
                    <a:pt x="5" y="5"/>
                  </a:lnTo>
                  <a:lnTo>
                    <a:pt x="3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Freeform 55"/>
            <p:cNvSpPr/>
            <p:nvPr/>
          </p:nvSpPr>
          <p:spPr bwMode="auto">
            <a:xfrm>
              <a:off x="5251" y="1243"/>
              <a:ext cx="48" cy="33"/>
            </a:xfrm>
            <a:custGeom>
              <a:avLst/>
              <a:gdLst>
                <a:gd name="T0" fmla="*/ 0 w 97"/>
                <a:gd name="T1" fmla="*/ 0 h 65"/>
                <a:gd name="T2" fmla="*/ 0 w 97"/>
                <a:gd name="T3" fmla="*/ 1 h 65"/>
                <a:gd name="T4" fmla="*/ 0 w 97"/>
                <a:gd name="T5" fmla="*/ 1 h 65"/>
                <a:gd name="T6" fmla="*/ 0 w 97"/>
                <a:gd name="T7" fmla="*/ 1 h 65"/>
                <a:gd name="T8" fmla="*/ 1 w 97"/>
                <a:gd name="T9" fmla="*/ 1 h 65"/>
                <a:gd name="T10" fmla="*/ 1 w 97"/>
                <a:gd name="T11" fmla="*/ 1 h 65"/>
                <a:gd name="T12" fmla="*/ 1 w 97"/>
                <a:gd name="T13" fmla="*/ 1 h 65"/>
                <a:gd name="T14" fmla="*/ 1 w 97"/>
                <a:gd name="T15" fmla="*/ 1 h 65"/>
                <a:gd name="T16" fmla="*/ 1 w 97"/>
                <a:gd name="T17" fmla="*/ 1 h 65"/>
                <a:gd name="T18" fmla="*/ 1 w 97"/>
                <a:gd name="T19" fmla="*/ 1 h 65"/>
                <a:gd name="T20" fmla="*/ 1 w 97"/>
                <a:gd name="T21" fmla="*/ 1 h 65"/>
                <a:gd name="T22" fmla="*/ 1 w 97"/>
                <a:gd name="T23" fmla="*/ 1 h 65"/>
                <a:gd name="T24" fmla="*/ 1 w 97"/>
                <a:gd name="T25" fmla="*/ 1 h 65"/>
                <a:gd name="T26" fmla="*/ 1 w 97"/>
                <a:gd name="T27" fmla="*/ 1 h 65"/>
                <a:gd name="T28" fmla="*/ 2 w 97"/>
                <a:gd name="T29" fmla="*/ 2 h 65"/>
                <a:gd name="T30" fmla="*/ 2 w 97"/>
                <a:gd name="T31" fmla="*/ 2 h 65"/>
                <a:gd name="T32" fmla="*/ 2 w 97"/>
                <a:gd name="T33" fmla="*/ 2 h 65"/>
                <a:gd name="T34" fmla="*/ 2 w 97"/>
                <a:gd name="T35" fmla="*/ 2 h 65"/>
                <a:gd name="T36" fmla="*/ 2 w 97"/>
                <a:gd name="T37" fmla="*/ 2 h 65"/>
                <a:gd name="T38" fmla="*/ 2 w 97"/>
                <a:gd name="T39" fmla="*/ 2 h 65"/>
                <a:gd name="T40" fmla="*/ 2 w 97"/>
                <a:gd name="T41" fmla="*/ 2 h 65"/>
                <a:gd name="T42" fmla="*/ 2 w 97"/>
                <a:gd name="T43" fmla="*/ 2 h 65"/>
                <a:gd name="T44" fmla="*/ 2 w 97"/>
                <a:gd name="T45" fmla="*/ 2 h 65"/>
                <a:gd name="T46" fmla="*/ 2 w 97"/>
                <a:gd name="T47" fmla="*/ 2 h 65"/>
                <a:gd name="T48" fmla="*/ 3 w 97"/>
                <a:gd name="T49" fmla="*/ 2 h 65"/>
                <a:gd name="T50" fmla="*/ 3 w 97"/>
                <a:gd name="T51" fmla="*/ 3 h 65"/>
                <a:gd name="T52" fmla="*/ 3 w 97"/>
                <a:gd name="T53" fmla="*/ 3 h 65"/>
                <a:gd name="T54" fmla="*/ 2 w 97"/>
                <a:gd name="T55" fmla="*/ 2 h 65"/>
                <a:gd name="T56" fmla="*/ 2 w 97"/>
                <a:gd name="T57" fmla="*/ 2 h 65"/>
                <a:gd name="T58" fmla="*/ 2 w 97"/>
                <a:gd name="T59" fmla="*/ 2 h 65"/>
                <a:gd name="T60" fmla="*/ 2 w 97"/>
                <a:gd name="T61" fmla="*/ 2 h 65"/>
                <a:gd name="T62" fmla="*/ 2 w 97"/>
                <a:gd name="T63" fmla="*/ 2 h 65"/>
                <a:gd name="T64" fmla="*/ 2 w 97"/>
                <a:gd name="T65" fmla="*/ 2 h 65"/>
                <a:gd name="T66" fmla="*/ 2 w 97"/>
                <a:gd name="T67" fmla="*/ 2 h 65"/>
                <a:gd name="T68" fmla="*/ 2 w 97"/>
                <a:gd name="T69" fmla="*/ 2 h 65"/>
                <a:gd name="T70" fmla="*/ 2 w 97"/>
                <a:gd name="T71" fmla="*/ 2 h 65"/>
                <a:gd name="T72" fmla="*/ 2 w 97"/>
                <a:gd name="T73" fmla="*/ 2 h 65"/>
                <a:gd name="T74" fmla="*/ 2 w 97"/>
                <a:gd name="T75" fmla="*/ 2 h 65"/>
                <a:gd name="T76" fmla="*/ 1 w 97"/>
                <a:gd name="T77" fmla="*/ 2 h 65"/>
                <a:gd name="T78" fmla="*/ 1 w 97"/>
                <a:gd name="T79" fmla="*/ 2 h 65"/>
                <a:gd name="T80" fmla="*/ 1 w 97"/>
                <a:gd name="T81" fmla="*/ 2 h 65"/>
                <a:gd name="T82" fmla="*/ 1 w 97"/>
                <a:gd name="T83" fmla="*/ 2 h 65"/>
                <a:gd name="T84" fmla="*/ 1 w 97"/>
                <a:gd name="T85" fmla="*/ 1 h 65"/>
                <a:gd name="T86" fmla="*/ 1 w 97"/>
                <a:gd name="T87" fmla="*/ 1 h 65"/>
                <a:gd name="T88" fmla="*/ 1 w 97"/>
                <a:gd name="T89" fmla="*/ 1 h 65"/>
                <a:gd name="T90" fmla="*/ 0 w 97"/>
                <a:gd name="T91" fmla="*/ 1 h 65"/>
                <a:gd name="T92" fmla="*/ 0 w 97"/>
                <a:gd name="T93" fmla="*/ 1 h 65"/>
                <a:gd name="T94" fmla="*/ 0 w 97"/>
                <a:gd name="T95" fmla="*/ 1 h 65"/>
                <a:gd name="T96" fmla="*/ 0 w 97"/>
                <a:gd name="T97" fmla="*/ 1 h 65"/>
                <a:gd name="T98" fmla="*/ 0 w 97"/>
                <a:gd name="T99" fmla="*/ 1 h 65"/>
                <a:gd name="T100" fmla="*/ 0 w 97"/>
                <a:gd name="T101" fmla="*/ 1 h 65"/>
                <a:gd name="T102" fmla="*/ 0 w 97"/>
                <a:gd name="T103" fmla="*/ 1 h 65"/>
                <a:gd name="T104" fmla="*/ 0 w 97"/>
                <a:gd name="T105" fmla="*/ 1 h 65"/>
                <a:gd name="T106" fmla="*/ 0 w 97"/>
                <a:gd name="T107" fmla="*/ 1 h 65"/>
                <a:gd name="T108" fmla="*/ 0 w 97"/>
                <a:gd name="T109" fmla="*/ 1 h 65"/>
                <a:gd name="T110" fmla="*/ 0 w 97"/>
                <a:gd name="T111" fmla="*/ 1 h 65"/>
                <a:gd name="T112" fmla="*/ 0 w 97"/>
                <a:gd name="T113" fmla="*/ 1 h 65"/>
                <a:gd name="T114" fmla="*/ 0 w 97"/>
                <a:gd name="T115" fmla="*/ 0 h 65"/>
                <a:gd name="T116" fmla="*/ 0 w 97"/>
                <a:gd name="T117" fmla="*/ 0 h 6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97"/>
                <a:gd name="T178" fmla="*/ 0 h 65"/>
                <a:gd name="T179" fmla="*/ 97 w 97"/>
                <a:gd name="T180" fmla="*/ 65 h 6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97" h="65">
                  <a:moveTo>
                    <a:pt x="20" y="0"/>
                  </a:moveTo>
                  <a:lnTo>
                    <a:pt x="24" y="2"/>
                  </a:lnTo>
                  <a:lnTo>
                    <a:pt x="27" y="3"/>
                  </a:lnTo>
                  <a:lnTo>
                    <a:pt x="29" y="4"/>
                  </a:lnTo>
                  <a:lnTo>
                    <a:pt x="32" y="8"/>
                  </a:lnTo>
                  <a:lnTo>
                    <a:pt x="35" y="10"/>
                  </a:lnTo>
                  <a:lnTo>
                    <a:pt x="38" y="12"/>
                  </a:lnTo>
                  <a:lnTo>
                    <a:pt x="40" y="15"/>
                  </a:lnTo>
                  <a:lnTo>
                    <a:pt x="44" y="17"/>
                  </a:lnTo>
                  <a:lnTo>
                    <a:pt x="48" y="21"/>
                  </a:lnTo>
                  <a:lnTo>
                    <a:pt x="51" y="23"/>
                  </a:lnTo>
                  <a:lnTo>
                    <a:pt x="55" y="26"/>
                  </a:lnTo>
                  <a:lnTo>
                    <a:pt x="58" y="30"/>
                  </a:lnTo>
                  <a:lnTo>
                    <a:pt x="62" y="32"/>
                  </a:lnTo>
                  <a:lnTo>
                    <a:pt x="67" y="36"/>
                  </a:lnTo>
                  <a:lnTo>
                    <a:pt x="69" y="39"/>
                  </a:lnTo>
                  <a:lnTo>
                    <a:pt x="72" y="42"/>
                  </a:lnTo>
                  <a:lnTo>
                    <a:pt x="76" y="45"/>
                  </a:lnTo>
                  <a:lnTo>
                    <a:pt x="80" y="48"/>
                  </a:lnTo>
                  <a:lnTo>
                    <a:pt x="82" y="50"/>
                  </a:lnTo>
                  <a:lnTo>
                    <a:pt x="85" y="54"/>
                  </a:lnTo>
                  <a:lnTo>
                    <a:pt x="88" y="56"/>
                  </a:lnTo>
                  <a:lnTo>
                    <a:pt x="90" y="58"/>
                  </a:lnTo>
                  <a:lnTo>
                    <a:pt x="94" y="63"/>
                  </a:lnTo>
                  <a:lnTo>
                    <a:pt x="96" y="64"/>
                  </a:lnTo>
                  <a:lnTo>
                    <a:pt x="97" y="65"/>
                  </a:lnTo>
                  <a:lnTo>
                    <a:pt x="96" y="65"/>
                  </a:lnTo>
                  <a:lnTo>
                    <a:pt x="95" y="64"/>
                  </a:lnTo>
                  <a:lnTo>
                    <a:pt x="94" y="64"/>
                  </a:lnTo>
                  <a:lnTo>
                    <a:pt x="91" y="63"/>
                  </a:lnTo>
                  <a:lnTo>
                    <a:pt x="89" y="62"/>
                  </a:lnTo>
                  <a:lnTo>
                    <a:pt x="87" y="60"/>
                  </a:lnTo>
                  <a:lnTo>
                    <a:pt x="84" y="57"/>
                  </a:lnTo>
                  <a:lnTo>
                    <a:pt x="81" y="56"/>
                  </a:lnTo>
                  <a:lnTo>
                    <a:pt x="77" y="54"/>
                  </a:lnTo>
                  <a:lnTo>
                    <a:pt x="72" y="51"/>
                  </a:lnTo>
                  <a:lnTo>
                    <a:pt x="69" y="48"/>
                  </a:lnTo>
                  <a:lnTo>
                    <a:pt x="65" y="47"/>
                  </a:lnTo>
                  <a:lnTo>
                    <a:pt x="62" y="43"/>
                  </a:lnTo>
                  <a:lnTo>
                    <a:pt x="57" y="41"/>
                  </a:lnTo>
                  <a:lnTo>
                    <a:pt x="52" y="38"/>
                  </a:lnTo>
                  <a:lnTo>
                    <a:pt x="48" y="35"/>
                  </a:lnTo>
                  <a:lnTo>
                    <a:pt x="44" y="32"/>
                  </a:lnTo>
                  <a:lnTo>
                    <a:pt x="39" y="30"/>
                  </a:lnTo>
                  <a:lnTo>
                    <a:pt x="36" y="26"/>
                  </a:lnTo>
                  <a:lnTo>
                    <a:pt x="31" y="24"/>
                  </a:lnTo>
                  <a:lnTo>
                    <a:pt x="27" y="22"/>
                  </a:lnTo>
                  <a:lnTo>
                    <a:pt x="24" y="19"/>
                  </a:lnTo>
                  <a:lnTo>
                    <a:pt x="19" y="17"/>
                  </a:lnTo>
                  <a:lnTo>
                    <a:pt x="16" y="15"/>
                  </a:lnTo>
                  <a:lnTo>
                    <a:pt x="14" y="12"/>
                  </a:lnTo>
                  <a:lnTo>
                    <a:pt x="10" y="10"/>
                  </a:lnTo>
                  <a:lnTo>
                    <a:pt x="7" y="9"/>
                  </a:lnTo>
                  <a:lnTo>
                    <a:pt x="5" y="8"/>
                  </a:lnTo>
                  <a:lnTo>
                    <a:pt x="4" y="6"/>
                  </a:lnTo>
                  <a:lnTo>
                    <a:pt x="1" y="4"/>
                  </a:lnTo>
                  <a:lnTo>
                    <a:pt x="0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Freeform 56"/>
            <p:cNvSpPr/>
            <p:nvPr/>
          </p:nvSpPr>
          <p:spPr bwMode="auto">
            <a:xfrm>
              <a:off x="5219" y="1286"/>
              <a:ext cx="9" cy="197"/>
            </a:xfrm>
            <a:custGeom>
              <a:avLst/>
              <a:gdLst>
                <a:gd name="T0" fmla="*/ 0 w 17"/>
                <a:gd name="T1" fmla="*/ 3 h 392"/>
                <a:gd name="T2" fmla="*/ 0 w 17"/>
                <a:gd name="T3" fmla="*/ 3 h 392"/>
                <a:gd name="T4" fmla="*/ 0 w 17"/>
                <a:gd name="T5" fmla="*/ 3 h 392"/>
                <a:gd name="T6" fmla="*/ 0 w 17"/>
                <a:gd name="T7" fmla="*/ 4 h 392"/>
                <a:gd name="T8" fmla="*/ 1 w 17"/>
                <a:gd name="T9" fmla="*/ 4 h 392"/>
                <a:gd name="T10" fmla="*/ 1 w 17"/>
                <a:gd name="T11" fmla="*/ 5 h 392"/>
                <a:gd name="T12" fmla="*/ 1 w 17"/>
                <a:gd name="T13" fmla="*/ 5 h 392"/>
                <a:gd name="T14" fmla="*/ 1 w 17"/>
                <a:gd name="T15" fmla="*/ 6 h 392"/>
                <a:gd name="T16" fmla="*/ 1 w 17"/>
                <a:gd name="T17" fmla="*/ 7 h 392"/>
                <a:gd name="T18" fmla="*/ 1 w 17"/>
                <a:gd name="T19" fmla="*/ 7 h 392"/>
                <a:gd name="T20" fmla="*/ 1 w 17"/>
                <a:gd name="T21" fmla="*/ 8 h 392"/>
                <a:gd name="T22" fmla="*/ 1 w 17"/>
                <a:gd name="T23" fmla="*/ 9 h 392"/>
                <a:gd name="T24" fmla="*/ 1 w 17"/>
                <a:gd name="T25" fmla="*/ 9 h 392"/>
                <a:gd name="T26" fmla="*/ 1 w 17"/>
                <a:gd name="T27" fmla="*/ 10 h 392"/>
                <a:gd name="T28" fmla="*/ 1 w 17"/>
                <a:gd name="T29" fmla="*/ 11 h 392"/>
                <a:gd name="T30" fmla="*/ 1 w 17"/>
                <a:gd name="T31" fmla="*/ 11 h 392"/>
                <a:gd name="T32" fmla="*/ 1 w 17"/>
                <a:gd name="T33" fmla="*/ 12 h 392"/>
                <a:gd name="T34" fmla="*/ 1 w 17"/>
                <a:gd name="T35" fmla="*/ 12 h 392"/>
                <a:gd name="T36" fmla="*/ 1 w 17"/>
                <a:gd name="T37" fmla="*/ 13 h 392"/>
                <a:gd name="T38" fmla="*/ 1 w 17"/>
                <a:gd name="T39" fmla="*/ 13 h 392"/>
                <a:gd name="T40" fmla="*/ 1 w 17"/>
                <a:gd name="T41" fmla="*/ 13 h 392"/>
                <a:gd name="T42" fmla="*/ 1 w 17"/>
                <a:gd name="T43" fmla="*/ 13 h 392"/>
                <a:gd name="T44" fmla="*/ 1 w 17"/>
                <a:gd name="T45" fmla="*/ 12 h 392"/>
                <a:gd name="T46" fmla="*/ 1 w 17"/>
                <a:gd name="T47" fmla="*/ 12 h 392"/>
                <a:gd name="T48" fmla="*/ 1 w 17"/>
                <a:gd name="T49" fmla="*/ 12 h 392"/>
                <a:gd name="T50" fmla="*/ 1 w 17"/>
                <a:gd name="T51" fmla="*/ 11 h 392"/>
                <a:gd name="T52" fmla="*/ 1 w 17"/>
                <a:gd name="T53" fmla="*/ 11 h 392"/>
                <a:gd name="T54" fmla="*/ 1 w 17"/>
                <a:gd name="T55" fmla="*/ 10 h 392"/>
                <a:gd name="T56" fmla="*/ 1 w 17"/>
                <a:gd name="T57" fmla="*/ 10 h 392"/>
                <a:gd name="T58" fmla="*/ 1 w 17"/>
                <a:gd name="T59" fmla="*/ 9 h 392"/>
                <a:gd name="T60" fmla="*/ 1 w 17"/>
                <a:gd name="T61" fmla="*/ 9 h 392"/>
                <a:gd name="T62" fmla="*/ 1 w 17"/>
                <a:gd name="T63" fmla="*/ 8 h 392"/>
                <a:gd name="T64" fmla="*/ 1 w 17"/>
                <a:gd name="T65" fmla="*/ 8 h 392"/>
                <a:gd name="T66" fmla="*/ 1 w 17"/>
                <a:gd name="T67" fmla="*/ 7 h 392"/>
                <a:gd name="T68" fmla="*/ 1 w 17"/>
                <a:gd name="T69" fmla="*/ 7 h 392"/>
                <a:gd name="T70" fmla="*/ 1 w 17"/>
                <a:gd name="T71" fmla="*/ 7 h 392"/>
                <a:gd name="T72" fmla="*/ 1 w 17"/>
                <a:gd name="T73" fmla="*/ 6 h 392"/>
                <a:gd name="T74" fmla="*/ 1 w 17"/>
                <a:gd name="T75" fmla="*/ 6 h 392"/>
                <a:gd name="T76" fmla="*/ 1 w 17"/>
                <a:gd name="T77" fmla="*/ 6 h 392"/>
                <a:gd name="T78" fmla="*/ 1 w 17"/>
                <a:gd name="T79" fmla="*/ 5 h 392"/>
                <a:gd name="T80" fmla="*/ 1 w 17"/>
                <a:gd name="T81" fmla="*/ 5 h 392"/>
                <a:gd name="T82" fmla="*/ 1 w 17"/>
                <a:gd name="T83" fmla="*/ 5 h 392"/>
                <a:gd name="T84" fmla="*/ 1 w 17"/>
                <a:gd name="T85" fmla="*/ 5 h 392"/>
                <a:gd name="T86" fmla="*/ 1 w 17"/>
                <a:gd name="T87" fmla="*/ 4 h 392"/>
                <a:gd name="T88" fmla="*/ 1 w 17"/>
                <a:gd name="T89" fmla="*/ 4 h 392"/>
                <a:gd name="T90" fmla="*/ 1 w 17"/>
                <a:gd name="T91" fmla="*/ 4 h 392"/>
                <a:gd name="T92" fmla="*/ 1 w 17"/>
                <a:gd name="T93" fmla="*/ 4 h 392"/>
                <a:gd name="T94" fmla="*/ 1 w 17"/>
                <a:gd name="T95" fmla="*/ 3 h 392"/>
                <a:gd name="T96" fmla="*/ 1 w 17"/>
                <a:gd name="T97" fmla="*/ 3 h 392"/>
                <a:gd name="T98" fmla="*/ 1 w 17"/>
                <a:gd name="T99" fmla="*/ 3 h 392"/>
                <a:gd name="T100" fmla="*/ 1 w 17"/>
                <a:gd name="T101" fmla="*/ 2 h 392"/>
                <a:gd name="T102" fmla="*/ 1 w 17"/>
                <a:gd name="T103" fmla="*/ 2 h 392"/>
                <a:gd name="T104" fmla="*/ 1 w 17"/>
                <a:gd name="T105" fmla="*/ 2 h 392"/>
                <a:gd name="T106" fmla="*/ 1 w 17"/>
                <a:gd name="T107" fmla="*/ 2 h 392"/>
                <a:gd name="T108" fmla="*/ 1 w 17"/>
                <a:gd name="T109" fmla="*/ 1 h 392"/>
                <a:gd name="T110" fmla="*/ 1 w 17"/>
                <a:gd name="T111" fmla="*/ 1 h 392"/>
                <a:gd name="T112" fmla="*/ 1 w 17"/>
                <a:gd name="T113" fmla="*/ 1 h 392"/>
                <a:gd name="T114" fmla="*/ 1 w 17"/>
                <a:gd name="T115" fmla="*/ 1 h 392"/>
                <a:gd name="T116" fmla="*/ 0 w 17"/>
                <a:gd name="T117" fmla="*/ 2 h 39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7"/>
                <a:gd name="T178" fmla="*/ 0 h 392"/>
                <a:gd name="T179" fmla="*/ 17 w 17"/>
                <a:gd name="T180" fmla="*/ 392 h 39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7" h="392">
                  <a:moveTo>
                    <a:pt x="0" y="62"/>
                  </a:moveTo>
                  <a:lnTo>
                    <a:pt x="0" y="64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1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0" y="93"/>
                  </a:lnTo>
                  <a:lnTo>
                    <a:pt x="0" y="98"/>
                  </a:lnTo>
                  <a:lnTo>
                    <a:pt x="1" y="104"/>
                  </a:lnTo>
                  <a:lnTo>
                    <a:pt x="1" y="108"/>
                  </a:lnTo>
                  <a:lnTo>
                    <a:pt x="1" y="116"/>
                  </a:lnTo>
                  <a:lnTo>
                    <a:pt x="1" y="120"/>
                  </a:lnTo>
                  <a:lnTo>
                    <a:pt x="2" y="127"/>
                  </a:lnTo>
                  <a:lnTo>
                    <a:pt x="2" y="133"/>
                  </a:lnTo>
                  <a:lnTo>
                    <a:pt x="2" y="139"/>
                  </a:lnTo>
                  <a:lnTo>
                    <a:pt x="2" y="146"/>
                  </a:lnTo>
                  <a:lnTo>
                    <a:pt x="2" y="153"/>
                  </a:lnTo>
                  <a:lnTo>
                    <a:pt x="2" y="159"/>
                  </a:lnTo>
                  <a:lnTo>
                    <a:pt x="3" y="166"/>
                  </a:lnTo>
                  <a:lnTo>
                    <a:pt x="3" y="175"/>
                  </a:lnTo>
                  <a:lnTo>
                    <a:pt x="3" y="182"/>
                  </a:lnTo>
                  <a:lnTo>
                    <a:pt x="3" y="190"/>
                  </a:lnTo>
                  <a:lnTo>
                    <a:pt x="4" y="197"/>
                  </a:lnTo>
                  <a:lnTo>
                    <a:pt x="4" y="204"/>
                  </a:lnTo>
                  <a:lnTo>
                    <a:pt x="4" y="213"/>
                  </a:lnTo>
                  <a:lnTo>
                    <a:pt x="4" y="218"/>
                  </a:lnTo>
                  <a:lnTo>
                    <a:pt x="4" y="228"/>
                  </a:lnTo>
                  <a:lnTo>
                    <a:pt x="6" y="235"/>
                  </a:lnTo>
                  <a:lnTo>
                    <a:pt x="7" y="242"/>
                  </a:lnTo>
                  <a:lnTo>
                    <a:pt x="7" y="249"/>
                  </a:lnTo>
                  <a:lnTo>
                    <a:pt x="7" y="257"/>
                  </a:lnTo>
                  <a:lnTo>
                    <a:pt x="7" y="266"/>
                  </a:lnTo>
                  <a:lnTo>
                    <a:pt x="7" y="272"/>
                  </a:lnTo>
                  <a:lnTo>
                    <a:pt x="7" y="280"/>
                  </a:lnTo>
                  <a:lnTo>
                    <a:pt x="8" y="287"/>
                  </a:lnTo>
                  <a:lnTo>
                    <a:pt x="8" y="293"/>
                  </a:lnTo>
                  <a:lnTo>
                    <a:pt x="8" y="301"/>
                  </a:lnTo>
                  <a:lnTo>
                    <a:pt x="8" y="307"/>
                  </a:lnTo>
                  <a:lnTo>
                    <a:pt x="8" y="314"/>
                  </a:lnTo>
                  <a:lnTo>
                    <a:pt x="9" y="321"/>
                  </a:lnTo>
                  <a:lnTo>
                    <a:pt x="9" y="326"/>
                  </a:lnTo>
                  <a:lnTo>
                    <a:pt x="9" y="333"/>
                  </a:lnTo>
                  <a:lnTo>
                    <a:pt x="10" y="339"/>
                  </a:lnTo>
                  <a:lnTo>
                    <a:pt x="10" y="345"/>
                  </a:lnTo>
                  <a:lnTo>
                    <a:pt x="10" y="350"/>
                  </a:lnTo>
                  <a:lnTo>
                    <a:pt x="10" y="356"/>
                  </a:lnTo>
                  <a:lnTo>
                    <a:pt x="10" y="359"/>
                  </a:lnTo>
                  <a:lnTo>
                    <a:pt x="10" y="364"/>
                  </a:lnTo>
                  <a:lnTo>
                    <a:pt x="11" y="369"/>
                  </a:lnTo>
                  <a:lnTo>
                    <a:pt x="11" y="372"/>
                  </a:lnTo>
                  <a:lnTo>
                    <a:pt x="11" y="377"/>
                  </a:lnTo>
                  <a:lnTo>
                    <a:pt x="11" y="379"/>
                  </a:lnTo>
                  <a:lnTo>
                    <a:pt x="11" y="384"/>
                  </a:lnTo>
                  <a:lnTo>
                    <a:pt x="11" y="385"/>
                  </a:lnTo>
                  <a:lnTo>
                    <a:pt x="13" y="387"/>
                  </a:lnTo>
                  <a:lnTo>
                    <a:pt x="13" y="390"/>
                  </a:lnTo>
                  <a:lnTo>
                    <a:pt x="13" y="392"/>
                  </a:lnTo>
                  <a:lnTo>
                    <a:pt x="14" y="392"/>
                  </a:lnTo>
                  <a:lnTo>
                    <a:pt x="14" y="390"/>
                  </a:lnTo>
                  <a:lnTo>
                    <a:pt x="14" y="387"/>
                  </a:lnTo>
                  <a:lnTo>
                    <a:pt x="14" y="385"/>
                  </a:lnTo>
                  <a:lnTo>
                    <a:pt x="14" y="384"/>
                  </a:lnTo>
                  <a:lnTo>
                    <a:pt x="14" y="380"/>
                  </a:lnTo>
                  <a:lnTo>
                    <a:pt x="14" y="378"/>
                  </a:lnTo>
                  <a:lnTo>
                    <a:pt x="14" y="376"/>
                  </a:lnTo>
                  <a:lnTo>
                    <a:pt x="14" y="372"/>
                  </a:lnTo>
                  <a:lnTo>
                    <a:pt x="14" y="369"/>
                  </a:lnTo>
                  <a:lnTo>
                    <a:pt x="15" y="365"/>
                  </a:lnTo>
                  <a:lnTo>
                    <a:pt x="15" y="361"/>
                  </a:lnTo>
                  <a:lnTo>
                    <a:pt x="15" y="358"/>
                  </a:lnTo>
                  <a:lnTo>
                    <a:pt x="15" y="354"/>
                  </a:lnTo>
                  <a:lnTo>
                    <a:pt x="15" y="350"/>
                  </a:lnTo>
                  <a:lnTo>
                    <a:pt x="15" y="345"/>
                  </a:lnTo>
                  <a:lnTo>
                    <a:pt x="15" y="341"/>
                  </a:lnTo>
                  <a:lnTo>
                    <a:pt x="15" y="337"/>
                  </a:lnTo>
                  <a:lnTo>
                    <a:pt x="15" y="332"/>
                  </a:lnTo>
                  <a:lnTo>
                    <a:pt x="15" y="326"/>
                  </a:lnTo>
                  <a:lnTo>
                    <a:pt x="15" y="322"/>
                  </a:lnTo>
                  <a:lnTo>
                    <a:pt x="15" y="317"/>
                  </a:lnTo>
                  <a:lnTo>
                    <a:pt x="15" y="312"/>
                  </a:lnTo>
                  <a:lnTo>
                    <a:pt x="15" y="307"/>
                  </a:lnTo>
                  <a:lnTo>
                    <a:pt x="15" y="302"/>
                  </a:lnTo>
                  <a:lnTo>
                    <a:pt x="15" y="296"/>
                  </a:lnTo>
                  <a:lnTo>
                    <a:pt x="16" y="292"/>
                  </a:lnTo>
                  <a:lnTo>
                    <a:pt x="16" y="286"/>
                  </a:lnTo>
                  <a:lnTo>
                    <a:pt x="16" y="280"/>
                  </a:lnTo>
                  <a:lnTo>
                    <a:pt x="16" y="275"/>
                  </a:lnTo>
                  <a:lnTo>
                    <a:pt x="16" y="269"/>
                  </a:lnTo>
                  <a:lnTo>
                    <a:pt x="16" y="263"/>
                  </a:lnTo>
                  <a:lnTo>
                    <a:pt x="16" y="259"/>
                  </a:lnTo>
                  <a:lnTo>
                    <a:pt x="16" y="253"/>
                  </a:lnTo>
                  <a:lnTo>
                    <a:pt x="16" y="248"/>
                  </a:lnTo>
                  <a:lnTo>
                    <a:pt x="16" y="242"/>
                  </a:lnTo>
                  <a:lnTo>
                    <a:pt x="16" y="237"/>
                  </a:lnTo>
                  <a:lnTo>
                    <a:pt x="16" y="233"/>
                  </a:lnTo>
                  <a:lnTo>
                    <a:pt x="16" y="227"/>
                  </a:lnTo>
                  <a:lnTo>
                    <a:pt x="16" y="222"/>
                  </a:lnTo>
                  <a:lnTo>
                    <a:pt x="16" y="216"/>
                  </a:lnTo>
                  <a:lnTo>
                    <a:pt x="16" y="213"/>
                  </a:lnTo>
                  <a:lnTo>
                    <a:pt x="16" y="207"/>
                  </a:lnTo>
                  <a:lnTo>
                    <a:pt x="16" y="202"/>
                  </a:lnTo>
                  <a:lnTo>
                    <a:pt x="16" y="197"/>
                  </a:lnTo>
                  <a:lnTo>
                    <a:pt x="16" y="194"/>
                  </a:lnTo>
                  <a:lnTo>
                    <a:pt x="17" y="190"/>
                  </a:lnTo>
                  <a:lnTo>
                    <a:pt x="17" y="184"/>
                  </a:lnTo>
                  <a:lnTo>
                    <a:pt x="17" y="181"/>
                  </a:lnTo>
                  <a:lnTo>
                    <a:pt x="17" y="177"/>
                  </a:lnTo>
                  <a:lnTo>
                    <a:pt x="17" y="174"/>
                  </a:lnTo>
                  <a:lnTo>
                    <a:pt x="17" y="170"/>
                  </a:lnTo>
                  <a:lnTo>
                    <a:pt x="17" y="166"/>
                  </a:lnTo>
                  <a:lnTo>
                    <a:pt x="17" y="163"/>
                  </a:lnTo>
                  <a:lnTo>
                    <a:pt x="17" y="161"/>
                  </a:lnTo>
                  <a:lnTo>
                    <a:pt x="17" y="159"/>
                  </a:lnTo>
                  <a:lnTo>
                    <a:pt x="17" y="156"/>
                  </a:lnTo>
                  <a:lnTo>
                    <a:pt x="17" y="153"/>
                  </a:lnTo>
                  <a:lnTo>
                    <a:pt x="17" y="152"/>
                  </a:lnTo>
                  <a:lnTo>
                    <a:pt x="17" y="149"/>
                  </a:lnTo>
                  <a:lnTo>
                    <a:pt x="17" y="147"/>
                  </a:lnTo>
                  <a:lnTo>
                    <a:pt x="17" y="146"/>
                  </a:lnTo>
                  <a:lnTo>
                    <a:pt x="17" y="144"/>
                  </a:lnTo>
                  <a:lnTo>
                    <a:pt x="17" y="140"/>
                  </a:lnTo>
                  <a:lnTo>
                    <a:pt x="17" y="138"/>
                  </a:lnTo>
                  <a:lnTo>
                    <a:pt x="16" y="134"/>
                  </a:lnTo>
                  <a:lnTo>
                    <a:pt x="16" y="132"/>
                  </a:lnTo>
                  <a:lnTo>
                    <a:pt x="16" y="131"/>
                  </a:lnTo>
                  <a:lnTo>
                    <a:pt x="16" y="129"/>
                  </a:lnTo>
                  <a:lnTo>
                    <a:pt x="16" y="126"/>
                  </a:lnTo>
                  <a:lnTo>
                    <a:pt x="16" y="124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6"/>
                  </a:lnTo>
                  <a:lnTo>
                    <a:pt x="16" y="112"/>
                  </a:lnTo>
                  <a:lnTo>
                    <a:pt x="15" y="110"/>
                  </a:lnTo>
                  <a:lnTo>
                    <a:pt x="15" y="107"/>
                  </a:lnTo>
                  <a:lnTo>
                    <a:pt x="15" y="104"/>
                  </a:lnTo>
                  <a:lnTo>
                    <a:pt x="15" y="100"/>
                  </a:lnTo>
                  <a:lnTo>
                    <a:pt x="15" y="98"/>
                  </a:lnTo>
                  <a:lnTo>
                    <a:pt x="15" y="94"/>
                  </a:lnTo>
                  <a:lnTo>
                    <a:pt x="15" y="91"/>
                  </a:lnTo>
                  <a:lnTo>
                    <a:pt x="15" y="87"/>
                  </a:lnTo>
                  <a:lnTo>
                    <a:pt x="15" y="85"/>
                  </a:lnTo>
                  <a:lnTo>
                    <a:pt x="15" y="82"/>
                  </a:lnTo>
                  <a:lnTo>
                    <a:pt x="15" y="78"/>
                  </a:lnTo>
                  <a:lnTo>
                    <a:pt x="15" y="75"/>
                  </a:lnTo>
                  <a:lnTo>
                    <a:pt x="15" y="72"/>
                  </a:lnTo>
                  <a:lnTo>
                    <a:pt x="15" y="68"/>
                  </a:lnTo>
                  <a:lnTo>
                    <a:pt x="14" y="65"/>
                  </a:lnTo>
                  <a:lnTo>
                    <a:pt x="14" y="62"/>
                  </a:lnTo>
                  <a:lnTo>
                    <a:pt x="14" y="58"/>
                  </a:lnTo>
                  <a:lnTo>
                    <a:pt x="14" y="55"/>
                  </a:lnTo>
                  <a:lnTo>
                    <a:pt x="13" y="52"/>
                  </a:lnTo>
                  <a:lnTo>
                    <a:pt x="13" y="49"/>
                  </a:lnTo>
                  <a:lnTo>
                    <a:pt x="13" y="46"/>
                  </a:lnTo>
                  <a:lnTo>
                    <a:pt x="13" y="43"/>
                  </a:lnTo>
                  <a:lnTo>
                    <a:pt x="13" y="40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3" y="29"/>
                  </a:lnTo>
                  <a:lnTo>
                    <a:pt x="13" y="26"/>
                  </a:lnTo>
                  <a:lnTo>
                    <a:pt x="13" y="23"/>
                  </a:lnTo>
                  <a:lnTo>
                    <a:pt x="13" y="21"/>
                  </a:lnTo>
                  <a:lnTo>
                    <a:pt x="11" y="19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3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Freeform 57"/>
            <p:cNvSpPr/>
            <p:nvPr/>
          </p:nvSpPr>
          <p:spPr bwMode="auto">
            <a:xfrm>
              <a:off x="5221" y="1540"/>
              <a:ext cx="7" cy="108"/>
            </a:xfrm>
            <a:custGeom>
              <a:avLst/>
              <a:gdLst>
                <a:gd name="T0" fmla="*/ 0 w 13"/>
                <a:gd name="T1" fmla="*/ 2 h 216"/>
                <a:gd name="T2" fmla="*/ 0 w 13"/>
                <a:gd name="T3" fmla="*/ 2 h 216"/>
                <a:gd name="T4" fmla="*/ 0 w 13"/>
                <a:gd name="T5" fmla="*/ 2 h 216"/>
                <a:gd name="T6" fmla="*/ 0 w 13"/>
                <a:gd name="T7" fmla="*/ 2 h 216"/>
                <a:gd name="T8" fmla="*/ 0 w 13"/>
                <a:gd name="T9" fmla="*/ 3 h 216"/>
                <a:gd name="T10" fmla="*/ 0 w 13"/>
                <a:gd name="T11" fmla="*/ 3 h 216"/>
                <a:gd name="T12" fmla="*/ 0 w 13"/>
                <a:gd name="T13" fmla="*/ 3 h 216"/>
                <a:gd name="T14" fmla="*/ 1 w 13"/>
                <a:gd name="T15" fmla="*/ 3 h 216"/>
                <a:gd name="T16" fmla="*/ 1 w 13"/>
                <a:gd name="T17" fmla="*/ 3 h 216"/>
                <a:gd name="T18" fmla="*/ 1 w 13"/>
                <a:gd name="T19" fmla="*/ 3 h 216"/>
                <a:gd name="T20" fmla="*/ 1 w 13"/>
                <a:gd name="T21" fmla="*/ 3 h 216"/>
                <a:gd name="T22" fmla="*/ 1 w 13"/>
                <a:gd name="T23" fmla="*/ 3 h 216"/>
                <a:gd name="T24" fmla="*/ 1 w 13"/>
                <a:gd name="T25" fmla="*/ 3 h 216"/>
                <a:gd name="T26" fmla="*/ 1 w 13"/>
                <a:gd name="T27" fmla="*/ 5 h 216"/>
                <a:gd name="T28" fmla="*/ 1 w 13"/>
                <a:gd name="T29" fmla="*/ 5 h 216"/>
                <a:gd name="T30" fmla="*/ 1 w 13"/>
                <a:gd name="T31" fmla="*/ 5 h 216"/>
                <a:gd name="T32" fmla="*/ 1 w 13"/>
                <a:gd name="T33" fmla="*/ 5 h 216"/>
                <a:gd name="T34" fmla="*/ 1 w 13"/>
                <a:gd name="T35" fmla="*/ 5 h 216"/>
                <a:gd name="T36" fmla="*/ 1 w 13"/>
                <a:gd name="T37" fmla="*/ 6 h 216"/>
                <a:gd name="T38" fmla="*/ 1 w 13"/>
                <a:gd name="T39" fmla="*/ 6 h 216"/>
                <a:gd name="T40" fmla="*/ 1 w 13"/>
                <a:gd name="T41" fmla="*/ 6 h 216"/>
                <a:gd name="T42" fmla="*/ 1 w 13"/>
                <a:gd name="T43" fmla="*/ 6 h 216"/>
                <a:gd name="T44" fmla="*/ 1 w 13"/>
                <a:gd name="T45" fmla="*/ 7 h 216"/>
                <a:gd name="T46" fmla="*/ 1 w 13"/>
                <a:gd name="T47" fmla="*/ 7 h 216"/>
                <a:gd name="T48" fmla="*/ 1 w 13"/>
                <a:gd name="T49" fmla="*/ 7 h 216"/>
                <a:gd name="T50" fmla="*/ 1 w 13"/>
                <a:gd name="T51" fmla="*/ 7 h 216"/>
                <a:gd name="T52" fmla="*/ 1 w 13"/>
                <a:gd name="T53" fmla="*/ 7 h 216"/>
                <a:gd name="T54" fmla="*/ 1 w 13"/>
                <a:gd name="T55" fmla="*/ 7 h 216"/>
                <a:gd name="T56" fmla="*/ 1 w 13"/>
                <a:gd name="T57" fmla="*/ 7 h 216"/>
                <a:gd name="T58" fmla="*/ 1 w 13"/>
                <a:gd name="T59" fmla="*/ 7 h 216"/>
                <a:gd name="T60" fmla="*/ 1 w 13"/>
                <a:gd name="T61" fmla="*/ 7 h 216"/>
                <a:gd name="T62" fmla="*/ 1 w 13"/>
                <a:gd name="T63" fmla="*/ 7 h 216"/>
                <a:gd name="T64" fmla="*/ 1 w 13"/>
                <a:gd name="T65" fmla="*/ 6 h 216"/>
                <a:gd name="T66" fmla="*/ 1 w 13"/>
                <a:gd name="T67" fmla="*/ 6 h 216"/>
                <a:gd name="T68" fmla="*/ 1 w 13"/>
                <a:gd name="T69" fmla="*/ 6 h 216"/>
                <a:gd name="T70" fmla="*/ 1 w 13"/>
                <a:gd name="T71" fmla="*/ 5 h 216"/>
                <a:gd name="T72" fmla="*/ 1 w 13"/>
                <a:gd name="T73" fmla="*/ 5 h 216"/>
                <a:gd name="T74" fmla="*/ 1 w 13"/>
                <a:gd name="T75" fmla="*/ 5 h 216"/>
                <a:gd name="T76" fmla="*/ 1 w 13"/>
                <a:gd name="T77" fmla="*/ 5 h 216"/>
                <a:gd name="T78" fmla="*/ 1 w 13"/>
                <a:gd name="T79" fmla="*/ 3 h 216"/>
                <a:gd name="T80" fmla="*/ 1 w 13"/>
                <a:gd name="T81" fmla="*/ 3 h 216"/>
                <a:gd name="T82" fmla="*/ 1 w 13"/>
                <a:gd name="T83" fmla="*/ 3 h 216"/>
                <a:gd name="T84" fmla="*/ 1 w 13"/>
                <a:gd name="T85" fmla="*/ 0 h 216"/>
                <a:gd name="T86" fmla="*/ 0 w 13"/>
                <a:gd name="T87" fmla="*/ 2 h 2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"/>
                <a:gd name="T133" fmla="*/ 0 h 216"/>
                <a:gd name="T134" fmla="*/ 13 w 13"/>
                <a:gd name="T135" fmla="*/ 216 h 2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" h="216">
                  <a:moveTo>
                    <a:pt x="0" y="44"/>
                  </a:moveTo>
                  <a:lnTo>
                    <a:pt x="0" y="45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1" y="83"/>
                  </a:lnTo>
                  <a:lnTo>
                    <a:pt x="1" y="86"/>
                  </a:lnTo>
                  <a:lnTo>
                    <a:pt x="1" y="88"/>
                  </a:lnTo>
                  <a:lnTo>
                    <a:pt x="1" y="92"/>
                  </a:lnTo>
                  <a:lnTo>
                    <a:pt x="1" y="96"/>
                  </a:lnTo>
                  <a:lnTo>
                    <a:pt x="1" y="99"/>
                  </a:lnTo>
                  <a:lnTo>
                    <a:pt x="1" y="104"/>
                  </a:lnTo>
                  <a:lnTo>
                    <a:pt x="1" y="107"/>
                  </a:lnTo>
                  <a:lnTo>
                    <a:pt x="1" y="111"/>
                  </a:lnTo>
                  <a:lnTo>
                    <a:pt x="1" y="114"/>
                  </a:lnTo>
                  <a:lnTo>
                    <a:pt x="1" y="119"/>
                  </a:lnTo>
                  <a:lnTo>
                    <a:pt x="1" y="123"/>
                  </a:lnTo>
                  <a:lnTo>
                    <a:pt x="3" y="126"/>
                  </a:lnTo>
                  <a:lnTo>
                    <a:pt x="3" y="130"/>
                  </a:lnTo>
                  <a:lnTo>
                    <a:pt x="4" y="133"/>
                  </a:lnTo>
                  <a:lnTo>
                    <a:pt x="4" y="138"/>
                  </a:lnTo>
                  <a:lnTo>
                    <a:pt x="4" y="142"/>
                  </a:lnTo>
                  <a:lnTo>
                    <a:pt x="4" y="145"/>
                  </a:lnTo>
                  <a:lnTo>
                    <a:pt x="4" y="149"/>
                  </a:lnTo>
                  <a:lnTo>
                    <a:pt x="4" y="152"/>
                  </a:lnTo>
                  <a:lnTo>
                    <a:pt x="5" y="156"/>
                  </a:lnTo>
                  <a:lnTo>
                    <a:pt x="5" y="159"/>
                  </a:lnTo>
                  <a:lnTo>
                    <a:pt x="5" y="163"/>
                  </a:lnTo>
                  <a:lnTo>
                    <a:pt x="5" y="168"/>
                  </a:lnTo>
                  <a:lnTo>
                    <a:pt x="5" y="171"/>
                  </a:lnTo>
                  <a:lnTo>
                    <a:pt x="5" y="174"/>
                  </a:lnTo>
                  <a:lnTo>
                    <a:pt x="5" y="177"/>
                  </a:lnTo>
                  <a:lnTo>
                    <a:pt x="5" y="181"/>
                  </a:lnTo>
                  <a:lnTo>
                    <a:pt x="6" y="184"/>
                  </a:lnTo>
                  <a:lnTo>
                    <a:pt x="6" y="187"/>
                  </a:lnTo>
                  <a:lnTo>
                    <a:pt x="6" y="189"/>
                  </a:lnTo>
                  <a:lnTo>
                    <a:pt x="6" y="193"/>
                  </a:lnTo>
                  <a:lnTo>
                    <a:pt x="7" y="195"/>
                  </a:lnTo>
                  <a:lnTo>
                    <a:pt x="7" y="200"/>
                  </a:lnTo>
                  <a:lnTo>
                    <a:pt x="7" y="204"/>
                  </a:lnTo>
                  <a:lnTo>
                    <a:pt x="7" y="207"/>
                  </a:lnTo>
                  <a:lnTo>
                    <a:pt x="8" y="210"/>
                  </a:lnTo>
                  <a:lnTo>
                    <a:pt x="8" y="213"/>
                  </a:lnTo>
                  <a:lnTo>
                    <a:pt x="8" y="215"/>
                  </a:lnTo>
                  <a:lnTo>
                    <a:pt x="8" y="216"/>
                  </a:lnTo>
                  <a:lnTo>
                    <a:pt x="10" y="216"/>
                  </a:lnTo>
                  <a:lnTo>
                    <a:pt x="10" y="214"/>
                  </a:lnTo>
                  <a:lnTo>
                    <a:pt x="10" y="213"/>
                  </a:lnTo>
                  <a:lnTo>
                    <a:pt x="10" y="210"/>
                  </a:lnTo>
                  <a:lnTo>
                    <a:pt x="10" y="208"/>
                  </a:lnTo>
                  <a:lnTo>
                    <a:pt x="10" y="206"/>
                  </a:lnTo>
                  <a:lnTo>
                    <a:pt x="10" y="203"/>
                  </a:lnTo>
                  <a:lnTo>
                    <a:pt x="10" y="200"/>
                  </a:lnTo>
                  <a:lnTo>
                    <a:pt x="10" y="196"/>
                  </a:lnTo>
                  <a:lnTo>
                    <a:pt x="10" y="193"/>
                  </a:lnTo>
                  <a:lnTo>
                    <a:pt x="10" y="188"/>
                  </a:lnTo>
                  <a:lnTo>
                    <a:pt x="10" y="183"/>
                  </a:lnTo>
                  <a:lnTo>
                    <a:pt x="11" y="180"/>
                  </a:lnTo>
                  <a:lnTo>
                    <a:pt x="11" y="175"/>
                  </a:lnTo>
                  <a:lnTo>
                    <a:pt x="11" y="170"/>
                  </a:lnTo>
                  <a:lnTo>
                    <a:pt x="11" y="165"/>
                  </a:lnTo>
                  <a:lnTo>
                    <a:pt x="12" y="162"/>
                  </a:lnTo>
                  <a:lnTo>
                    <a:pt x="12" y="156"/>
                  </a:lnTo>
                  <a:lnTo>
                    <a:pt x="12" y="152"/>
                  </a:lnTo>
                  <a:lnTo>
                    <a:pt x="12" y="148"/>
                  </a:lnTo>
                  <a:lnTo>
                    <a:pt x="12" y="143"/>
                  </a:lnTo>
                  <a:lnTo>
                    <a:pt x="12" y="139"/>
                  </a:lnTo>
                  <a:lnTo>
                    <a:pt x="12" y="135"/>
                  </a:lnTo>
                  <a:lnTo>
                    <a:pt x="12" y="131"/>
                  </a:lnTo>
                  <a:lnTo>
                    <a:pt x="12" y="128"/>
                  </a:lnTo>
                  <a:lnTo>
                    <a:pt x="12" y="124"/>
                  </a:lnTo>
                  <a:lnTo>
                    <a:pt x="12" y="122"/>
                  </a:lnTo>
                  <a:lnTo>
                    <a:pt x="12" y="119"/>
                  </a:lnTo>
                  <a:lnTo>
                    <a:pt x="12" y="118"/>
                  </a:lnTo>
                  <a:lnTo>
                    <a:pt x="12" y="114"/>
                  </a:lnTo>
                  <a:lnTo>
                    <a:pt x="13" y="113"/>
                  </a:lnTo>
                  <a:lnTo>
                    <a:pt x="13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Freeform 58"/>
            <p:cNvSpPr/>
            <p:nvPr/>
          </p:nvSpPr>
          <p:spPr bwMode="auto">
            <a:xfrm>
              <a:off x="5180" y="1664"/>
              <a:ext cx="78" cy="7"/>
            </a:xfrm>
            <a:custGeom>
              <a:avLst/>
              <a:gdLst>
                <a:gd name="T0" fmla="*/ 1 w 156"/>
                <a:gd name="T1" fmla="*/ 1 h 13"/>
                <a:gd name="T2" fmla="*/ 1 w 156"/>
                <a:gd name="T3" fmla="*/ 1 h 13"/>
                <a:gd name="T4" fmla="*/ 1 w 156"/>
                <a:gd name="T5" fmla="*/ 1 h 13"/>
                <a:gd name="T6" fmla="*/ 1 w 156"/>
                <a:gd name="T7" fmla="*/ 1 h 13"/>
                <a:gd name="T8" fmla="*/ 1 w 156"/>
                <a:gd name="T9" fmla="*/ 1 h 13"/>
                <a:gd name="T10" fmla="*/ 1 w 156"/>
                <a:gd name="T11" fmla="*/ 1 h 13"/>
                <a:gd name="T12" fmla="*/ 1 w 156"/>
                <a:gd name="T13" fmla="*/ 1 h 13"/>
                <a:gd name="T14" fmla="*/ 2 w 156"/>
                <a:gd name="T15" fmla="*/ 1 h 13"/>
                <a:gd name="T16" fmla="*/ 2 w 156"/>
                <a:gd name="T17" fmla="*/ 1 h 13"/>
                <a:gd name="T18" fmla="*/ 2 w 156"/>
                <a:gd name="T19" fmla="*/ 0 h 13"/>
                <a:gd name="T20" fmla="*/ 2 w 156"/>
                <a:gd name="T21" fmla="*/ 1 h 13"/>
                <a:gd name="T22" fmla="*/ 2 w 156"/>
                <a:gd name="T23" fmla="*/ 1 h 13"/>
                <a:gd name="T24" fmla="*/ 3 w 156"/>
                <a:gd name="T25" fmla="*/ 1 h 13"/>
                <a:gd name="T26" fmla="*/ 3 w 156"/>
                <a:gd name="T27" fmla="*/ 1 h 13"/>
                <a:gd name="T28" fmla="*/ 3 w 156"/>
                <a:gd name="T29" fmla="*/ 1 h 13"/>
                <a:gd name="T30" fmla="*/ 3 w 156"/>
                <a:gd name="T31" fmla="*/ 1 h 13"/>
                <a:gd name="T32" fmla="*/ 3 w 156"/>
                <a:gd name="T33" fmla="*/ 1 h 13"/>
                <a:gd name="T34" fmla="*/ 5 w 156"/>
                <a:gd name="T35" fmla="*/ 1 h 13"/>
                <a:gd name="T36" fmla="*/ 5 w 156"/>
                <a:gd name="T37" fmla="*/ 1 h 13"/>
                <a:gd name="T38" fmla="*/ 5 w 156"/>
                <a:gd name="T39" fmla="*/ 1 h 13"/>
                <a:gd name="T40" fmla="*/ 5 w 156"/>
                <a:gd name="T41" fmla="*/ 1 h 13"/>
                <a:gd name="T42" fmla="*/ 5 w 156"/>
                <a:gd name="T43" fmla="*/ 1 h 13"/>
                <a:gd name="T44" fmla="*/ 5 w 156"/>
                <a:gd name="T45" fmla="*/ 1 h 13"/>
                <a:gd name="T46" fmla="*/ 5 w 156"/>
                <a:gd name="T47" fmla="*/ 1 h 13"/>
                <a:gd name="T48" fmla="*/ 5 w 156"/>
                <a:gd name="T49" fmla="*/ 1 h 13"/>
                <a:gd name="T50" fmla="*/ 5 w 156"/>
                <a:gd name="T51" fmla="*/ 1 h 13"/>
                <a:gd name="T52" fmla="*/ 3 w 156"/>
                <a:gd name="T53" fmla="*/ 1 h 13"/>
                <a:gd name="T54" fmla="*/ 3 w 156"/>
                <a:gd name="T55" fmla="*/ 1 h 13"/>
                <a:gd name="T56" fmla="*/ 3 w 156"/>
                <a:gd name="T57" fmla="*/ 1 h 13"/>
                <a:gd name="T58" fmla="*/ 3 w 156"/>
                <a:gd name="T59" fmla="*/ 1 h 13"/>
                <a:gd name="T60" fmla="*/ 3 w 156"/>
                <a:gd name="T61" fmla="*/ 1 h 13"/>
                <a:gd name="T62" fmla="*/ 3 w 156"/>
                <a:gd name="T63" fmla="*/ 1 h 13"/>
                <a:gd name="T64" fmla="*/ 2 w 156"/>
                <a:gd name="T65" fmla="*/ 1 h 13"/>
                <a:gd name="T66" fmla="*/ 2 w 156"/>
                <a:gd name="T67" fmla="*/ 1 h 13"/>
                <a:gd name="T68" fmla="*/ 2 w 156"/>
                <a:gd name="T69" fmla="*/ 1 h 13"/>
                <a:gd name="T70" fmla="*/ 2 w 156"/>
                <a:gd name="T71" fmla="*/ 1 h 13"/>
                <a:gd name="T72" fmla="*/ 2 w 156"/>
                <a:gd name="T73" fmla="*/ 1 h 13"/>
                <a:gd name="T74" fmla="*/ 2 w 156"/>
                <a:gd name="T75" fmla="*/ 1 h 13"/>
                <a:gd name="T76" fmla="*/ 2 w 156"/>
                <a:gd name="T77" fmla="*/ 1 h 13"/>
                <a:gd name="T78" fmla="*/ 1 w 156"/>
                <a:gd name="T79" fmla="*/ 1 h 13"/>
                <a:gd name="T80" fmla="*/ 1 w 156"/>
                <a:gd name="T81" fmla="*/ 1 h 13"/>
                <a:gd name="T82" fmla="*/ 1 w 156"/>
                <a:gd name="T83" fmla="*/ 1 h 13"/>
                <a:gd name="T84" fmla="*/ 1 w 156"/>
                <a:gd name="T85" fmla="*/ 1 h 13"/>
                <a:gd name="T86" fmla="*/ 0 w 156"/>
                <a:gd name="T87" fmla="*/ 1 h 13"/>
                <a:gd name="T88" fmla="*/ 1 w 156"/>
                <a:gd name="T89" fmla="*/ 1 h 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56"/>
                <a:gd name="T136" fmla="*/ 0 h 13"/>
                <a:gd name="T137" fmla="*/ 156 w 156"/>
                <a:gd name="T138" fmla="*/ 13 h 1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56" h="13">
                  <a:moveTo>
                    <a:pt x="17" y="6"/>
                  </a:moveTo>
                  <a:lnTo>
                    <a:pt x="18" y="5"/>
                  </a:lnTo>
                  <a:lnTo>
                    <a:pt x="23" y="4"/>
                  </a:lnTo>
                  <a:lnTo>
                    <a:pt x="27" y="4"/>
                  </a:lnTo>
                  <a:lnTo>
                    <a:pt x="30" y="2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4" y="2"/>
                  </a:lnTo>
                  <a:lnTo>
                    <a:pt x="47" y="2"/>
                  </a:lnTo>
                  <a:lnTo>
                    <a:pt x="49" y="2"/>
                  </a:lnTo>
                  <a:lnTo>
                    <a:pt x="54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7" y="1"/>
                  </a:lnTo>
                  <a:lnTo>
                    <a:pt x="70" y="1"/>
                  </a:lnTo>
                  <a:lnTo>
                    <a:pt x="73" y="1"/>
                  </a:lnTo>
                  <a:lnTo>
                    <a:pt x="74" y="1"/>
                  </a:lnTo>
                  <a:lnTo>
                    <a:pt x="78" y="1"/>
                  </a:lnTo>
                  <a:lnTo>
                    <a:pt x="79" y="0"/>
                  </a:lnTo>
                  <a:lnTo>
                    <a:pt x="82" y="1"/>
                  </a:lnTo>
                  <a:lnTo>
                    <a:pt x="85" y="1"/>
                  </a:lnTo>
                  <a:lnTo>
                    <a:pt x="87" y="1"/>
                  </a:lnTo>
                  <a:lnTo>
                    <a:pt x="89" y="1"/>
                  </a:lnTo>
                  <a:lnTo>
                    <a:pt x="93" y="2"/>
                  </a:lnTo>
                  <a:lnTo>
                    <a:pt x="97" y="2"/>
                  </a:lnTo>
                  <a:lnTo>
                    <a:pt x="100" y="2"/>
                  </a:lnTo>
                  <a:lnTo>
                    <a:pt x="104" y="2"/>
                  </a:lnTo>
                  <a:lnTo>
                    <a:pt x="107" y="4"/>
                  </a:lnTo>
                  <a:lnTo>
                    <a:pt x="111" y="4"/>
                  </a:lnTo>
                  <a:lnTo>
                    <a:pt x="115" y="6"/>
                  </a:lnTo>
                  <a:lnTo>
                    <a:pt x="119" y="6"/>
                  </a:lnTo>
                  <a:lnTo>
                    <a:pt x="124" y="7"/>
                  </a:lnTo>
                  <a:lnTo>
                    <a:pt x="126" y="7"/>
                  </a:lnTo>
                  <a:lnTo>
                    <a:pt x="130" y="8"/>
                  </a:lnTo>
                  <a:lnTo>
                    <a:pt x="133" y="8"/>
                  </a:lnTo>
                  <a:lnTo>
                    <a:pt x="137" y="10"/>
                  </a:lnTo>
                  <a:lnTo>
                    <a:pt x="140" y="10"/>
                  </a:lnTo>
                  <a:lnTo>
                    <a:pt x="143" y="10"/>
                  </a:lnTo>
                  <a:lnTo>
                    <a:pt x="146" y="11"/>
                  </a:lnTo>
                  <a:lnTo>
                    <a:pt x="149" y="11"/>
                  </a:lnTo>
                  <a:lnTo>
                    <a:pt x="152" y="12"/>
                  </a:lnTo>
                  <a:lnTo>
                    <a:pt x="156" y="12"/>
                  </a:lnTo>
                  <a:lnTo>
                    <a:pt x="156" y="13"/>
                  </a:lnTo>
                  <a:lnTo>
                    <a:pt x="154" y="13"/>
                  </a:lnTo>
                  <a:lnTo>
                    <a:pt x="152" y="13"/>
                  </a:lnTo>
                  <a:lnTo>
                    <a:pt x="149" y="13"/>
                  </a:lnTo>
                  <a:lnTo>
                    <a:pt x="147" y="13"/>
                  </a:lnTo>
                  <a:lnTo>
                    <a:pt x="144" y="12"/>
                  </a:lnTo>
                  <a:lnTo>
                    <a:pt x="140" y="12"/>
                  </a:lnTo>
                  <a:lnTo>
                    <a:pt x="136" y="12"/>
                  </a:lnTo>
                  <a:lnTo>
                    <a:pt x="133" y="12"/>
                  </a:lnTo>
                  <a:lnTo>
                    <a:pt x="127" y="12"/>
                  </a:lnTo>
                  <a:lnTo>
                    <a:pt x="124" y="12"/>
                  </a:lnTo>
                  <a:lnTo>
                    <a:pt x="120" y="12"/>
                  </a:lnTo>
                  <a:lnTo>
                    <a:pt x="118" y="12"/>
                  </a:lnTo>
                  <a:lnTo>
                    <a:pt x="115" y="12"/>
                  </a:lnTo>
                  <a:lnTo>
                    <a:pt x="113" y="12"/>
                  </a:lnTo>
                  <a:lnTo>
                    <a:pt x="111" y="12"/>
                  </a:lnTo>
                  <a:lnTo>
                    <a:pt x="108" y="12"/>
                  </a:lnTo>
                  <a:lnTo>
                    <a:pt x="105" y="12"/>
                  </a:lnTo>
                  <a:lnTo>
                    <a:pt x="104" y="12"/>
                  </a:lnTo>
                  <a:lnTo>
                    <a:pt x="101" y="12"/>
                  </a:lnTo>
                  <a:lnTo>
                    <a:pt x="98" y="12"/>
                  </a:lnTo>
                  <a:lnTo>
                    <a:pt x="95" y="12"/>
                  </a:lnTo>
                  <a:lnTo>
                    <a:pt x="93" y="12"/>
                  </a:lnTo>
                  <a:lnTo>
                    <a:pt x="91" y="11"/>
                  </a:lnTo>
                  <a:lnTo>
                    <a:pt x="88" y="11"/>
                  </a:lnTo>
                  <a:lnTo>
                    <a:pt x="86" y="11"/>
                  </a:lnTo>
                  <a:lnTo>
                    <a:pt x="82" y="11"/>
                  </a:lnTo>
                  <a:lnTo>
                    <a:pt x="80" y="11"/>
                  </a:lnTo>
                  <a:lnTo>
                    <a:pt x="78" y="11"/>
                  </a:lnTo>
                  <a:lnTo>
                    <a:pt x="76" y="11"/>
                  </a:lnTo>
                  <a:lnTo>
                    <a:pt x="73" y="11"/>
                  </a:lnTo>
                  <a:lnTo>
                    <a:pt x="70" y="11"/>
                  </a:lnTo>
                  <a:lnTo>
                    <a:pt x="68" y="11"/>
                  </a:lnTo>
                  <a:lnTo>
                    <a:pt x="66" y="11"/>
                  </a:lnTo>
                  <a:lnTo>
                    <a:pt x="63" y="11"/>
                  </a:lnTo>
                  <a:lnTo>
                    <a:pt x="60" y="11"/>
                  </a:lnTo>
                  <a:lnTo>
                    <a:pt x="56" y="11"/>
                  </a:lnTo>
                  <a:lnTo>
                    <a:pt x="53" y="11"/>
                  </a:lnTo>
                  <a:lnTo>
                    <a:pt x="49" y="11"/>
                  </a:lnTo>
                  <a:lnTo>
                    <a:pt x="47" y="11"/>
                  </a:lnTo>
                  <a:lnTo>
                    <a:pt x="43" y="11"/>
                  </a:lnTo>
                  <a:lnTo>
                    <a:pt x="41" y="11"/>
                  </a:lnTo>
                  <a:lnTo>
                    <a:pt x="40" y="11"/>
                  </a:lnTo>
                  <a:lnTo>
                    <a:pt x="0" y="13"/>
                  </a:lnTo>
                  <a:lnTo>
                    <a:pt x="17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Freeform 59"/>
            <p:cNvSpPr/>
            <p:nvPr/>
          </p:nvSpPr>
          <p:spPr bwMode="auto">
            <a:xfrm>
              <a:off x="5178" y="1677"/>
              <a:ext cx="64" cy="9"/>
            </a:xfrm>
            <a:custGeom>
              <a:avLst/>
              <a:gdLst>
                <a:gd name="T0" fmla="*/ 1 w 128"/>
                <a:gd name="T1" fmla="*/ 0 h 19"/>
                <a:gd name="T2" fmla="*/ 1 w 128"/>
                <a:gd name="T3" fmla="*/ 0 h 19"/>
                <a:gd name="T4" fmla="*/ 1 w 128"/>
                <a:gd name="T5" fmla="*/ 0 h 19"/>
                <a:gd name="T6" fmla="*/ 1 w 128"/>
                <a:gd name="T7" fmla="*/ 0 h 19"/>
                <a:gd name="T8" fmla="*/ 1 w 128"/>
                <a:gd name="T9" fmla="*/ 0 h 19"/>
                <a:gd name="T10" fmla="*/ 1 w 128"/>
                <a:gd name="T11" fmla="*/ 0 h 19"/>
                <a:gd name="T12" fmla="*/ 1 w 128"/>
                <a:gd name="T13" fmla="*/ 0 h 19"/>
                <a:gd name="T14" fmla="*/ 1 w 128"/>
                <a:gd name="T15" fmla="*/ 0 h 19"/>
                <a:gd name="T16" fmla="*/ 1 w 128"/>
                <a:gd name="T17" fmla="*/ 0 h 19"/>
                <a:gd name="T18" fmla="*/ 1 w 128"/>
                <a:gd name="T19" fmla="*/ 0 h 19"/>
                <a:gd name="T20" fmla="*/ 2 w 128"/>
                <a:gd name="T21" fmla="*/ 0 h 19"/>
                <a:gd name="T22" fmla="*/ 2 w 128"/>
                <a:gd name="T23" fmla="*/ 0 h 19"/>
                <a:gd name="T24" fmla="*/ 2 w 128"/>
                <a:gd name="T25" fmla="*/ 0 h 19"/>
                <a:gd name="T26" fmla="*/ 2 w 128"/>
                <a:gd name="T27" fmla="*/ 0 h 19"/>
                <a:gd name="T28" fmla="*/ 2 w 128"/>
                <a:gd name="T29" fmla="*/ 0 h 19"/>
                <a:gd name="T30" fmla="*/ 2 w 128"/>
                <a:gd name="T31" fmla="*/ 0 h 19"/>
                <a:gd name="T32" fmla="*/ 2 w 128"/>
                <a:gd name="T33" fmla="*/ 0 h 19"/>
                <a:gd name="T34" fmla="*/ 3 w 128"/>
                <a:gd name="T35" fmla="*/ 0 h 19"/>
                <a:gd name="T36" fmla="*/ 3 w 128"/>
                <a:gd name="T37" fmla="*/ 0 h 19"/>
                <a:gd name="T38" fmla="*/ 3 w 128"/>
                <a:gd name="T39" fmla="*/ 0 h 19"/>
                <a:gd name="T40" fmla="*/ 3 w 128"/>
                <a:gd name="T41" fmla="*/ 0 h 19"/>
                <a:gd name="T42" fmla="*/ 3 w 128"/>
                <a:gd name="T43" fmla="*/ 0 h 19"/>
                <a:gd name="T44" fmla="*/ 4 w 128"/>
                <a:gd name="T45" fmla="*/ 0 h 19"/>
                <a:gd name="T46" fmla="*/ 3 w 128"/>
                <a:gd name="T47" fmla="*/ 0 h 19"/>
                <a:gd name="T48" fmla="*/ 3 w 128"/>
                <a:gd name="T49" fmla="*/ 0 h 19"/>
                <a:gd name="T50" fmla="*/ 3 w 128"/>
                <a:gd name="T51" fmla="*/ 0 h 19"/>
                <a:gd name="T52" fmla="*/ 3 w 128"/>
                <a:gd name="T53" fmla="*/ 0 h 19"/>
                <a:gd name="T54" fmla="*/ 3 w 128"/>
                <a:gd name="T55" fmla="*/ 0 h 19"/>
                <a:gd name="T56" fmla="*/ 3 w 128"/>
                <a:gd name="T57" fmla="*/ 0 h 19"/>
                <a:gd name="T58" fmla="*/ 2 w 128"/>
                <a:gd name="T59" fmla="*/ 0 h 19"/>
                <a:gd name="T60" fmla="*/ 2 w 128"/>
                <a:gd name="T61" fmla="*/ 0 h 19"/>
                <a:gd name="T62" fmla="*/ 2 w 128"/>
                <a:gd name="T63" fmla="*/ 0 h 19"/>
                <a:gd name="T64" fmla="*/ 2 w 128"/>
                <a:gd name="T65" fmla="*/ 0 h 19"/>
                <a:gd name="T66" fmla="*/ 2 w 128"/>
                <a:gd name="T67" fmla="*/ 0 h 19"/>
                <a:gd name="T68" fmla="*/ 1 w 128"/>
                <a:gd name="T69" fmla="*/ 0 h 19"/>
                <a:gd name="T70" fmla="*/ 1 w 128"/>
                <a:gd name="T71" fmla="*/ 0 h 19"/>
                <a:gd name="T72" fmla="*/ 0 w 128"/>
                <a:gd name="T73" fmla="*/ 0 h 19"/>
                <a:gd name="T74" fmla="*/ 1 w 128"/>
                <a:gd name="T75" fmla="*/ 0 h 1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28"/>
                <a:gd name="T115" fmla="*/ 0 h 19"/>
                <a:gd name="T116" fmla="*/ 128 w 128"/>
                <a:gd name="T117" fmla="*/ 19 h 1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28" h="19">
                  <a:moveTo>
                    <a:pt x="7" y="13"/>
                  </a:moveTo>
                  <a:lnTo>
                    <a:pt x="8" y="12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6" y="8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4" y="7"/>
                  </a:lnTo>
                  <a:lnTo>
                    <a:pt x="36" y="6"/>
                  </a:lnTo>
                  <a:lnTo>
                    <a:pt x="39" y="6"/>
                  </a:lnTo>
                  <a:lnTo>
                    <a:pt x="41" y="5"/>
                  </a:lnTo>
                  <a:lnTo>
                    <a:pt x="44" y="5"/>
                  </a:lnTo>
                  <a:lnTo>
                    <a:pt x="46" y="5"/>
                  </a:lnTo>
                  <a:lnTo>
                    <a:pt x="48" y="4"/>
                  </a:lnTo>
                  <a:lnTo>
                    <a:pt x="53" y="2"/>
                  </a:lnTo>
                  <a:lnTo>
                    <a:pt x="58" y="2"/>
                  </a:lnTo>
                  <a:lnTo>
                    <a:pt x="61" y="1"/>
                  </a:lnTo>
                  <a:lnTo>
                    <a:pt x="65" y="0"/>
                  </a:lnTo>
                  <a:lnTo>
                    <a:pt x="67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3" y="0"/>
                  </a:lnTo>
                  <a:lnTo>
                    <a:pt x="74" y="0"/>
                  </a:lnTo>
                  <a:lnTo>
                    <a:pt x="75" y="0"/>
                  </a:lnTo>
                  <a:lnTo>
                    <a:pt x="78" y="0"/>
                  </a:lnTo>
                  <a:lnTo>
                    <a:pt x="81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91" y="2"/>
                  </a:lnTo>
                  <a:lnTo>
                    <a:pt x="93" y="2"/>
                  </a:lnTo>
                  <a:lnTo>
                    <a:pt x="97" y="2"/>
                  </a:lnTo>
                  <a:lnTo>
                    <a:pt x="99" y="2"/>
                  </a:lnTo>
                  <a:lnTo>
                    <a:pt x="103" y="4"/>
                  </a:lnTo>
                  <a:lnTo>
                    <a:pt x="106" y="4"/>
                  </a:lnTo>
                  <a:lnTo>
                    <a:pt x="109" y="4"/>
                  </a:lnTo>
                  <a:lnTo>
                    <a:pt x="110" y="4"/>
                  </a:lnTo>
                  <a:lnTo>
                    <a:pt x="113" y="5"/>
                  </a:lnTo>
                  <a:lnTo>
                    <a:pt x="118" y="5"/>
                  </a:lnTo>
                  <a:lnTo>
                    <a:pt x="122" y="5"/>
                  </a:lnTo>
                  <a:lnTo>
                    <a:pt x="125" y="5"/>
                  </a:lnTo>
                  <a:lnTo>
                    <a:pt x="126" y="6"/>
                  </a:lnTo>
                  <a:lnTo>
                    <a:pt x="128" y="6"/>
                  </a:lnTo>
                  <a:lnTo>
                    <a:pt x="126" y="6"/>
                  </a:lnTo>
                  <a:lnTo>
                    <a:pt x="124" y="6"/>
                  </a:lnTo>
                  <a:lnTo>
                    <a:pt x="120" y="6"/>
                  </a:lnTo>
                  <a:lnTo>
                    <a:pt x="118" y="6"/>
                  </a:lnTo>
                  <a:lnTo>
                    <a:pt x="117" y="6"/>
                  </a:lnTo>
                  <a:lnTo>
                    <a:pt x="115" y="6"/>
                  </a:lnTo>
                  <a:lnTo>
                    <a:pt x="112" y="6"/>
                  </a:lnTo>
                  <a:lnTo>
                    <a:pt x="109" y="6"/>
                  </a:lnTo>
                  <a:lnTo>
                    <a:pt x="106" y="6"/>
                  </a:lnTo>
                  <a:lnTo>
                    <a:pt x="103" y="6"/>
                  </a:lnTo>
                  <a:lnTo>
                    <a:pt x="99" y="7"/>
                  </a:lnTo>
                  <a:lnTo>
                    <a:pt x="97" y="7"/>
                  </a:lnTo>
                  <a:lnTo>
                    <a:pt x="93" y="7"/>
                  </a:lnTo>
                  <a:lnTo>
                    <a:pt x="91" y="7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1" y="8"/>
                  </a:lnTo>
                  <a:lnTo>
                    <a:pt x="78" y="8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67" y="8"/>
                  </a:lnTo>
                  <a:lnTo>
                    <a:pt x="66" y="10"/>
                  </a:lnTo>
                  <a:lnTo>
                    <a:pt x="61" y="10"/>
                  </a:lnTo>
                  <a:lnTo>
                    <a:pt x="59" y="10"/>
                  </a:lnTo>
                  <a:lnTo>
                    <a:pt x="57" y="10"/>
                  </a:lnTo>
                  <a:lnTo>
                    <a:pt x="57" y="11"/>
                  </a:lnTo>
                  <a:lnTo>
                    <a:pt x="0" y="19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Freeform 60"/>
            <p:cNvSpPr/>
            <p:nvPr/>
          </p:nvSpPr>
          <p:spPr bwMode="auto">
            <a:xfrm>
              <a:off x="5186" y="1661"/>
              <a:ext cx="13" cy="44"/>
            </a:xfrm>
            <a:custGeom>
              <a:avLst/>
              <a:gdLst>
                <a:gd name="T0" fmla="*/ 1 w 26"/>
                <a:gd name="T1" fmla="*/ 0 h 89"/>
                <a:gd name="T2" fmla="*/ 1 w 26"/>
                <a:gd name="T3" fmla="*/ 0 h 89"/>
                <a:gd name="T4" fmla="*/ 1 w 26"/>
                <a:gd name="T5" fmla="*/ 0 h 89"/>
                <a:gd name="T6" fmla="*/ 1 w 26"/>
                <a:gd name="T7" fmla="*/ 0 h 89"/>
                <a:gd name="T8" fmla="*/ 1 w 26"/>
                <a:gd name="T9" fmla="*/ 0 h 89"/>
                <a:gd name="T10" fmla="*/ 1 w 26"/>
                <a:gd name="T11" fmla="*/ 0 h 89"/>
                <a:gd name="T12" fmla="*/ 1 w 26"/>
                <a:gd name="T13" fmla="*/ 1 h 89"/>
                <a:gd name="T14" fmla="*/ 1 w 26"/>
                <a:gd name="T15" fmla="*/ 1 h 89"/>
                <a:gd name="T16" fmla="*/ 1 w 26"/>
                <a:gd name="T17" fmla="*/ 1 h 89"/>
                <a:gd name="T18" fmla="*/ 1 w 26"/>
                <a:gd name="T19" fmla="*/ 1 h 89"/>
                <a:gd name="T20" fmla="*/ 1 w 26"/>
                <a:gd name="T21" fmla="*/ 1 h 89"/>
                <a:gd name="T22" fmla="*/ 1 w 26"/>
                <a:gd name="T23" fmla="*/ 1 h 89"/>
                <a:gd name="T24" fmla="*/ 0 w 26"/>
                <a:gd name="T25" fmla="*/ 2 h 89"/>
                <a:gd name="T26" fmla="*/ 0 w 26"/>
                <a:gd name="T27" fmla="*/ 2 h 89"/>
                <a:gd name="T28" fmla="*/ 0 w 26"/>
                <a:gd name="T29" fmla="*/ 2 h 89"/>
                <a:gd name="T30" fmla="*/ 0 w 26"/>
                <a:gd name="T31" fmla="*/ 2 h 89"/>
                <a:gd name="T32" fmla="*/ 1 w 26"/>
                <a:gd name="T33" fmla="*/ 2 h 89"/>
                <a:gd name="T34" fmla="*/ 1 w 26"/>
                <a:gd name="T35" fmla="*/ 2 h 89"/>
                <a:gd name="T36" fmla="*/ 1 w 26"/>
                <a:gd name="T37" fmla="*/ 2 h 89"/>
                <a:gd name="T38" fmla="*/ 1 w 26"/>
                <a:gd name="T39" fmla="*/ 2 h 89"/>
                <a:gd name="T40" fmla="*/ 1 w 26"/>
                <a:gd name="T41" fmla="*/ 1 h 89"/>
                <a:gd name="T42" fmla="*/ 1 w 26"/>
                <a:gd name="T43" fmla="*/ 1 h 89"/>
                <a:gd name="T44" fmla="*/ 1 w 26"/>
                <a:gd name="T45" fmla="*/ 1 h 89"/>
                <a:gd name="T46" fmla="*/ 1 w 26"/>
                <a:gd name="T47" fmla="*/ 1 h 89"/>
                <a:gd name="T48" fmla="*/ 1 w 26"/>
                <a:gd name="T49" fmla="*/ 1 h 89"/>
                <a:gd name="T50" fmla="*/ 1 w 26"/>
                <a:gd name="T51" fmla="*/ 0 h 89"/>
                <a:gd name="T52" fmla="*/ 1 w 26"/>
                <a:gd name="T53" fmla="*/ 0 h 89"/>
                <a:gd name="T54" fmla="*/ 1 w 26"/>
                <a:gd name="T55" fmla="*/ 0 h 89"/>
                <a:gd name="T56" fmla="*/ 1 w 26"/>
                <a:gd name="T57" fmla="*/ 0 h 89"/>
                <a:gd name="T58" fmla="*/ 1 w 26"/>
                <a:gd name="T59" fmla="*/ 0 h 89"/>
                <a:gd name="T60" fmla="*/ 1 w 26"/>
                <a:gd name="T61" fmla="*/ 0 h 89"/>
                <a:gd name="T62" fmla="*/ 1 w 26"/>
                <a:gd name="T63" fmla="*/ 0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6"/>
                <a:gd name="T97" fmla="*/ 0 h 89"/>
                <a:gd name="T98" fmla="*/ 26 w 26"/>
                <a:gd name="T99" fmla="*/ 89 h 8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6" h="89">
                  <a:moveTo>
                    <a:pt x="18" y="0"/>
                  </a:moveTo>
                  <a:lnTo>
                    <a:pt x="17" y="3"/>
                  </a:lnTo>
                  <a:lnTo>
                    <a:pt x="16" y="5"/>
                  </a:lnTo>
                  <a:lnTo>
                    <a:pt x="15" y="7"/>
                  </a:lnTo>
                  <a:lnTo>
                    <a:pt x="13" y="10"/>
                  </a:lnTo>
                  <a:lnTo>
                    <a:pt x="12" y="13"/>
                  </a:lnTo>
                  <a:lnTo>
                    <a:pt x="11" y="16"/>
                  </a:lnTo>
                  <a:lnTo>
                    <a:pt x="10" y="19"/>
                  </a:lnTo>
                  <a:lnTo>
                    <a:pt x="9" y="23"/>
                  </a:lnTo>
                  <a:lnTo>
                    <a:pt x="7" y="25"/>
                  </a:lnTo>
                  <a:lnTo>
                    <a:pt x="6" y="29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2" y="43"/>
                  </a:lnTo>
                  <a:lnTo>
                    <a:pt x="2" y="47"/>
                  </a:lnTo>
                  <a:lnTo>
                    <a:pt x="2" y="51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60"/>
                  </a:lnTo>
                  <a:lnTo>
                    <a:pt x="2" y="63"/>
                  </a:lnTo>
                  <a:lnTo>
                    <a:pt x="2" y="66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79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85"/>
                  </a:lnTo>
                  <a:lnTo>
                    <a:pt x="2" y="84"/>
                  </a:lnTo>
                  <a:lnTo>
                    <a:pt x="3" y="82"/>
                  </a:lnTo>
                  <a:lnTo>
                    <a:pt x="4" y="78"/>
                  </a:lnTo>
                  <a:lnTo>
                    <a:pt x="4" y="73"/>
                  </a:lnTo>
                  <a:lnTo>
                    <a:pt x="4" y="70"/>
                  </a:lnTo>
                  <a:lnTo>
                    <a:pt x="4" y="66"/>
                  </a:lnTo>
                  <a:lnTo>
                    <a:pt x="5" y="62"/>
                  </a:lnTo>
                  <a:lnTo>
                    <a:pt x="5" y="58"/>
                  </a:lnTo>
                  <a:lnTo>
                    <a:pt x="6" y="53"/>
                  </a:lnTo>
                  <a:lnTo>
                    <a:pt x="6" y="49"/>
                  </a:lnTo>
                  <a:lnTo>
                    <a:pt x="6" y="46"/>
                  </a:lnTo>
                  <a:lnTo>
                    <a:pt x="6" y="43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10" y="38"/>
                  </a:lnTo>
                  <a:lnTo>
                    <a:pt x="10" y="36"/>
                  </a:lnTo>
                  <a:lnTo>
                    <a:pt x="11" y="34"/>
                  </a:lnTo>
                  <a:lnTo>
                    <a:pt x="12" y="31"/>
                  </a:lnTo>
                  <a:lnTo>
                    <a:pt x="13" y="30"/>
                  </a:lnTo>
                  <a:lnTo>
                    <a:pt x="15" y="25"/>
                  </a:lnTo>
                  <a:lnTo>
                    <a:pt x="16" y="23"/>
                  </a:lnTo>
                  <a:lnTo>
                    <a:pt x="18" y="19"/>
                  </a:lnTo>
                  <a:lnTo>
                    <a:pt x="19" y="17"/>
                  </a:lnTo>
                  <a:lnTo>
                    <a:pt x="20" y="13"/>
                  </a:lnTo>
                  <a:lnTo>
                    <a:pt x="23" y="10"/>
                  </a:lnTo>
                  <a:lnTo>
                    <a:pt x="24" y="7"/>
                  </a:lnTo>
                  <a:lnTo>
                    <a:pt x="25" y="5"/>
                  </a:lnTo>
                  <a:lnTo>
                    <a:pt x="26" y="3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Freeform 61"/>
            <p:cNvSpPr/>
            <p:nvPr/>
          </p:nvSpPr>
          <p:spPr bwMode="auto">
            <a:xfrm>
              <a:off x="5294" y="1419"/>
              <a:ext cx="42" cy="23"/>
            </a:xfrm>
            <a:custGeom>
              <a:avLst/>
              <a:gdLst>
                <a:gd name="T0" fmla="*/ 0 w 85"/>
                <a:gd name="T1" fmla="*/ 1 h 46"/>
                <a:gd name="T2" fmla="*/ 0 w 85"/>
                <a:gd name="T3" fmla="*/ 0 h 46"/>
                <a:gd name="T4" fmla="*/ 0 w 85"/>
                <a:gd name="T5" fmla="*/ 0 h 46"/>
                <a:gd name="T6" fmla="*/ 0 w 85"/>
                <a:gd name="T7" fmla="*/ 0 h 46"/>
                <a:gd name="T8" fmla="*/ 0 w 85"/>
                <a:gd name="T9" fmla="*/ 0 h 46"/>
                <a:gd name="T10" fmla="*/ 1 w 85"/>
                <a:gd name="T11" fmla="*/ 0 h 46"/>
                <a:gd name="T12" fmla="*/ 1 w 85"/>
                <a:gd name="T13" fmla="*/ 0 h 46"/>
                <a:gd name="T14" fmla="*/ 1 w 85"/>
                <a:gd name="T15" fmla="*/ 1 h 46"/>
                <a:gd name="T16" fmla="*/ 1 w 85"/>
                <a:gd name="T17" fmla="*/ 1 h 46"/>
                <a:gd name="T18" fmla="*/ 1 w 85"/>
                <a:gd name="T19" fmla="*/ 1 h 46"/>
                <a:gd name="T20" fmla="*/ 2 w 85"/>
                <a:gd name="T21" fmla="*/ 1 h 46"/>
                <a:gd name="T22" fmla="*/ 2 w 85"/>
                <a:gd name="T23" fmla="*/ 1 h 46"/>
                <a:gd name="T24" fmla="*/ 2 w 85"/>
                <a:gd name="T25" fmla="*/ 1 h 46"/>
                <a:gd name="T26" fmla="*/ 2 w 85"/>
                <a:gd name="T27" fmla="*/ 1 h 46"/>
                <a:gd name="T28" fmla="*/ 2 w 85"/>
                <a:gd name="T29" fmla="*/ 1 h 46"/>
                <a:gd name="T30" fmla="*/ 2 w 85"/>
                <a:gd name="T31" fmla="*/ 1 h 46"/>
                <a:gd name="T32" fmla="*/ 2 w 85"/>
                <a:gd name="T33" fmla="*/ 1 h 46"/>
                <a:gd name="T34" fmla="*/ 2 w 85"/>
                <a:gd name="T35" fmla="*/ 1 h 46"/>
                <a:gd name="T36" fmla="*/ 2 w 85"/>
                <a:gd name="T37" fmla="*/ 1 h 46"/>
                <a:gd name="T38" fmla="*/ 2 w 85"/>
                <a:gd name="T39" fmla="*/ 1 h 46"/>
                <a:gd name="T40" fmla="*/ 2 w 85"/>
                <a:gd name="T41" fmla="*/ 1 h 46"/>
                <a:gd name="T42" fmla="*/ 2 w 85"/>
                <a:gd name="T43" fmla="*/ 1 h 46"/>
                <a:gd name="T44" fmla="*/ 2 w 85"/>
                <a:gd name="T45" fmla="*/ 1 h 46"/>
                <a:gd name="T46" fmla="*/ 2 w 85"/>
                <a:gd name="T47" fmla="*/ 1 h 46"/>
                <a:gd name="T48" fmla="*/ 1 w 85"/>
                <a:gd name="T49" fmla="*/ 1 h 46"/>
                <a:gd name="T50" fmla="*/ 1 w 85"/>
                <a:gd name="T51" fmla="*/ 1 h 46"/>
                <a:gd name="T52" fmla="*/ 1 w 85"/>
                <a:gd name="T53" fmla="*/ 1 h 46"/>
                <a:gd name="T54" fmla="*/ 1 w 85"/>
                <a:gd name="T55" fmla="*/ 1 h 46"/>
                <a:gd name="T56" fmla="*/ 1 w 85"/>
                <a:gd name="T57" fmla="*/ 1 h 46"/>
                <a:gd name="T58" fmla="*/ 0 w 85"/>
                <a:gd name="T59" fmla="*/ 1 h 46"/>
                <a:gd name="T60" fmla="*/ 0 w 85"/>
                <a:gd name="T61" fmla="*/ 1 h 46"/>
                <a:gd name="T62" fmla="*/ 0 w 85"/>
                <a:gd name="T63" fmla="*/ 1 h 46"/>
                <a:gd name="T64" fmla="*/ 0 w 85"/>
                <a:gd name="T65" fmla="*/ 1 h 46"/>
                <a:gd name="T66" fmla="*/ 0 w 85"/>
                <a:gd name="T67" fmla="*/ 1 h 46"/>
                <a:gd name="T68" fmla="*/ 0 w 85"/>
                <a:gd name="T69" fmla="*/ 1 h 46"/>
                <a:gd name="T70" fmla="*/ 0 w 85"/>
                <a:gd name="T71" fmla="*/ 1 h 46"/>
                <a:gd name="T72" fmla="*/ 0 w 85"/>
                <a:gd name="T73" fmla="*/ 1 h 46"/>
                <a:gd name="T74" fmla="*/ 0 w 85"/>
                <a:gd name="T75" fmla="*/ 1 h 46"/>
                <a:gd name="T76" fmla="*/ 0 w 85"/>
                <a:gd name="T77" fmla="*/ 1 h 46"/>
                <a:gd name="T78" fmla="*/ 0 w 85"/>
                <a:gd name="T79" fmla="*/ 1 h 46"/>
                <a:gd name="T80" fmla="*/ 0 w 85"/>
                <a:gd name="T81" fmla="*/ 1 h 46"/>
                <a:gd name="T82" fmla="*/ 0 w 85"/>
                <a:gd name="T83" fmla="*/ 1 h 4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85"/>
                <a:gd name="T127" fmla="*/ 0 h 46"/>
                <a:gd name="T128" fmla="*/ 85 w 85"/>
                <a:gd name="T129" fmla="*/ 46 h 4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85" h="46">
                  <a:moveTo>
                    <a:pt x="0" y="2"/>
                  </a:moveTo>
                  <a:lnTo>
                    <a:pt x="2" y="1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1"/>
                  </a:lnTo>
                  <a:lnTo>
                    <a:pt x="56" y="1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6" y="2"/>
                  </a:lnTo>
                  <a:lnTo>
                    <a:pt x="68" y="2"/>
                  </a:lnTo>
                  <a:lnTo>
                    <a:pt x="72" y="2"/>
                  </a:lnTo>
                  <a:lnTo>
                    <a:pt x="75" y="2"/>
                  </a:lnTo>
                  <a:lnTo>
                    <a:pt x="80" y="2"/>
                  </a:lnTo>
                  <a:lnTo>
                    <a:pt x="81" y="2"/>
                  </a:lnTo>
                  <a:lnTo>
                    <a:pt x="84" y="2"/>
                  </a:lnTo>
                  <a:lnTo>
                    <a:pt x="84" y="4"/>
                  </a:lnTo>
                  <a:lnTo>
                    <a:pt x="84" y="6"/>
                  </a:lnTo>
                  <a:lnTo>
                    <a:pt x="84" y="9"/>
                  </a:lnTo>
                  <a:lnTo>
                    <a:pt x="84" y="12"/>
                  </a:lnTo>
                  <a:lnTo>
                    <a:pt x="85" y="15"/>
                  </a:lnTo>
                  <a:lnTo>
                    <a:pt x="85" y="20"/>
                  </a:lnTo>
                  <a:lnTo>
                    <a:pt x="85" y="23"/>
                  </a:lnTo>
                  <a:lnTo>
                    <a:pt x="85" y="27"/>
                  </a:lnTo>
                  <a:lnTo>
                    <a:pt x="85" y="30"/>
                  </a:lnTo>
                  <a:lnTo>
                    <a:pt x="85" y="35"/>
                  </a:lnTo>
                  <a:lnTo>
                    <a:pt x="85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1" y="45"/>
                  </a:lnTo>
                  <a:lnTo>
                    <a:pt x="81" y="46"/>
                  </a:lnTo>
                  <a:lnTo>
                    <a:pt x="79" y="46"/>
                  </a:lnTo>
                  <a:lnTo>
                    <a:pt x="75" y="46"/>
                  </a:lnTo>
                  <a:lnTo>
                    <a:pt x="73" y="46"/>
                  </a:lnTo>
                  <a:lnTo>
                    <a:pt x="71" y="46"/>
                  </a:lnTo>
                  <a:lnTo>
                    <a:pt x="68" y="46"/>
                  </a:lnTo>
                  <a:lnTo>
                    <a:pt x="66" y="46"/>
                  </a:lnTo>
                  <a:lnTo>
                    <a:pt x="63" y="46"/>
                  </a:lnTo>
                  <a:lnTo>
                    <a:pt x="60" y="46"/>
                  </a:lnTo>
                  <a:lnTo>
                    <a:pt x="58" y="46"/>
                  </a:lnTo>
                  <a:lnTo>
                    <a:pt x="54" y="46"/>
                  </a:lnTo>
                  <a:lnTo>
                    <a:pt x="50" y="46"/>
                  </a:lnTo>
                  <a:lnTo>
                    <a:pt x="47" y="46"/>
                  </a:lnTo>
                  <a:lnTo>
                    <a:pt x="45" y="46"/>
                  </a:lnTo>
                  <a:lnTo>
                    <a:pt x="41" y="46"/>
                  </a:lnTo>
                  <a:lnTo>
                    <a:pt x="37" y="46"/>
                  </a:lnTo>
                  <a:lnTo>
                    <a:pt x="34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4" y="46"/>
                  </a:lnTo>
                  <a:lnTo>
                    <a:pt x="21" y="46"/>
                  </a:lnTo>
                  <a:lnTo>
                    <a:pt x="19" y="46"/>
                  </a:lnTo>
                  <a:lnTo>
                    <a:pt x="16" y="46"/>
                  </a:lnTo>
                  <a:lnTo>
                    <a:pt x="14" y="45"/>
                  </a:lnTo>
                  <a:lnTo>
                    <a:pt x="11" y="45"/>
                  </a:lnTo>
                  <a:lnTo>
                    <a:pt x="9" y="45"/>
                  </a:lnTo>
                  <a:lnTo>
                    <a:pt x="8" y="45"/>
                  </a:lnTo>
                  <a:lnTo>
                    <a:pt x="6" y="43"/>
                  </a:lnTo>
                  <a:lnTo>
                    <a:pt x="3" y="43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1" y="36"/>
                  </a:lnTo>
                  <a:lnTo>
                    <a:pt x="1" y="35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3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Freeform 62"/>
            <p:cNvSpPr/>
            <p:nvPr/>
          </p:nvSpPr>
          <p:spPr bwMode="auto">
            <a:xfrm>
              <a:off x="4913" y="1358"/>
              <a:ext cx="26" cy="25"/>
            </a:xfrm>
            <a:custGeom>
              <a:avLst/>
              <a:gdLst>
                <a:gd name="T0" fmla="*/ 1 w 52"/>
                <a:gd name="T1" fmla="*/ 0 h 51"/>
                <a:gd name="T2" fmla="*/ 1 w 52"/>
                <a:gd name="T3" fmla="*/ 0 h 51"/>
                <a:gd name="T4" fmla="*/ 1 w 52"/>
                <a:gd name="T5" fmla="*/ 0 h 51"/>
                <a:gd name="T6" fmla="*/ 1 w 52"/>
                <a:gd name="T7" fmla="*/ 0 h 51"/>
                <a:gd name="T8" fmla="*/ 1 w 52"/>
                <a:gd name="T9" fmla="*/ 0 h 51"/>
                <a:gd name="T10" fmla="*/ 1 w 52"/>
                <a:gd name="T11" fmla="*/ 0 h 51"/>
                <a:gd name="T12" fmla="*/ 1 w 52"/>
                <a:gd name="T13" fmla="*/ 0 h 51"/>
                <a:gd name="T14" fmla="*/ 1 w 52"/>
                <a:gd name="T15" fmla="*/ 0 h 51"/>
                <a:gd name="T16" fmla="*/ 1 w 52"/>
                <a:gd name="T17" fmla="*/ 0 h 51"/>
                <a:gd name="T18" fmla="*/ 1 w 52"/>
                <a:gd name="T19" fmla="*/ 0 h 51"/>
                <a:gd name="T20" fmla="*/ 1 w 52"/>
                <a:gd name="T21" fmla="*/ 0 h 51"/>
                <a:gd name="T22" fmla="*/ 0 w 52"/>
                <a:gd name="T23" fmla="*/ 0 h 51"/>
                <a:gd name="T24" fmla="*/ 0 w 52"/>
                <a:gd name="T25" fmla="*/ 0 h 51"/>
                <a:gd name="T26" fmla="*/ 0 w 52"/>
                <a:gd name="T27" fmla="*/ 0 h 51"/>
                <a:gd name="T28" fmla="*/ 1 w 52"/>
                <a:gd name="T29" fmla="*/ 1 h 51"/>
                <a:gd name="T30" fmla="*/ 1 w 52"/>
                <a:gd name="T31" fmla="*/ 1 h 51"/>
                <a:gd name="T32" fmla="*/ 1 w 52"/>
                <a:gd name="T33" fmla="*/ 1 h 51"/>
                <a:gd name="T34" fmla="*/ 1 w 52"/>
                <a:gd name="T35" fmla="*/ 1 h 51"/>
                <a:gd name="T36" fmla="*/ 1 w 52"/>
                <a:gd name="T37" fmla="*/ 1 h 51"/>
                <a:gd name="T38" fmla="*/ 1 w 52"/>
                <a:gd name="T39" fmla="*/ 1 h 51"/>
                <a:gd name="T40" fmla="*/ 1 w 52"/>
                <a:gd name="T41" fmla="*/ 1 h 51"/>
                <a:gd name="T42" fmla="*/ 1 w 52"/>
                <a:gd name="T43" fmla="*/ 1 h 51"/>
                <a:gd name="T44" fmla="*/ 1 w 52"/>
                <a:gd name="T45" fmla="*/ 1 h 51"/>
                <a:gd name="T46" fmla="*/ 1 w 52"/>
                <a:gd name="T47" fmla="*/ 1 h 51"/>
                <a:gd name="T48" fmla="*/ 1 w 52"/>
                <a:gd name="T49" fmla="*/ 1 h 51"/>
                <a:gd name="T50" fmla="*/ 1 w 52"/>
                <a:gd name="T51" fmla="*/ 1 h 51"/>
                <a:gd name="T52" fmla="*/ 2 w 52"/>
                <a:gd name="T53" fmla="*/ 1 h 51"/>
                <a:gd name="T54" fmla="*/ 2 w 52"/>
                <a:gd name="T55" fmla="*/ 1 h 51"/>
                <a:gd name="T56" fmla="*/ 2 w 52"/>
                <a:gd name="T57" fmla="*/ 1 h 51"/>
                <a:gd name="T58" fmla="*/ 2 w 52"/>
                <a:gd name="T59" fmla="*/ 1 h 51"/>
                <a:gd name="T60" fmla="*/ 2 w 52"/>
                <a:gd name="T61" fmla="*/ 1 h 51"/>
                <a:gd name="T62" fmla="*/ 2 w 52"/>
                <a:gd name="T63" fmla="*/ 1 h 51"/>
                <a:gd name="T64" fmla="*/ 2 w 52"/>
                <a:gd name="T65" fmla="*/ 1 h 51"/>
                <a:gd name="T66" fmla="*/ 2 w 52"/>
                <a:gd name="T67" fmla="*/ 0 h 51"/>
                <a:gd name="T68" fmla="*/ 2 w 52"/>
                <a:gd name="T69" fmla="*/ 0 h 51"/>
                <a:gd name="T70" fmla="*/ 2 w 52"/>
                <a:gd name="T71" fmla="*/ 0 h 51"/>
                <a:gd name="T72" fmla="*/ 2 w 52"/>
                <a:gd name="T73" fmla="*/ 0 h 51"/>
                <a:gd name="T74" fmla="*/ 2 w 52"/>
                <a:gd name="T75" fmla="*/ 0 h 51"/>
                <a:gd name="T76" fmla="*/ 2 w 52"/>
                <a:gd name="T77" fmla="*/ 0 h 51"/>
                <a:gd name="T78" fmla="*/ 2 w 52"/>
                <a:gd name="T79" fmla="*/ 0 h 51"/>
                <a:gd name="T80" fmla="*/ 2 w 52"/>
                <a:gd name="T81" fmla="*/ 0 h 51"/>
                <a:gd name="T82" fmla="*/ 2 w 52"/>
                <a:gd name="T83" fmla="*/ 0 h 51"/>
                <a:gd name="T84" fmla="*/ 2 w 52"/>
                <a:gd name="T85" fmla="*/ 0 h 51"/>
                <a:gd name="T86" fmla="*/ 2 w 52"/>
                <a:gd name="T87" fmla="*/ 0 h 51"/>
                <a:gd name="T88" fmla="*/ 2 w 52"/>
                <a:gd name="T89" fmla="*/ 0 h 51"/>
                <a:gd name="T90" fmla="*/ 1 w 52"/>
                <a:gd name="T91" fmla="*/ 0 h 51"/>
                <a:gd name="T92" fmla="*/ 1 w 52"/>
                <a:gd name="T93" fmla="*/ 0 h 51"/>
                <a:gd name="T94" fmla="*/ 1 w 52"/>
                <a:gd name="T95" fmla="*/ 0 h 51"/>
                <a:gd name="T96" fmla="*/ 1 w 52"/>
                <a:gd name="T97" fmla="*/ 0 h 51"/>
                <a:gd name="T98" fmla="*/ 1 w 52"/>
                <a:gd name="T99" fmla="*/ 0 h 5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2"/>
                <a:gd name="T151" fmla="*/ 0 h 51"/>
                <a:gd name="T152" fmla="*/ 52 w 52"/>
                <a:gd name="T153" fmla="*/ 51 h 5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2" h="51">
                  <a:moveTo>
                    <a:pt x="25" y="0"/>
                  </a:moveTo>
                  <a:lnTo>
                    <a:pt x="22" y="0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5" y="2"/>
                  </a:lnTo>
                  <a:lnTo>
                    <a:pt x="12" y="4"/>
                  </a:lnTo>
                  <a:lnTo>
                    <a:pt x="9" y="7"/>
                  </a:lnTo>
                  <a:lnTo>
                    <a:pt x="6" y="9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1" y="18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2" y="38"/>
                  </a:lnTo>
                  <a:lnTo>
                    <a:pt x="5" y="41"/>
                  </a:lnTo>
                  <a:lnTo>
                    <a:pt x="7" y="44"/>
                  </a:lnTo>
                  <a:lnTo>
                    <a:pt x="9" y="47"/>
                  </a:lnTo>
                  <a:lnTo>
                    <a:pt x="13" y="48"/>
                  </a:lnTo>
                  <a:lnTo>
                    <a:pt x="15" y="49"/>
                  </a:lnTo>
                  <a:lnTo>
                    <a:pt x="20" y="51"/>
                  </a:lnTo>
                  <a:lnTo>
                    <a:pt x="24" y="51"/>
                  </a:lnTo>
                  <a:lnTo>
                    <a:pt x="27" y="51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8" y="48"/>
                  </a:lnTo>
                  <a:lnTo>
                    <a:pt x="41" y="45"/>
                  </a:lnTo>
                  <a:lnTo>
                    <a:pt x="44" y="42"/>
                  </a:lnTo>
                  <a:lnTo>
                    <a:pt x="46" y="40"/>
                  </a:lnTo>
                  <a:lnTo>
                    <a:pt x="48" y="38"/>
                  </a:lnTo>
                  <a:lnTo>
                    <a:pt x="51" y="34"/>
                  </a:lnTo>
                  <a:lnTo>
                    <a:pt x="51" y="29"/>
                  </a:lnTo>
                  <a:lnTo>
                    <a:pt x="52" y="27"/>
                  </a:lnTo>
                  <a:lnTo>
                    <a:pt x="52" y="21"/>
                  </a:lnTo>
                  <a:lnTo>
                    <a:pt x="51" y="18"/>
                  </a:lnTo>
                  <a:lnTo>
                    <a:pt x="50" y="14"/>
                  </a:lnTo>
                  <a:lnTo>
                    <a:pt x="47" y="12"/>
                  </a:lnTo>
                  <a:lnTo>
                    <a:pt x="45" y="9"/>
                  </a:lnTo>
                  <a:lnTo>
                    <a:pt x="43" y="8"/>
                  </a:lnTo>
                  <a:lnTo>
                    <a:pt x="41" y="6"/>
                  </a:lnTo>
                  <a:lnTo>
                    <a:pt x="38" y="4"/>
                  </a:lnTo>
                  <a:lnTo>
                    <a:pt x="35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6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Freeform 63"/>
            <p:cNvSpPr/>
            <p:nvPr/>
          </p:nvSpPr>
          <p:spPr bwMode="auto">
            <a:xfrm>
              <a:off x="5052" y="1356"/>
              <a:ext cx="28" cy="27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0 h 55"/>
                <a:gd name="T4" fmla="*/ 1 w 55"/>
                <a:gd name="T5" fmla="*/ 0 h 55"/>
                <a:gd name="T6" fmla="*/ 1 w 55"/>
                <a:gd name="T7" fmla="*/ 0 h 55"/>
                <a:gd name="T8" fmla="*/ 1 w 55"/>
                <a:gd name="T9" fmla="*/ 0 h 55"/>
                <a:gd name="T10" fmla="*/ 1 w 55"/>
                <a:gd name="T11" fmla="*/ 0 h 55"/>
                <a:gd name="T12" fmla="*/ 1 w 55"/>
                <a:gd name="T13" fmla="*/ 0 h 55"/>
                <a:gd name="T14" fmla="*/ 1 w 55"/>
                <a:gd name="T15" fmla="*/ 0 h 55"/>
                <a:gd name="T16" fmla="*/ 1 w 55"/>
                <a:gd name="T17" fmla="*/ 0 h 55"/>
                <a:gd name="T18" fmla="*/ 1 w 55"/>
                <a:gd name="T19" fmla="*/ 0 h 55"/>
                <a:gd name="T20" fmla="*/ 1 w 55"/>
                <a:gd name="T21" fmla="*/ 0 h 55"/>
                <a:gd name="T22" fmla="*/ 0 w 55"/>
                <a:gd name="T23" fmla="*/ 0 h 55"/>
                <a:gd name="T24" fmla="*/ 0 w 55"/>
                <a:gd name="T25" fmla="*/ 0 h 55"/>
                <a:gd name="T26" fmla="*/ 0 w 55"/>
                <a:gd name="T27" fmla="*/ 0 h 55"/>
                <a:gd name="T28" fmla="*/ 0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2 w 55"/>
                <a:gd name="T53" fmla="*/ 1 h 55"/>
                <a:gd name="T54" fmla="*/ 2 w 55"/>
                <a:gd name="T55" fmla="*/ 1 h 55"/>
                <a:gd name="T56" fmla="*/ 2 w 55"/>
                <a:gd name="T57" fmla="*/ 1 h 55"/>
                <a:gd name="T58" fmla="*/ 2 w 55"/>
                <a:gd name="T59" fmla="*/ 1 h 55"/>
                <a:gd name="T60" fmla="*/ 2 w 55"/>
                <a:gd name="T61" fmla="*/ 1 h 55"/>
                <a:gd name="T62" fmla="*/ 2 w 55"/>
                <a:gd name="T63" fmla="*/ 1 h 55"/>
                <a:gd name="T64" fmla="*/ 2 w 55"/>
                <a:gd name="T65" fmla="*/ 1 h 55"/>
                <a:gd name="T66" fmla="*/ 2 w 55"/>
                <a:gd name="T67" fmla="*/ 1 h 55"/>
                <a:gd name="T68" fmla="*/ 2 w 55"/>
                <a:gd name="T69" fmla="*/ 0 h 55"/>
                <a:gd name="T70" fmla="*/ 2 w 55"/>
                <a:gd name="T71" fmla="*/ 0 h 55"/>
                <a:gd name="T72" fmla="*/ 2 w 55"/>
                <a:gd name="T73" fmla="*/ 0 h 55"/>
                <a:gd name="T74" fmla="*/ 2 w 55"/>
                <a:gd name="T75" fmla="*/ 0 h 55"/>
                <a:gd name="T76" fmla="*/ 2 w 55"/>
                <a:gd name="T77" fmla="*/ 0 h 55"/>
                <a:gd name="T78" fmla="*/ 2 w 55"/>
                <a:gd name="T79" fmla="*/ 0 h 55"/>
                <a:gd name="T80" fmla="*/ 2 w 55"/>
                <a:gd name="T81" fmla="*/ 0 h 55"/>
                <a:gd name="T82" fmla="*/ 2 w 55"/>
                <a:gd name="T83" fmla="*/ 0 h 55"/>
                <a:gd name="T84" fmla="*/ 2 w 55"/>
                <a:gd name="T85" fmla="*/ 0 h 55"/>
                <a:gd name="T86" fmla="*/ 2 w 55"/>
                <a:gd name="T87" fmla="*/ 0 h 55"/>
                <a:gd name="T88" fmla="*/ 2 w 55"/>
                <a:gd name="T89" fmla="*/ 0 h 55"/>
                <a:gd name="T90" fmla="*/ 2 w 55"/>
                <a:gd name="T91" fmla="*/ 0 h 55"/>
                <a:gd name="T92" fmla="*/ 2 w 55"/>
                <a:gd name="T93" fmla="*/ 0 h 55"/>
                <a:gd name="T94" fmla="*/ 2 w 55"/>
                <a:gd name="T95" fmla="*/ 0 h 55"/>
                <a:gd name="T96" fmla="*/ 1 w 55"/>
                <a:gd name="T97" fmla="*/ 0 h 55"/>
                <a:gd name="T98" fmla="*/ 1 w 55"/>
                <a:gd name="T99" fmla="*/ 0 h 55"/>
                <a:gd name="T100" fmla="*/ 1 w 55"/>
                <a:gd name="T101" fmla="*/ 0 h 55"/>
                <a:gd name="T102" fmla="*/ 1 w 55"/>
                <a:gd name="T103" fmla="*/ 0 h 5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5"/>
                <a:gd name="T157" fmla="*/ 0 h 55"/>
                <a:gd name="T158" fmla="*/ 55 w 55"/>
                <a:gd name="T159" fmla="*/ 55 h 5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5" h="55">
                  <a:moveTo>
                    <a:pt x="27" y="0"/>
                  </a:moveTo>
                  <a:lnTo>
                    <a:pt x="24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1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7" y="8"/>
                  </a:lnTo>
                  <a:lnTo>
                    <a:pt x="5" y="12"/>
                  </a:lnTo>
                  <a:lnTo>
                    <a:pt x="2" y="14"/>
                  </a:lnTo>
                  <a:lnTo>
                    <a:pt x="1" y="19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2" y="39"/>
                  </a:lnTo>
                  <a:lnTo>
                    <a:pt x="5" y="43"/>
                  </a:lnTo>
                  <a:lnTo>
                    <a:pt x="7" y="46"/>
                  </a:lnTo>
                  <a:lnTo>
                    <a:pt x="9" y="48"/>
                  </a:lnTo>
                  <a:lnTo>
                    <a:pt x="13" y="51"/>
                  </a:lnTo>
                  <a:lnTo>
                    <a:pt x="16" y="52"/>
                  </a:lnTo>
                  <a:lnTo>
                    <a:pt x="20" y="53"/>
                  </a:lnTo>
                  <a:lnTo>
                    <a:pt x="24" y="53"/>
                  </a:lnTo>
                  <a:lnTo>
                    <a:pt x="27" y="55"/>
                  </a:lnTo>
                  <a:lnTo>
                    <a:pt x="32" y="53"/>
                  </a:lnTo>
                  <a:lnTo>
                    <a:pt x="35" y="53"/>
                  </a:lnTo>
                  <a:lnTo>
                    <a:pt x="39" y="52"/>
                  </a:lnTo>
                  <a:lnTo>
                    <a:pt x="42" y="51"/>
                  </a:lnTo>
                  <a:lnTo>
                    <a:pt x="46" y="48"/>
                  </a:lnTo>
                  <a:lnTo>
                    <a:pt x="48" y="45"/>
                  </a:lnTo>
                  <a:lnTo>
                    <a:pt x="51" y="42"/>
                  </a:lnTo>
                  <a:lnTo>
                    <a:pt x="53" y="38"/>
                  </a:lnTo>
                  <a:lnTo>
                    <a:pt x="54" y="33"/>
                  </a:lnTo>
                  <a:lnTo>
                    <a:pt x="55" y="30"/>
                  </a:lnTo>
                  <a:lnTo>
                    <a:pt x="54" y="27"/>
                  </a:lnTo>
                  <a:lnTo>
                    <a:pt x="54" y="24"/>
                  </a:lnTo>
                  <a:lnTo>
                    <a:pt x="54" y="23"/>
                  </a:lnTo>
                  <a:lnTo>
                    <a:pt x="54" y="20"/>
                  </a:lnTo>
                  <a:lnTo>
                    <a:pt x="53" y="17"/>
                  </a:lnTo>
                  <a:lnTo>
                    <a:pt x="51" y="14"/>
                  </a:lnTo>
                  <a:lnTo>
                    <a:pt x="48" y="11"/>
                  </a:lnTo>
                  <a:lnTo>
                    <a:pt x="46" y="8"/>
                  </a:lnTo>
                  <a:lnTo>
                    <a:pt x="44" y="6"/>
                  </a:lnTo>
                  <a:lnTo>
                    <a:pt x="41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0" name="Freeform 64"/>
            <p:cNvSpPr/>
            <p:nvPr/>
          </p:nvSpPr>
          <p:spPr bwMode="auto">
            <a:xfrm>
              <a:off x="5193" y="1021"/>
              <a:ext cx="36" cy="36"/>
            </a:xfrm>
            <a:custGeom>
              <a:avLst/>
              <a:gdLst>
                <a:gd name="T0" fmla="*/ 3 w 71"/>
                <a:gd name="T1" fmla="*/ 0 h 72"/>
                <a:gd name="T2" fmla="*/ 2 w 71"/>
                <a:gd name="T3" fmla="*/ 0 h 72"/>
                <a:gd name="T4" fmla="*/ 2 w 71"/>
                <a:gd name="T5" fmla="*/ 0 h 72"/>
                <a:gd name="T6" fmla="*/ 2 w 71"/>
                <a:gd name="T7" fmla="*/ 1 h 72"/>
                <a:gd name="T8" fmla="*/ 2 w 71"/>
                <a:gd name="T9" fmla="*/ 1 h 72"/>
                <a:gd name="T10" fmla="*/ 1 w 71"/>
                <a:gd name="T11" fmla="*/ 1 h 72"/>
                <a:gd name="T12" fmla="*/ 1 w 71"/>
                <a:gd name="T13" fmla="*/ 1 h 72"/>
                <a:gd name="T14" fmla="*/ 1 w 71"/>
                <a:gd name="T15" fmla="*/ 1 h 72"/>
                <a:gd name="T16" fmla="*/ 1 w 71"/>
                <a:gd name="T17" fmla="*/ 1 h 72"/>
                <a:gd name="T18" fmla="*/ 1 w 71"/>
                <a:gd name="T19" fmla="*/ 1 h 72"/>
                <a:gd name="T20" fmla="*/ 1 w 71"/>
                <a:gd name="T21" fmla="*/ 1 h 72"/>
                <a:gd name="T22" fmla="*/ 1 w 71"/>
                <a:gd name="T23" fmla="*/ 1 h 72"/>
                <a:gd name="T24" fmla="*/ 1 w 71"/>
                <a:gd name="T25" fmla="*/ 1 h 72"/>
                <a:gd name="T26" fmla="*/ 1 w 71"/>
                <a:gd name="T27" fmla="*/ 1 h 72"/>
                <a:gd name="T28" fmla="*/ 0 w 71"/>
                <a:gd name="T29" fmla="*/ 1 h 72"/>
                <a:gd name="T30" fmla="*/ 0 w 71"/>
                <a:gd name="T31" fmla="*/ 1 h 72"/>
                <a:gd name="T32" fmla="*/ 0 w 71"/>
                <a:gd name="T33" fmla="*/ 1 h 72"/>
                <a:gd name="T34" fmla="*/ 0 w 71"/>
                <a:gd name="T35" fmla="*/ 1 h 72"/>
                <a:gd name="T36" fmla="*/ 0 w 71"/>
                <a:gd name="T37" fmla="*/ 2 h 72"/>
                <a:gd name="T38" fmla="*/ 0 w 71"/>
                <a:gd name="T39" fmla="*/ 2 h 72"/>
                <a:gd name="T40" fmla="*/ 1 w 71"/>
                <a:gd name="T41" fmla="*/ 2 h 72"/>
                <a:gd name="T42" fmla="*/ 1 w 71"/>
                <a:gd name="T43" fmla="*/ 2 h 72"/>
                <a:gd name="T44" fmla="*/ 1 w 71"/>
                <a:gd name="T45" fmla="*/ 1 h 72"/>
                <a:gd name="T46" fmla="*/ 1 w 71"/>
                <a:gd name="T47" fmla="*/ 1 h 72"/>
                <a:gd name="T48" fmla="*/ 1 w 71"/>
                <a:gd name="T49" fmla="*/ 1 h 72"/>
                <a:gd name="T50" fmla="*/ 1 w 71"/>
                <a:gd name="T51" fmla="*/ 1 h 72"/>
                <a:gd name="T52" fmla="*/ 1 w 71"/>
                <a:gd name="T53" fmla="*/ 1 h 72"/>
                <a:gd name="T54" fmla="*/ 1 w 71"/>
                <a:gd name="T55" fmla="*/ 1 h 72"/>
                <a:gd name="T56" fmla="*/ 1 w 71"/>
                <a:gd name="T57" fmla="*/ 1 h 72"/>
                <a:gd name="T58" fmla="*/ 1 w 71"/>
                <a:gd name="T59" fmla="*/ 1 h 72"/>
                <a:gd name="T60" fmla="*/ 1 w 71"/>
                <a:gd name="T61" fmla="*/ 1 h 72"/>
                <a:gd name="T62" fmla="*/ 1 w 71"/>
                <a:gd name="T63" fmla="*/ 1 h 72"/>
                <a:gd name="T64" fmla="*/ 1 w 71"/>
                <a:gd name="T65" fmla="*/ 1 h 72"/>
                <a:gd name="T66" fmla="*/ 1 w 71"/>
                <a:gd name="T67" fmla="*/ 1 h 72"/>
                <a:gd name="T68" fmla="*/ 2 w 71"/>
                <a:gd name="T69" fmla="*/ 1 h 72"/>
                <a:gd name="T70" fmla="*/ 2 w 71"/>
                <a:gd name="T71" fmla="*/ 1 h 72"/>
                <a:gd name="T72" fmla="*/ 2 w 71"/>
                <a:gd name="T73" fmla="*/ 1 h 72"/>
                <a:gd name="T74" fmla="*/ 2 w 71"/>
                <a:gd name="T75" fmla="*/ 1 h 72"/>
                <a:gd name="T76" fmla="*/ 3 w 71"/>
                <a:gd name="T77" fmla="*/ 1 h 72"/>
                <a:gd name="T78" fmla="*/ 3 w 71"/>
                <a:gd name="T79" fmla="*/ 0 h 72"/>
                <a:gd name="T80" fmla="*/ 3 w 71"/>
                <a:gd name="T81" fmla="*/ 0 h 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71"/>
                <a:gd name="T124" fmla="*/ 0 h 72"/>
                <a:gd name="T125" fmla="*/ 71 w 71"/>
                <a:gd name="T126" fmla="*/ 72 h 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71" h="72">
                  <a:moveTo>
                    <a:pt x="71" y="0"/>
                  </a:moveTo>
                  <a:lnTo>
                    <a:pt x="68" y="0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0" y="0"/>
                  </a:lnTo>
                  <a:lnTo>
                    <a:pt x="55" y="0"/>
                  </a:lnTo>
                  <a:lnTo>
                    <a:pt x="52" y="1"/>
                  </a:lnTo>
                  <a:lnTo>
                    <a:pt x="47" y="1"/>
                  </a:lnTo>
                  <a:lnTo>
                    <a:pt x="43" y="2"/>
                  </a:lnTo>
                  <a:lnTo>
                    <a:pt x="37" y="4"/>
                  </a:lnTo>
                  <a:lnTo>
                    <a:pt x="34" y="4"/>
                  </a:lnTo>
                  <a:lnTo>
                    <a:pt x="29" y="5"/>
                  </a:lnTo>
                  <a:lnTo>
                    <a:pt x="26" y="7"/>
                  </a:lnTo>
                  <a:lnTo>
                    <a:pt x="22" y="8"/>
                  </a:lnTo>
                  <a:lnTo>
                    <a:pt x="20" y="9"/>
                  </a:lnTo>
                  <a:lnTo>
                    <a:pt x="16" y="11"/>
                  </a:lnTo>
                  <a:lnTo>
                    <a:pt x="15" y="13"/>
                  </a:lnTo>
                  <a:lnTo>
                    <a:pt x="13" y="14"/>
                  </a:lnTo>
                  <a:lnTo>
                    <a:pt x="11" y="15"/>
                  </a:lnTo>
                  <a:lnTo>
                    <a:pt x="10" y="18"/>
                  </a:lnTo>
                  <a:lnTo>
                    <a:pt x="9" y="21"/>
                  </a:lnTo>
                  <a:lnTo>
                    <a:pt x="8" y="24"/>
                  </a:lnTo>
                  <a:lnTo>
                    <a:pt x="5" y="26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3" y="34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3"/>
                  </a:lnTo>
                  <a:lnTo>
                    <a:pt x="0" y="45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0" y="61"/>
                  </a:lnTo>
                  <a:lnTo>
                    <a:pt x="0" y="65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1"/>
                  </a:lnTo>
                  <a:lnTo>
                    <a:pt x="4" y="58"/>
                  </a:lnTo>
                  <a:lnTo>
                    <a:pt x="5" y="54"/>
                  </a:lnTo>
                  <a:lnTo>
                    <a:pt x="7" y="52"/>
                  </a:lnTo>
                  <a:lnTo>
                    <a:pt x="8" y="47"/>
                  </a:lnTo>
                  <a:lnTo>
                    <a:pt x="9" y="44"/>
                  </a:lnTo>
                  <a:lnTo>
                    <a:pt x="9" y="40"/>
                  </a:lnTo>
                  <a:lnTo>
                    <a:pt x="11" y="38"/>
                  </a:lnTo>
                  <a:lnTo>
                    <a:pt x="11" y="35"/>
                  </a:lnTo>
                  <a:lnTo>
                    <a:pt x="13" y="33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30"/>
                  </a:lnTo>
                  <a:lnTo>
                    <a:pt x="16" y="27"/>
                  </a:lnTo>
                  <a:lnTo>
                    <a:pt x="17" y="25"/>
                  </a:lnTo>
                  <a:lnTo>
                    <a:pt x="21" y="22"/>
                  </a:lnTo>
                  <a:lnTo>
                    <a:pt x="22" y="20"/>
                  </a:lnTo>
                  <a:lnTo>
                    <a:pt x="23" y="18"/>
                  </a:lnTo>
                  <a:lnTo>
                    <a:pt x="26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29" y="15"/>
                  </a:lnTo>
                  <a:lnTo>
                    <a:pt x="31" y="14"/>
                  </a:lnTo>
                  <a:lnTo>
                    <a:pt x="34" y="13"/>
                  </a:lnTo>
                  <a:lnTo>
                    <a:pt x="37" y="12"/>
                  </a:lnTo>
                  <a:lnTo>
                    <a:pt x="41" y="11"/>
                  </a:lnTo>
                  <a:lnTo>
                    <a:pt x="44" y="9"/>
                  </a:lnTo>
                  <a:lnTo>
                    <a:pt x="48" y="8"/>
                  </a:lnTo>
                  <a:lnTo>
                    <a:pt x="53" y="6"/>
                  </a:lnTo>
                  <a:lnTo>
                    <a:pt x="56" y="5"/>
                  </a:lnTo>
                  <a:lnTo>
                    <a:pt x="60" y="4"/>
                  </a:lnTo>
                  <a:lnTo>
                    <a:pt x="63" y="2"/>
                  </a:lnTo>
                  <a:lnTo>
                    <a:pt x="66" y="1"/>
                  </a:lnTo>
                  <a:lnTo>
                    <a:pt x="68" y="0"/>
                  </a:lnTo>
                  <a:lnTo>
                    <a:pt x="69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1" name="Freeform 65"/>
            <p:cNvSpPr/>
            <p:nvPr/>
          </p:nvSpPr>
          <p:spPr bwMode="auto">
            <a:xfrm>
              <a:off x="5204" y="1034"/>
              <a:ext cx="40" cy="14"/>
            </a:xfrm>
            <a:custGeom>
              <a:avLst/>
              <a:gdLst>
                <a:gd name="T0" fmla="*/ 1 w 80"/>
                <a:gd name="T1" fmla="*/ 1 h 27"/>
                <a:gd name="T2" fmla="*/ 1 w 80"/>
                <a:gd name="T3" fmla="*/ 1 h 27"/>
                <a:gd name="T4" fmla="*/ 1 w 80"/>
                <a:gd name="T5" fmla="*/ 1 h 27"/>
                <a:gd name="T6" fmla="*/ 1 w 80"/>
                <a:gd name="T7" fmla="*/ 1 h 27"/>
                <a:gd name="T8" fmla="*/ 1 w 80"/>
                <a:gd name="T9" fmla="*/ 1 h 27"/>
                <a:gd name="T10" fmla="*/ 1 w 80"/>
                <a:gd name="T11" fmla="*/ 1 h 27"/>
                <a:gd name="T12" fmla="*/ 1 w 80"/>
                <a:gd name="T13" fmla="*/ 1 h 27"/>
                <a:gd name="T14" fmla="*/ 1 w 80"/>
                <a:gd name="T15" fmla="*/ 0 h 27"/>
                <a:gd name="T16" fmla="*/ 1 w 80"/>
                <a:gd name="T17" fmla="*/ 0 h 27"/>
                <a:gd name="T18" fmla="*/ 1 w 80"/>
                <a:gd name="T19" fmla="*/ 0 h 27"/>
                <a:gd name="T20" fmla="*/ 1 w 80"/>
                <a:gd name="T21" fmla="*/ 0 h 27"/>
                <a:gd name="T22" fmla="*/ 1 w 80"/>
                <a:gd name="T23" fmla="*/ 0 h 27"/>
                <a:gd name="T24" fmla="*/ 1 w 80"/>
                <a:gd name="T25" fmla="*/ 1 h 27"/>
                <a:gd name="T26" fmla="*/ 1 w 80"/>
                <a:gd name="T27" fmla="*/ 1 h 27"/>
                <a:gd name="T28" fmla="*/ 1 w 80"/>
                <a:gd name="T29" fmla="*/ 1 h 27"/>
                <a:gd name="T30" fmla="*/ 1 w 80"/>
                <a:gd name="T31" fmla="*/ 1 h 27"/>
                <a:gd name="T32" fmla="*/ 3 w 80"/>
                <a:gd name="T33" fmla="*/ 1 h 27"/>
                <a:gd name="T34" fmla="*/ 3 w 80"/>
                <a:gd name="T35" fmla="*/ 1 h 27"/>
                <a:gd name="T36" fmla="*/ 3 w 80"/>
                <a:gd name="T37" fmla="*/ 1 h 27"/>
                <a:gd name="T38" fmla="*/ 3 w 80"/>
                <a:gd name="T39" fmla="*/ 1 h 27"/>
                <a:gd name="T40" fmla="*/ 3 w 80"/>
                <a:gd name="T41" fmla="*/ 1 h 27"/>
                <a:gd name="T42" fmla="*/ 3 w 80"/>
                <a:gd name="T43" fmla="*/ 1 h 27"/>
                <a:gd name="T44" fmla="*/ 3 w 80"/>
                <a:gd name="T45" fmla="*/ 1 h 27"/>
                <a:gd name="T46" fmla="*/ 3 w 80"/>
                <a:gd name="T47" fmla="*/ 1 h 27"/>
                <a:gd name="T48" fmla="*/ 3 w 80"/>
                <a:gd name="T49" fmla="*/ 1 h 27"/>
                <a:gd name="T50" fmla="*/ 3 w 80"/>
                <a:gd name="T51" fmla="*/ 1 h 27"/>
                <a:gd name="T52" fmla="*/ 3 w 80"/>
                <a:gd name="T53" fmla="*/ 1 h 27"/>
                <a:gd name="T54" fmla="*/ 3 w 80"/>
                <a:gd name="T55" fmla="*/ 1 h 27"/>
                <a:gd name="T56" fmla="*/ 3 w 80"/>
                <a:gd name="T57" fmla="*/ 1 h 27"/>
                <a:gd name="T58" fmla="*/ 1 w 80"/>
                <a:gd name="T59" fmla="*/ 1 h 27"/>
                <a:gd name="T60" fmla="*/ 1 w 80"/>
                <a:gd name="T61" fmla="*/ 1 h 27"/>
                <a:gd name="T62" fmla="*/ 1 w 80"/>
                <a:gd name="T63" fmla="*/ 1 h 27"/>
                <a:gd name="T64" fmla="*/ 1 w 80"/>
                <a:gd name="T65" fmla="*/ 1 h 27"/>
                <a:gd name="T66" fmla="*/ 1 w 80"/>
                <a:gd name="T67" fmla="*/ 1 h 27"/>
                <a:gd name="T68" fmla="*/ 1 w 80"/>
                <a:gd name="T69" fmla="*/ 1 h 27"/>
                <a:gd name="T70" fmla="*/ 1 w 80"/>
                <a:gd name="T71" fmla="*/ 1 h 27"/>
                <a:gd name="T72" fmla="*/ 1 w 80"/>
                <a:gd name="T73" fmla="*/ 1 h 27"/>
                <a:gd name="T74" fmla="*/ 1 w 80"/>
                <a:gd name="T75" fmla="*/ 1 h 27"/>
                <a:gd name="T76" fmla="*/ 1 w 80"/>
                <a:gd name="T77" fmla="*/ 1 h 27"/>
                <a:gd name="T78" fmla="*/ 1 w 80"/>
                <a:gd name="T79" fmla="*/ 1 h 27"/>
                <a:gd name="T80" fmla="*/ 1 w 80"/>
                <a:gd name="T81" fmla="*/ 1 h 27"/>
                <a:gd name="T82" fmla="*/ 1 w 80"/>
                <a:gd name="T83" fmla="*/ 1 h 27"/>
                <a:gd name="T84" fmla="*/ 1 w 80"/>
                <a:gd name="T85" fmla="*/ 1 h 27"/>
                <a:gd name="T86" fmla="*/ 1 w 80"/>
                <a:gd name="T87" fmla="*/ 1 h 27"/>
                <a:gd name="T88" fmla="*/ 1 w 80"/>
                <a:gd name="T89" fmla="*/ 1 h 27"/>
                <a:gd name="T90" fmla="*/ 1 w 80"/>
                <a:gd name="T91" fmla="*/ 1 h 27"/>
                <a:gd name="T92" fmla="*/ 1 w 80"/>
                <a:gd name="T93" fmla="*/ 1 h 27"/>
                <a:gd name="T94" fmla="*/ 1 w 80"/>
                <a:gd name="T95" fmla="*/ 1 h 27"/>
                <a:gd name="T96" fmla="*/ 1 w 80"/>
                <a:gd name="T97" fmla="*/ 1 h 27"/>
                <a:gd name="T98" fmla="*/ 1 w 80"/>
                <a:gd name="T99" fmla="*/ 1 h 27"/>
                <a:gd name="T100" fmla="*/ 1 w 80"/>
                <a:gd name="T101" fmla="*/ 1 h 27"/>
                <a:gd name="T102" fmla="*/ 1 w 80"/>
                <a:gd name="T103" fmla="*/ 1 h 27"/>
                <a:gd name="T104" fmla="*/ 0 w 80"/>
                <a:gd name="T105" fmla="*/ 1 h 27"/>
                <a:gd name="T106" fmla="*/ 1 w 80"/>
                <a:gd name="T107" fmla="*/ 1 h 27"/>
                <a:gd name="T108" fmla="*/ 1 w 80"/>
                <a:gd name="T109" fmla="*/ 1 h 2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0"/>
                <a:gd name="T166" fmla="*/ 0 h 27"/>
                <a:gd name="T167" fmla="*/ 80 w 80"/>
                <a:gd name="T168" fmla="*/ 27 h 27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0" h="27">
                  <a:moveTo>
                    <a:pt x="14" y="11"/>
                  </a:moveTo>
                  <a:lnTo>
                    <a:pt x="15" y="9"/>
                  </a:lnTo>
                  <a:lnTo>
                    <a:pt x="19" y="7"/>
                  </a:lnTo>
                  <a:lnTo>
                    <a:pt x="22" y="5"/>
                  </a:lnTo>
                  <a:lnTo>
                    <a:pt x="26" y="5"/>
                  </a:lnTo>
                  <a:lnTo>
                    <a:pt x="31" y="2"/>
                  </a:lnTo>
                  <a:lnTo>
                    <a:pt x="34" y="1"/>
                  </a:lnTo>
                  <a:lnTo>
                    <a:pt x="38" y="0"/>
                  </a:lnTo>
                  <a:lnTo>
                    <a:pt x="41" y="0"/>
                  </a:lnTo>
                  <a:lnTo>
                    <a:pt x="44" y="0"/>
                  </a:lnTo>
                  <a:lnTo>
                    <a:pt x="47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4"/>
                  </a:lnTo>
                  <a:lnTo>
                    <a:pt x="63" y="5"/>
                  </a:lnTo>
                  <a:lnTo>
                    <a:pt x="66" y="6"/>
                  </a:lnTo>
                  <a:lnTo>
                    <a:pt x="68" y="6"/>
                  </a:lnTo>
                  <a:lnTo>
                    <a:pt x="72" y="8"/>
                  </a:lnTo>
                  <a:lnTo>
                    <a:pt x="74" y="8"/>
                  </a:lnTo>
                  <a:lnTo>
                    <a:pt x="78" y="9"/>
                  </a:lnTo>
                  <a:lnTo>
                    <a:pt x="80" y="11"/>
                  </a:lnTo>
                  <a:lnTo>
                    <a:pt x="78" y="11"/>
                  </a:lnTo>
                  <a:lnTo>
                    <a:pt x="77" y="11"/>
                  </a:lnTo>
                  <a:lnTo>
                    <a:pt x="73" y="11"/>
                  </a:lnTo>
                  <a:lnTo>
                    <a:pt x="71" y="11"/>
                  </a:lnTo>
                  <a:lnTo>
                    <a:pt x="68" y="11"/>
                  </a:lnTo>
                  <a:lnTo>
                    <a:pt x="65" y="11"/>
                  </a:lnTo>
                  <a:lnTo>
                    <a:pt x="63" y="11"/>
                  </a:lnTo>
                  <a:lnTo>
                    <a:pt x="59" y="11"/>
                  </a:lnTo>
                  <a:lnTo>
                    <a:pt x="55" y="11"/>
                  </a:lnTo>
                  <a:lnTo>
                    <a:pt x="52" y="11"/>
                  </a:lnTo>
                  <a:lnTo>
                    <a:pt x="48" y="11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1" y="11"/>
                  </a:lnTo>
                  <a:lnTo>
                    <a:pt x="39" y="12"/>
                  </a:lnTo>
                  <a:lnTo>
                    <a:pt x="38" y="12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1" y="14"/>
                  </a:lnTo>
                  <a:lnTo>
                    <a:pt x="27" y="15"/>
                  </a:lnTo>
                  <a:lnTo>
                    <a:pt x="23" y="17"/>
                  </a:lnTo>
                  <a:lnTo>
                    <a:pt x="21" y="18"/>
                  </a:lnTo>
                  <a:lnTo>
                    <a:pt x="18" y="19"/>
                  </a:lnTo>
                  <a:lnTo>
                    <a:pt x="15" y="20"/>
                  </a:lnTo>
                  <a:lnTo>
                    <a:pt x="12" y="21"/>
                  </a:lnTo>
                  <a:lnTo>
                    <a:pt x="9" y="22"/>
                  </a:lnTo>
                  <a:lnTo>
                    <a:pt x="6" y="25"/>
                  </a:lnTo>
                  <a:lnTo>
                    <a:pt x="5" y="26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14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Freeform 66"/>
            <p:cNvSpPr/>
            <p:nvPr/>
          </p:nvSpPr>
          <p:spPr bwMode="auto">
            <a:xfrm>
              <a:off x="5203" y="1063"/>
              <a:ext cx="39" cy="12"/>
            </a:xfrm>
            <a:custGeom>
              <a:avLst/>
              <a:gdLst>
                <a:gd name="T0" fmla="*/ 1 w 78"/>
                <a:gd name="T1" fmla="*/ 0 h 25"/>
                <a:gd name="T2" fmla="*/ 1 w 78"/>
                <a:gd name="T3" fmla="*/ 0 h 25"/>
                <a:gd name="T4" fmla="*/ 1 w 78"/>
                <a:gd name="T5" fmla="*/ 0 h 25"/>
                <a:gd name="T6" fmla="*/ 1 w 78"/>
                <a:gd name="T7" fmla="*/ 0 h 25"/>
                <a:gd name="T8" fmla="*/ 1 w 78"/>
                <a:gd name="T9" fmla="*/ 0 h 25"/>
                <a:gd name="T10" fmla="*/ 1 w 78"/>
                <a:gd name="T11" fmla="*/ 0 h 25"/>
                <a:gd name="T12" fmla="*/ 1 w 78"/>
                <a:gd name="T13" fmla="*/ 0 h 25"/>
                <a:gd name="T14" fmla="*/ 1 w 78"/>
                <a:gd name="T15" fmla="*/ 0 h 25"/>
                <a:gd name="T16" fmla="*/ 1 w 78"/>
                <a:gd name="T17" fmla="*/ 0 h 25"/>
                <a:gd name="T18" fmla="*/ 1 w 78"/>
                <a:gd name="T19" fmla="*/ 0 h 25"/>
                <a:gd name="T20" fmla="*/ 1 w 78"/>
                <a:gd name="T21" fmla="*/ 0 h 25"/>
                <a:gd name="T22" fmla="*/ 1 w 78"/>
                <a:gd name="T23" fmla="*/ 0 h 25"/>
                <a:gd name="T24" fmla="*/ 1 w 78"/>
                <a:gd name="T25" fmla="*/ 0 h 25"/>
                <a:gd name="T26" fmla="*/ 1 w 78"/>
                <a:gd name="T27" fmla="*/ 0 h 25"/>
                <a:gd name="T28" fmla="*/ 1 w 78"/>
                <a:gd name="T29" fmla="*/ 0 h 25"/>
                <a:gd name="T30" fmla="*/ 1 w 78"/>
                <a:gd name="T31" fmla="*/ 0 h 25"/>
                <a:gd name="T32" fmla="*/ 1 w 78"/>
                <a:gd name="T33" fmla="*/ 0 h 25"/>
                <a:gd name="T34" fmla="*/ 2 w 78"/>
                <a:gd name="T35" fmla="*/ 0 h 25"/>
                <a:gd name="T36" fmla="*/ 2 w 78"/>
                <a:gd name="T37" fmla="*/ 0 h 25"/>
                <a:gd name="T38" fmla="*/ 2 w 78"/>
                <a:gd name="T39" fmla="*/ 0 h 25"/>
                <a:gd name="T40" fmla="*/ 2 w 78"/>
                <a:gd name="T41" fmla="*/ 0 h 25"/>
                <a:gd name="T42" fmla="*/ 2 w 78"/>
                <a:gd name="T43" fmla="*/ 0 h 25"/>
                <a:gd name="T44" fmla="*/ 2 w 78"/>
                <a:gd name="T45" fmla="*/ 0 h 25"/>
                <a:gd name="T46" fmla="*/ 2 w 78"/>
                <a:gd name="T47" fmla="*/ 0 h 25"/>
                <a:gd name="T48" fmla="*/ 2 w 78"/>
                <a:gd name="T49" fmla="*/ 0 h 25"/>
                <a:gd name="T50" fmla="*/ 2 w 78"/>
                <a:gd name="T51" fmla="*/ 0 h 25"/>
                <a:gd name="T52" fmla="*/ 2 w 78"/>
                <a:gd name="T53" fmla="*/ 0 h 25"/>
                <a:gd name="T54" fmla="*/ 2 w 78"/>
                <a:gd name="T55" fmla="*/ 0 h 25"/>
                <a:gd name="T56" fmla="*/ 1 w 78"/>
                <a:gd name="T57" fmla="*/ 0 h 25"/>
                <a:gd name="T58" fmla="*/ 1 w 78"/>
                <a:gd name="T59" fmla="*/ 0 h 25"/>
                <a:gd name="T60" fmla="*/ 1 w 78"/>
                <a:gd name="T61" fmla="*/ 0 h 25"/>
                <a:gd name="T62" fmla="*/ 1 w 78"/>
                <a:gd name="T63" fmla="*/ 0 h 25"/>
                <a:gd name="T64" fmla="*/ 1 w 78"/>
                <a:gd name="T65" fmla="*/ 0 h 25"/>
                <a:gd name="T66" fmla="*/ 1 w 78"/>
                <a:gd name="T67" fmla="*/ 0 h 25"/>
                <a:gd name="T68" fmla="*/ 1 w 78"/>
                <a:gd name="T69" fmla="*/ 0 h 25"/>
                <a:gd name="T70" fmla="*/ 1 w 78"/>
                <a:gd name="T71" fmla="*/ 0 h 25"/>
                <a:gd name="T72" fmla="*/ 1 w 78"/>
                <a:gd name="T73" fmla="*/ 0 h 25"/>
                <a:gd name="T74" fmla="*/ 1 w 78"/>
                <a:gd name="T75" fmla="*/ 0 h 25"/>
                <a:gd name="T76" fmla="*/ 1 w 78"/>
                <a:gd name="T77" fmla="*/ 0 h 25"/>
                <a:gd name="T78" fmla="*/ 1 w 78"/>
                <a:gd name="T79" fmla="*/ 0 h 25"/>
                <a:gd name="T80" fmla="*/ 1 w 78"/>
                <a:gd name="T81" fmla="*/ 0 h 25"/>
                <a:gd name="T82" fmla="*/ 1 w 78"/>
                <a:gd name="T83" fmla="*/ 0 h 25"/>
                <a:gd name="T84" fmla="*/ 1 w 78"/>
                <a:gd name="T85" fmla="*/ 0 h 25"/>
                <a:gd name="T86" fmla="*/ 1 w 78"/>
                <a:gd name="T87" fmla="*/ 0 h 25"/>
                <a:gd name="T88" fmla="*/ 1 w 78"/>
                <a:gd name="T89" fmla="*/ 0 h 25"/>
                <a:gd name="T90" fmla="*/ 1 w 78"/>
                <a:gd name="T91" fmla="*/ 0 h 25"/>
                <a:gd name="T92" fmla="*/ 1 w 78"/>
                <a:gd name="T93" fmla="*/ 0 h 25"/>
                <a:gd name="T94" fmla="*/ 1 w 78"/>
                <a:gd name="T95" fmla="*/ 0 h 25"/>
                <a:gd name="T96" fmla="*/ 1 w 78"/>
                <a:gd name="T97" fmla="*/ 0 h 25"/>
                <a:gd name="T98" fmla="*/ 1 w 78"/>
                <a:gd name="T99" fmla="*/ 0 h 25"/>
                <a:gd name="T100" fmla="*/ 0 w 78"/>
                <a:gd name="T101" fmla="*/ 0 h 25"/>
                <a:gd name="T102" fmla="*/ 1 w 78"/>
                <a:gd name="T103" fmla="*/ 0 h 25"/>
                <a:gd name="T104" fmla="*/ 1 w 78"/>
                <a:gd name="T105" fmla="*/ 0 h 2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78"/>
                <a:gd name="T160" fmla="*/ 0 h 25"/>
                <a:gd name="T161" fmla="*/ 78 w 78"/>
                <a:gd name="T162" fmla="*/ 25 h 2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78" h="25">
                  <a:moveTo>
                    <a:pt x="10" y="16"/>
                  </a:moveTo>
                  <a:lnTo>
                    <a:pt x="13" y="18"/>
                  </a:lnTo>
                  <a:lnTo>
                    <a:pt x="16" y="19"/>
                  </a:lnTo>
                  <a:lnTo>
                    <a:pt x="20" y="21"/>
                  </a:lnTo>
                  <a:lnTo>
                    <a:pt x="24" y="22"/>
                  </a:lnTo>
                  <a:lnTo>
                    <a:pt x="28" y="24"/>
                  </a:lnTo>
                  <a:lnTo>
                    <a:pt x="33" y="25"/>
                  </a:lnTo>
                  <a:lnTo>
                    <a:pt x="36" y="25"/>
                  </a:lnTo>
                  <a:lnTo>
                    <a:pt x="40" y="25"/>
                  </a:lnTo>
                  <a:lnTo>
                    <a:pt x="42" y="24"/>
                  </a:lnTo>
                  <a:lnTo>
                    <a:pt x="45" y="24"/>
                  </a:lnTo>
                  <a:lnTo>
                    <a:pt x="47" y="21"/>
                  </a:lnTo>
                  <a:lnTo>
                    <a:pt x="49" y="21"/>
                  </a:lnTo>
                  <a:lnTo>
                    <a:pt x="52" y="18"/>
                  </a:lnTo>
                  <a:lnTo>
                    <a:pt x="56" y="16"/>
                  </a:lnTo>
                  <a:lnTo>
                    <a:pt x="58" y="14"/>
                  </a:lnTo>
                  <a:lnTo>
                    <a:pt x="62" y="12"/>
                  </a:lnTo>
                  <a:lnTo>
                    <a:pt x="65" y="8"/>
                  </a:lnTo>
                  <a:lnTo>
                    <a:pt x="67" y="7"/>
                  </a:lnTo>
                  <a:lnTo>
                    <a:pt x="69" y="5"/>
                  </a:lnTo>
                  <a:lnTo>
                    <a:pt x="72" y="3"/>
                  </a:lnTo>
                  <a:lnTo>
                    <a:pt x="75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72" y="1"/>
                  </a:lnTo>
                  <a:lnTo>
                    <a:pt x="69" y="2"/>
                  </a:lnTo>
                  <a:lnTo>
                    <a:pt x="67" y="3"/>
                  </a:lnTo>
                  <a:lnTo>
                    <a:pt x="65" y="5"/>
                  </a:lnTo>
                  <a:lnTo>
                    <a:pt x="62" y="6"/>
                  </a:lnTo>
                  <a:lnTo>
                    <a:pt x="59" y="7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49" y="11"/>
                  </a:lnTo>
                  <a:lnTo>
                    <a:pt x="47" y="12"/>
                  </a:lnTo>
                  <a:lnTo>
                    <a:pt x="43" y="12"/>
                  </a:lnTo>
                  <a:lnTo>
                    <a:pt x="41" y="13"/>
                  </a:lnTo>
                  <a:lnTo>
                    <a:pt x="39" y="14"/>
                  </a:lnTo>
                  <a:lnTo>
                    <a:pt x="36" y="14"/>
                  </a:lnTo>
                  <a:lnTo>
                    <a:pt x="34" y="14"/>
                  </a:lnTo>
                  <a:lnTo>
                    <a:pt x="30" y="13"/>
                  </a:lnTo>
                  <a:lnTo>
                    <a:pt x="27" y="13"/>
                  </a:lnTo>
                  <a:lnTo>
                    <a:pt x="24" y="12"/>
                  </a:lnTo>
                  <a:lnTo>
                    <a:pt x="21" y="12"/>
                  </a:lnTo>
                  <a:lnTo>
                    <a:pt x="17" y="12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9" y="8"/>
                  </a:lnTo>
                  <a:lnTo>
                    <a:pt x="6" y="8"/>
                  </a:lnTo>
                  <a:lnTo>
                    <a:pt x="3" y="8"/>
                  </a:lnTo>
                  <a:lnTo>
                    <a:pt x="1" y="7"/>
                  </a:lnTo>
                  <a:lnTo>
                    <a:pt x="0" y="7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3" name="Freeform 67"/>
            <p:cNvSpPr/>
            <p:nvPr/>
          </p:nvSpPr>
          <p:spPr bwMode="auto">
            <a:xfrm>
              <a:off x="5217" y="1101"/>
              <a:ext cx="6" cy="74"/>
            </a:xfrm>
            <a:custGeom>
              <a:avLst/>
              <a:gdLst>
                <a:gd name="T0" fmla="*/ 0 w 13"/>
                <a:gd name="T1" fmla="*/ 1 h 146"/>
                <a:gd name="T2" fmla="*/ 0 w 13"/>
                <a:gd name="T3" fmla="*/ 1 h 146"/>
                <a:gd name="T4" fmla="*/ 0 w 13"/>
                <a:gd name="T5" fmla="*/ 1 h 146"/>
                <a:gd name="T6" fmla="*/ 0 w 13"/>
                <a:gd name="T7" fmla="*/ 1 h 146"/>
                <a:gd name="T8" fmla="*/ 0 w 13"/>
                <a:gd name="T9" fmla="*/ 1 h 146"/>
                <a:gd name="T10" fmla="*/ 0 w 13"/>
                <a:gd name="T11" fmla="*/ 1 h 146"/>
                <a:gd name="T12" fmla="*/ 0 w 13"/>
                <a:gd name="T13" fmla="*/ 1 h 146"/>
                <a:gd name="T14" fmla="*/ 0 w 13"/>
                <a:gd name="T15" fmla="*/ 2 h 146"/>
                <a:gd name="T16" fmla="*/ 0 w 13"/>
                <a:gd name="T17" fmla="*/ 2 h 146"/>
                <a:gd name="T18" fmla="*/ 0 w 13"/>
                <a:gd name="T19" fmla="*/ 2 h 146"/>
                <a:gd name="T20" fmla="*/ 0 w 13"/>
                <a:gd name="T21" fmla="*/ 2 h 146"/>
                <a:gd name="T22" fmla="*/ 0 w 13"/>
                <a:gd name="T23" fmla="*/ 2 h 146"/>
                <a:gd name="T24" fmla="*/ 0 w 13"/>
                <a:gd name="T25" fmla="*/ 3 h 146"/>
                <a:gd name="T26" fmla="*/ 0 w 13"/>
                <a:gd name="T27" fmla="*/ 3 h 146"/>
                <a:gd name="T28" fmla="*/ 0 w 13"/>
                <a:gd name="T29" fmla="*/ 3 h 146"/>
                <a:gd name="T30" fmla="*/ 0 w 13"/>
                <a:gd name="T31" fmla="*/ 3 h 146"/>
                <a:gd name="T32" fmla="*/ 0 w 13"/>
                <a:gd name="T33" fmla="*/ 4 h 146"/>
                <a:gd name="T34" fmla="*/ 0 w 13"/>
                <a:gd name="T35" fmla="*/ 4 h 146"/>
                <a:gd name="T36" fmla="*/ 0 w 13"/>
                <a:gd name="T37" fmla="*/ 4 h 146"/>
                <a:gd name="T38" fmla="*/ 0 w 13"/>
                <a:gd name="T39" fmla="*/ 4 h 146"/>
                <a:gd name="T40" fmla="*/ 0 w 13"/>
                <a:gd name="T41" fmla="*/ 4 h 146"/>
                <a:gd name="T42" fmla="*/ 0 w 13"/>
                <a:gd name="T43" fmla="*/ 4 h 146"/>
                <a:gd name="T44" fmla="*/ 0 w 13"/>
                <a:gd name="T45" fmla="*/ 5 h 146"/>
                <a:gd name="T46" fmla="*/ 0 w 13"/>
                <a:gd name="T47" fmla="*/ 5 h 146"/>
                <a:gd name="T48" fmla="*/ 0 w 13"/>
                <a:gd name="T49" fmla="*/ 5 h 146"/>
                <a:gd name="T50" fmla="*/ 0 w 13"/>
                <a:gd name="T51" fmla="*/ 5 h 146"/>
                <a:gd name="T52" fmla="*/ 0 w 13"/>
                <a:gd name="T53" fmla="*/ 5 h 146"/>
                <a:gd name="T54" fmla="*/ 0 w 13"/>
                <a:gd name="T55" fmla="*/ 5 h 146"/>
                <a:gd name="T56" fmla="*/ 0 w 13"/>
                <a:gd name="T57" fmla="*/ 4 h 146"/>
                <a:gd name="T58" fmla="*/ 0 w 13"/>
                <a:gd name="T59" fmla="*/ 4 h 146"/>
                <a:gd name="T60" fmla="*/ 0 w 13"/>
                <a:gd name="T61" fmla="*/ 4 h 146"/>
                <a:gd name="T62" fmla="*/ 0 w 13"/>
                <a:gd name="T63" fmla="*/ 4 h 146"/>
                <a:gd name="T64" fmla="*/ 0 w 13"/>
                <a:gd name="T65" fmla="*/ 4 h 146"/>
                <a:gd name="T66" fmla="*/ 0 w 13"/>
                <a:gd name="T67" fmla="*/ 4 h 146"/>
                <a:gd name="T68" fmla="*/ 0 w 13"/>
                <a:gd name="T69" fmla="*/ 3 h 146"/>
                <a:gd name="T70" fmla="*/ 0 w 13"/>
                <a:gd name="T71" fmla="*/ 3 h 146"/>
                <a:gd name="T72" fmla="*/ 0 w 13"/>
                <a:gd name="T73" fmla="*/ 3 h 146"/>
                <a:gd name="T74" fmla="*/ 0 w 13"/>
                <a:gd name="T75" fmla="*/ 3 h 146"/>
                <a:gd name="T76" fmla="*/ 0 w 13"/>
                <a:gd name="T77" fmla="*/ 3 h 146"/>
                <a:gd name="T78" fmla="*/ 0 w 13"/>
                <a:gd name="T79" fmla="*/ 3 h 146"/>
                <a:gd name="T80" fmla="*/ 0 w 13"/>
                <a:gd name="T81" fmla="*/ 2 h 146"/>
                <a:gd name="T82" fmla="*/ 0 w 13"/>
                <a:gd name="T83" fmla="*/ 2 h 146"/>
                <a:gd name="T84" fmla="*/ 0 w 13"/>
                <a:gd name="T85" fmla="*/ 2 h 146"/>
                <a:gd name="T86" fmla="*/ 0 w 13"/>
                <a:gd name="T87" fmla="*/ 2 h 146"/>
                <a:gd name="T88" fmla="*/ 0 w 13"/>
                <a:gd name="T89" fmla="*/ 1 h 146"/>
                <a:gd name="T90" fmla="*/ 0 w 13"/>
                <a:gd name="T91" fmla="*/ 0 h 14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"/>
                <a:gd name="T139" fmla="*/ 0 h 146"/>
                <a:gd name="T140" fmla="*/ 13 w 13"/>
                <a:gd name="T141" fmla="*/ 146 h 14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" h="146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7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100"/>
                  </a:lnTo>
                  <a:lnTo>
                    <a:pt x="0" y="103"/>
                  </a:lnTo>
                  <a:lnTo>
                    <a:pt x="0" y="107"/>
                  </a:lnTo>
                  <a:lnTo>
                    <a:pt x="0" y="110"/>
                  </a:lnTo>
                  <a:lnTo>
                    <a:pt x="0" y="113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22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1" y="143"/>
                  </a:lnTo>
                  <a:lnTo>
                    <a:pt x="1" y="146"/>
                  </a:lnTo>
                  <a:lnTo>
                    <a:pt x="3" y="146"/>
                  </a:lnTo>
                  <a:lnTo>
                    <a:pt x="3" y="145"/>
                  </a:lnTo>
                  <a:lnTo>
                    <a:pt x="3" y="143"/>
                  </a:lnTo>
                  <a:lnTo>
                    <a:pt x="3" y="140"/>
                  </a:lnTo>
                  <a:lnTo>
                    <a:pt x="3" y="139"/>
                  </a:lnTo>
                  <a:lnTo>
                    <a:pt x="3" y="136"/>
                  </a:lnTo>
                  <a:lnTo>
                    <a:pt x="5" y="132"/>
                  </a:lnTo>
                  <a:lnTo>
                    <a:pt x="5" y="127"/>
                  </a:lnTo>
                  <a:lnTo>
                    <a:pt x="5" y="124"/>
                  </a:lnTo>
                  <a:lnTo>
                    <a:pt x="5" y="119"/>
                  </a:lnTo>
                  <a:lnTo>
                    <a:pt x="6" y="114"/>
                  </a:lnTo>
                  <a:lnTo>
                    <a:pt x="6" y="112"/>
                  </a:lnTo>
                  <a:lnTo>
                    <a:pt x="6" y="110"/>
                  </a:lnTo>
                  <a:lnTo>
                    <a:pt x="6" y="107"/>
                  </a:lnTo>
                  <a:lnTo>
                    <a:pt x="7" y="105"/>
                  </a:lnTo>
                  <a:lnTo>
                    <a:pt x="7" y="101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7" y="94"/>
                  </a:lnTo>
                  <a:lnTo>
                    <a:pt x="7" y="92"/>
                  </a:lnTo>
                  <a:lnTo>
                    <a:pt x="8" y="88"/>
                  </a:lnTo>
                  <a:lnTo>
                    <a:pt x="8" y="86"/>
                  </a:lnTo>
                  <a:lnTo>
                    <a:pt x="8" y="85"/>
                  </a:lnTo>
                  <a:lnTo>
                    <a:pt x="8" y="81"/>
                  </a:lnTo>
                  <a:lnTo>
                    <a:pt x="8" y="79"/>
                  </a:lnTo>
                  <a:lnTo>
                    <a:pt x="8" y="77"/>
                  </a:lnTo>
                  <a:lnTo>
                    <a:pt x="9" y="74"/>
                  </a:lnTo>
                  <a:lnTo>
                    <a:pt x="9" y="71"/>
                  </a:lnTo>
                  <a:lnTo>
                    <a:pt x="9" y="68"/>
                  </a:lnTo>
                  <a:lnTo>
                    <a:pt x="9" y="66"/>
                  </a:lnTo>
                  <a:lnTo>
                    <a:pt x="9" y="64"/>
                  </a:lnTo>
                  <a:lnTo>
                    <a:pt x="9" y="59"/>
                  </a:lnTo>
                  <a:lnTo>
                    <a:pt x="11" y="54"/>
                  </a:lnTo>
                  <a:lnTo>
                    <a:pt x="11" y="51"/>
                  </a:lnTo>
                  <a:lnTo>
                    <a:pt x="12" y="47"/>
                  </a:lnTo>
                  <a:lnTo>
                    <a:pt x="12" y="43"/>
                  </a:lnTo>
                  <a:lnTo>
                    <a:pt x="12" y="39"/>
                  </a:lnTo>
                  <a:lnTo>
                    <a:pt x="12" y="36"/>
                  </a:lnTo>
                  <a:lnTo>
                    <a:pt x="13" y="35"/>
                  </a:lnTo>
                  <a:lnTo>
                    <a:pt x="13" y="32"/>
                  </a:lnTo>
                  <a:lnTo>
                    <a:pt x="13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Freeform 68"/>
            <p:cNvSpPr/>
            <p:nvPr/>
          </p:nvSpPr>
          <p:spPr bwMode="auto">
            <a:xfrm>
              <a:off x="5155" y="1426"/>
              <a:ext cx="38" cy="5"/>
            </a:xfrm>
            <a:custGeom>
              <a:avLst/>
              <a:gdLst>
                <a:gd name="T0" fmla="*/ 0 w 77"/>
                <a:gd name="T1" fmla="*/ 0 h 9"/>
                <a:gd name="T2" fmla="*/ 2 w 77"/>
                <a:gd name="T3" fmla="*/ 0 h 9"/>
                <a:gd name="T4" fmla="*/ 2 w 77"/>
                <a:gd name="T5" fmla="*/ 1 h 9"/>
                <a:gd name="T6" fmla="*/ 2 w 77"/>
                <a:gd name="T7" fmla="*/ 1 h 9"/>
                <a:gd name="T8" fmla="*/ 2 w 77"/>
                <a:gd name="T9" fmla="*/ 1 h 9"/>
                <a:gd name="T10" fmla="*/ 2 w 77"/>
                <a:gd name="T11" fmla="*/ 1 h 9"/>
                <a:gd name="T12" fmla="*/ 2 w 77"/>
                <a:gd name="T13" fmla="*/ 1 h 9"/>
                <a:gd name="T14" fmla="*/ 2 w 77"/>
                <a:gd name="T15" fmla="*/ 1 h 9"/>
                <a:gd name="T16" fmla="*/ 2 w 77"/>
                <a:gd name="T17" fmla="*/ 1 h 9"/>
                <a:gd name="T18" fmla="*/ 2 w 77"/>
                <a:gd name="T19" fmla="*/ 1 h 9"/>
                <a:gd name="T20" fmla="*/ 2 w 77"/>
                <a:gd name="T21" fmla="*/ 1 h 9"/>
                <a:gd name="T22" fmla="*/ 1 w 77"/>
                <a:gd name="T23" fmla="*/ 1 h 9"/>
                <a:gd name="T24" fmla="*/ 1 w 77"/>
                <a:gd name="T25" fmla="*/ 1 h 9"/>
                <a:gd name="T26" fmla="*/ 1 w 77"/>
                <a:gd name="T27" fmla="*/ 1 h 9"/>
                <a:gd name="T28" fmla="*/ 1 w 77"/>
                <a:gd name="T29" fmla="*/ 1 h 9"/>
                <a:gd name="T30" fmla="*/ 1 w 77"/>
                <a:gd name="T31" fmla="*/ 1 h 9"/>
                <a:gd name="T32" fmla="*/ 1 w 77"/>
                <a:gd name="T33" fmla="*/ 1 h 9"/>
                <a:gd name="T34" fmla="*/ 1 w 77"/>
                <a:gd name="T35" fmla="*/ 1 h 9"/>
                <a:gd name="T36" fmla="*/ 1 w 77"/>
                <a:gd name="T37" fmla="*/ 1 h 9"/>
                <a:gd name="T38" fmla="*/ 1 w 77"/>
                <a:gd name="T39" fmla="*/ 1 h 9"/>
                <a:gd name="T40" fmla="*/ 1 w 77"/>
                <a:gd name="T41" fmla="*/ 1 h 9"/>
                <a:gd name="T42" fmla="*/ 0 w 77"/>
                <a:gd name="T43" fmla="*/ 1 h 9"/>
                <a:gd name="T44" fmla="*/ 0 w 77"/>
                <a:gd name="T45" fmla="*/ 1 h 9"/>
                <a:gd name="T46" fmla="*/ 0 w 77"/>
                <a:gd name="T47" fmla="*/ 1 h 9"/>
                <a:gd name="T48" fmla="*/ 0 w 77"/>
                <a:gd name="T49" fmla="*/ 1 h 9"/>
                <a:gd name="T50" fmla="*/ 0 w 77"/>
                <a:gd name="T51" fmla="*/ 1 h 9"/>
                <a:gd name="T52" fmla="*/ 0 w 77"/>
                <a:gd name="T53" fmla="*/ 1 h 9"/>
                <a:gd name="T54" fmla="*/ 0 w 77"/>
                <a:gd name="T55" fmla="*/ 1 h 9"/>
                <a:gd name="T56" fmla="*/ 0 w 77"/>
                <a:gd name="T57" fmla="*/ 1 h 9"/>
                <a:gd name="T58" fmla="*/ 0 w 77"/>
                <a:gd name="T59" fmla="*/ 1 h 9"/>
                <a:gd name="T60" fmla="*/ 0 w 77"/>
                <a:gd name="T61" fmla="*/ 1 h 9"/>
                <a:gd name="T62" fmla="*/ 0 w 77"/>
                <a:gd name="T63" fmla="*/ 1 h 9"/>
                <a:gd name="T64" fmla="*/ 0 w 77"/>
                <a:gd name="T65" fmla="*/ 1 h 9"/>
                <a:gd name="T66" fmla="*/ 0 w 77"/>
                <a:gd name="T67" fmla="*/ 1 h 9"/>
                <a:gd name="T68" fmla="*/ 0 w 77"/>
                <a:gd name="T69" fmla="*/ 0 h 9"/>
                <a:gd name="T70" fmla="*/ 0 w 77"/>
                <a:gd name="T71" fmla="*/ 0 h 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7"/>
                <a:gd name="T109" fmla="*/ 0 h 9"/>
                <a:gd name="T110" fmla="*/ 77 w 77"/>
                <a:gd name="T111" fmla="*/ 9 h 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7" h="9">
                  <a:moveTo>
                    <a:pt x="13" y="0"/>
                  </a:moveTo>
                  <a:lnTo>
                    <a:pt x="74" y="0"/>
                  </a:lnTo>
                  <a:lnTo>
                    <a:pt x="74" y="1"/>
                  </a:lnTo>
                  <a:lnTo>
                    <a:pt x="75" y="5"/>
                  </a:lnTo>
                  <a:lnTo>
                    <a:pt x="77" y="8"/>
                  </a:lnTo>
                  <a:lnTo>
                    <a:pt x="75" y="9"/>
                  </a:lnTo>
                  <a:lnTo>
                    <a:pt x="73" y="9"/>
                  </a:lnTo>
                  <a:lnTo>
                    <a:pt x="69" y="9"/>
                  </a:lnTo>
                  <a:lnTo>
                    <a:pt x="68" y="9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61" y="9"/>
                  </a:lnTo>
                  <a:lnTo>
                    <a:pt x="59" y="8"/>
                  </a:lnTo>
                  <a:lnTo>
                    <a:pt x="55" y="8"/>
                  </a:lnTo>
                  <a:lnTo>
                    <a:pt x="53" y="8"/>
                  </a:lnTo>
                  <a:lnTo>
                    <a:pt x="49" y="8"/>
                  </a:lnTo>
                  <a:lnTo>
                    <a:pt x="46" y="8"/>
                  </a:lnTo>
                  <a:lnTo>
                    <a:pt x="43" y="8"/>
                  </a:lnTo>
                  <a:lnTo>
                    <a:pt x="39" y="8"/>
                  </a:lnTo>
                  <a:lnTo>
                    <a:pt x="36" y="8"/>
                  </a:lnTo>
                  <a:lnTo>
                    <a:pt x="33" y="8"/>
                  </a:lnTo>
                  <a:lnTo>
                    <a:pt x="29" y="8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0" y="7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2" y="7"/>
                  </a:lnTo>
                  <a:lnTo>
                    <a:pt x="9" y="7"/>
                  </a:lnTo>
                  <a:lnTo>
                    <a:pt x="6" y="7"/>
                  </a:lnTo>
                  <a:lnTo>
                    <a:pt x="4" y="7"/>
                  </a:lnTo>
                  <a:lnTo>
                    <a:pt x="3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5" name="Freeform 69"/>
            <p:cNvSpPr/>
            <p:nvPr/>
          </p:nvSpPr>
          <p:spPr bwMode="auto">
            <a:xfrm>
              <a:off x="4822" y="1426"/>
              <a:ext cx="42" cy="5"/>
            </a:xfrm>
            <a:custGeom>
              <a:avLst/>
              <a:gdLst>
                <a:gd name="T0" fmla="*/ 1 w 84"/>
                <a:gd name="T1" fmla="*/ 0 h 10"/>
                <a:gd name="T2" fmla="*/ 3 w 84"/>
                <a:gd name="T3" fmla="*/ 1 h 10"/>
                <a:gd name="T4" fmla="*/ 3 w 84"/>
                <a:gd name="T5" fmla="*/ 1 h 10"/>
                <a:gd name="T6" fmla="*/ 3 w 84"/>
                <a:gd name="T7" fmla="*/ 1 h 10"/>
                <a:gd name="T8" fmla="*/ 3 w 84"/>
                <a:gd name="T9" fmla="*/ 1 h 10"/>
                <a:gd name="T10" fmla="*/ 3 w 84"/>
                <a:gd name="T11" fmla="*/ 1 h 10"/>
                <a:gd name="T12" fmla="*/ 3 w 84"/>
                <a:gd name="T13" fmla="*/ 1 h 10"/>
                <a:gd name="T14" fmla="*/ 3 w 84"/>
                <a:gd name="T15" fmla="*/ 1 h 10"/>
                <a:gd name="T16" fmla="*/ 3 w 84"/>
                <a:gd name="T17" fmla="*/ 1 h 10"/>
                <a:gd name="T18" fmla="*/ 3 w 84"/>
                <a:gd name="T19" fmla="*/ 1 h 10"/>
                <a:gd name="T20" fmla="*/ 3 w 84"/>
                <a:gd name="T21" fmla="*/ 1 h 10"/>
                <a:gd name="T22" fmla="*/ 3 w 84"/>
                <a:gd name="T23" fmla="*/ 1 h 10"/>
                <a:gd name="T24" fmla="*/ 3 w 84"/>
                <a:gd name="T25" fmla="*/ 1 h 10"/>
                <a:gd name="T26" fmla="*/ 3 w 84"/>
                <a:gd name="T27" fmla="*/ 1 h 10"/>
                <a:gd name="T28" fmla="*/ 3 w 84"/>
                <a:gd name="T29" fmla="*/ 1 h 10"/>
                <a:gd name="T30" fmla="*/ 1 w 84"/>
                <a:gd name="T31" fmla="*/ 1 h 10"/>
                <a:gd name="T32" fmla="*/ 1 w 84"/>
                <a:gd name="T33" fmla="*/ 1 h 10"/>
                <a:gd name="T34" fmla="*/ 1 w 84"/>
                <a:gd name="T35" fmla="*/ 1 h 10"/>
                <a:gd name="T36" fmla="*/ 1 w 84"/>
                <a:gd name="T37" fmla="*/ 1 h 10"/>
                <a:gd name="T38" fmla="*/ 1 w 84"/>
                <a:gd name="T39" fmla="*/ 1 h 10"/>
                <a:gd name="T40" fmla="*/ 1 w 84"/>
                <a:gd name="T41" fmla="*/ 1 h 10"/>
                <a:gd name="T42" fmla="*/ 1 w 84"/>
                <a:gd name="T43" fmla="*/ 1 h 10"/>
                <a:gd name="T44" fmla="*/ 1 w 84"/>
                <a:gd name="T45" fmla="*/ 1 h 10"/>
                <a:gd name="T46" fmla="*/ 1 w 84"/>
                <a:gd name="T47" fmla="*/ 1 h 10"/>
                <a:gd name="T48" fmla="*/ 1 w 84"/>
                <a:gd name="T49" fmla="*/ 1 h 10"/>
                <a:gd name="T50" fmla="*/ 1 w 84"/>
                <a:gd name="T51" fmla="*/ 1 h 10"/>
                <a:gd name="T52" fmla="*/ 1 w 84"/>
                <a:gd name="T53" fmla="*/ 1 h 10"/>
                <a:gd name="T54" fmla="*/ 1 w 84"/>
                <a:gd name="T55" fmla="*/ 1 h 10"/>
                <a:gd name="T56" fmla="*/ 1 w 84"/>
                <a:gd name="T57" fmla="*/ 1 h 10"/>
                <a:gd name="T58" fmla="*/ 1 w 84"/>
                <a:gd name="T59" fmla="*/ 1 h 10"/>
                <a:gd name="T60" fmla="*/ 1 w 84"/>
                <a:gd name="T61" fmla="*/ 1 h 10"/>
                <a:gd name="T62" fmla="*/ 1 w 84"/>
                <a:gd name="T63" fmla="*/ 1 h 10"/>
                <a:gd name="T64" fmla="*/ 1 w 84"/>
                <a:gd name="T65" fmla="*/ 1 h 10"/>
                <a:gd name="T66" fmla="*/ 1 w 84"/>
                <a:gd name="T67" fmla="*/ 1 h 10"/>
                <a:gd name="T68" fmla="*/ 1 w 84"/>
                <a:gd name="T69" fmla="*/ 1 h 10"/>
                <a:gd name="T70" fmla="*/ 0 w 84"/>
                <a:gd name="T71" fmla="*/ 1 h 10"/>
                <a:gd name="T72" fmla="*/ 1 w 84"/>
                <a:gd name="T73" fmla="*/ 0 h 10"/>
                <a:gd name="T74" fmla="*/ 1 w 84"/>
                <a:gd name="T75" fmla="*/ 0 h 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4"/>
                <a:gd name="T115" fmla="*/ 0 h 10"/>
                <a:gd name="T116" fmla="*/ 84 w 84"/>
                <a:gd name="T117" fmla="*/ 10 h 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4" h="10">
                  <a:moveTo>
                    <a:pt x="21" y="0"/>
                  </a:moveTo>
                  <a:lnTo>
                    <a:pt x="73" y="2"/>
                  </a:lnTo>
                  <a:lnTo>
                    <a:pt x="74" y="2"/>
                  </a:lnTo>
                  <a:lnTo>
                    <a:pt x="77" y="4"/>
                  </a:lnTo>
                  <a:lnTo>
                    <a:pt x="79" y="6"/>
                  </a:lnTo>
                  <a:lnTo>
                    <a:pt x="84" y="9"/>
                  </a:lnTo>
                  <a:lnTo>
                    <a:pt x="84" y="10"/>
                  </a:lnTo>
                  <a:lnTo>
                    <a:pt x="83" y="10"/>
                  </a:lnTo>
                  <a:lnTo>
                    <a:pt x="78" y="10"/>
                  </a:lnTo>
                  <a:lnTo>
                    <a:pt x="77" y="9"/>
                  </a:lnTo>
                  <a:lnTo>
                    <a:pt x="74" y="9"/>
                  </a:lnTo>
                  <a:lnTo>
                    <a:pt x="72" y="9"/>
                  </a:lnTo>
                  <a:lnTo>
                    <a:pt x="70" y="9"/>
                  </a:lnTo>
                  <a:lnTo>
                    <a:pt x="66" y="9"/>
                  </a:lnTo>
                  <a:lnTo>
                    <a:pt x="63" y="9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2" y="9"/>
                  </a:lnTo>
                  <a:lnTo>
                    <a:pt x="48" y="9"/>
                  </a:lnTo>
                  <a:lnTo>
                    <a:pt x="44" y="9"/>
                  </a:lnTo>
                  <a:lnTo>
                    <a:pt x="41" y="9"/>
                  </a:lnTo>
                  <a:lnTo>
                    <a:pt x="36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6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3" y="8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Freeform 70"/>
            <p:cNvSpPr/>
            <p:nvPr/>
          </p:nvSpPr>
          <p:spPr bwMode="auto">
            <a:xfrm>
              <a:off x="4901" y="1427"/>
              <a:ext cx="37" cy="5"/>
            </a:xfrm>
            <a:custGeom>
              <a:avLst/>
              <a:gdLst>
                <a:gd name="T0" fmla="*/ 0 w 76"/>
                <a:gd name="T1" fmla="*/ 0 h 11"/>
                <a:gd name="T2" fmla="*/ 2 w 76"/>
                <a:gd name="T3" fmla="*/ 0 h 11"/>
                <a:gd name="T4" fmla="*/ 2 w 76"/>
                <a:gd name="T5" fmla="*/ 0 h 11"/>
                <a:gd name="T6" fmla="*/ 2 w 76"/>
                <a:gd name="T7" fmla="*/ 0 h 11"/>
                <a:gd name="T8" fmla="*/ 2 w 76"/>
                <a:gd name="T9" fmla="*/ 0 h 11"/>
                <a:gd name="T10" fmla="*/ 2 w 76"/>
                <a:gd name="T11" fmla="*/ 0 h 11"/>
                <a:gd name="T12" fmla="*/ 2 w 76"/>
                <a:gd name="T13" fmla="*/ 0 h 11"/>
                <a:gd name="T14" fmla="*/ 2 w 76"/>
                <a:gd name="T15" fmla="*/ 0 h 11"/>
                <a:gd name="T16" fmla="*/ 2 w 76"/>
                <a:gd name="T17" fmla="*/ 0 h 11"/>
                <a:gd name="T18" fmla="*/ 2 w 76"/>
                <a:gd name="T19" fmla="*/ 0 h 11"/>
                <a:gd name="T20" fmla="*/ 2 w 76"/>
                <a:gd name="T21" fmla="*/ 0 h 11"/>
                <a:gd name="T22" fmla="*/ 2 w 76"/>
                <a:gd name="T23" fmla="*/ 0 h 11"/>
                <a:gd name="T24" fmla="*/ 2 w 76"/>
                <a:gd name="T25" fmla="*/ 0 h 11"/>
                <a:gd name="T26" fmla="*/ 1 w 76"/>
                <a:gd name="T27" fmla="*/ 0 h 11"/>
                <a:gd name="T28" fmla="*/ 1 w 76"/>
                <a:gd name="T29" fmla="*/ 0 h 11"/>
                <a:gd name="T30" fmla="*/ 1 w 76"/>
                <a:gd name="T31" fmla="*/ 0 h 11"/>
                <a:gd name="T32" fmla="*/ 1 w 76"/>
                <a:gd name="T33" fmla="*/ 0 h 11"/>
                <a:gd name="T34" fmla="*/ 1 w 76"/>
                <a:gd name="T35" fmla="*/ 0 h 11"/>
                <a:gd name="T36" fmla="*/ 1 w 76"/>
                <a:gd name="T37" fmla="*/ 0 h 11"/>
                <a:gd name="T38" fmla="*/ 1 w 76"/>
                <a:gd name="T39" fmla="*/ 0 h 11"/>
                <a:gd name="T40" fmla="*/ 1 w 76"/>
                <a:gd name="T41" fmla="*/ 0 h 11"/>
                <a:gd name="T42" fmla="*/ 1 w 76"/>
                <a:gd name="T43" fmla="*/ 0 h 11"/>
                <a:gd name="T44" fmla="*/ 1 w 76"/>
                <a:gd name="T45" fmla="*/ 0 h 11"/>
                <a:gd name="T46" fmla="*/ 0 w 76"/>
                <a:gd name="T47" fmla="*/ 0 h 11"/>
                <a:gd name="T48" fmla="*/ 0 w 76"/>
                <a:gd name="T49" fmla="*/ 0 h 11"/>
                <a:gd name="T50" fmla="*/ 0 w 76"/>
                <a:gd name="T51" fmla="*/ 0 h 11"/>
                <a:gd name="T52" fmla="*/ 0 w 76"/>
                <a:gd name="T53" fmla="*/ 0 h 11"/>
                <a:gd name="T54" fmla="*/ 0 w 76"/>
                <a:gd name="T55" fmla="*/ 0 h 11"/>
                <a:gd name="T56" fmla="*/ 0 w 76"/>
                <a:gd name="T57" fmla="*/ 0 h 11"/>
                <a:gd name="T58" fmla="*/ 0 w 76"/>
                <a:gd name="T59" fmla="*/ 0 h 11"/>
                <a:gd name="T60" fmla="*/ 0 w 76"/>
                <a:gd name="T61" fmla="*/ 0 h 11"/>
                <a:gd name="T62" fmla="*/ 0 w 76"/>
                <a:gd name="T63" fmla="*/ 0 h 11"/>
                <a:gd name="T64" fmla="*/ 0 w 76"/>
                <a:gd name="T65" fmla="*/ 0 h 11"/>
                <a:gd name="T66" fmla="*/ 0 w 76"/>
                <a:gd name="T67" fmla="*/ 0 h 11"/>
                <a:gd name="T68" fmla="*/ 0 w 76"/>
                <a:gd name="T69" fmla="*/ 0 h 11"/>
                <a:gd name="T70" fmla="*/ 0 w 76"/>
                <a:gd name="T71" fmla="*/ 0 h 11"/>
                <a:gd name="T72" fmla="*/ 0 w 76"/>
                <a:gd name="T73" fmla="*/ 0 h 11"/>
                <a:gd name="T74" fmla="*/ 0 w 76"/>
                <a:gd name="T75" fmla="*/ 0 h 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6"/>
                <a:gd name="T115" fmla="*/ 0 h 11"/>
                <a:gd name="T116" fmla="*/ 76 w 76"/>
                <a:gd name="T117" fmla="*/ 11 h 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6" h="11">
                  <a:moveTo>
                    <a:pt x="13" y="0"/>
                  </a:moveTo>
                  <a:lnTo>
                    <a:pt x="66" y="1"/>
                  </a:lnTo>
                  <a:lnTo>
                    <a:pt x="68" y="2"/>
                  </a:lnTo>
                  <a:lnTo>
                    <a:pt x="70" y="4"/>
                  </a:lnTo>
                  <a:lnTo>
                    <a:pt x="72" y="6"/>
                  </a:lnTo>
                  <a:lnTo>
                    <a:pt x="76" y="8"/>
                  </a:lnTo>
                  <a:lnTo>
                    <a:pt x="76" y="11"/>
                  </a:lnTo>
                  <a:lnTo>
                    <a:pt x="75" y="11"/>
                  </a:lnTo>
                  <a:lnTo>
                    <a:pt x="71" y="11"/>
                  </a:lnTo>
                  <a:lnTo>
                    <a:pt x="69" y="11"/>
                  </a:lnTo>
                  <a:lnTo>
                    <a:pt x="66" y="11"/>
                  </a:lnTo>
                  <a:lnTo>
                    <a:pt x="65" y="11"/>
                  </a:lnTo>
                  <a:lnTo>
                    <a:pt x="62" y="11"/>
                  </a:lnTo>
                  <a:lnTo>
                    <a:pt x="59" y="10"/>
                  </a:lnTo>
                  <a:lnTo>
                    <a:pt x="56" y="10"/>
                  </a:lnTo>
                  <a:lnTo>
                    <a:pt x="53" y="10"/>
                  </a:lnTo>
                  <a:lnTo>
                    <a:pt x="50" y="10"/>
                  </a:lnTo>
                  <a:lnTo>
                    <a:pt x="46" y="10"/>
                  </a:lnTo>
                  <a:lnTo>
                    <a:pt x="43" y="10"/>
                  </a:lnTo>
                  <a:lnTo>
                    <a:pt x="39" y="10"/>
                  </a:lnTo>
                  <a:lnTo>
                    <a:pt x="36" y="10"/>
                  </a:lnTo>
                  <a:lnTo>
                    <a:pt x="32" y="10"/>
                  </a:lnTo>
                  <a:lnTo>
                    <a:pt x="29" y="10"/>
                  </a:lnTo>
                  <a:lnTo>
                    <a:pt x="26" y="10"/>
                  </a:lnTo>
                  <a:lnTo>
                    <a:pt x="23" y="10"/>
                  </a:lnTo>
                  <a:lnTo>
                    <a:pt x="19" y="8"/>
                  </a:lnTo>
                  <a:lnTo>
                    <a:pt x="16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4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7" name="Freeform 71"/>
            <p:cNvSpPr/>
            <p:nvPr/>
          </p:nvSpPr>
          <p:spPr bwMode="auto">
            <a:xfrm>
              <a:off x="4977" y="1427"/>
              <a:ext cx="42" cy="5"/>
            </a:xfrm>
            <a:custGeom>
              <a:avLst/>
              <a:gdLst>
                <a:gd name="T0" fmla="*/ 1 w 84"/>
                <a:gd name="T1" fmla="*/ 0 h 11"/>
                <a:gd name="T2" fmla="*/ 3 w 84"/>
                <a:gd name="T3" fmla="*/ 0 h 11"/>
                <a:gd name="T4" fmla="*/ 3 w 84"/>
                <a:gd name="T5" fmla="*/ 0 h 11"/>
                <a:gd name="T6" fmla="*/ 3 w 84"/>
                <a:gd name="T7" fmla="*/ 0 h 11"/>
                <a:gd name="T8" fmla="*/ 3 w 84"/>
                <a:gd name="T9" fmla="*/ 0 h 11"/>
                <a:gd name="T10" fmla="*/ 3 w 84"/>
                <a:gd name="T11" fmla="*/ 0 h 11"/>
                <a:gd name="T12" fmla="*/ 3 w 84"/>
                <a:gd name="T13" fmla="*/ 0 h 11"/>
                <a:gd name="T14" fmla="*/ 3 w 84"/>
                <a:gd name="T15" fmla="*/ 0 h 11"/>
                <a:gd name="T16" fmla="*/ 3 w 84"/>
                <a:gd name="T17" fmla="*/ 0 h 11"/>
                <a:gd name="T18" fmla="*/ 3 w 84"/>
                <a:gd name="T19" fmla="*/ 0 h 11"/>
                <a:gd name="T20" fmla="*/ 3 w 84"/>
                <a:gd name="T21" fmla="*/ 0 h 11"/>
                <a:gd name="T22" fmla="*/ 3 w 84"/>
                <a:gd name="T23" fmla="*/ 0 h 11"/>
                <a:gd name="T24" fmla="*/ 3 w 84"/>
                <a:gd name="T25" fmla="*/ 0 h 11"/>
                <a:gd name="T26" fmla="*/ 3 w 84"/>
                <a:gd name="T27" fmla="*/ 0 h 11"/>
                <a:gd name="T28" fmla="*/ 3 w 84"/>
                <a:gd name="T29" fmla="*/ 0 h 11"/>
                <a:gd name="T30" fmla="*/ 1 w 84"/>
                <a:gd name="T31" fmla="*/ 0 h 11"/>
                <a:gd name="T32" fmla="*/ 1 w 84"/>
                <a:gd name="T33" fmla="*/ 0 h 11"/>
                <a:gd name="T34" fmla="*/ 1 w 84"/>
                <a:gd name="T35" fmla="*/ 0 h 11"/>
                <a:gd name="T36" fmla="*/ 1 w 84"/>
                <a:gd name="T37" fmla="*/ 0 h 11"/>
                <a:gd name="T38" fmla="*/ 1 w 84"/>
                <a:gd name="T39" fmla="*/ 0 h 11"/>
                <a:gd name="T40" fmla="*/ 1 w 84"/>
                <a:gd name="T41" fmla="*/ 0 h 11"/>
                <a:gd name="T42" fmla="*/ 1 w 84"/>
                <a:gd name="T43" fmla="*/ 0 h 11"/>
                <a:gd name="T44" fmla="*/ 1 w 84"/>
                <a:gd name="T45" fmla="*/ 0 h 11"/>
                <a:gd name="T46" fmla="*/ 1 w 84"/>
                <a:gd name="T47" fmla="*/ 0 h 11"/>
                <a:gd name="T48" fmla="*/ 1 w 84"/>
                <a:gd name="T49" fmla="*/ 0 h 11"/>
                <a:gd name="T50" fmla="*/ 1 w 84"/>
                <a:gd name="T51" fmla="*/ 0 h 11"/>
                <a:gd name="T52" fmla="*/ 1 w 84"/>
                <a:gd name="T53" fmla="*/ 0 h 11"/>
                <a:gd name="T54" fmla="*/ 1 w 84"/>
                <a:gd name="T55" fmla="*/ 0 h 11"/>
                <a:gd name="T56" fmla="*/ 1 w 84"/>
                <a:gd name="T57" fmla="*/ 0 h 11"/>
                <a:gd name="T58" fmla="*/ 1 w 84"/>
                <a:gd name="T59" fmla="*/ 0 h 11"/>
                <a:gd name="T60" fmla="*/ 1 w 84"/>
                <a:gd name="T61" fmla="*/ 0 h 11"/>
                <a:gd name="T62" fmla="*/ 1 w 84"/>
                <a:gd name="T63" fmla="*/ 0 h 11"/>
                <a:gd name="T64" fmla="*/ 1 w 84"/>
                <a:gd name="T65" fmla="*/ 0 h 11"/>
                <a:gd name="T66" fmla="*/ 1 w 84"/>
                <a:gd name="T67" fmla="*/ 0 h 11"/>
                <a:gd name="T68" fmla="*/ 1 w 84"/>
                <a:gd name="T69" fmla="*/ 0 h 11"/>
                <a:gd name="T70" fmla="*/ 0 w 84"/>
                <a:gd name="T71" fmla="*/ 0 h 11"/>
                <a:gd name="T72" fmla="*/ 1 w 84"/>
                <a:gd name="T73" fmla="*/ 0 h 11"/>
                <a:gd name="T74" fmla="*/ 1 w 84"/>
                <a:gd name="T75" fmla="*/ 0 h 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4"/>
                <a:gd name="T115" fmla="*/ 0 h 11"/>
                <a:gd name="T116" fmla="*/ 84 w 84"/>
                <a:gd name="T117" fmla="*/ 11 h 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4" h="11">
                  <a:moveTo>
                    <a:pt x="16" y="0"/>
                  </a:moveTo>
                  <a:lnTo>
                    <a:pt x="73" y="1"/>
                  </a:lnTo>
                  <a:lnTo>
                    <a:pt x="74" y="2"/>
                  </a:lnTo>
                  <a:lnTo>
                    <a:pt x="77" y="4"/>
                  </a:lnTo>
                  <a:lnTo>
                    <a:pt x="79" y="6"/>
                  </a:lnTo>
                  <a:lnTo>
                    <a:pt x="84" y="8"/>
                  </a:lnTo>
                  <a:lnTo>
                    <a:pt x="84" y="11"/>
                  </a:lnTo>
                  <a:lnTo>
                    <a:pt x="81" y="11"/>
                  </a:lnTo>
                  <a:lnTo>
                    <a:pt x="78" y="11"/>
                  </a:lnTo>
                  <a:lnTo>
                    <a:pt x="77" y="10"/>
                  </a:lnTo>
                  <a:lnTo>
                    <a:pt x="74" y="10"/>
                  </a:lnTo>
                  <a:lnTo>
                    <a:pt x="72" y="10"/>
                  </a:lnTo>
                  <a:lnTo>
                    <a:pt x="68" y="10"/>
                  </a:lnTo>
                  <a:lnTo>
                    <a:pt x="65" y="10"/>
                  </a:lnTo>
                  <a:lnTo>
                    <a:pt x="63" y="10"/>
                  </a:lnTo>
                  <a:lnTo>
                    <a:pt x="59" y="10"/>
                  </a:lnTo>
                  <a:lnTo>
                    <a:pt x="55" y="10"/>
                  </a:lnTo>
                  <a:lnTo>
                    <a:pt x="51" y="10"/>
                  </a:lnTo>
                  <a:lnTo>
                    <a:pt x="47" y="10"/>
                  </a:lnTo>
                  <a:lnTo>
                    <a:pt x="44" y="10"/>
                  </a:lnTo>
                  <a:lnTo>
                    <a:pt x="40" y="10"/>
                  </a:lnTo>
                  <a:lnTo>
                    <a:pt x="37" y="8"/>
                  </a:lnTo>
                  <a:lnTo>
                    <a:pt x="32" y="8"/>
                  </a:lnTo>
                  <a:lnTo>
                    <a:pt x="28" y="8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2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5" y="8"/>
                  </a:lnTo>
                  <a:lnTo>
                    <a:pt x="3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Freeform 72"/>
            <p:cNvSpPr/>
            <p:nvPr/>
          </p:nvSpPr>
          <p:spPr bwMode="auto">
            <a:xfrm>
              <a:off x="5065" y="1426"/>
              <a:ext cx="41" cy="5"/>
            </a:xfrm>
            <a:custGeom>
              <a:avLst/>
              <a:gdLst>
                <a:gd name="T0" fmla="*/ 0 w 83"/>
                <a:gd name="T1" fmla="*/ 0 h 10"/>
                <a:gd name="T2" fmla="*/ 2 w 83"/>
                <a:gd name="T3" fmla="*/ 1 h 10"/>
                <a:gd name="T4" fmla="*/ 2 w 83"/>
                <a:gd name="T5" fmla="*/ 1 h 10"/>
                <a:gd name="T6" fmla="*/ 2 w 83"/>
                <a:gd name="T7" fmla="*/ 1 h 10"/>
                <a:gd name="T8" fmla="*/ 2 w 83"/>
                <a:gd name="T9" fmla="*/ 1 h 10"/>
                <a:gd name="T10" fmla="*/ 2 w 83"/>
                <a:gd name="T11" fmla="*/ 1 h 10"/>
                <a:gd name="T12" fmla="*/ 2 w 83"/>
                <a:gd name="T13" fmla="*/ 1 h 10"/>
                <a:gd name="T14" fmla="*/ 2 w 83"/>
                <a:gd name="T15" fmla="*/ 1 h 10"/>
                <a:gd name="T16" fmla="*/ 2 w 83"/>
                <a:gd name="T17" fmla="*/ 1 h 10"/>
                <a:gd name="T18" fmla="*/ 2 w 83"/>
                <a:gd name="T19" fmla="*/ 1 h 10"/>
                <a:gd name="T20" fmla="*/ 2 w 83"/>
                <a:gd name="T21" fmla="*/ 1 h 10"/>
                <a:gd name="T22" fmla="*/ 2 w 83"/>
                <a:gd name="T23" fmla="*/ 1 h 10"/>
                <a:gd name="T24" fmla="*/ 2 w 83"/>
                <a:gd name="T25" fmla="*/ 1 h 10"/>
                <a:gd name="T26" fmla="*/ 2 w 83"/>
                <a:gd name="T27" fmla="*/ 1 h 10"/>
                <a:gd name="T28" fmla="*/ 2 w 83"/>
                <a:gd name="T29" fmla="*/ 1 h 10"/>
                <a:gd name="T30" fmla="*/ 1 w 83"/>
                <a:gd name="T31" fmla="*/ 1 h 10"/>
                <a:gd name="T32" fmla="*/ 1 w 83"/>
                <a:gd name="T33" fmla="*/ 1 h 10"/>
                <a:gd name="T34" fmla="*/ 1 w 83"/>
                <a:gd name="T35" fmla="*/ 1 h 10"/>
                <a:gd name="T36" fmla="*/ 1 w 83"/>
                <a:gd name="T37" fmla="*/ 1 h 10"/>
                <a:gd name="T38" fmla="*/ 1 w 83"/>
                <a:gd name="T39" fmla="*/ 1 h 10"/>
                <a:gd name="T40" fmla="*/ 1 w 83"/>
                <a:gd name="T41" fmla="*/ 1 h 10"/>
                <a:gd name="T42" fmla="*/ 1 w 83"/>
                <a:gd name="T43" fmla="*/ 1 h 10"/>
                <a:gd name="T44" fmla="*/ 1 w 83"/>
                <a:gd name="T45" fmla="*/ 1 h 10"/>
                <a:gd name="T46" fmla="*/ 1 w 83"/>
                <a:gd name="T47" fmla="*/ 1 h 10"/>
                <a:gd name="T48" fmla="*/ 0 w 83"/>
                <a:gd name="T49" fmla="*/ 1 h 10"/>
                <a:gd name="T50" fmla="*/ 0 w 83"/>
                <a:gd name="T51" fmla="*/ 1 h 10"/>
                <a:gd name="T52" fmla="*/ 0 w 83"/>
                <a:gd name="T53" fmla="*/ 1 h 10"/>
                <a:gd name="T54" fmla="*/ 0 w 83"/>
                <a:gd name="T55" fmla="*/ 1 h 10"/>
                <a:gd name="T56" fmla="*/ 0 w 83"/>
                <a:gd name="T57" fmla="*/ 1 h 10"/>
                <a:gd name="T58" fmla="*/ 0 w 83"/>
                <a:gd name="T59" fmla="*/ 1 h 10"/>
                <a:gd name="T60" fmla="*/ 0 w 83"/>
                <a:gd name="T61" fmla="*/ 1 h 10"/>
                <a:gd name="T62" fmla="*/ 0 w 83"/>
                <a:gd name="T63" fmla="*/ 1 h 10"/>
                <a:gd name="T64" fmla="*/ 0 w 83"/>
                <a:gd name="T65" fmla="*/ 1 h 10"/>
                <a:gd name="T66" fmla="*/ 0 w 83"/>
                <a:gd name="T67" fmla="*/ 1 h 10"/>
                <a:gd name="T68" fmla="*/ 0 w 83"/>
                <a:gd name="T69" fmla="*/ 1 h 10"/>
                <a:gd name="T70" fmla="*/ 0 w 83"/>
                <a:gd name="T71" fmla="*/ 1 h 10"/>
                <a:gd name="T72" fmla="*/ 0 w 83"/>
                <a:gd name="T73" fmla="*/ 0 h 10"/>
                <a:gd name="T74" fmla="*/ 0 w 83"/>
                <a:gd name="T75" fmla="*/ 0 h 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3"/>
                <a:gd name="T115" fmla="*/ 0 h 10"/>
                <a:gd name="T116" fmla="*/ 83 w 83"/>
                <a:gd name="T117" fmla="*/ 10 h 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3" h="10">
                  <a:moveTo>
                    <a:pt x="14" y="0"/>
                  </a:moveTo>
                  <a:lnTo>
                    <a:pt x="72" y="2"/>
                  </a:lnTo>
                  <a:lnTo>
                    <a:pt x="73" y="2"/>
                  </a:lnTo>
                  <a:lnTo>
                    <a:pt x="74" y="2"/>
                  </a:lnTo>
                  <a:lnTo>
                    <a:pt x="76" y="4"/>
                  </a:lnTo>
                  <a:lnTo>
                    <a:pt x="79" y="6"/>
                  </a:lnTo>
                  <a:lnTo>
                    <a:pt x="83" y="9"/>
                  </a:lnTo>
                  <a:lnTo>
                    <a:pt x="83" y="10"/>
                  </a:lnTo>
                  <a:lnTo>
                    <a:pt x="82" y="10"/>
                  </a:lnTo>
                  <a:lnTo>
                    <a:pt x="78" y="10"/>
                  </a:lnTo>
                  <a:lnTo>
                    <a:pt x="76" y="9"/>
                  </a:lnTo>
                  <a:lnTo>
                    <a:pt x="73" y="9"/>
                  </a:lnTo>
                  <a:lnTo>
                    <a:pt x="71" y="9"/>
                  </a:lnTo>
                  <a:lnTo>
                    <a:pt x="67" y="9"/>
                  </a:lnTo>
                  <a:lnTo>
                    <a:pt x="65" y="9"/>
                  </a:lnTo>
                  <a:lnTo>
                    <a:pt x="61" y="9"/>
                  </a:lnTo>
                  <a:lnTo>
                    <a:pt x="59" y="9"/>
                  </a:lnTo>
                  <a:lnTo>
                    <a:pt x="54" y="9"/>
                  </a:lnTo>
                  <a:lnTo>
                    <a:pt x="51" y="9"/>
                  </a:lnTo>
                  <a:lnTo>
                    <a:pt x="46" y="9"/>
                  </a:lnTo>
                  <a:lnTo>
                    <a:pt x="44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2" y="8"/>
                  </a:lnTo>
                  <a:lnTo>
                    <a:pt x="28" y="8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12" y="8"/>
                  </a:lnTo>
                  <a:lnTo>
                    <a:pt x="9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Freeform 73"/>
            <p:cNvSpPr/>
            <p:nvPr/>
          </p:nvSpPr>
          <p:spPr bwMode="auto">
            <a:xfrm>
              <a:off x="4917" y="1363"/>
              <a:ext cx="17" cy="16"/>
            </a:xfrm>
            <a:custGeom>
              <a:avLst/>
              <a:gdLst>
                <a:gd name="T0" fmla="*/ 1 w 33"/>
                <a:gd name="T1" fmla="*/ 1 h 32"/>
                <a:gd name="T2" fmla="*/ 1 w 33"/>
                <a:gd name="T3" fmla="*/ 1 h 32"/>
                <a:gd name="T4" fmla="*/ 1 w 33"/>
                <a:gd name="T5" fmla="*/ 0 h 32"/>
                <a:gd name="T6" fmla="*/ 1 w 33"/>
                <a:gd name="T7" fmla="*/ 0 h 32"/>
                <a:gd name="T8" fmla="*/ 1 w 33"/>
                <a:gd name="T9" fmla="*/ 1 h 32"/>
                <a:gd name="T10" fmla="*/ 1 w 33"/>
                <a:gd name="T11" fmla="*/ 1 h 32"/>
                <a:gd name="T12" fmla="*/ 1 w 33"/>
                <a:gd name="T13" fmla="*/ 1 h 32"/>
                <a:gd name="T14" fmla="*/ 1 w 33"/>
                <a:gd name="T15" fmla="*/ 1 h 32"/>
                <a:gd name="T16" fmla="*/ 1 w 33"/>
                <a:gd name="T17" fmla="*/ 1 h 32"/>
                <a:gd name="T18" fmla="*/ 1 w 33"/>
                <a:gd name="T19" fmla="*/ 1 h 32"/>
                <a:gd name="T20" fmla="*/ 1 w 33"/>
                <a:gd name="T21" fmla="*/ 1 h 32"/>
                <a:gd name="T22" fmla="*/ 0 w 33"/>
                <a:gd name="T23" fmla="*/ 1 h 32"/>
                <a:gd name="T24" fmla="*/ 1 w 33"/>
                <a:gd name="T25" fmla="*/ 1 h 32"/>
                <a:gd name="T26" fmla="*/ 1 w 33"/>
                <a:gd name="T27" fmla="*/ 1 h 32"/>
                <a:gd name="T28" fmla="*/ 1 w 33"/>
                <a:gd name="T29" fmla="*/ 1 h 32"/>
                <a:gd name="T30" fmla="*/ 1 w 33"/>
                <a:gd name="T31" fmla="*/ 1 h 32"/>
                <a:gd name="T32" fmla="*/ 1 w 33"/>
                <a:gd name="T33" fmla="*/ 1 h 32"/>
                <a:gd name="T34" fmla="*/ 1 w 33"/>
                <a:gd name="T35" fmla="*/ 1 h 32"/>
                <a:gd name="T36" fmla="*/ 1 w 33"/>
                <a:gd name="T37" fmla="*/ 1 h 32"/>
                <a:gd name="T38" fmla="*/ 1 w 33"/>
                <a:gd name="T39" fmla="*/ 1 h 32"/>
                <a:gd name="T40" fmla="*/ 1 w 33"/>
                <a:gd name="T41" fmla="*/ 1 h 32"/>
                <a:gd name="T42" fmla="*/ 1 w 33"/>
                <a:gd name="T43" fmla="*/ 1 h 32"/>
                <a:gd name="T44" fmla="*/ 1 w 33"/>
                <a:gd name="T45" fmla="*/ 1 h 32"/>
                <a:gd name="T46" fmla="*/ 1 w 33"/>
                <a:gd name="T47" fmla="*/ 1 h 32"/>
                <a:gd name="T48" fmla="*/ 1 w 33"/>
                <a:gd name="T49" fmla="*/ 1 h 32"/>
                <a:gd name="T50" fmla="*/ 1 w 33"/>
                <a:gd name="T51" fmla="*/ 1 h 32"/>
                <a:gd name="T52" fmla="*/ 1 w 33"/>
                <a:gd name="T53" fmla="*/ 1 h 32"/>
                <a:gd name="T54" fmla="*/ 1 w 33"/>
                <a:gd name="T55" fmla="*/ 1 h 32"/>
                <a:gd name="T56" fmla="*/ 1 w 33"/>
                <a:gd name="T57" fmla="*/ 1 h 32"/>
                <a:gd name="T58" fmla="*/ 1 w 33"/>
                <a:gd name="T59" fmla="*/ 1 h 32"/>
                <a:gd name="T60" fmla="*/ 1 w 33"/>
                <a:gd name="T61" fmla="*/ 1 h 32"/>
                <a:gd name="T62" fmla="*/ 1 w 33"/>
                <a:gd name="T63" fmla="*/ 1 h 32"/>
                <a:gd name="T64" fmla="*/ 2 w 33"/>
                <a:gd name="T65" fmla="*/ 1 h 32"/>
                <a:gd name="T66" fmla="*/ 1 w 33"/>
                <a:gd name="T67" fmla="*/ 1 h 32"/>
                <a:gd name="T68" fmla="*/ 1 w 33"/>
                <a:gd name="T69" fmla="*/ 1 h 3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"/>
                <a:gd name="T106" fmla="*/ 0 h 32"/>
                <a:gd name="T107" fmla="*/ 33 w 33"/>
                <a:gd name="T108" fmla="*/ 32 h 3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" h="32">
                  <a:moveTo>
                    <a:pt x="22" y="2"/>
                  </a:move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1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4" y="26"/>
                  </a:lnTo>
                  <a:lnTo>
                    <a:pt x="5" y="29"/>
                  </a:lnTo>
                  <a:lnTo>
                    <a:pt x="7" y="31"/>
                  </a:lnTo>
                  <a:lnTo>
                    <a:pt x="9" y="32"/>
                  </a:lnTo>
                  <a:lnTo>
                    <a:pt x="10" y="32"/>
                  </a:lnTo>
                  <a:lnTo>
                    <a:pt x="9" y="31"/>
                  </a:lnTo>
                  <a:lnTo>
                    <a:pt x="7" y="28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10" y="18"/>
                  </a:lnTo>
                  <a:lnTo>
                    <a:pt x="11" y="16"/>
                  </a:lnTo>
                  <a:lnTo>
                    <a:pt x="12" y="11"/>
                  </a:lnTo>
                  <a:lnTo>
                    <a:pt x="16" y="10"/>
                  </a:lnTo>
                  <a:lnTo>
                    <a:pt x="19" y="9"/>
                  </a:lnTo>
                  <a:lnTo>
                    <a:pt x="24" y="9"/>
                  </a:lnTo>
                  <a:lnTo>
                    <a:pt x="26" y="8"/>
                  </a:lnTo>
                  <a:lnTo>
                    <a:pt x="30" y="9"/>
                  </a:lnTo>
                  <a:lnTo>
                    <a:pt x="32" y="9"/>
                  </a:lnTo>
                  <a:lnTo>
                    <a:pt x="33" y="9"/>
                  </a:lnTo>
                  <a:lnTo>
                    <a:pt x="22" y="2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Freeform 74"/>
            <p:cNvSpPr/>
            <p:nvPr/>
          </p:nvSpPr>
          <p:spPr bwMode="auto">
            <a:xfrm>
              <a:off x="5057" y="1362"/>
              <a:ext cx="17" cy="17"/>
            </a:xfrm>
            <a:custGeom>
              <a:avLst/>
              <a:gdLst>
                <a:gd name="T0" fmla="*/ 0 w 35"/>
                <a:gd name="T1" fmla="*/ 1 h 34"/>
                <a:gd name="T2" fmla="*/ 0 w 35"/>
                <a:gd name="T3" fmla="*/ 0 h 34"/>
                <a:gd name="T4" fmla="*/ 0 w 35"/>
                <a:gd name="T5" fmla="*/ 0 h 34"/>
                <a:gd name="T6" fmla="*/ 0 w 35"/>
                <a:gd name="T7" fmla="*/ 1 h 34"/>
                <a:gd name="T8" fmla="*/ 0 w 35"/>
                <a:gd name="T9" fmla="*/ 1 h 34"/>
                <a:gd name="T10" fmla="*/ 0 w 35"/>
                <a:gd name="T11" fmla="*/ 1 h 34"/>
                <a:gd name="T12" fmla="*/ 0 w 35"/>
                <a:gd name="T13" fmla="*/ 1 h 34"/>
                <a:gd name="T14" fmla="*/ 0 w 35"/>
                <a:gd name="T15" fmla="*/ 1 h 34"/>
                <a:gd name="T16" fmla="*/ 0 w 35"/>
                <a:gd name="T17" fmla="*/ 1 h 34"/>
                <a:gd name="T18" fmla="*/ 0 w 35"/>
                <a:gd name="T19" fmla="*/ 1 h 34"/>
                <a:gd name="T20" fmla="*/ 0 w 35"/>
                <a:gd name="T21" fmla="*/ 1 h 34"/>
                <a:gd name="T22" fmla="*/ 0 w 35"/>
                <a:gd name="T23" fmla="*/ 1 h 34"/>
                <a:gd name="T24" fmla="*/ 0 w 35"/>
                <a:gd name="T25" fmla="*/ 1 h 34"/>
                <a:gd name="T26" fmla="*/ 0 w 35"/>
                <a:gd name="T27" fmla="*/ 1 h 34"/>
                <a:gd name="T28" fmla="*/ 0 w 35"/>
                <a:gd name="T29" fmla="*/ 1 h 34"/>
                <a:gd name="T30" fmla="*/ 0 w 35"/>
                <a:gd name="T31" fmla="*/ 1 h 34"/>
                <a:gd name="T32" fmla="*/ 0 w 35"/>
                <a:gd name="T33" fmla="*/ 1 h 34"/>
                <a:gd name="T34" fmla="*/ 0 w 35"/>
                <a:gd name="T35" fmla="*/ 1 h 34"/>
                <a:gd name="T36" fmla="*/ 0 w 35"/>
                <a:gd name="T37" fmla="*/ 1 h 34"/>
                <a:gd name="T38" fmla="*/ 0 w 35"/>
                <a:gd name="T39" fmla="*/ 1 h 34"/>
                <a:gd name="T40" fmla="*/ 0 w 35"/>
                <a:gd name="T41" fmla="*/ 1 h 34"/>
                <a:gd name="T42" fmla="*/ 0 w 35"/>
                <a:gd name="T43" fmla="*/ 1 h 34"/>
                <a:gd name="T44" fmla="*/ 0 w 35"/>
                <a:gd name="T45" fmla="*/ 1 h 34"/>
                <a:gd name="T46" fmla="*/ 0 w 35"/>
                <a:gd name="T47" fmla="*/ 1 h 34"/>
                <a:gd name="T48" fmla="*/ 0 w 35"/>
                <a:gd name="T49" fmla="*/ 1 h 34"/>
                <a:gd name="T50" fmla="*/ 0 w 35"/>
                <a:gd name="T51" fmla="*/ 1 h 34"/>
                <a:gd name="T52" fmla="*/ 0 w 35"/>
                <a:gd name="T53" fmla="*/ 1 h 34"/>
                <a:gd name="T54" fmla="*/ 0 w 35"/>
                <a:gd name="T55" fmla="*/ 1 h 34"/>
                <a:gd name="T56" fmla="*/ 0 w 35"/>
                <a:gd name="T57" fmla="*/ 1 h 34"/>
                <a:gd name="T58" fmla="*/ 0 w 35"/>
                <a:gd name="T59" fmla="*/ 1 h 34"/>
                <a:gd name="T60" fmla="*/ 0 w 35"/>
                <a:gd name="T61" fmla="*/ 1 h 34"/>
                <a:gd name="T62" fmla="*/ 1 w 35"/>
                <a:gd name="T63" fmla="*/ 1 h 34"/>
                <a:gd name="T64" fmla="*/ 1 w 35"/>
                <a:gd name="T65" fmla="*/ 1 h 34"/>
                <a:gd name="T66" fmla="*/ 0 w 35"/>
                <a:gd name="T67" fmla="*/ 1 h 34"/>
                <a:gd name="T68" fmla="*/ 0 w 35"/>
                <a:gd name="T69" fmla="*/ 1 h 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"/>
                <a:gd name="T106" fmla="*/ 0 h 34"/>
                <a:gd name="T107" fmla="*/ 35 w 35"/>
                <a:gd name="T108" fmla="*/ 34 h 3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" h="34">
                  <a:moveTo>
                    <a:pt x="24" y="1"/>
                  </a:moveTo>
                  <a:lnTo>
                    <a:pt x="22" y="0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11" y="2"/>
                  </a:lnTo>
                  <a:lnTo>
                    <a:pt x="7" y="4"/>
                  </a:lnTo>
                  <a:lnTo>
                    <a:pt x="5" y="6"/>
                  </a:lnTo>
                  <a:lnTo>
                    <a:pt x="2" y="8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2" y="19"/>
                  </a:lnTo>
                  <a:lnTo>
                    <a:pt x="2" y="23"/>
                  </a:lnTo>
                  <a:lnTo>
                    <a:pt x="4" y="26"/>
                  </a:lnTo>
                  <a:lnTo>
                    <a:pt x="5" y="28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7" y="34"/>
                  </a:lnTo>
                  <a:lnTo>
                    <a:pt x="7" y="33"/>
                  </a:lnTo>
                  <a:lnTo>
                    <a:pt x="7" y="32"/>
                  </a:lnTo>
                  <a:lnTo>
                    <a:pt x="7" y="31"/>
                  </a:lnTo>
                  <a:lnTo>
                    <a:pt x="7" y="28"/>
                  </a:lnTo>
                  <a:lnTo>
                    <a:pt x="7" y="25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8" y="11"/>
                  </a:lnTo>
                  <a:lnTo>
                    <a:pt x="22" y="10"/>
                  </a:lnTo>
                  <a:lnTo>
                    <a:pt x="24" y="8"/>
                  </a:lnTo>
                  <a:lnTo>
                    <a:pt x="28" y="8"/>
                  </a:lnTo>
                  <a:lnTo>
                    <a:pt x="30" y="8"/>
                  </a:lnTo>
                  <a:lnTo>
                    <a:pt x="33" y="8"/>
                  </a:lnTo>
                  <a:lnTo>
                    <a:pt x="35" y="8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438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Freeform 75"/>
            <p:cNvSpPr/>
            <p:nvPr/>
          </p:nvSpPr>
          <p:spPr bwMode="auto">
            <a:xfrm>
              <a:off x="5044" y="1378"/>
              <a:ext cx="23" cy="13"/>
            </a:xfrm>
            <a:custGeom>
              <a:avLst/>
              <a:gdLst>
                <a:gd name="T0" fmla="*/ 1 w 46"/>
                <a:gd name="T1" fmla="*/ 1 h 26"/>
                <a:gd name="T2" fmla="*/ 1 w 46"/>
                <a:gd name="T3" fmla="*/ 1 h 26"/>
                <a:gd name="T4" fmla="*/ 1 w 46"/>
                <a:gd name="T5" fmla="*/ 1 h 26"/>
                <a:gd name="T6" fmla="*/ 1 w 46"/>
                <a:gd name="T7" fmla="*/ 1 h 26"/>
                <a:gd name="T8" fmla="*/ 1 w 46"/>
                <a:gd name="T9" fmla="*/ 1 h 26"/>
                <a:gd name="T10" fmla="*/ 1 w 46"/>
                <a:gd name="T11" fmla="*/ 1 h 26"/>
                <a:gd name="T12" fmla="*/ 1 w 46"/>
                <a:gd name="T13" fmla="*/ 1 h 26"/>
                <a:gd name="T14" fmla="*/ 1 w 46"/>
                <a:gd name="T15" fmla="*/ 1 h 26"/>
                <a:gd name="T16" fmla="*/ 1 w 46"/>
                <a:gd name="T17" fmla="*/ 1 h 26"/>
                <a:gd name="T18" fmla="*/ 1 w 46"/>
                <a:gd name="T19" fmla="*/ 1 h 26"/>
                <a:gd name="T20" fmla="*/ 1 w 46"/>
                <a:gd name="T21" fmla="*/ 1 h 26"/>
                <a:gd name="T22" fmla="*/ 1 w 46"/>
                <a:gd name="T23" fmla="*/ 1 h 26"/>
                <a:gd name="T24" fmla="*/ 1 w 46"/>
                <a:gd name="T25" fmla="*/ 1 h 26"/>
                <a:gd name="T26" fmla="*/ 1 w 46"/>
                <a:gd name="T27" fmla="*/ 1 h 26"/>
                <a:gd name="T28" fmla="*/ 1 w 46"/>
                <a:gd name="T29" fmla="*/ 1 h 26"/>
                <a:gd name="T30" fmla="*/ 1 w 46"/>
                <a:gd name="T31" fmla="*/ 1 h 26"/>
                <a:gd name="T32" fmla="*/ 1 w 46"/>
                <a:gd name="T33" fmla="*/ 1 h 26"/>
                <a:gd name="T34" fmla="*/ 1 w 46"/>
                <a:gd name="T35" fmla="*/ 1 h 26"/>
                <a:gd name="T36" fmla="*/ 1 w 46"/>
                <a:gd name="T37" fmla="*/ 1 h 26"/>
                <a:gd name="T38" fmla="*/ 1 w 46"/>
                <a:gd name="T39" fmla="*/ 1 h 26"/>
                <a:gd name="T40" fmla="*/ 1 w 46"/>
                <a:gd name="T41" fmla="*/ 1 h 26"/>
                <a:gd name="T42" fmla="*/ 1 w 46"/>
                <a:gd name="T43" fmla="*/ 1 h 26"/>
                <a:gd name="T44" fmla="*/ 1 w 46"/>
                <a:gd name="T45" fmla="*/ 1 h 26"/>
                <a:gd name="T46" fmla="*/ 1 w 46"/>
                <a:gd name="T47" fmla="*/ 1 h 26"/>
                <a:gd name="T48" fmla="*/ 1 w 46"/>
                <a:gd name="T49" fmla="*/ 1 h 26"/>
                <a:gd name="T50" fmla="*/ 1 w 46"/>
                <a:gd name="T51" fmla="*/ 1 h 26"/>
                <a:gd name="T52" fmla="*/ 1 w 46"/>
                <a:gd name="T53" fmla="*/ 1 h 26"/>
                <a:gd name="T54" fmla="*/ 1 w 46"/>
                <a:gd name="T55" fmla="*/ 1 h 26"/>
                <a:gd name="T56" fmla="*/ 1 w 46"/>
                <a:gd name="T57" fmla="*/ 1 h 26"/>
                <a:gd name="T58" fmla="*/ 1 w 46"/>
                <a:gd name="T59" fmla="*/ 1 h 26"/>
                <a:gd name="T60" fmla="*/ 1 w 46"/>
                <a:gd name="T61" fmla="*/ 1 h 26"/>
                <a:gd name="T62" fmla="*/ 1 w 46"/>
                <a:gd name="T63" fmla="*/ 1 h 26"/>
                <a:gd name="T64" fmla="*/ 0 w 46"/>
                <a:gd name="T65" fmla="*/ 1 h 26"/>
                <a:gd name="T66" fmla="*/ 0 w 46"/>
                <a:gd name="T67" fmla="*/ 0 h 26"/>
                <a:gd name="T68" fmla="*/ 1 w 46"/>
                <a:gd name="T69" fmla="*/ 1 h 26"/>
                <a:gd name="T70" fmla="*/ 1 w 46"/>
                <a:gd name="T71" fmla="*/ 1 h 2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"/>
                <a:gd name="T109" fmla="*/ 0 h 26"/>
                <a:gd name="T110" fmla="*/ 46 w 46"/>
                <a:gd name="T111" fmla="*/ 26 h 2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" h="26">
                  <a:moveTo>
                    <a:pt x="2" y="7"/>
                  </a:moveTo>
                  <a:lnTo>
                    <a:pt x="3" y="9"/>
                  </a:lnTo>
                  <a:lnTo>
                    <a:pt x="5" y="12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4" y="19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3" y="25"/>
                  </a:lnTo>
                  <a:lnTo>
                    <a:pt x="27" y="26"/>
                  </a:lnTo>
                  <a:lnTo>
                    <a:pt x="31" y="26"/>
                  </a:lnTo>
                  <a:lnTo>
                    <a:pt x="35" y="26"/>
                  </a:lnTo>
                  <a:lnTo>
                    <a:pt x="39" y="26"/>
                  </a:lnTo>
                  <a:lnTo>
                    <a:pt x="42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3" y="25"/>
                  </a:lnTo>
                  <a:lnTo>
                    <a:pt x="40" y="25"/>
                  </a:lnTo>
                  <a:lnTo>
                    <a:pt x="37" y="24"/>
                  </a:lnTo>
                  <a:lnTo>
                    <a:pt x="35" y="24"/>
                  </a:lnTo>
                  <a:lnTo>
                    <a:pt x="33" y="22"/>
                  </a:lnTo>
                  <a:lnTo>
                    <a:pt x="30" y="22"/>
                  </a:lnTo>
                  <a:lnTo>
                    <a:pt x="28" y="21"/>
                  </a:lnTo>
                  <a:lnTo>
                    <a:pt x="24" y="20"/>
                  </a:lnTo>
                  <a:lnTo>
                    <a:pt x="22" y="19"/>
                  </a:lnTo>
                  <a:lnTo>
                    <a:pt x="20" y="19"/>
                  </a:lnTo>
                  <a:lnTo>
                    <a:pt x="16" y="15"/>
                  </a:lnTo>
                  <a:lnTo>
                    <a:pt x="14" y="14"/>
                  </a:lnTo>
                  <a:lnTo>
                    <a:pt x="11" y="11"/>
                  </a:lnTo>
                  <a:lnTo>
                    <a:pt x="9" y="8"/>
                  </a:lnTo>
                  <a:lnTo>
                    <a:pt x="7" y="5"/>
                  </a:lnTo>
                  <a:lnTo>
                    <a:pt x="4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Freeform 76"/>
            <p:cNvSpPr/>
            <p:nvPr/>
          </p:nvSpPr>
          <p:spPr bwMode="auto">
            <a:xfrm>
              <a:off x="4908" y="1380"/>
              <a:ext cx="23" cy="14"/>
            </a:xfrm>
            <a:custGeom>
              <a:avLst/>
              <a:gdLst>
                <a:gd name="T0" fmla="*/ 1 w 46"/>
                <a:gd name="T1" fmla="*/ 1 h 28"/>
                <a:gd name="T2" fmla="*/ 1 w 46"/>
                <a:gd name="T3" fmla="*/ 1 h 28"/>
                <a:gd name="T4" fmla="*/ 1 w 46"/>
                <a:gd name="T5" fmla="*/ 1 h 28"/>
                <a:gd name="T6" fmla="*/ 1 w 46"/>
                <a:gd name="T7" fmla="*/ 1 h 28"/>
                <a:gd name="T8" fmla="*/ 1 w 46"/>
                <a:gd name="T9" fmla="*/ 1 h 28"/>
                <a:gd name="T10" fmla="*/ 1 w 46"/>
                <a:gd name="T11" fmla="*/ 1 h 28"/>
                <a:gd name="T12" fmla="*/ 1 w 46"/>
                <a:gd name="T13" fmla="*/ 1 h 28"/>
                <a:gd name="T14" fmla="*/ 1 w 46"/>
                <a:gd name="T15" fmla="*/ 1 h 28"/>
                <a:gd name="T16" fmla="*/ 1 w 46"/>
                <a:gd name="T17" fmla="*/ 1 h 28"/>
                <a:gd name="T18" fmla="*/ 1 w 46"/>
                <a:gd name="T19" fmla="*/ 1 h 28"/>
                <a:gd name="T20" fmla="*/ 1 w 46"/>
                <a:gd name="T21" fmla="*/ 1 h 28"/>
                <a:gd name="T22" fmla="*/ 1 w 46"/>
                <a:gd name="T23" fmla="*/ 1 h 28"/>
                <a:gd name="T24" fmla="*/ 1 w 46"/>
                <a:gd name="T25" fmla="*/ 1 h 28"/>
                <a:gd name="T26" fmla="*/ 1 w 46"/>
                <a:gd name="T27" fmla="*/ 1 h 28"/>
                <a:gd name="T28" fmla="*/ 1 w 46"/>
                <a:gd name="T29" fmla="*/ 1 h 28"/>
                <a:gd name="T30" fmla="*/ 1 w 46"/>
                <a:gd name="T31" fmla="*/ 1 h 28"/>
                <a:gd name="T32" fmla="*/ 1 w 46"/>
                <a:gd name="T33" fmla="*/ 1 h 28"/>
                <a:gd name="T34" fmla="*/ 1 w 46"/>
                <a:gd name="T35" fmla="*/ 1 h 28"/>
                <a:gd name="T36" fmla="*/ 1 w 46"/>
                <a:gd name="T37" fmla="*/ 1 h 28"/>
                <a:gd name="T38" fmla="*/ 1 w 46"/>
                <a:gd name="T39" fmla="*/ 1 h 28"/>
                <a:gd name="T40" fmla="*/ 1 w 46"/>
                <a:gd name="T41" fmla="*/ 1 h 28"/>
                <a:gd name="T42" fmla="*/ 1 w 46"/>
                <a:gd name="T43" fmla="*/ 1 h 28"/>
                <a:gd name="T44" fmla="*/ 1 w 46"/>
                <a:gd name="T45" fmla="*/ 1 h 28"/>
                <a:gd name="T46" fmla="*/ 1 w 46"/>
                <a:gd name="T47" fmla="*/ 1 h 28"/>
                <a:gd name="T48" fmla="*/ 1 w 46"/>
                <a:gd name="T49" fmla="*/ 1 h 28"/>
                <a:gd name="T50" fmla="*/ 1 w 46"/>
                <a:gd name="T51" fmla="*/ 1 h 28"/>
                <a:gd name="T52" fmla="*/ 1 w 46"/>
                <a:gd name="T53" fmla="*/ 1 h 28"/>
                <a:gd name="T54" fmla="*/ 1 w 46"/>
                <a:gd name="T55" fmla="*/ 1 h 28"/>
                <a:gd name="T56" fmla="*/ 1 w 46"/>
                <a:gd name="T57" fmla="*/ 1 h 28"/>
                <a:gd name="T58" fmla="*/ 1 w 46"/>
                <a:gd name="T59" fmla="*/ 1 h 28"/>
                <a:gd name="T60" fmla="*/ 1 w 46"/>
                <a:gd name="T61" fmla="*/ 1 h 28"/>
                <a:gd name="T62" fmla="*/ 1 w 46"/>
                <a:gd name="T63" fmla="*/ 1 h 28"/>
                <a:gd name="T64" fmla="*/ 1 w 46"/>
                <a:gd name="T65" fmla="*/ 1 h 28"/>
                <a:gd name="T66" fmla="*/ 0 w 46"/>
                <a:gd name="T67" fmla="*/ 0 h 28"/>
                <a:gd name="T68" fmla="*/ 1 w 46"/>
                <a:gd name="T69" fmla="*/ 1 h 28"/>
                <a:gd name="T70" fmla="*/ 1 w 46"/>
                <a:gd name="T71" fmla="*/ 1 h 2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"/>
                <a:gd name="T109" fmla="*/ 0 h 28"/>
                <a:gd name="T110" fmla="*/ 46 w 46"/>
                <a:gd name="T111" fmla="*/ 28 h 2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" h="28">
                  <a:moveTo>
                    <a:pt x="3" y="7"/>
                  </a:moveTo>
                  <a:lnTo>
                    <a:pt x="4" y="10"/>
                  </a:lnTo>
                  <a:lnTo>
                    <a:pt x="6" y="13"/>
                  </a:lnTo>
                  <a:lnTo>
                    <a:pt x="7" y="15"/>
                  </a:lnTo>
                  <a:lnTo>
                    <a:pt x="11" y="17"/>
                  </a:lnTo>
                  <a:lnTo>
                    <a:pt x="13" y="20"/>
                  </a:lnTo>
                  <a:lnTo>
                    <a:pt x="17" y="22"/>
                  </a:lnTo>
                  <a:lnTo>
                    <a:pt x="20" y="23"/>
                  </a:lnTo>
                  <a:lnTo>
                    <a:pt x="24" y="26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6" y="27"/>
                  </a:lnTo>
                  <a:lnTo>
                    <a:pt x="39" y="28"/>
                  </a:lnTo>
                  <a:lnTo>
                    <a:pt x="43" y="27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4" y="27"/>
                  </a:lnTo>
                  <a:lnTo>
                    <a:pt x="41" y="26"/>
                  </a:lnTo>
                  <a:lnTo>
                    <a:pt x="38" y="24"/>
                  </a:lnTo>
                  <a:lnTo>
                    <a:pt x="36" y="23"/>
                  </a:lnTo>
                  <a:lnTo>
                    <a:pt x="33" y="22"/>
                  </a:lnTo>
                  <a:lnTo>
                    <a:pt x="31" y="22"/>
                  </a:lnTo>
                  <a:lnTo>
                    <a:pt x="29" y="21"/>
                  </a:lnTo>
                  <a:lnTo>
                    <a:pt x="26" y="20"/>
                  </a:lnTo>
                  <a:lnTo>
                    <a:pt x="23" y="20"/>
                  </a:lnTo>
                  <a:lnTo>
                    <a:pt x="20" y="18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2" y="10"/>
                  </a:lnTo>
                  <a:lnTo>
                    <a:pt x="10" y="8"/>
                  </a:lnTo>
                  <a:lnTo>
                    <a:pt x="7" y="7"/>
                  </a:lnTo>
                  <a:lnTo>
                    <a:pt x="5" y="4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Freeform 77"/>
            <p:cNvSpPr/>
            <p:nvPr/>
          </p:nvSpPr>
          <p:spPr bwMode="auto">
            <a:xfrm>
              <a:off x="5356" y="1400"/>
              <a:ext cx="9" cy="53"/>
            </a:xfrm>
            <a:custGeom>
              <a:avLst/>
              <a:gdLst>
                <a:gd name="T0" fmla="*/ 1 w 17"/>
                <a:gd name="T1" fmla="*/ 1 h 105"/>
                <a:gd name="T2" fmla="*/ 1 w 17"/>
                <a:gd name="T3" fmla="*/ 1 h 105"/>
                <a:gd name="T4" fmla="*/ 1 w 17"/>
                <a:gd name="T5" fmla="*/ 1 h 105"/>
                <a:gd name="T6" fmla="*/ 1 w 17"/>
                <a:gd name="T7" fmla="*/ 1 h 105"/>
                <a:gd name="T8" fmla="*/ 1 w 17"/>
                <a:gd name="T9" fmla="*/ 1 h 105"/>
                <a:gd name="T10" fmla="*/ 1 w 17"/>
                <a:gd name="T11" fmla="*/ 1 h 105"/>
                <a:gd name="T12" fmla="*/ 1 w 17"/>
                <a:gd name="T13" fmla="*/ 1 h 105"/>
                <a:gd name="T14" fmla="*/ 1 w 17"/>
                <a:gd name="T15" fmla="*/ 2 h 105"/>
                <a:gd name="T16" fmla="*/ 1 w 17"/>
                <a:gd name="T17" fmla="*/ 2 h 105"/>
                <a:gd name="T18" fmla="*/ 1 w 17"/>
                <a:gd name="T19" fmla="*/ 2 h 105"/>
                <a:gd name="T20" fmla="*/ 1 w 17"/>
                <a:gd name="T21" fmla="*/ 2 h 105"/>
                <a:gd name="T22" fmla="*/ 1 w 17"/>
                <a:gd name="T23" fmla="*/ 2 h 105"/>
                <a:gd name="T24" fmla="*/ 1 w 17"/>
                <a:gd name="T25" fmla="*/ 2 h 105"/>
                <a:gd name="T26" fmla="*/ 1 w 17"/>
                <a:gd name="T27" fmla="*/ 2 h 105"/>
                <a:gd name="T28" fmla="*/ 1 w 17"/>
                <a:gd name="T29" fmla="*/ 2 h 105"/>
                <a:gd name="T30" fmla="*/ 1 w 17"/>
                <a:gd name="T31" fmla="*/ 2 h 105"/>
                <a:gd name="T32" fmla="*/ 1 w 17"/>
                <a:gd name="T33" fmla="*/ 3 h 105"/>
                <a:gd name="T34" fmla="*/ 1 w 17"/>
                <a:gd name="T35" fmla="*/ 3 h 105"/>
                <a:gd name="T36" fmla="*/ 1 w 17"/>
                <a:gd name="T37" fmla="*/ 3 h 105"/>
                <a:gd name="T38" fmla="*/ 1 w 17"/>
                <a:gd name="T39" fmla="*/ 3 h 105"/>
                <a:gd name="T40" fmla="*/ 1 w 17"/>
                <a:gd name="T41" fmla="*/ 3 h 105"/>
                <a:gd name="T42" fmla="*/ 1 w 17"/>
                <a:gd name="T43" fmla="*/ 3 h 105"/>
                <a:gd name="T44" fmla="*/ 1 w 17"/>
                <a:gd name="T45" fmla="*/ 3 h 105"/>
                <a:gd name="T46" fmla="*/ 1 w 17"/>
                <a:gd name="T47" fmla="*/ 3 h 105"/>
                <a:gd name="T48" fmla="*/ 1 w 17"/>
                <a:gd name="T49" fmla="*/ 3 h 105"/>
                <a:gd name="T50" fmla="*/ 1 w 17"/>
                <a:gd name="T51" fmla="*/ 4 h 105"/>
                <a:gd name="T52" fmla="*/ 1 w 17"/>
                <a:gd name="T53" fmla="*/ 4 h 105"/>
                <a:gd name="T54" fmla="*/ 1 w 17"/>
                <a:gd name="T55" fmla="*/ 4 h 105"/>
                <a:gd name="T56" fmla="*/ 1 w 17"/>
                <a:gd name="T57" fmla="*/ 4 h 105"/>
                <a:gd name="T58" fmla="*/ 1 w 17"/>
                <a:gd name="T59" fmla="*/ 4 h 105"/>
                <a:gd name="T60" fmla="*/ 1 w 17"/>
                <a:gd name="T61" fmla="*/ 4 h 105"/>
                <a:gd name="T62" fmla="*/ 1 w 17"/>
                <a:gd name="T63" fmla="*/ 4 h 105"/>
                <a:gd name="T64" fmla="*/ 1 w 17"/>
                <a:gd name="T65" fmla="*/ 4 h 105"/>
                <a:gd name="T66" fmla="*/ 1 w 17"/>
                <a:gd name="T67" fmla="*/ 3 h 105"/>
                <a:gd name="T68" fmla="*/ 1 w 17"/>
                <a:gd name="T69" fmla="*/ 3 h 105"/>
                <a:gd name="T70" fmla="*/ 1 w 17"/>
                <a:gd name="T71" fmla="*/ 3 h 105"/>
                <a:gd name="T72" fmla="*/ 1 w 17"/>
                <a:gd name="T73" fmla="*/ 3 h 105"/>
                <a:gd name="T74" fmla="*/ 1 w 17"/>
                <a:gd name="T75" fmla="*/ 3 h 105"/>
                <a:gd name="T76" fmla="*/ 1 w 17"/>
                <a:gd name="T77" fmla="*/ 3 h 105"/>
                <a:gd name="T78" fmla="*/ 1 w 17"/>
                <a:gd name="T79" fmla="*/ 3 h 105"/>
                <a:gd name="T80" fmla="*/ 1 w 17"/>
                <a:gd name="T81" fmla="*/ 3 h 105"/>
                <a:gd name="T82" fmla="*/ 1 w 17"/>
                <a:gd name="T83" fmla="*/ 2 h 105"/>
                <a:gd name="T84" fmla="*/ 1 w 17"/>
                <a:gd name="T85" fmla="*/ 2 h 105"/>
                <a:gd name="T86" fmla="*/ 1 w 17"/>
                <a:gd name="T87" fmla="*/ 2 h 105"/>
                <a:gd name="T88" fmla="*/ 1 w 17"/>
                <a:gd name="T89" fmla="*/ 2 h 105"/>
                <a:gd name="T90" fmla="*/ 1 w 17"/>
                <a:gd name="T91" fmla="*/ 2 h 105"/>
                <a:gd name="T92" fmla="*/ 1 w 17"/>
                <a:gd name="T93" fmla="*/ 2 h 105"/>
                <a:gd name="T94" fmla="*/ 1 w 17"/>
                <a:gd name="T95" fmla="*/ 2 h 105"/>
                <a:gd name="T96" fmla="*/ 1 w 17"/>
                <a:gd name="T97" fmla="*/ 2 h 105"/>
                <a:gd name="T98" fmla="*/ 1 w 17"/>
                <a:gd name="T99" fmla="*/ 2 h 105"/>
                <a:gd name="T100" fmla="*/ 1 w 17"/>
                <a:gd name="T101" fmla="*/ 1 h 105"/>
                <a:gd name="T102" fmla="*/ 1 w 17"/>
                <a:gd name="T103" fmla="*/ 1 h 105"/>
                <a:gd name="T104" fmla="*/ 1 w 17"/>
                <a:gd name="T105" fmla="*/ 1 h 105"/>
                <a:gd name="T106" fmla="*/ 1 w 17"/>
                <a:gd name="T107" fmla="*/ 1 h 105"/>
                <a:gd name="T108" fmla="*/ 1 w 17"/>
                <a:gd name="T109" fmla="*/ 1 h 105"/>
                <a:gd name="T110" fmla="*/ 1 w 17"/>
                <a:gd name="T111" fmla="*/ 1 h 105"/>
                <a:gd name="T112" fmla="*/ 1 w 17"/>
                <a:gd name="T113" fmla="*/ 1 h 105"/>
                <a:gd name="T114" fmla="*/ 0 w 17"/>
                <a:gd name="T115" fmla="*/ 1 h 105"/>
                <a:gd name="T116" fmla="*/ 0 w 17"/>
                <a:gd name="T117" fmla="*/ 1 h 105"/>
                <a:gd name="T118" fmla="*/ 0 w 17"/>
                <a:gd name="T119" fmla="*/ 0 h 105"/>
                <a:gd name="T120" fmla="*/ 0 w 17"/>
                <a:gd name="T121" fmla="*/ 0 h 105"/>
                <a:gd name="T122" fmla="*/ 1 w 17"/>
                <a:gd name="T123" fmla="*/ 1 h 105"/>
                <a:gd name="T124" fmla="*/ 1 w 17"/>
                <a:gd name="T125" fmla="*/ 1 h 10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7"/>
                <a:gd name="T190" fmla="*/ 0 h 105"/>
                <a:gd name="T191" fmla="*/ 17 w 17"/>
                <a:gd name="T192" fmla="*/ 105 h 105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7" h="105">
                  <a:moveTo>
                    <a:pt x="8" y="18"/>
                  </a:moveTo>
                  <a:lnTo>
                    <a:pt x="9" y="19"/>
                  </a:lnTo>
                  <a:lnTo>
                    <a:pt x="9" y="20"/>
                  </a:lnTo>
                  <a:lnTo>
                    <a:pt x="11" y="21"/>
                  </a:lnTo>
                  <a:lnTo>
                    <a:pt x="11" y="25"/>
                  </a:lnTo>
                  <a:lnTo>
                    <a:pt x="12" y="27"/>
                  </a:lnTo>
                  <a:lnTo>
                    <a:pt x="12" y="29"/>
                  </a:lnTo>
                  <a:lnTo>
                    <a:pt x="13" y="33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4" y="44"/>
                  </a:lnTo>
                  <a:lnTo>
                    <a:pt x="15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0"/>
                  </a:lnTo>
                  <a:lnTo>
                    <a:pt x="17" y="64"/>
                  </a:lnTo>
                  <a:lnTo>
                    <a:pt x="17" y="67"/>
                  </a:lnTo>
                  <a:lnTo>
                    <a:pt x="15" y="72"/>
                  </a:lnTo>
                  <a:lnTo>
                    <a:pt x="14" y="76"/>
                  </a:lnTo>
                  <a:lnTo>
                    <a:pt x="14" y="79"/>
                  </a:lnTo>
                  <a:lnTo>
                    <a:pt x="13" y="83"/>
                  </a:lnTo>
                  <a:lnTo>
                    <a:pt x="12" y="86"/>
                  </a:lnTo>
                  <a:lnTo>
                    <a:pt x="11" y="90"/>
                  </a:lnTo>
                  <a:lnTo>
                    <a:pt x="9" y="93"/>
                  </a:lnTo>
                  <a:lnTo>
                    <a:pt x="8" y="96"/>
                  </a:lnTo>
                  <a:lnTo>
                    <a:pt x="7" y="98"/>
                  </a:lnTo>
                  <a:lnTo>
                    <a:pt x="7" y="100"/>
                  </a:lnTo>
                  <a:lnTo>
                    <a:pt x="6" y="103"/>
                  </a:lnTo>
                  <a:lnTo>
                    <a:pt x="4" y="104"/>
                  </a:lnTo>
                  <a:lnTo>
                    <a:pt x="2" y="105"/>
                  </a:lnTo>
                  <a:lnTo>
                    <a:pt x="2" y="104"/>
                  </a:lnTo>
                  <a:lnTo>
                    <a:pt x="2" y="102"/>
                  </a:lnTo>
                  <a:lnTo>
                    <a:pt x="2" y="98"/>
                  </a:lnTo>
                  <a:lnTo>
                    <a:pt x="4" y="96"/>
                  </a:lnTo>
                  <a:lnTo>
                    <a:pt x="4" y="92"/>
                  </a:lnTo>
                  <a:lnTo>
                    <a:pt x="4" y="89"/>
                  </a:lnTo>
                  <a:lnTo>
                    <a:pt x="4" y="84"/>
                  </a:lnTo>
                  <a:lnTo>
                    <a:pt x="6" y="80"/>
                  </a:lnTo>
                  <a:lnTo>
                    <a:pt x="6" y="74"/>
                  </a:lnTo>
                  <a:lnTo>
                    <a:pt x="6" y="71"/>
                  </a:lnTo>
                  <a:lnTo>
                    <a:pt x="6" y="66"/>
                  </a:lnTo>
                  <a:lnTo>
                    <a:pt x="6" y="63"/>
                  </a:lnTo>
                  <a:lnTo>
                    <a:pt x="6" y="58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7" y="50"/>
                  </a:lnTo>
                  <a:lnTo>
                    <a:pt x="6" y="46"/>
                  </a:lnTo>
                  <a:lnTo>
                    <a:pt x="6" y="42"/>
                  </a:lnTo>
                  <a:lnTo>
                    <a:pt x="6" y="40"/>
                  </a:lnTo>
                  <a:lnTo>
                    <a:pt x="4" y="35"/>
                  </a:lnTo>
                  <a:lnTo>
                    <a:pt x="4" y="31"/>
                  </a:lnTo>
                  <a:lnTo>
                    <a:pt x="4" y="27"/>
                  </a:lnTo>
                  <a:lnTo>
                    <a:pt x="2" y="22"/>
                  </a:lnTo>
                  <a:lnTo>
                    <a:pt x="2" y="19"/>
                  </a:lnTo>
                  <a:lnTo>
                    <a:pt x="1" y="14"/>
                  </a:lnTo>
                  <a:lnTo>
                    <a:pt x="1" y="11"/>
                  </a:lnTo>
                  <a:lnTo>
                    <a:pt x="1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8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1423EC-CB03-46B6-94BB-37E2B8F5FEAD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Objectives for Anonymization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Prevent (high confidence) inference of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associations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Prevent inference of salary for an individual in “census”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Prevent inference of individual’s viewing history in “video”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Prevent inference of individual’s search history in “search”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All aim to prevent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linking</a:t>
            </a:r>
            <a:r>
              <a:rPr lang="en-US" altLang="zh-CN" dirty="0">
                <a:ea typeface="宋体" panose="02010600030101010101" pitchFamily="2" charset="-122"/>
              </a:rPr>
              <a:t> sensitive information to an individual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Prevent inference of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presence </a:t>
            </a:r>
            <a:r>
              <a:rPr lang="en-US" altLang="zh-CN" dirty="0">
                <a:ea typeface="宋体" panose="02010600030101010101" pitchFamily="2" charset="-122"/>
              </a:rPr>
              <a:t>of an individual in the data set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Satisfying “presence” also satisfies “association” (not vice-versa)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Presence in a data set can violate privacy (</a:t>
            </a:r>
            <a:r>
              <a:rPr lang="en-US" altLang="zh-CN" dirty="0" err="1">
                <a:ea typeface="宋体" panose="02010600030101010101" pitchFamily="2" charset="-122"/>
              </a:rPr>
              <a:t>eg</a:t>
            </a:r>
            <a:r>
              <a:rPr lang="en-US" altLang="zh-CN" dirty="0">
                <a:ea typeface="宋体" panose="02010600030101010101" pitchFamily="2" charset="-122"/>
              </a:rPr>
              <a:t> STD clinic patients)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Have to model what knowledge might be known to attacker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Background knowledge</a:t>
            </a:r>
            <a:r>
              <a:rPr lang="en-US" altLang="zh-CN" dirty="0">
                <a:ea typeface="宋体" panose="02010600030101010101" pitchFamily="2" charset="-122"/>
              </a:rPr>
              <a:t>: facts about the data set (X has salary Y)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Domain knowledge</a:t>
            </a:r>
            <a:r>
              <a:rPr lang="en-US" altLang="zh-CN" dirty="0">
                <a:ea typeface="宋体" panose="02010600030101010101" pitchFamily="2" charset="-122"/>
              </a:rPr>
              <a:t>: broad properties of data (illness Z rare in men)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2294" name="Group 19"/>
          <p:cNvGrpSpPr/>
          <p:nvPr/>
        </p:nvGrpSpPr>
        <p:grpSpPr bwMode="auto">
          <a:xfrm>
            <a:off x="6781800" y="582613"/>
            <a:ext cx="1905000" cy="1398587"/>
            <a:chOff x="4416" y="336"/>
            <a:chExt cx="1200" cy="881"/>
          </a:xfrm>
        </p:grpSpPr>
        <p:sp>
          <p:nvSpPr>
            <p:cNvPr id="12295" name="AutoShape 8"/>
            <p:cNvSpPr>
              <a:spLocks noChangeAspect="1" noChangeArrowheads="1" noTextEdit="1"/>
            </p:cNvSpPr>
            <p:nvPr/>
          </p:nvSpPr>
          <p:spPr bwMode="auto">
            <a:xfrm>
              <a:off x="4416" y="336"/>
              <a:ext cx="1200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6" name="Freeform 10"/>
            <p:cNvSpPr/>
            <p:nvPr/>
          </p:nvSpPr>
          <p:spPr bwMode="auto">
            <a:xfrm>
              <a:off x="5003" y="338"/>
              <a:ext cx="611" cy="877"/>
            </a:xfrm>
            <a:custGeom>
              <a:avLst/>
              <a:gdLst>
                <a:gd name="T0" fmla="*/ 291 w 598"/>
                <a:gd name="T1" fmla="*/ 938 h 860"/>
                <a:gd name="T2" fmla="*/ 320 w 598"/>
                <a:gd name="T3" fmla="*/ 930 h 860"/>
                <a:gd name="T4" fmla="*/ 347 w 598"/>
                <a:gd name="T5" fmla="*/ 916 h 860"/>
                <a:gd name="T6" fmla="*/ 375 w 598"/>
                <a:gd name="T7" fmla="*/ 899 h 860"/>
                <a:gd name="T8" fmla="*/ 405 w 598"/>
                <a:gd name="T9" fmla="*/ 881 h 860"/>
                <a:gd name="T10" fmla="*/ 432 w 598"/>
                <a:gd name="T11" fmla="*/ 859 h 860"/>
                <a:gd name="T12" fmla="*/ 459 w 598"/>
                <a:gd name="T13" fmla="*/ 833 h 860"/>
                <a:gd name="T14" fmla="*/ 486 w 598"/>
                <a:gd name="T15" fmla="*/ 805 h 860"/>
                <a:gd name="T16" fmla="*/ 510 w 598"/>
                <a:gd name="T17" fmla="*/ 773 h 860"/>
                <a:gd name="T18" fmla="*/ 534 w 598"/>
                <a:gd name="T19" fmla="*/ 740 h 860"/>
                <a:gd name="T20" fmla="*/ 558 w 598"/>
                <a:gd name="T21" fmla="*/ 705 h 860"/>
                <a:gd name="T22" fmla="*/ 599 w 598"/>
                <a:gd name="T23" fmla="*/ 627 h 860"/>
                <a:gd name="T24" fmla="*/ 630 w 598"/>
                <a:gd name="T25" fmla="*/ 544 h 860"/>
                <a:gd name="T26" fmla="*/ 653 w 598"/>
                <a:gd name="T27" fmla="*/ 457 h 860"/>
                <a:gd name="T28" fmla="*/ 665 w 598"/>
                <a:gd name="T29" fmla="*/ 372 h 860"/>
                <a:gd name="T30" fmla="*/ 666 w 598"/>
                <a:gd name="T31" fmla="*/ 289 h 860"/>
                <a:gd name="T32" fmla="*/ 656 w 598"/>
                <a:gd name="T33" fmla="*/ 212 h 860"/>
                <a:gd name="T34" fmla="*/ 636 w 598"/>
                <a:gd name="T35" fmla="*/ 149 h 860"/>
                <a:gd name="T36" fmla="*/ 608 w 598"/>
                <a:gd name="T37" fmla="*/ 95 h 860"/>
                <a:gd name="T38" fmla="*/ 593 w 598"/>
                <a:gd name="T39" fmla="*/ 71 h 860"/>
                <a:gd name="T40" fmla="*/ 575 w 598"/>
                <a:gd name="T41" fmla="*/ 53 h 860"/>
                <a:gd name="T42" fmla="*/ 557 w 598"/>
                <a:gd name="T43" fmla="*/ 39 h 860"/>
                <a:gd name="T44" fmla="*/ 537 w 598"/>
                <a:gd name="T45" fmla="*/ 22 h 860"/>
                <a:gd name="T46" fmla="*/ 517 w 598"/>
                <a:gd name="T47" fmla="*/ 14 h 860"/>
                <a:gd name="T48" fmla="*/ 496 w 598"/>
                <a:gd name="T49" fmla="*/ 7 h 860"/>
                <a:gd name="T50" fmla="*/ 474 w 598"/>
                <a:gd name="T51" fmla="*/ 2 h 860"/>
                <a:gd name="T52" fmla="*/ 453 w 598"/>
                <a:gd name="T53" fmla="*/ 0 h 860"/>
                <a:gd name="T54" fmla="*/ 430 w 598"/>
                <a:gd name="T55" fmla="*/ 0 h 860"/>
                <a:gd name="T56" fmla="*/ 407 w 598"/>
                <a:gd name="T57" fmla="*/ 1 h 860"/>
                <a:gd name="T58" fmla="*/ 386 w 598"/>
                <a:gd name="T59" fmla="*/ 5 h 860"/>
                <a:gd name="T60" fmla="*/ 363 w 598"/>
                <a:gd name="T61" fmla="*/ 11 h 860"/>
                <a:gd name="T62" fmla="*/ 340 w 598"/>
                <a:gd name="T63" fmla="*/ 19 h 860"/>
                <a:gd name="T64" fmla="*/ 316 w 598"/>
                <a:gd name="T65" fmla="*/ 33 h 860"/>
                <a:gd name="T66" fmla="*/ 295 w 598"/>
                <a:gd name="T67" fmla="*/ 44 h 860"/>
                <a:gd name="T68" fmla="*/ 272 w 598"/>
                <a:gd name="T69" fmla="*/ 58 h 860"/>
                <a:gd name="T70" fmla="*/ 230 w 598"/>
                <a:gd name="T71" fmla="*/ 93 h 860"/>
                <a:gd name="T72" fmla="*/ 190 w 598"/>
                <a:gd name="T73" fmla="*/ 130 h 860"/>
                <a:gd name="T74" fmla="*/ 153 w 598"/>
                <a:gd name="T75" fmla="*/ 172 h 860"/>
                <a:gd name="T76" fmla="*/ 120 w 598"/>
                <a:gd name="T77" fmla="*/ 219 h 860"/>
                <a:gd name="T78" fmla="*/ 94 w 598"/>
                <a:gd name="T79" fmla="*/ 269 h 860"/>
                <a:gd name="T80" fmla="*/ 66 w 598"/>
                <a:gd name="T81" fmla="*/ 320 h 860"/>
                <a:gd name="T82" fmla="*/ 48 w 598"/>
                <a:gd name="T83" fmla="*/ 374 h 860"/>
                <a:gd name="T84" fmla="*/ 31 w 598"/>
                <a:gd name="T85" fmla="*/ 428 h 860"/>
                <a:gd name="T86" fmla="*/ 5 w 598"/>
                <a:gd name="T87" fmla="*/ 540 h 860"/>
                <a:gd name="T88" fmla="*/ 0 w 598"/>
                <a:gd name="T89" fmla="*/ 620 h 860"/>
                <a:gd name="T90" fmla="*/ 2 w 598"/>
                <a:gd name="T91" fmla="*/ 675 h 860"/>
                <a:gd name="T92" fmla="*/ 9 w 598"/>
                <a:gd name="T93" fmla="*/ 728 h 860"/>
                <a:gd name="T94" fmla="*/ 21 w 598"/>
                <a:gd name="T95" fmla="*/ 776 h 860"/>
                <a:gd name="T96" fmla="*/ 42 w 598"/>
                <a:gd name="T97" fmla="*/ 822 h 860"/>
                <a:gd name="T98" fmla="*/ 59 w 598"/>
                <a:gd name="T99" fmla="*/ 856 h 860"/>
                <a:gd name="T100" fmla="*/ 75 w 598"/>
                <a:gd name="T101" fmla="*/ 874 h 860"/>
                <a:gd name="T102" fmla="*/ 91 w 598"/>
                <a:gd name="T103" fmla="*/ 890 h 860"/>
                <a:gd name="T104" fmla="*/ 106 w 598"/>
                <a:gd name="T105" fmla="*/ 906 h 860"/>
                <a:gd name="T106" fmla="*/ 125 w 598"/>
                <a:gd name="T107" fmla="*/ 917 h 860"/>
                <a:gd name="T108" fmla="*/ 144 w 598"/>
                <a:gd name="T109" fmla="*/ 930 h 860"/>
                <a:gd name="T110" fmla="*/ 162 w 598"/>
                <a:gd name="T111" fmla="*/ 938 h 860"/>
                <a:gd name="T112" fmla="*/ 188 w 598"/>
                <a:gd name="T113" fmla="*/ 944 h 860"/>
                <a:gd name="T114" fmla="*/ 209 w 598"/>
                <a:gd name="T115" fmla="*/ 948 h 860"/>
                <a:gd name="T116" fmla="*/ 237 w 598"/>
                <a:gd name="T117" fmla="*/ 948 h 860"/>
                <a:gd name="T118" fmla="*/ 262 w 598"/>
                <a:gd name="T119" fmla="*/ 944 h 86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98"/>
                <a:gd name="T181" fmla="*/ 0 h 860"/>
                <a:gd name="T182" fmla="*/ 598 w 598"/>
                <a:gd name="T183" fmla="*/ 860 h 86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98" h="860">
                  <a:moveTo>
                    <a:pt x="244" y="855"/>
                  </a:moveTo>
                  <a:lnTo>
                    <a:pt x="252" y="853"/>
                  </a:lnTo>
                  <a:lnTo>
                    <a:pt x="261" y="851"/>
                  </a:lnTo>
                  <a:lnTo>
                    <a:pt x="269" y="848"/>
                  </a:lnTo>
                  <a:lnTo>
                    <a:pt x="279" y="846"/>
                  </a:lnTo>
                  <a:lnTo>
                    <a:pt x="287" y="843"/>
                  </a:lnTo>
                  <a:lnTo>
                    <a:pt x="295" y="839"/>
                  </a:lnTo>
                  <a:lnTo>
                    <a:pt x="304" y="836"/>
                  </a:lnTo>
                  <a:lnTo>
                    <a:pt x="312" y="831"/>
                  </a:lnTo>
                  <a:lnTo>
                    <a:pt x="320" y="826"/>
                  </a:lnTo>
                  <a:lnTo>
                    <a:pt x="329" y="822"/>
                  </a:lnTo>
                  <a:lnTo>
                    <a:pt x="337" y="816"/>
                  </a:lnTo>
                  <a:lnTo>
                    <a:pt x="347" y="812"/>
                  </a:lnTo>
                  <a:lnTo>
                    <a:pt x="355" y="806"/>
                  </a:lnTo>
                  <a:lnTo>
                    <a:pt x="364" y="799"/>
                  </a:lnTo>
                  <a:lnTo>
                    <a:pt x="372" y="793"/>
                  </a:lnTo>
                  <a:lnTo>
                    <a:pt x="380" y="786"/>
                  </a:lnTo>
                  <a:lnTo>
                    <a:pt x="388" y="779"/>
                  </a:lnTo>
                  <a:lnTo>
                    <a:pt x="396" y="771"/>
                  </a:lnTo>
                  <a:lnTo>
                    <a:pt x="404" y="763"/>
                  </a:lnTo>
                  <a:lnTo>
                    <a:pt x="412" y="755"/>
                  </a:lnTo>
                  <a:lnTo>
                    <a:pt x="420" y="747"/>
                  </a:lnTo>
                  <a:lnTo>
                    <a:pt x="428" y="738"/>
                  </a:lnTo>
                  <a:lnTo>
                    <a:pt x="437" y="730"/>
                  </a:lnTo>
                  <a:lnTo>
                    <a:pt x="443" y="721"/>
                  </a:lnTo>
                  <a:lnTo>
                    <a:pt x="452" y="711"/>
                  </a:lnTo>
                  <a:lnTo>
                    <a:pt x="458" y="701"/>
                  </a:lnTo>
                  <a:lnTo>
                    <a:pt x="467" y="691"/>
                  </a:lnTo>
                  <a:lnTo>
                    <a:pt x="473" y="681"/>
                  </a:lnTo>
                  <a:lnTo>
                    <a:pt x="480" y="671"/>
                  </a:lnTo>
                  <a:lnTo>
                    <a:pt x="487" y="661"/>
                  </a:lnTo>
                  <a:lnTo>
                    <a:pt x="494" y="649"/>
                  </a:lnTo>
                  <a:lnTo>
                    <a:pt x="501" y="639"/>
                  </a:lnTo>
                  <a:lnTo>
                    <a:pt x="514" y="616"/>
                  </a:lnTo>
                  <a:lnTo>
                    <a:pt x="526" y="593"/>
                  </a:lnTo>
                  <a:lnTo>
                    <a:pt x="538" y="569"/>
                  </a:lnTo>
                  <a:lnTo>
                    <a:pt x="548" y="543"/>
                  </a:lnTo>
                  <a:lnTo>
                    <a:pt x="558" y="519"/>
                  </a:lnTo>
                  <a:lnTo>
                    <a:pt x="566" y="493"/>
                  </a:lnTo>
                  <a:lnTo>
                    <a:pt x="574" y="467"/>
                  </a:lnTo>
                  <a:lnTo>
                    <a:pt x="581" y="441"/>
                  </a:lnTo>
                  <a:lnTo>
                    <a:pt x="586" y="414"/>
                  </a:lnTo>
                  <a:lnTo>
                    <a:pt x="591" y="389"/>
                  </a:lnTo>
                  <a:lnTo>
                    <a:pt x="594" y="363"/>
                  </a:lnTo>
                  <a:lnTo>
                    <a:pt x="597" y="337"/>
                  </a:lnTo>
                  <a:lnTo>
                    <a:pt x="598" y="312"/>
                  </a:lnTo>
                  <a:lnTo>
                    <a:pt x="598" y="288"/>
                  </a:lnTo>
                  <a:lnTo>
                    <a:pt x="598" y="263"/>
                  </a:lnTo>
                  <a:lnTo>
                    <a:pt x="596" y="238"/>
                  </a:lnTo>
                  <a:lnTo>
                    <a:pt x="592" y="215"/>
                  </a:lnTo>
                  <a:lnTo>
                    <a:pt x="589" y="192"/>
                  </a:lnTo>
                  <a:lnTo>
                    <a:pt x="584" y="172"/>
                  </a:lnTo>
                  <a:lnTo>
                    <a:pt x="578" y="152"/>
                  </a:lnTo>
                  <a:lnTo>
                    <a:pt x="571" y="134"/>
                  </a:lnTo>
                  <a:lnTo>
                    <a:pt x="563" y="116"/>
                  </a:lnTo>
                  <a:lnTo>
                    <a:pt x="555" y="100"/>
                  </a:lnTo>
                  <a:lnTo>
                    <a:pt x="546" y="85"/>
                  </a:lnTo>
                  <a:lnTo>
                    <a:pt x="541" y="78"/>
                  </a:lnTo>
                  <a:lnTo>
                    <a:pt x="537" y="72"/>
                  </a:lnTo>
                  <a:lnTo>
                    <a:pt x="532" y="66"/>
                  </a:lnTo>
                  <a:lnTo>
                    <a:pt x="528" y="60"/>
                  </a:lnTo>
                  <a:lnTo>
                    <a:pt x="522" y="54"/>
                  </a:lnTo>
                  <a:lnTo>
                    <a:pt x="517" y="48"/>
                  </a:lnTo>
                  <a:lnTo>
                    <a:pt x="511" y="43"/>
                  </a:lnTo>
                  <a:lnTo>
                    <a:pt x="506" y="38"/>
                  </a:lnTo>
                  <a:lnTo>
                    <a:pt x="500" y="34"/>
                  </a:lnTo>
                  <a:lnTo>
                    <a:pt x="494" y="30"/>
                  </a:lnTo>
                  <a:lnTo>
                    <a:pt x="488" y="25"/>
                  </a:lnTo>
                  <a:lnTo>
                    <a:pt x="483" y="22"/>
                  </a:lnTo>
                  <a:lnTo>
                    <a:pt x="476" y="19"/>
                  </a:lnTo>
                  <a:lnTo>
                    <a:pt x="470" y="16"/>
                  </a:lnTo>
                  <a:lnTo>
                    <a:pt x="464" y="14"/>
                  </a:lnTo>
                  <a:lnTo>
                    <a:pt x="457" y="12"/>
                  </a:lnTo>
                  <a:lnTo>
                    <a:pt x="452" y="9"/>
                  </a:lnTo>
                  <a:lnTo>
                    <a:pt x="445" y="7"/>
                  </a:lnTo>
                  <a:lnTo>
                    <a:pt x="439" y="5"/>
                  </a:lnTo>
                  <a:lnTo>
                    <a:pt x="432" y="4"/>
                  </a:lnTo>
                  <a:lnTo>
                    <a:pt x="426" y="2"/>
                  </a:lnTo>
                  <a:lnTo>
                    <a:pt x="419" y="1"/>
                  </a:lnTo>
                  <a:lnTo>
                    <a:pt x="414" y="0"/>
                  </a:lnTo>
                  <a:lnTo>
                    <a:pt x="407" y="0"/>
                  </a:lnTo>
                  <a:lnTo>
                    <a:pt x="400" y="0"/>
                  </a:lnTo>
                  <a:lnTo>
                    <a:pt x="393" y="0"/>
                  </a:lnTo>
                  <a:lnTo>
                    <a:pt x="386" y="0"/>
                  </a:lnTo>
                  <a:lnTo>
                    <a:pt x="380" y="0"/>
                  </a:lnTo>
                  <a:lnTo>
                    <a:pt x="373" y="0"/>
                  </a:lnTo>
                  <a:lnTo>
                    <a:pt x="366" y="1"/>
                  </a:lnTo>
                  <a:lnTo>
                    <a:pt x="359" y="2"/>
                  </a:lnTo>
                  <a:lnTo>
                    <a:pt x="352" y="4"/>
                  </a:lnTo>
                  <a:lnTo>
                    <a:pt x="346" y="5"/>
                  </a:lnTo>
                  <a:lnTo>
                    <a:pt x="339" y="7"/>
                  </a:lnTo>
                  <a:lnTo>
                    <a:pt x="332" y="8"/>
                  </a:lnTo>
                  <a:lnTo>
                    <a:pt x="326" y="11"/>
                  </a:lnTo>
                  <a:lnTo>
                    <a:pt x="319" y="13"/>
                  </a:lnTo>
                  <a:lnTo>
                    <a:pt x="312" y="16"/>
                  </a:lnTo>
                  <a:lnTo>
                    <a:pt x="305" y="19"/>
                  </a:lnTo>
                  <a:lnTo>
                    <a:pt x="298" y="21"/>
                  </a:lnTo>
                  <a:lnTo>
                    <a:pt x="291" y="24"/>
                  </a:lnTo>
                  <a:lnTo>
                    <a:pt x="284" y="28"/>
                  </a:lnTo>
                  <a:lnTo>
                    <a:pt x="278" y="31"/>
                  </a:lnTo>
                  <a:lnTo>
                    <a:pt x="272" y="35"/>
                  </a:lnTo>
                  <a:lnTo>
                    <a:pt x="265" y="39"/>
                  </a:lnTo>
                  <a:lnTo>
                    <a:pt x="258" y="44"/>
                  </a:lnTo>
                  <a:lnTo>
                    <a:pt x="251" y="48"/>
                  </a:lnTo>
                  <a:lnTo>
                    <a:pt x="244" y="53"/>
                  </a:lnTo>
                  <a:lnTo>
                    <a:pt x="231" y="62"/>
                  </a:lnTo>
                  <a:lnTo>
                    <a:pt x="219" y="73"/>
                  </a:lnTo>
                  <a:lnTo>
                    <a:pt x="206" y="83"/>
                  </a:lnTo>
                  <a:lnTo>
                    <a:pt x="195" y="95"/>
                  </a:lnTo>
                  <a:lnTo>
                    <a:pt x="182" y="106"/>
                  </a:lnTo>
                  <a:lnTo>
                    <a:pt x="170" y="119"/>
                  </a:lnTo>
                  <a:lnTo>
                    <a:pt x="160" y="131"/>
                  </a:lnTo>
                  <a:lnTo>
                    <a:pt x="149" y="144"/>
                  </a:lnTo>
                  <a:lnTo>
                    <a:pt x="138" y="157"/>
                  </a:lnTo>
                  <a:lnTo>
                    <a:pt x="129" y="170"/>
                  </a:lnTo>
                  <a:lnTo>
                    <a:pt x="119" y="184"/>
                  </a:lnTo>
                  <a:lnTo>
                    <a:pt x="109" y="199"/>
                  </a:lnTo>
                  <a:lnTo>
                    <a:pt x="101" y="213"/>
                  </a:lnTo>
                  <a:lnTo>
                    <a:pt x="92" y="228"/>
                  </a:lnTo>
                  <a:lnTo>
                    <a:pt x="84" y="244"/>
                  </a:lnTo>
                  <a:lnTo>
                    <a:pt x="76" y="259"/>
                  </a:lnTo>
                  <a:lnTo>
                    <a:pt x="68" y="274"/>
                  </a:lnTo>
                  <a:lnTo>
                    <a:pt x="61" y="290"/>
                  </a:lnTo>
                  <a:lnTo>
                    <a:pt x="54" y="306"/>
                  </a:lnTo>
                  <a:lnTo>
                    <a:pt x="48" y="321"/>
                  </a:lnTo>
                  <a:lnTo>
                    <a:pt x="43" y="339"/>
                  </a:lnTo>
                  <a:lnTo>
                    <a:pt x="37" y="355"/>
                  </a:lnTo>
                  <a:lnTo>
                    <a:pt x="31" y="371"/>
                  </a:lnTo>
                  <a:lnTo>
                    <a:pt x="26" y="388"/>
                  </a:lnTo>
                  <a:lnTo>
                    <a:pt x="17" y="421"/>
                  </a:lnTo>
                  <a:lnTo>
                    <a:pt x="10" y="456"/>
                  </a:lnTo>
                  <a:lnTo>
                    <a:pt x="5" y="490"/>
                  </a:lnTo>
                  <a:lnTo>
                    <a:pt x="1" y="526"/>
                  </a:lnTo>
                  <a:lnTo>
                    <a:pt x="0" y="545"/>
                  </a:lnTo>
                  <a:lnTo>
                    <a:pt x="0" y="562"/>
                  </a:lnTo>
                  <a:lnTo>
                    <a:pt x="0" y="579"/>
                  </a:lnTo>
                  <a:lnTo>
                    <a:pt x="1" y="596"/>
                  </a:lnTo>
                  <a:lnTo>
                    <a:pt x="2" y="612"/>
                  </a:lnTo>
                  <a:lnTo>
                    <a:pt x="3" y="629"/>
                  </a:lnTo>
                  <a:lnTo>
                    <a:pt x="6" y="645"/>
                  </a:lnTo>
                  <a:lnTo>
                    <a:pt x="9" y="660"/>
                  </a:lnTo>
                  <a:lnTo>
                    <a:pt x="13" y="675"/>
                  </a:lnTo>
                  <a:lnTo>
                    <a:pt x="16" y="690"/>
                  </a:lnTo>
                  <a:lnTo>
                    <a:pt x="21" y="704"/>
                  </a:lnTo>
                  <a:lnTo>
                    <a:pt x="25" y="718"/>
                  </a:lnTo>
                  <a:lnTo>
                    <a:pt x="31" y="732"/>
                  </a:lnTo>
                  <a:lnTo>
                    <a:pt x="37" y="745"/>
                  </a:lnTo>
                  <a:lnTo>
                    <a:pt x="44" y="757"/>
                  </a:lnTo>
                  <a:lnTo>
                    <a:pt x="51" y="770"/>
                  </a:lnTo>
                  <a:lnTo>
                    <a:pt x="54" y="776"/>
                  </a:lnTo>
                  <a:lnTo>
                    <a:pt x="59" y="782"/>
                  </a:lnTo>
                  <a:lnTo>
                    <a:pt x="63" y="787"/>
                  </a:lnTo>
                  <a:lnTo>
                    <a:pt x="67" y="792"/>
                  </a:lnTo>
                  <a:lnTo>
                    <a:pt x="71" y="798"/>
                  </a:lnTo>
                  <a:lnTo>
                    <a:pt x="76" y="802"/>
                  </a:lnTo>
                  <a:lnTo>
                    <a:pt x="81" y="807"/>
                  </a:lnTo>
                  <a:lnTo>
                    <a:pt x="85" y="812"/>
                  </a:lnTo>
                  <a:lnTo>
                    <a:pt x="90" y="816"/>
                  </a:lnTo>
                  <a:lnTo>
                    <a:pt x="96" y="821"/>
                  </a:lnTo>
                  <a:lnTo>
                    <a:pt x="100" y="825"/>
                  </a:lnTo>
                  <a:lnTo>
                    <a:pt x="106" y="829"/>
                  </a:lnTo>
                  <a:lnTo>
                    <a:pt x="112" y="832"/>
                  </a:lnTo>
                  <a:lnTo>
                    <a:pt x="117" y="836"/>
                  </a:lnTo>
                  <a:lnTo>
                    <a:pt x="123" y="839"/>
                  </a:lnTo>
                  <a:lnTo>
                    <a:pt x="129" y="843"/>
                  </a:lnTo>
                  <a:lnTo>
                    <a:pt x="135" y="846"/>
                  </a:lnTo>
                  <a:lnTo>
                    <a:pt x="142" y="848"/>
                  </a:lnTo>
                  <a:lnTo>
                    <a:pt x="147" y="851"/>
                  </a:lnTo>
                  <a:lnTo>
                    <a:pt x="154" y="853"/>
                  </a:lnTo>
                  <a:lnTo>
                    <a:pt x="161" y="855"/>
                  </a:lnTo>
                  <a:lnTo>
                    <a:pt x="168" y="856"/>
                  </a:lnTo>
                  <a:lnTo>
                    <a:pt x="175" y="858"/>
                  </a:lnTo>
                  <a:lnTo>
                    <a:pt x="182" y="859"/>
                  </a:lnTo>
                  <a:lnTo>
                    <a:pt x="189" y="860"/>
                  </a:lnTo>
                  <a:lnTo>
                    <a:pt x="197" y="860"/>
                  </a:lnTo>
                  <a:lnTo>
                    <a:pt x="205" y="860"/>
                  </a:lnTo>
                  <a:lnTo>
                    <a:pt x="212" y="860"/>
                  </a:lnTo>
                  <a:lnTo>
                    <a:pt x="220" y="859"/>
                  </a:lnTo>
                  <a:lnTo>
                    <a:pt x="228" y="858"/>
                  </a:lnTo>
                  <a:lnTo>
                    <a:pt x="236" y="856"/>
                  </a:lnTo>
                  <a:lnTo>
                    <a:pt x="244" y="85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" name="Freeform 11"/>
            <p:cNvSpPr/>
            <p:nvPr/>
          </p:nvSpPr>
          <p:spPr bwMode="auto">
            <a:xfrm>
              <a:off x="5037" y="397"/>
              <a:ext cx="514" cy="744"/>
            </a:xfrm>
            <a:custGeom>
              <a:avLst/>
              <a:gdLst>
                <a:gd name="T0" fmla="*/ 255 w 502"/>
                <a:gd name="T1" fmla="*/ 811 h 726"/>
                <a:gd name="T2" fmla="*/ 279 w 502"/>
                <a:gd name="T3" fmla="*/ 801 h 726"/>
                <a:gd name="T4" fmla="*/ 303 w 502"/>
                <a:gd name="T5" fmla="*/ 790 h 726"/>
                <a:gd name="T6" fmla="*/ 325 w 502"/>
                <a:gd name="T7" fmla="*/ 775 h 726"/>
                <a:gd name="T8" fmla="*/ 349 w 502"/>
                <a:gd name="T9" fmla="*/ 757 h 726"/>
                <a:gd name="T10" fmla="*/ 380 w 502"/>
                <a:gd name="T11" fmla="*/ 730 h 726"/>
                <a:gd name="T12" fmla="*/ 424 w 502"/>
                <a:gd name="T13" fmla="*/ 683 h 726"/>
                <a:gd name="T14" fmla="*/ 463 w 502"/>
                <a:gd name="T15" fmla="*/ 627 h 726"/>
                <a:gd name="T16" fmla="*/ 499 w 502"/>
                <a:gd name="T17" fmla="*/ 563 h 726"/>
                <a:gd name="T18" fmla="*/ 526 w 502"/>
                <a:gd name="T19" fmla="*/ 495 h 726"/>
                <a:gd name="T20" fmla="*/ 547 w 502"/>
                <a:gd name="T21" fmla="*/ 424 h 726"/>
                <a:gd name="T22" fmla="*/ 565 w 502"/>
                <a:gd name="T23" fmla="*/ 282 h 726"/>
                <a:gd name="T24" fmla="*/ 559 w 502"/>
                <a:gd name="T25" fmla="*/ 192 h 726"/>
                <a:gd name="T26" fmla="*/ 544 w 502"/>
                <a:gd name="T27" fmla="*/ 136 h 726"/>
                <a:gd name="T28" fmla="*/ 521 w 502"/>
                <a:gd name="T29" fmla="*/ 91 h 726"/>
                <a:gd name="T30" fmla="*/ 496 w 502"/>
                <a:gd name="T31" fmla="*/ 53 h 726"/>
                <a:gd name="T32" fmla="*/ 465 w 502"/>
                <a:gd name="T33" fmla="*/ 29 h 726"/>
                <a:gd name="T34" fmla="*/ 434 w 502"/>
                <a:gd name="T35" fmla="*/ 10 h 726"/>
                <a:gd name="T36" fmla="*/ 418 w 502"/>
                <a:gd name="T37" fmla="*/ 5 h 726"/>
                <a:gd name="T38" fmla="*/ 399 w 502"/>
                <a:gd name="T39" fmla="*/ 2 h 726"/>
                <a:gd name="T40" fmla="*/ 381 w 502"/>
                <a:gd name="T41" fmla="*/ 0 h 726"/>
                <a:gd name="T42" fmla="*/ 362 w 502"/>
                <a:gd name="T43" fmla="*/ 0 h 726"/>
                <a:gd name="T44" fmla="*/ 342 w 502"/>
                <a:gd name="T45" fmla="*/ 2 h 726"/>
                <a:gd name="T46" fmla="*/ 323 w 502"/>
                <a:gd name="T47" fmla="*/ 6 h 726"/>
                <a:gd name="T48" fmla="*/ 304 w 502"/>
                <a:gd name="T49" fmla="*/ 12 h 726"/>
                <a:gd name="T50" fmla="*/ 283 w 502"/>
                <a:gd name="T51" fmla="*/ 18 h 726"/>
                <a:gd name="T52" fmla="*/ 265 w 502"/>
                <a:gd name="T53" fmla="*/ 33 h 726"/>
                <a:gd name="T54" fmla="*/ 245 w 502"/>
                <a:gd name="T55" fmla="*/ 43 h 726"/>
                <a:gd name="T56" fmla="*/ 215 w 502"/>
                <a:gd name="T57" fmla="*/ 65 h 726"/>
                <a:gd name="T58" fmla="*/ 179 w 502"/>
                <a:gd name="T59" fmla="*/ 96 h 726"/>
                <a:gd name="T60" fmla="*/ 144 w 502"/>
                <a:gd name="T61" fmla="*/ 134 h 726"/>
                <a:gd name="T62" fmla="*/ 118 w 502"/>
                <a:gd name="T63" fmla="*/ 173 h 726"/>
                <a:gd name="T64" fmla="*/ 90 w 502"/>
                <a:gd name="T65" fmla="*/ 216 h 726"/>
                <a:gd name="T66" fmla="*/ 58 w 502"/>
                <a:gd name="T67" fmla="*/ 275 h 726"/>
                <a:gd name="T68" fmla="*/ 27 w 502"/>
                <a:gd name="T69" fmla="*/ 373 h 726"/>
                <a:gd name="T70" fmla="*/ 4 w 502"/>
                <a:gd name="T71" fmla="*/ 476 h 726"/>
                <a:gd name="T72" fmla="*/ 1 w 502"/>
                <a:gd name="T73" fmla="*/ 578 h 726"/>
                <a:gd name="T74" fmla="*/ 12 w 502"/>
                <a:gd name="T75" fmla="*/ 654 h 726"/>
                <a:gd name="T76" fmla="*/ 29 w 502"/>
                <a:gd name="T77" fmla="*/ 695 h 726"/>
                <a:gd name="T78" fmla="*/ 45 w 502"/>
                <a:gd name="T79" fmla="*/ 732 h 726"/>
                <a:gd name="T80" fmla="*/ 69 w 502"/>
                <a:gd name="T81" fmla="*/ 764 h 726"/>
                <a:gd name="T82" fmla="*/ 95 w 502"/>
                <a:gd name="T83" fmla="*/ 790 h 726"/>
                <a:gd name="T84" fmla="*/ 129 w 502"/>
                <a:gd name="T85" fmla="*/ 809 h 726"/>
                <a:gd name="T86" fmla="*/ 145 w 502"/>
                <a:gd name="T87" fmla="*/ 816 h 726"/>
                <a:gd name="T88" fmla="*/ 168 w 502"/>
                <a:gd name="T89" fmla="*/ 819 h 726"/>
                <a:gd name="T90" fmla="*/ 186 w 502"/>
                <a:gd name="T91" fmla="*/ 820 h 726"/>
                <a:gd name="T92" fmla="*/ 210 w 502"/>
                <a:gd name="T93" fmla="*/ 819 h 726"/>
                <a:gd name="T94" fmla="*/ 230 w 502"/>
                <a:gd name="T95" fmla="*/ 816 h 72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02"/>
                <a:gd name="T145" fmla="*/ 0 h 726"/>
                <a:gd name="T146" fmla="*/ 502 w 502"/>
                <a:gd name="T147" fmla="*/ 726 h 72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02" h="726">
                  <a:moveTo>
                    <a:pt x="212" y="720"/>
                  </a:moveTo>
                  <a:lnTo>
                    <a:pt x="219" y="718"/>
                  </a:lnTo>
                  <a:lnTo>
                    <a:pt x="226" y="717"/>
                  </a:lnTo>
                  <a:lnTo>
                    <a:pt x="233" y="715"/>
                  </a:lnTo>
                  <a:lnTo>
                    <a:pt x="241" y="711"/>
                  </a:lnTo>
                  <a:lnTo>
                    <a:pt x="248" y="709"/>
                  </a:lnTo>
                  <a:lnTo>
                    <a:pt x="255" y="705"/>
                  </a:lnTo>
                  <a:lnTo>
                    <a:pt x="262" y="702"/>
                  </a:lnTo>
                  <a:lnTo>
                    <a:pt x="269" y="699"/>
                  </a:lnTo>
                  <a:lnTo>
                    <a:pt x="276" y="694"/>
                  </a:lnTo>
                  <a:lnTo>
                    <a:pt x="282" y="691"/>
                  </a:lnTo>
                  <a:lnTo>
                    <a:pt x="289" y="686"/>
                  </a:lnTo>
                  <a:lnTo>
                    <a:pt x="296" y="680"/>
                  </a:lnTo>
                  <a:lnTo>
                    <a:pt x="303" y="676"/>
                  </a:lnTo>
                  <a:lnTo>
                    <a:pt x="310" y="670"/>
                  </a:lnTo>
                  <a:lnTo>
                    <a:pt x="317" y="664"/>
                  </a:lnTo>
                  <a:lnTo>
                    <a:pt x="324" y="658"/>
                  </a:lnTo>
                  <a:lnTo>
                    <a:pt x="338" y="646"/>
                  </a:lnTo>
                  <a:lnTo>
                    <a:pt x="350" y="633"/>
                  </a:lnTo>
                  <a:lnTo>
                    <a:pt x="364" y="619"/>
                  </a:lnTo>
                  <a:lnTo>
                    <a:pt x="377" y="604"/>
                  </a:lnTo>
                  <a:lnTo>
                    <a:pt x="388" y="588"/>
                  </a:lnTo>
                  <a:lnTo>
                    <a:pt x="400" y="571"/>
                  </a:lnTo>
                  <a:lnTo>
                    <a:pt x="411" y="555"/>
                  </a:lnTo>
                  <a:lnTo>
                    <a:pt x="422" y="536"/>
                  </a:lnTo>
                  <a:lnTo>
                    <a:pt x="432" y="518"/>
                  </a:lnTo>
                  <a:lnTo>
                    <a:pt x="443" y="498"/>
                  </a:lnTo>
                  <a:lnTo>
                    <a:pt x="452" y="479"/>
                  </a:lnTo>
                  <a:lnTo>
                    <a:pt x="460" y="459"/>
                  </a:lnTo>
                  <a:lnTo>
                    <a:pt x="468" y="438"/>
                  </a:lnTo>
                  <a:lnTo>
                    <a:pt x="475" y="418"/>
                  </a:lnTo>
                  <a:lnTo>
                    <a:pt x="481" y="397"/>
                  </a:lnTo>
                  <a:lnTo>
                    <a:pt x="486" y="375"/>
                  </a:lnTo>
                  <a:lnTo>
                    <a:pt x="496" y="333"/>
                  </a:lnTo>
                  <a:lnTo>
                    <a:pt x="501" y="291"/>
                  </a:lnTo>
                  <a:lnTo>
                    <a:pt x="502" y="250"/>
                  </a:lnTo>
                  <a:lnTo>
                    <a:pt x="501" y="208"/>
                  </a:lnTo>
                  <a:lnTo>
                    <a:pt x="499" y="189"/>
                  </a:lnTo>
                  <a:lnTo>
                    <a:pt x="497" y="170"/>
                  </a:lnTo>
                  <a:lnTo>
                    <a:pt x="492" y="153"/>
                  </a:lnTo>
                  <a:lnTo>
                    <a:pt x="488" y="137"/>
                  </a:lnTo>
                  <a:lnTo>
                    <a:pt x="483" y="121"/>
                  </a:lnTo>
                  <a:lnTo>
                    <a:pt x="477" y="107"/>
                  </a:lnTo>
                  <a:lnTo>
                    <a:pt x="470" y="93"/>
                  </a:lnTo>
                  <a:lnTo>
                    <a:pt x="463" y="81"/>
                  </a:lnTo>
                  <a:lnTo>
                    <a:pt x="456" y="69"/>
                  </a:lnTo>
                  <a:lnTo>
                    <a:pt x="448" y="59"/>
                  </a:lnTo>
                  <a:lnTo>
                    <a:pt x="440" y="48"/>
                  </a:lnTo>
                  <a:lnTo>
                    <a:pt x="431" y="39"/>
                  </a:lnTo>
                  <a:lnTo>
                    <a:pt x="422" y="32"/>
                  </a:lnTo>
                  <a:lnTo>
                    <a:pt x="413" y="24"/>
                  </a:lnTo>
                  <a:lnTo>
                    <a:pt x="402" y="18"/>
                  </a:lnTo>
                  <a:lnTo>
                    <a:pt x="392" y="13"/>
                  </a:lnTo>
                  <a:lnTo>
                    <a:pt x="386" y="10"/>
                  </a:lnTo>
                  <a:lnTo>
                    <a:pt x="382" y="8"/>
                  </a:lnTo>
                  <a:lnTo>
                    <a:pt x="376" y="7"/>
                  </a:lnTo>
                  <a:lnTo>
                    <a:pt x="371" y="5"/>
                  </a:lnTo>
                  <a:lnTo>
                    <a:pt x="365" y="3"/>
                  </a:lnTo>
                  <a:lnTo>
                    <a:pt x="361" y="2"/>
                  </a:lnTo>
                  <a:lnTo>
                    <a:pt x="355" y="2"/>
                  </a:lnTo>
                  <a:lnTo>
                    <a:pt x="349" y="1"/>
                  </a:lnTo>
                  <a:lnTo>
                    <a:pt x="343" y="0"/>
                  </a:lnTo>
                  <a:lnTo>
                    <a:pt x="339" y="0"/>
                  </a:lnTo>
                  <a:lnTo>
                    <a:pt x="333" y="0"/>
                  </a:lnTo>
                  <a:lnTo>
                    <a:pt x="327" y="0"/>
                  </a:lnTo>
                  <a:lnTo>
                    <a:pt x="322" y="0"/>
                  </a:lnTo>
                  <a:lnTo>
                    <a:pt x="316" y="1"/>
                  </a:lnTo>
                  <a:lnTo>
                    <a:pt x="310" y="1"/>
                  </a:lnTo>
                  <a:lnTo>
                    <a:pt x="304" y="2"/>
                  </a:lnTo>
                  <a:lnTo>
                    <a:pt x="299" y="3"/>
                  </a:lnTo>
                  <a:lnTo>
                    <a:pt x="293" y="5"/>
                  </a:lnTo>
                  <a:lnTo>
                    <a:pt x="287" y="6"/>
                  </a:lnTo>
                  <a:lnTo>
                    <a:pt x="281" y="7"/>
                  </a:lnTo>
                  <a:lnTo>
                    <a:pt x="276" y="9"/>
                  </a:lnTo>
                  <a:lnTo>
                    <a:pt x="270" y="12"/>
                  </a:lnTo>
                  <a:lnTo>
                    <a:pt x="264" y="14"/>
                  </a:lnTo>
                  <a:lnTo>
                    <a:pt x="258" y="16"/>
                  </a:lnTo>
                  <a:lnTo>
                    <a:pt x="252" y="18"/>
                  </a:lnTo>
                  <a:lnTo>
                    <a:pt x="247" y="22"/>
                  </a:lnTo>
                  <a:lnTo>
                    <a:pt x="241" y="24"/>
                  </a:lnTo>
                  <a:lnTo>
                    <a:pt x="235" y="28"/>
                  </a:lnTo>
                  <a:lnTo>
                    <a:pt x="229" y="31"/>
                  </a:lnTo>
                  <a:lnTo>
                    <a:pt x="224" y="35"/>
                  </a:lnTo>
                  <a:lnTo>
                    <a:pt x="218" y="38"/>
                  </a:lnTo>
                  <a:lnTo>
                    <a:pt x="212" y="41"/>
                  </a:lnTo>
                  <a:lnTo>
                    <a:pt x="201" y="49"/>
                  </a:lnTo>
                  <a:lnTo>
                    <a:pt x="190" y="58"/>
                  </a:lnTo>
                  <a:lnTo>
                    <a:pt x="180" y="67"/>
                  </a:lnTo>
                  <a:lnTo>
                    <a:pt x="170" y="76"/>
                  </a:lnTo>
                  <a:lnTo>
                    <a:pt x="159" y="86"/>
                  </a:lnTo>
                  <a:lnTo>
                    <a:pt x="149" y="97"/>
                  </a:lnTo>
                  <a:lnTo>
                    <a:pt x="138" y="107"/>
                  </a:lnTo>
                  <a:lnTo>
                    <a:pt x="129" y="119"/>
                  </a:lnTo>
                  <a:lnTo>
                    <a:pt x="120" y="130"/>
                  </a:lnTo>
                  <a:lnTo>
                    <a:pt x="112" y="142"/>
                  </a:lnTo>
                  <a:lnTo>
                    <a:pt x="104" y="153"/>
                  </a:lnTo>
                  <a:lnTo>
                    <a:pt x="96" y="166"/>
                  </a:lnTo>
                  <a:lnTo>
                    <a:pt x="88" y="178"/>
                  </a:lnTo>
                  <a:lnTo>
                    <a:pt x="80" y="191"/>
                  </a:lnTo>
                  <a:lnTo>
                    <a:pt x="73" y="204"/>
                  </a:lnTo>
                  <a:lnTo>
                    <a:pt x="66" y="218"/>
                  </a:lnTo>
                  <a:lnTo>
                    <a:pt x="53" y="244"/>
                  </a:lnTo>
                  <a:lnTo>
                    <a:pt x="42" y="273"/>
                  </a:lnTo>
                  <a:lnTo>
                    <a:pt x="31" y="302"/>
                  </a:lnTo>
                  <a:lnTo>
                    <a:pt x="22" y="330"/>
                  </a:lnTo>
                  <a:lnTo>
                    <a:pt x="14" y="360"/>
                  </a:lnTo>
                  <a:lnTo>
                    <a:pt x="8" y="390"/>
                  </a:lnTo>
                  <a:lnTo>
                    <a:pt x="4" y="421"/>
                  </a:lnTo>
                  <a:lnTo>
                    <a:pt x="1" y="451"/>
                  </a:lnTo>
                  <a:lnTo>
                    <a:pt x="0" y="482"/>
                  </a:lnTo>
                  <a:lnTo>
                    <a:pt x="1" y="511"/>
                  </a:lnTo>
                  <a:lnTo>
                    <a:pt x="5" y="540"/>
                  </a:lnTo>
                  <a:lnTo>
                    <a:pt x="9" y="566"/>
                  </a:lnTo>
                  <a:lnTo>
                    <a:pt x="12" y="579"/>
                  </a:lnTo>
                  <a:lnTo>
                    <a:pt x="15" y="592"/>
                  </a:lnTo>
                  <a:lnTo>
                    <a:pt x="20" y="603"/>
                  </a:lnTo>
                  <a:lnTo>
                    <a:pt x="24" y="615"/>
                  </a:lnTo>
                  <a:lnTo>
                    <a:pt x="29" y="626"/>
                  </a:lnTo>
                  <a:lnTo>
                    <a:pt x="35" y="638"/>
                  </a:lnTo>
                  <a:lnTo>
                    <a:pt x="40" y="648"/>
                  </a:lnTo>
                  <a:lnTo>
                    <a:pt x="46" y="657"/>
                  </a:lnTo>
                  <a:lnTo>
                    <a:pt x="53" y="666"/>
                  </a:lnTo>
                  <a:lnTo>
                    <a:pt x="61" y="676"/>
                  </a:lnTo>
                  <a:lnTo>
                    <a:pt x="69" y="684"/>
                  </a:lnTo>
                  <a:lnTo>
                    <a:pt x="77" y="692"/>
                  </a:lnTo>
                  <a:lnTo>
                    <a:pt x="85" y="699"/>
                  </a:lnTo>
                  <a:lnTo>
                    <a:pt x="95" y="704"/>
                  </a:lnTo>
                  <a:lnTo>
                    <a:pt x="105" y="710"/>
                  </a:lnTo>
                  <a:lnTo>
                    <a:pt x="114" y="715"/>
                  </a:lnTo>
                  <a:lnTo>
                    <a:pt x="120" y="717"/>
                  </a:lnTo>
                  <a:lnTo>
                    <a:pt x="125" y="719"/>
                  </a:lnTo>
                  <a:lnTo>
                    <a:pt x="130" y="722"/>
                  </a:lnTo>
                  <a:lnTo>
                    <a:pt x="136" y="723"/>
                  </a:lnTo>
                  <a:lnTo>
                    <a:pt x="142" y="724"/>
                  </a:lnTo>
                  <a:lnTo>
                    <a:pt x="148" y="725"/>
                  </a:lnTo>
                  <a:lnTo>
                    <a:pt x="153" y="726"/>
                  </a:lnTo>
                  <a:lnTo>
                    <a:pt x="159" y="726"/>
                  </a:lnTo>
                  <a:lnTo>
                    <a:pt x="166" y="726"/>
                  </a:lnTo>
                  <a:lnTo>
                    <a:pt x="172" y="726"/>
                  </a:lnTo>
                  <a:lnTo>
                    <a:pt x="179" y="726"/>
                  </a:lnTo>
                  <a:lnTo>
                    <a:pt x="186" y="725"/>
                  </a:lnTo>
                  <a:lnTo>
                    <a:pt x="191" y="725"/>
                  </a:lnTo>
                  <a:lnTo>
                    <a:pt x="198" y="724"/>
                  </a:lnTo>
                  <a:lnTo>
                    <a:pt x="205" y="722"/>
                  </a:lnTo>
                  <a:lnTo>
                    <a:pt x="212" y="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" name="Freeform 12"/>
            <p:cNvSpPr/>
            <p:nvPr/>
          </p:nvSpPr>
          <p:spPr bwMode="auto">
            <a:xfrm>
              <a:off x="5070" y="461"/>
              <a:ext cx="419" cy="607"/>
            </a:xfrm>
            <a:custGeom>
              <a:avLst/>
              <a:gdLst>
                <a:gd name="T0" fmla="*/ 215 w 409"/>
                <a:gd name="T1" fmla="*/ 652 h 594"/>
                <a:gd name="T2" fmla="*/ 240 w 409"/>
                <a:gd name="T3" fmla="*/ 640 h 594"/>
                <a:gd name="T4" fmla="*/ 265 w 409"/>
                <a:gd name="T5" fmla="*/ 624 h 594"/>
                <a:gd name="T6" fmla="*/ 289 w 409"/>
                <a:gd name="T7" fmla="*/ 606 h 594"/>
                <a:gd name="T8" fmla="*/ 312 w 409"/>
                <a:gd name="T9" fmla="*/ 585 h 594"/>
                <a:gd name="T10" fmla="*/ 336 w 409"/>
                <a:gd name="T11" fmla="*/ 560 h 594"/>
                <a:gd name="T12" fmla="*/ 359 w 409"/>
                <a:gd name="T13" fmla="*/ 532 h 594"/>
                <a:gd name="T14" fmla="*/ 379 w 409"/>
                <a:gd name="T15" fmla="*/ 503 h 594"/>
                <a:gd name="T16" fmla="*/ 406 w 409"/>
                <a:gd name="T17" fmla="*/ 452 h 594"/>
                <a:gd name="T18" fmla="*/ 435 w 409"/>
                <a:gd name="T19" fmla="*/ 383 h 594"/>
                <a:gd name="T20" fmla="*/ 454 w 409"/>
                <a:gd name="T21" fmla="*/ 307 h 594"/>
                <a:gd name="T22" fmla="*/ 461 w 409"/>
                <a:gd name="T23" fmla="*/ 234 h 594"/>
                <a:gd name="T24" fmla="*/ 456 w 409"/>
                <a:gd name="T25" fmla="*/ 161 h 594"/>
                <a:gd name="T26" fmla="*/ 441 w 409"/>
                <a:gd name="T27" fmla="*/ 103 h 594"/>
                <a:gd name="T28" fmla="*/ 422 w 409"/>
                <a:gd name="T29" fmla="*/ 67 h 594"/>
                <a:gd name="T30" fmla="*/ 409 w 409"/>
                <a:gd name="T31" fmla="*/ 50 h 594"/>
                <a:gd name="T32" fmla="*/ 393 w 409"/>
                <a:gd name="T33" fmla="*/ 35 h 594"/>
                <a:gd name="T34" fmla="*/ 376 w 409"/>
                <a:gd name="T35" fmla="*/ 18 h 594"/>
                <a:gd name="T36" fmla="*/ 357 w 409"/>
                <a:gd name="T37" fmla="*/ 10 h 594"/>
                <a:gd name="T38" fmla="*/ 339 w 409"/>
                <a:gd name="T39" fmla="*/ 5 h 594"/>
                <a:gd name="T40" fmla="*/ 318 w 409"/>
                <a:gd name="T41" fmla="*/ 1 h 594"/>
                <a:gd name="T42" fmla="*/ 297 w 409"/>
                <a:gd name="T43" fmla="*/ 0 h 594"/>
                <a:gd name="T44" fmla="*/ 276 w 409"/>
                <a:gd name="T45" fmla="*/ 2 h 594"/>
                <a:gd name="T46" fmla="*/ 257 w 409"/>
                <a:gd name="T47" fmla="*/ 8 h 594"/>
                <a:gd name="T48" fmla="*/ 233 w 409"/>
                <a:gd name="T49" fmla="*/ 15 h 594"/>
                <a:gd name="T50" fmla="*/ 214 w 409"/>
                <a:gd name="T51" fmla="*/ 30 h 594"/>
                <a:gd name="T52" fmla="*/ 190 w 409"/>
                <a:gd name="T53" fmla="*/ 43 h 594"/>
                <a:gd name="T54" fmla="*/ 170 w 409"/>
                <a:gd name="T55" fmla="*/ 57 h 594"/>
                <a:gd name="T56" fmla="*/ 149 w 409"/>
                <a:gd name="T57" fmla="*/ 77 h 594"/>
                <a:gd name="T58" fmla="*/ 132 w 409"/>
                <a:gd name="T59" fmla="*/ 95 h 594"/>
                <a:gd name="T60" fmla="*/ 115 w 409"/>
                <a:gd name="T61" fmla="*/ 114 h 594"/>
                <a:gd name="T62" fmla="*/ 97 w 409"/>
                <a:gd name="T63" fmla="*/ 138 h 594"/>
                <a:gd name="T64" fmla="*/ 83 w 409"/>
                <a:gd name="T65" fmla="*/ 159 h 594"/>
                <a:gd name="T66" fmla="*/ 70 w 409"/>
                <a:gd name="T67" fmla="*/ 186 h 594"/>
                <a:gd name="T68" fmla="*/ 48 w 409"/>
                <a:gd name="T69" fmla="*/ 223 h 594"/>
                <a:gd name="T70" fmla="*/ 30 w 409"/>
                <a:gd name="T71" fmla="*/ 276 h 594"/>
                <a:gd name="T72" fmla="*/ 11 w 409"/>
                <a:gd name="T73" fmla="*/ 333 h 594"/>
                <a:gd name="T74" fmla="*/ 3 w 409"/>
                <a:gd name="T75" fmla="*/ 389 h 594"/>
                <a:gd name="T76" fmla="*/ 0 w 409"/>
                <a:gd name="T77" fmla="*/ 445 h 594"/>
                <a:gd name="T78" fmla="*/ 4 w 409"/>
                <a:gd name="T79" fmla="*/ 499 h 594"/>
                <a:gd name="T80" fmla="*/ 15 w 409"/>
                <a:gd name="T81" fmla="*/ 546 h 594"/>
                <a:gd name="T82" fmla="*/ 36 w 409"/>
                <a:gd name="T83" fmla="*/ 588 h 594"/>
                <a:gd name="T84" fmla="*/ 52 w 409"/>
                <a:gd name="T85" fmla="*/ 614 h 594"/>
                <a:gd name="T86" fmla="*/ 66 w 409"/>
                <a:gd name="T87" fmla="*/ 628 h 594"/>
                <a:gd name="T88" fmla="*/ 84 w 409"/>
                <a:gd name="T89" fmla="*/ 641 h 594"/>
                <a:gd name="T90" fmla="*/ 101 w 409"/>
                <a:gd name="T91" fmla="*/ 650 h 594"/>
                <a:gd name="T92" fmla="*/ 123 w 409"/>
                <a:gd name="T93" fmla="*/ 657 h 594"/>
                <a:gd name="T94" fmla="*/ 141 w 409"/>
                <a:gd name="T95" fmla="*/ 662 h 594"/>
                <a:gd name="T96" fmla="*/ 166 w 409"/>
                <a:gd name="T97" fmla="*/ 662 h 594"/>
                <a:gd name="T98" fmla="*/ 187 w 409"/>
                <a:gd name="T99" fmla="*/ 657 h 59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09"/>
                <a:gd name="T151" fmla="*/ 0 h 594"/>
                <a:gd name="T152" fmla="*/ 409 w 409"/>
                <a:gd name="T153" fmla="*/ 594 h 59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09" h="594">
                  <a:moveTo>
                    <a:pt x="178" y="588"/>
                  </a:moveTo>
                  <a:lnTo>
                    <a:pt x="190" y="585"/>
                  </a:lnTo>
                  <a:lnTo>
                    <a:pt x="201" y="580"/>
                  </a:lnTo>
                  <a:lnTo>
                    <a:pt x="213" y="574"/>
                  </a:lnTo>
                  <a:lnTo>
                    <a:pt x="224" y="567"/>
                  </a:lnTo>
                  <a:lnTo>
                    <a:pt x="235" y="560"/>
                  </a:lnTo>
                  <a:lnTo>
                    <a:pt x="246" y="552"/>
                  </a:lnTo>
                  <a:lnTo>
                    <a:pt x="256" y="544"/>
                  </a:lnTo>
                  <a:lnTo>
                    <a:pt x="267" y="535"/>
                  </a:lnTo>
                  <a:lnTo>
                    <a:pt x="277" y="525"/>
                  </a:lnTo>
                  <a:lnTo>
                    <a:pt x="288" y="514"/>
                  </a:lnTo>
                  <a:lnTo>
                    <a:pt x="298" y="503"/>
                  </a:lnTo>
                  <a:lnTo>
                    <a:pt x="308" y="490"/>
                  </a:lnTo>
                  <a:lnTo>
                    <a:pt x="318" y="478"/>
                  </a:lnTo>
                  <a:lnTo>
                    <a:pt x="327" y="465"/>
                  </a:lnTo>
                  <a:lnTo>
                    <a:pt x="336" y="451"/>
                  </a:lnTo>
                  <a:lnTo>
                    <a:pt x="344" y="436"/>
                  </a:lnTo>
                  <a:lnTo>
                    <a:pt x="360" y="406"/>
                  </a:lnTo>
                  <a:lnTo>
                    <a:pt x="374" y="375"/>
                  </a:lnTo>
                  <a:lnTo>
                    <a:pt x="386" y="343"/>
                  </a:lnTo>
                  <a:lnTo>
                    <a:pt x="395" y="310"/>
                  </a:lnTo>
                  <a:lnTo>
                    <a:pt x="402" y="276"/>
                  </a:lnTo>
                  <a:lnTo>
                    <a:pt x="406" y="243"/>
                  </a:lnTo>
                  <a:lnTo>
                    <a:pt x="409" y="209"/>
                  </a:lnTo>
                  <a:lnTo>
                    <a:pt x="407" y="176"/>
                  </a:lnTo>
                  <a:lnTo>
                    <a:pt x="404" y="146"/>
                  </a:lnTo>
                  <a:lnTo>
                    <a:pt x="398" y="119"/>
                  </a:lnTo>
                  <a:lnTo>
                    <a:pt x="390" y="93"/>
                  </a:lnTo>
                  <a:lnTo>
                    <a:pt x="380" y="71"/>
                  </a:lnTo>
                  <a:lnTo>
                    <a:pt x="374" y="62"/>
                  </a:lnTo>
                  <a:lnTo>
                    <a:pt x="368" y="53"/>
                  </a:lnTo>
                  <a:lnTo>
                    <a:pt x="362" y="45"/>
                  </a:lnTo>
                  <a:lnTo>
                    <a:pt x="356" y="37"/>
                  </a:lnTo>
                  <a:lnTo>
                    <a:pt x="348" y="30"/>
                  </a:lnTo>
                  <a:lnTo>
                    <a:pt x="341" y="24"/>
                  </a:lnTo>
                  <a:lnTo>
                    <a:pt x="333" y="18"/>
                  </a:lnTo>
                  <a:lnTo>
                    <a:pt x="324" y="14"/>
                  </a:lnTo>
                  <a:lnTo>
                    <a:pt x="316" y="10"/>
                  </a:lnTo>
                  <a:lnTo>
                    <a:pt x="308" y="7"/>
                  </a:lnTo>
                  <a:lnTo>
                    <a:pt x="300" y="5"/>
                  </a:lnTo>
                  <a:lnTo>
                    <a:pt x="291" y="2"/>
                  </a:lnTo>
                  <a:lnTo>
                    <a:pt x="282" y="1"/>
                  </a:lnTo>
                  <a:lnTo>
                    <a:pt x="273" y="0"/>
                  </a:lnTo>
                  <a:lnTo>
                    <a:pt x="263" y="0"/>
                  </a:lnTo>
                  <a:lnTo>
                    <a:pt x="254" y="1"/>
                  </a:lnTo>
                  <a:lnTo>
                    <a:pt x="245" y="2"/>
                  </a:lnTo>
                  <a:lnTo>
                    <a:pt x="236" y="5"/>
                  </a:lnTo>
                  <a:lnTo>
                    <a:pt x="227" y="8"/>
                  </a:lnTo>
                  <a:lnTo>
                    <a:pt x="217" y="12"/>
                  </a:lnTo>
                  <a:lnTo>
                    <a:pt x="207" y="15"/>
                  </a:lnTo>
                  <a:lnTo>
                    <a:pt x="198" y="20"/>
                  </a:lnTo>
                  <a:lnTo>
                    <a:pt x="189" y="25"/>
                  </a:lnTo>
                  <a:lnTo>
                    <a:pt x="178" y="31"/>
                  </a:lnTo>
                  <a:lnTo>
                    <a:pt x="169" y="38"/>
                  </a:lnTo>
                  <a:lnTo>
                    <a:pt x="160" y="45"/>
                  </a:lnTo>
                  <a:lnTo>
                    <a:pt x="150" y="52"/>
                  </a:lnTo>
                  <a:lnTo>
                    <a:pt x="142" y="60"/>
                  </a:lnTo>
                  <a:lnTo>
                    <a:pt x="133" y="68"/>
                  </a:lnTo>
                  <a:lnTo>
                    <a:pt x="125" y="76"/>
                  </a:lnTo>
                  <a:lnTo>
                    <a:pt x="117" y="85"/>
                  </a:lnTo>
                  <a:lnTo>
                    <a:pt x="109" y="94"/>
                  </a:lnTo>
                  <a:lnTo>
                    <a:pt x="101" y="104"/>
                  </a:lnTo>
                  <a:lnTo>
                    <a:pt x="94" y="113"/>
                  </a:lnTo>
                  <a:lnTo>
                    <a:pt x="87" y="123"/>
                  </a:lnTo>
                  <a:lnTo>
                    <a:pt x="80" y="133"/>
                  </a:lnTo>
                  <a:lnTo>
                    <a:pt x="73" y="144"/>
                  </a:lnTo>
                  <a:lnTo>
                    <a:pt x="66" y="155"/>
                  </a:lnTo>
                  <a:lnTo>
                    <a:pt x="61" y="166"/>
                  </a:lnTo>
                  <a:lnTo>
                    <a:pt x="55" y="177"/>
                  </a:lnTo>
                  <a:lnTo>
                    <a:pt x="43" y="200"/>
                  </a:lnTo>
                  <a:lnTo>
                    <a:pt x="34" y="223"/>
                  </a:lnTo>
                  <a:lnTo>
                    <a:pt x="25" y="247"/>
                  </a:lnTo>
                  <a:lnTo>
                    <a:pt x="18" y="273"/>
                  </a:lnTo>
                  <a:lnTo>
                    <a:pt x="11" y="298"/>
                  </a:lnTo>
                  <a:lnTo>
                    <a:pt x="6" y="323"/>
                  </a:lnTo>
                  <a:lnTo>
                    <a:pt x="3" y="349"/>
                  </a:lnTo>
                  <a:lnTo>
                    <a:pt x="1" y="374"/>
                  </a:lnTo>
                  <a:lnTo>
                    <a:pt x="0" y="399"/>
                  </a:lnTo>
                  <a:lnTo>
                    <a:pt x="2" y="424"/>
                  </a:lnTo>
                  <a:lnTo>
                    <a:pt x="4" y="448"/>
                  </a:lnTo>
                  <a:lnTo>
                    <a:pt x="9" y="470"/>
                  </a:lnTo>
                  <a:lnTo>
                    <a:pt x="15" y="490"/>
                  </a:lnTo>
                  <a:lnTo>
                    <a:pt x="21" y="510"/>
                  </a:lnTo>
                  <a:lnTo>
                    <a:pt x="31" y="527"/>
                  </a:lnTo>
                  <a:lnTo>
                    <a:pt x="41" y="543"/>
                  </a:lnTo>
                  <a:lnTo>
                    <a:pt x="47" y="551"/>
                  </a:lnTo>
                  <a:lnTo>
                    <a:pt x="53" y="558"/>
                  </a:lnTo>
                  <a:lnTo>
                    <a:pt x="59" y="564"/>
                  </a:lnTo>
                  <a:lnTo>
                    <a:pt x="66" y="570"/>
                  </a:lnTo>
                  <a:lnTo>
                    <a:pt x="74" y="575"/>
                  </a:lnTo>
                  <a:lnTo>
                    <a:pt x="83" y="580"/>
                  </a:lnTo>
                  <a:lnTo>
                    <a:pt x="91" y="583"/>
                  </a:lnTo>
                  <a:lnTo>
                    <a:pt x="99" y="587"/>
                  </a:lnTo>
                  <a:lnTo>
                    <a:pt x="108" y="590"/>
                  </a:lnTo>
                  <a:lnTo>
                    <a:pt x="117" y="593"/>
                  </a:lnTo>
                  <a:lnTo>
                    <a:pt x="126" y="594"/>
                  </a:lnTo>
                  <a:lnTo>
                    <a:pt x="136" y="594"/>
                  </a:lnTo>
                  <a:lnTo>
                    <a:pt x="146" y="594"/>
                  </a:lnTo>
                  <a:lnTo>
                    <a:pt x="156" y="593"/>
                  </a:lnTo>
                  <a:lnTo>
                    <a:pt x="167" y="590"/>
                  </a:lnTo>
                  <a:lnTo>
                    <a:pt x="178" y="58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Freeform 13"/>
            <p:cNvSpPr/>
            <p:nvPr/>
          </p:nvSpPr>
          <p:spPr bwMode="auto">
            <a:xfrm>
              <a:off x="5107" y="524"/>
              <a:ext cx="325" cy="472"/>
            </a:xfrm>
            <a:custGeom>
              <a:avLst/>
              <a:gdLst>
                <a:gd name="T0" fmla="*/ 171 w 317"/>
                <a:gd name="T1" fmla="*/ 500 h 463"/>
                <a:gd name="T2" fmla="*/ 190 w 317"/>
                <a:gd name="T3" fmla="*/ 491 h 463"/>
                <a:gd name="T4" fmla="*/ 211 w 317"/>
                <a:gd name="T5" fmla="*/ 478 h 463"/>
                <a:gd name="T6" fmla="*/ 230 w 317"/>
                <a:gd name="T7" fmla="*/ 463 h 463"/>
                <a:gd name="T8" fmla="*/ 249 w 317"/>
                <a:gd name="T9" fmla="*/ 445 h 463"/>
                <a:gd name="T10" fmla="*/ 265 w 317"/>
                <a:gd name="T11" fmla="*/ 428 h 463"/>
                <a:gd name="T12" fmla="*/ 281 w 317"/>
                <a:gd name="T13" fmla="*/ 407 h 463"/>
                <a:gd name="T14" fmla="*/ 297 w 317"/>
                <a:gd name="T15" fmla="*/ 384 h 463"/>
                <a:gd name="T16" fmla="*/ 317 w 317"/>
                <a:gd name="T17" fmla="*/ 345 h 463"/>
                <a:gd name="T18" fmla="*/ 340 w 317"/>
                <a:gd name="T19" fmla="*/ 293 h 463"/>
                <a:gd name="T20" fmla="*/ 355 w 317"/>
                <a:gd name="T21" fmla="*/ 238 h 463"/>
                <a:gd name="T22" fmla="*/ 359 w 317"/>
                <a:gd name="T23" fmla="*/ 181 h 463"/>
                <a:gd name="T24" fmla="*/ 357 w 317"/>
                <a:gd name="T25" fmla="*/ 128 h 463"/>
                <a:gd name="T26" fmla="*/ 347 w 317"/>
                <a:gd name="T27" fmla="*/ 86 h 463"/>
                <a:gd name="T28" fmla="*/ 333 w 317"/>
                <a:gd name="T29" fmla="*/ 57 h 463"/>
                <a:gd name="T30" fmla="*/ 323 w 317"/>
                <a:gd name="T31" fmla="*/ 43 h 463"/>
                <a:gd name="T32" fmla="*/ 310 w 317"/>
                <a:gd name="T33" fmla="*/ 32 h 463"/>
                <a:gd name="T34" fmla="*/ 298 w 317"/>
                <a:gd name="T35" fmla="*/ 17 h 463"/>
                <a:gd name="T36" fmla="*/ 284 w 317"/>
                <a:gd name="T37" fmla="*/ 9 h 463"/>
                <a:gd name="T38" fmla="*/ 269 w 317"/>
                <a:gd name="T39" fmla="*/ 5 h 463"/>
                <a:gd name="T40" fmla="*/ 255 w 317"/>
                <a:gd name="T41" fmla="*/ 1 h 463"/>
                <a:gd name="T42" fmla="*/ 238 w 317"/>
                <a:gd name="T43" fmla="*/ 0 h 463"/>
                <a:gd name="T44" fmla="*/ 221 w 317"/>
                <a:gd name="T45" fmla="*/ 1 h 463"/>
                <a:gd name="T46" fmla="*/ 206 w 317"/>
                <a:gd name="T47" fmla="*/ 5 h 463"/>
                <a:gd name="T48" fmla="*/ 187 w 317"/>
                <a:gd name="T49" fmla="*/ 10 h 463"/>
                <a:gd name="T50" fmla="*/ 171 w 317"/>
                <a:gd name="T51" fmla="*/ 17 h 463"/>
                <a:gd name="T52" fmla="*/ 144 w 317"/>
                <a:gd name="T53" fmla="*/ 37 h 463"/>
                <a:gd name="T54" fmla="*/ 116 w 317"/>
                <a:gd name="T55" fmla="*/ 62 h 463"/>
                <a:gd name="T56" fmla="*/ 85 w 317"/>
                <a:gd name="T57" fmla="*/ 95 h 463"/>
                <a:gd name="T58" fmla="*/ 58 w 317"/>
                <a:gd name="T59" fmla="*/ 130 h 463"/>
                <a:gd name="T60" fmla="*/ 40 w 317"/>
                <a:gd name="T61" fmla="*/ 171 h 463"/>
                <a:gd name="T62" fmla="*/ 25 w 317"/>
                <a:gd name="T63" fmla="*/ 213 h 463"/>
                <a:gd name="T64" fmla="*/ 8 w 317"/>
                <a:gd name="T65" fmla="*/ 259 h 463"/>
                <a:gd name="T66" fmla="*/ 1 w 317"/>
                <a:gd name="T67" fmla="*/ 302 h 463"/>
                <a:gd name="T68" fmla="*/ 0 w 317"/>
                <a:gd name="T69" fmla="*/ 346 h 463"/>
                <a:gd name="T70" fmla="*/ 4 w 317"/>
                <a:gd name="T71" fmla="*/ 388 h 463"/>
                <a:gd name="T72" fmla="*/ 13 w 317"/>
                <a:gd name="T73" fmla="*/ 427 h 463"/>
                <a:gd name="T74" fmla="*/ 32 w 317"/>
                <a:gd name="T75" fmla="*/ 458 h 463"/>
                <a:gd name="T76" fmla="*/ 44 w 317"/>
                <a:gd name="T77" fmla="*/ 477 h 463"/>
                <a:gd name="T78" fmla="*/ 55 w 317"/>
                <a:gd name="T79" fmla="*/ 488 h 463"/>
                <a:gd name="T80" fmla="*/ 71 w 317"/>
                <a:gd name="T81" fmla="*/ 496 h 463"/>
                <a:gd name="T82" fmla="*/ 84 w 317"/>
                <a:gd name="T83" fmla="*/ 503 h 463"/>
                <a:gd name="T84" fmla="*/ 98 w 317"/>
                <a:gd name="T85" fmla="*/ 509 h 463"/>
                <a:gd name="T86" fmla="*/ 118 w 317"/>
                <a:gd name="T87" fmla="*/ 510 h 463"/>
                <a:gd name="T88" fmla="*/ 133 w 317"/>
                <a:gd name="T89" fmla="*/ 510 h 463"/>
                <a:gd name="T90" fmla="*/ 153 w 317"/>
                <a:gd name="T91" fmla="*/ 505 h 46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17"/>
                <a:gd name="T139" fmla="*/ 0 h 463"/>
                <a:gd name="T140" fmla="*/ 317 w 317"/>
                <a:gd name="T141" fmla="*/ 463 h 46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17" h="463">
                  <a:moveTo>
                    <a:pt x="143" y="457"/>
                  </a:moveTo>
                  <a:lnTo>
                    <a:pt x="151" y="454"/>
                  </a:lnTo>
                  <a:lnTo>
                    <a:pt x="160" y="450"/>
                  </a:lnTo>
                  <a:lnTo>
                    <a:pt x="168" y="446"/>
                  </a:lnTo>
                  <a:lnTo>
                    <a:pt x="178" y="440"/>
                  </a:lnTo>
                  <a:lnTo>
                    <a:pt x="186" y="434"/>
                  </a:lnTo>
                  <a:lnTo>
                    <a:pt x="195" y="428"/>
                  </a:lnTo>
                  <a:lnTo>
                    <a:pt x="203" y="421"/>
                  </a:lnTo>
                  <a:lnTo>
                    <a:pt x="211" y="413"/>
                  </a:lnTo>
                  <a:lnTo>
                    <a:pt x="219" y="405"/>
                  </a:lnTo>
                  <a:lnTo>
                    <a:pt x="226" y="397"/>
                  </a:lnTo>
                  <a:lnTo>
                    <a:pt x="234" y="388"/>
                  </a:lnTo>
                  <a:lnTo>
                    <a:pt x="241" y="379"/>
                  </a:lnTo>
                  <a:lnTo>
                    <a:pt x="248" y="370"/>
                  </a:lnTo>
                  <a:lnTo>
                    <a:pt x="255" y="359"/>
                  </a:lnTo>
                  <a:lnTo>
                    <a:pt x="262" y="349"/>
                  </a:lnTo>
                  <a:lnTo>
                    <a:pt x="269" y="337"/>
                  </a:lnTo>
                  <a:lnTo>
                    <a:pt x="280" y="314"/>
                  </a:lnTo>
                  <a:lnTo>
                    <a:pt x="291" y="291"/>
                  </a:lnTo>
                  <a:lnTo>
                    <a:pt x="300" y="267"/>
                  </a:lnTo>
                  <a:lnTo>
                    <a:pt x="307" y="242"/>
                  </a:lnTo>
                  <a:lnTo>
                    <a:pt x="313" y="217"/>
                  </a:lnTo>
                  <a:lnTo>
                    <a:pt x="316" y="191"/>
                  </a:lnTo>
                  <a:lnTo>
                    <a:pt x="317" y="166"/>
                  </a:lnTo>
                  <a:lnTo>
                    <a:pt x="317" y="141"/>
                  </a:lnTo>
                  <a:lnTo>
                    <a:pt x="315" y="118"/>
                  </a:lnTo>
                  <a:lnTo>
                    <a:pt x="311" y="97"/>
                  </a:lnTo>
                  <a:lnTo>
                    <a:pt x="306" y="77"/>
                  </a:lnTo>
                  <a:lnTo>
                    <a:pt x="299" y="60"/>
                  </a:lnTo>
                  <a:lnTo>
                    <a:pt x="294" y="52"/>
                  </a:lnTo>
                  <a:lnTo>
                    <a:pt x="291" y="45"/>
                  </a:lnTo>
                  <a:lnTo>
                    <a:pt x="285" y="38"/>
                  </a:lnTo>
                  <a:lnTo>
                    <a:pt x="280" y="32"/>
                  </a:lnTo>
                  <a:lnTo>
                    <a:pt x="274" y="27"/>
                  </a:lnTo>
                  <a:lnTo>
                    <a:pt x="269" y="22"/>
                  </a:lnTo>
                  <a:lnTo>
                    <a:pt x="263" y="17"/>
                  </a:lnTo>
                  <a:lnTo>
                    <a:pt x="257" y="13"/>
                  </a:lnTo>
                  <a:lnTo>
                    <a:pt x="251" y="9"/>
                  </a:lnTo>
                  <a:lnTo>
                    <a:pt x="245" y="7"/>
                  </a:lnTo>
                  <a:lnTo>
                    <a:pt x="238" y="5"/>
                  </a:lnTo>
                  <a:lnTo>
                    <a:pt x="232" y="2"/>
                  </a:lnTo>
                  <a:lnTo>
                    <a:pt x="225" y="1"/>
                  </a:lnTo>
                  <a:lnTo>
                    <a:pt x="218" y="0"/>
                  </a:lnTo>
                  <a:lnTo>
                    <a:pt x="210" y="0"/>
                  </a:lnTo>
                  <a:lnTo>
                    <a:pt x="203" y="0"/>
                  </a:lnTo>
                  <a:lnTo>
                    <a:pt x="196" y="1"/>
                  </a:lnTo>
                  <a:lnTo>
                    <a:pt x="188" y="2"/>
                  </a:lnTo>
                  <a:lnTo>
                    <a:pt x="181" y="5"/>
                  </a:lnTo>
                  <a:lnTo>
                    <a:pt x="173" y="7"/>
                  </a:lnTo>
                  <a:lnTo>
                    <a:pt x="166" y="10"/>
                  </a:lnTo>
                  <a:lnTo>
                    <a:pt x="158" y="14"/>
                  </a:lnTo>
                  <a:lnTo>
                    <a:pt x="151" y="17"/>
                  </a:lnTo>
                  <a:lnTo>
                    <a:pt x="143" y="22"/>
                  </a:lnTo>
                  <a:lnTo>
                    <a:pt x="128" y="32"/>
                  </a:lnTo>
                  <a:lnTo>
                    <a:pt x="114" y="44"/>
                  </a:lnTo>
                  <a:lnTo>
                    <a:pt x="101" y="57"/>
                  </a:lnTo>
                  <a:lnTo>
                    <a:pt x="88" y="70"/>
                  </a:lnTo>
                  <a:lnTo>
                    <a:pt x="75" y="85"/>
                  </a:lnTo>
                  <a:lnTo>
                    <a:pt x="64" y="103"/>
                  </a:lnTo>
                  <a:lnTo>
                    <a:pt x="53" y="120"/>
                  </a:lnTo>
                  <a:lnTo>
                    <a:pt x="44" y="137"/>
                  </a:lnTo>
                  <a:lnTo>
                    <a:pt x="35" y="156"/>
                  </a:lnTo>
                  <a:lnTo>
                    <a:pt x="27" y="174"/>
                  </a:lnTo>
                  <a:lnTo>
                    <a:pt x="20" y="193"/>
                  </a:lnTo>
                  <a:lnTo>
                    <a:pt x="14" y="213"/>
                  </a:lnTo>
                  <a:lnTo>
                    <a:pt x="8" y="234"/>
                  </a:lnTo>
                  <a:lnTo>
                    <a:pt x="5" y="254"/>
                  </a:lnTo>
                  <a:lnTo>
                    <a:pt x="1" y="274"/>
                  </a:lnTo>
                  <a:lnTo>
                    <a:pt x="0" y="295"/>
                  </a:lnTo>
                  <a:lnTo>
                    <a:pt x="0" y="315"/>
                  </a:lnTo>
                  <a:lnTo>
                    <a:pt x="1" y="335"/>
                  </a:lnTo>
                  <a:lnTo>
                    <a:pt x="4" y="353"/>
                  </a:lnTo>
                  <a:lnTo>
                    <a:pt x="7" y="371"/>
                  </a:lnTo>
                  <a:lnTo>
                    <a:pt x="13" y="387"/>
                  </a:lnTo>
                  <a:lnTo>
                    <a:pt x="20" y="402"/>
                  </a:lnTo>
                  <a:lnTo>
                    <a:pt x="27" y="416"/>
                  </a:lnTo>
                  <a:lnTo>
                    <a:pt x="35" y="427"/>
                  </a:lnTo>
                  <a:lnTo>
                    <a:pt x="39" y="433"/>
                  </a:lnTo>
                  <a:lnTo>
                    <a:pt x="45" y="439"/>
                  </a:lnTo>
                  <a:lnTo>
                    <a:pt x="50" y="443"/>
                  </a:lnTo>
                  <a:lnTo>
                    <a:pt x="56" y="447"/>
                  </a:lnTo>
                  <a:lnTo>
                    <a:pt x="61" y="451"/>
                  </a:lnTo>
                  <a:lnTo>
                    <a:pt x="68" y="454"/>
                  </a:lnTo>
                  <a:lnTo>
                    <a:pt x="74" y="457"/>
                  </a:lnTo>
                  <a:lnTo>
                    <a:pt x="81" y="459"/>
                  </a:lnTo>
                  <a:lnTo>
                    <a:pt x="88" y="462"/>
                  </a:lnTo>
                  <a:lnTo>
                    <a:pt x="95" y="463"/>
                  </a:lnTo>
                  <a:lnTo>
                    <a:pt x="103" y="463"/>
                  </a:lnTo>
                  <a:lnTo>
                    <a:pt x="111" y="463"/>
                  </a:lnTo>
                  <a:lnTo>
                    <a:pt x="118" y="463"/>
                  </a:lnTo>
                  <a:lnTo>
                    <a:pt x="126" y="462"/>
                  </a:lnTo>
                  <a:lnTo>
                    <a:pt x="135" y="459"/>
                  </a:lnTo>
                  <a:lnTo>
                    <a:pt x="143" y="4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Freeform 14"/>
            <p:cNvSpPr/>
            <p:nvPr/>
          </p:nvSpPr>
          <p:spPr bwMode="auto">
            <a:xfrm>
              <a:off x="5146" y="587"/>
              <a:ext cx="233" cy="340"/>
            </a:xfrm>
            <a:custGeom>
              <a:avLst/>
              <a:gdLst>
                <a:gd name="T0" fmla="*/ 117 w 228"/>
                <a:gd name="T1" fmla="*/ 363 h 333"/>
                <a:gd name="T2" fmla="*/ 134 w 228"/>
                <a:gd name="T3" fmla="*/ 358 h 333"/>
                <a:gd name="T4" fmla="*/ 145 w 228"/>
                <a:gd name="T5" fmla="*/ 349 h 333"/>
                <a:gd name="T6" fmla="*/ 158 w 228"/>
                <a:gd name="T7" fmla="*/ 339 h 333"/>
                <a:gd name="T8" fmla="*/ 170 w 228"/>
                <a:gd name="T9" fmla="*/ 327 h 333"/>
                <a:gd name="T10" fmla="*/ 185 w 228"/>
                <a:gd name="T11" fmla="*/ 313 h 333"/>
                <a:gd name="T12" fmla="*/ 195 w 228"/>
                <a:gd name="T13" fmla="*/ 301 h 333"/>
                <a:gd name="T14" fmla="*/ 204 w 228"/>
                <a:gd name="T15" fmla="*/ 286 h 333"/>
                <a:gd name="T16" fmla="*/ 216 w 228"/>
                <a:gd name="T17" fmla="*/ 268 h 333"/>
                <a:gd name="T18" fmla="*/ 226 w 228"/>
                <a:gd name="T19" fmla="*/ 251 h 333"/>
                <a:gd name="T20" fmla="*/ 234 w 228"/>
                <a:gd name="T21" fmla="*/ 233 h 333"/>
                <a:gd name="T22" fmla="*/ 241 w 228"/>
                <a:gd name="T23" fmla="*/ 212 h 333"/>
                <a:gd name="T24" fmla="*/ 245 w 228"/>
                <a:gd name="T25" fmla="*/ 195 h 333"/>
                <a:gd name="T26" fmla="*/ 250 w 228"/>
                <a:gd name="T27" fmla="*/ 173 h 333"/>
                <a:gd name="T28" fmla="*/ 252 w 228"/>
                <a:gd name="T29" fmla="*/ 155 h 333"/>
                <a:gd name="T30" fmla="*/ 253 w 228"/>
                <a:gd name="T31" fmla="*/ 136 h 333"/>
                <a:gd name="T32" fmla="*/ 253 w 228"/>
                <a:gd name="T33" fmla="*/ 114 h 333"/>
                <a:gd name="T34" fmla="*/ 252 w 228"/>
                <a:gd name="T35" fmla="*/ 98 h 333"/>
                <a:gd name="T36" fmla="*/ 250 w 228"/>
                <a:gd name="T37" fmla="*/ 83 h 333"/>
                <a:gd name="T38" fmla="*/ 246 w 228"/>
                <a:gd name="T39" fmla="*/ 64 h 333"/>
                <a:gd name="T40" fmla="*/ 242 w 228"/>
                <a:gd name="T41" fmla="*/ 51 h 333"/>
                <a:gd name="T42" fmla="*/ 236 w 228"/>
                <a:gd name="T43" fmla="*/ 40 h 333"/>
                <a:gd name="T44" fmla="*/ 228 w 228"/>
                <a:gd name="T45" fmla="*/ 31 h 333"/>
                <a:gd name="T46" fmla="*/ 218 w 228"/>
                <a:gd name="T47" fmla="*/ 18 h 333"/>
                <a:gd name="T48" fmla="*/ 208 w 228"/>
                <a:gd name="T49" fmla="*/ 11 h 333"/>
                <a:gd name="T50" fmla="*/ 200 w 228"/>
                <a:gd name="T51" fmla="*/ 6 h 333"/>
                <a:gd name="T52" fmla="*/ 191 w 228"/>
                <a:gd name="T53" fmla="*/ 3 h 333"/>
                <a:gd name="T54" fmla="*/ 180 w 228"/>
                <a:gd name="T55" fmla="*/ 0 h 333"/>
                <a:gd name="T56" fmla="*/ 166 w 228"/>
                <a:gd name="T57" fmla="*/ 0 h 333"/>
                <a:gd name="T58" fmla="*/ 155 w 228"/>
                <a:gd name="T59" fmla="*/ 1 h 333"/>
                <a:gd name="T60" fmla="*/ 143 w 228"/>
                <a:gd name="T61" fmla="*/ 4 h 333"/>
                <a:gd name="T62" fmla="*/ 133 w 228"/>
                <a:gd name="T63" fmla="*/ 8 h 333"/>
                <a:gd name="T64" fmla="*/ 117 w 228"/>
                <a:gd name="T65" fmla="*/ 14 h 333"/>
                <a:gd name="T66" fmla="*/ 95 w 228"/>
                <a:gd name="T67" fmla="*/ 34 h 333"/>
                <a:gd name="T68" fmla="*/ 73 w 228"/>
                <a:gd name="T69" fmla="*/ 54 h 333"/>
                <a:gd name="T70" fmla="*/ 52 w 228"/>
                <a:gd name="T71" fmla="*/ 82 h 333"/>
                <a:gd name="T72" fmla="*/ 37 w 228"/>
                <a:gd name="T73" fmla="*/ 107 h 333"/>
                <a:gd name="T74" fmla="*/ 20 w 228"/>
                <a:gd name="T75" fmla="*/ 141 h 333"/>
                <a:gd name="T76" fmla="*/ 9 w 228"/>
                <a:gd name="T77" fmla="*/ 171 h 333"/>
                <a:gd name="T78" fmla="*/ 2 w 228"/>
                <a:gd name="T79" fmla="*/ 206 h 333"/>
                <a:gd name="T80" fmla="*/ 0 w 228"/>
                <a:gd name="T81" fmla="*/ 240 h 333"/>
                <a:gd name="T82" fmla="*/ 1 w 228"/>
                <a:gd name="T83" fmla="*/ 271 h 333"/>
                <a:gd name="T84" fmla="*/ 7 w 228"/>
                <a:gd name="T85" fmla="*/ 301 h 333"/>
                <a:gd name="T86" fmla="*/ 15 w 228"/>
                <a:gd name="T87" fmla="*/ 325 h 333"/>
                <a:gd name="T88" fmla="*/ 33 w 228"/>
                <a:gd name="T89" fmla="*/ 346 h 333"/>
                <a:gd name="T90" fmla="*/ 40 w 228"/>
                <a:gd name="T91" fmla="*/ 353 h 333"/>
                <a:gd name="T92" fmla="*/ 48 w 228"/>
                <a:gd name="T93" fmla="*/ 359 h 333"/>
                <a:gd name="T94" fmla="*/ 57 w 228"/>
                <a:gd name="T95" fmla="*/ 363 h 333"/>
                <a:gd name="T96" fmla="*/ 67 w 228"/>
                <a:gd name="T97" fmla="*/ 368 h 333"/>
                <a:gd name="T98" fmla="*/ 82 w 228"/>
                <a:gd name="T99" fmla="*/ 369 h 333"/>
                <a:gd name="T100" fmla="*/ 93 w 228"/>
                <a:gd name="T101" fmla="*/ 369 h 333"/>
                <a:gd name="T102" fmla="*/ 105 w 228"/>
                <a:gd name="T103" fmla="*/ 368 h 333"/>
                <a:gd name="T104" fmla="*/ 117 w 228"/>
                <a:gd name="T105" fmla="*/ 363 h 33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28"/>
                <a:gd name="T160" fmla="*/ 0 h 333"/>
                <a:gd name="T161" fmla="*/ 228 w 228"/>
                <a:gd name="T162" fmla="*/ 333 h 33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28" h="333">
                  <a:moveTo>
                    <a:pt x="106" y="328"/>
                  </a:moveTo>
                  <a:lnTo>
                    <a:pt x="119" y="323"/>
                  </a:lnTo>
                  <a:lnTo>
                    <a:pt x="130" y="314"/>
                  </a:lnTo>
                  <a:lnTo>
                    <a:pt x="143" y="305"/>
                  </a:lnTo>
                  <a:lnTo>
                    <a:pt x="153" y="295"/>
                  </a:lnTo>
                  <a:lnTo>
                    <a:pt x="165" y="283"/>
                  </a:lnTo>
                  <a:lnTo>
                    <a:pt x="175" y="271"/>
                  </a:lnTo>
                  <a:lnTo>
                    <a:pt x="184" y="257"/>
                  </a:lnTo>
                  <a:lnTo>
                    <a:pt x="194" y="242"/>
                  </a:lnTo>
                  <a:lnTo>
                    <a:pt x="202" y="226"/>
                  </a:lnTo>
                  <a:lnTo>
                    <a:pt x="209" y="210"/>
                  </a:lnTo>
                  <a:lnTo>
                    <a:pt x="216" y="192"/>
                  </a:lnTo>
                  <a:lnTo>
                    <a:pt x="220" y="175"/>
                  </a:lnTo>
                  <a:lnTo>
                    <a:pt x="225" y="157"/>
                  </a:lnTo>
                  <a:lnTo>
                    <a:pt x="227" y="140"/>
                  </a:lnTo>
                  <a:lnTo>
                    <a:pt x="228" y="121"/>
                  </a:lnTo>
                  <a:lnTo>
                    <a:pt x="228" y="104"/>
                  </a:lnTo>
                  <a:lnTo>
                    <a:pt x="227" y="88"/>
                  </a:lnTo>
                  <a:lnTo>
                    <a:pt x="225" y="73"/>
                  </a:lnTo>
                  <a:lnTo>
                    <a:pt x="221" y="59"/>
                  </a:lnTo>
                  <a:lnTo>
                    <a:pt x="217" y="46"/>
                  </a:lnTo>
                  <a:lnTo>
                    <a:pt x="211" y="35"/>
                  </a:lnTo>
                  <a:lnTo>
                    <a:pt x="204" y="26"/>
                  </a:lnTo>
                  <a:lnTo>
                    <a:pt x="196" y="18"/>
                  </a:lnTo>
                  <a:lnTo>
                    <a:pt x="188" y="11"/>
                  </a:lnTo>
                  <a:lnTo>
                    <a:pt x="180" y="6"/>
                  </a:lnTo>
                  <a:lnTo>
                    <a:pt x="171" y="3"/>
                  </a:lnTo>
                  <a:lnTo>
                    <a:pt x="160" y="0"/>
                  </a:lnTo>
                  <a:lnTo>
                    <a:pt x="150" y="0"/>
                  </a:lnTo>
                  <a:lnTo>
                    <a:pt x="140" y="1"/>
                  </a:lnTo>
                  <a:lnTo>
                    <a:pt x="128" y="4"/>
                  </a:lnTo>
                  <a:lnTo>
                    <a:pt x="118" y="8"/>
                  </a:lnTo>
                  <a:lnTo>
                    <a:pt x="106" y="14"/>
                  </a:lnTo>
                  <a:lnTo>
                    <a:pt x="85" y="29"/>
                  </a:lnTo>
                  <a:lnTo>
                    <a:pt x="66" y="49"/>
                  </a:lnTo>
                  <a:lnTo>
                    <a:pt x="47" y="72"/>
                  </a:lnTo>
                  <a:lnTo>
                    <a:pt x="32" y="97"/>
                  </a:lnTo>
                  <a:lnTo>
                    <a:pt x="20" y="126"/>
                  </a:lnTo>
                  <a:lnTo>
                    <a:pt x="9" y="155"/>
                  </a:lnTo>
                  <a:lnTo>
                    <a:pt x="2" y="186"/>
                  </a:lnTo>
                  <a:lnTo>
                    <a:pt x="0" y="215"/>
                  </a:lnTo>
                  <a:lnTo>
                    <a:pt x="1" y="245"/>
                  </a:lnTo>
                  <a:lnTo>
                    <a:pt x="7" y="271"/>
                  </a:lnTo>
                  <a:lnTo>
                    <a:pt x="15" y="293"/>
                  </a:lnTo>
                  <a:lnTo>
                    <a:pt x="28" y="311"/>
                  </a:lnTo>
                  <a:lnTo>
                    <a:pt x="35" y="318"/>
                  </a:lnTo>
                  <a:lnTo>
                    <a:pt x="43" y="324"/>
                  </a:lnTo>
                  <a:lnTo>
                    <a:pt x="52" y="328"/>
                  </a:lnTo>
                  <a:lnTo>
                    <a:pt x="62" y="332"/>
                  </a:lnTo>
                  <a:lnTo>
                    <a:pt x="72" y="333"/>
                  </a:lnTo>
                  <a:lnTo>
                    <a:pt x="83" y="333"/>
                  </a:lnTo>
                  <a:lnTo>
                    <a:pt x="95" y="332"/>
                  </a:lnTo>
                  <a:lnTo>
                    <a:pt x="106" y="32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" name="Freeform 15"/>
            <p:cNvSpPr/>
            <p:nvPr/>
          </p:nvSpPr>
          <p:spPr bwMode="auto">
            <a:xfrm>
              <a:off x="5185" y="651"/>
              <a:ext cx="143" cy="210"/>
            </a:xfrm>
            <a:custGeom>
              <a:avLst/>
              <a:gdLst>
                <a:gd name="T0" fmla="*/ 72 w 141"/>
                <a:gd name="T1" fmla="*/ 226 h 205"/>
                <a:gd name="T2" fmla="*/ 87 w 141"/>
                <a:gd name="T3" fmla="*/ 218 h 205"/>
                <a:gd name="T4" fmla="*/ 101 w 141"/>
                <a:gd name="T5" fmla="*/ 203 h 205"/>
                <a:gd name="T6" fmla="*/ 119 w 141"/>
                <a:gd name="T7" fmla="*/ 185 h 205"/>
                <a:gd name="T8" fmla="*/ 130 w 141"/>
                <a:gd name="T9" fmla="*/ 168 h 205"/>
                <a:gd name="T10" fmla="*/ 138 w 141"/>
                <a:gd name="T11" fmla="*/ 144 h 205"/>
                <a:gd name="T12" fmla="*/ 145 w 141"/>
                <a:gd name="T13" fmla="*/ 124 h 205"/>
                <a:gd name="T14" fmla="*/ 150 w 141"/>
                <a:gd name="T15" fmla="*/ 97 h 205"/>
                <a:gd name="T16" fmla="*/ 151 w 141"/>
                <a:gd name="T17" fmla="*/ 76 h 205"/>
                <a:gd name="T18" fmla="*/ 149 w 141"/>
                <a:gd name="T19" fmla="*/ 51 h 205"/>
                <a:gd name="T20" fmla="*/ 144 w 141"/>
                <a:gd name="T21" fmla="*/ 35 h 205"/>
                <a:gd name="T22" fmla="*/ 136 w 141"/>
                <a:gd name="T23" fmla="*/ 18 h 205"/>
                <a:gd name="T24" fmla="*/ 127 w 141"/>
                <a:gd name="T25" fmla="*/ 8 h 205"/>
                <a:gd name="T26" fmla="*/ 122 w 141"/>
                <a:gd name="T27" fmla="*/ 5 h 205"/>
                <a:gd name="T28" fmla="*/ 116 w 141"/>
                <a:gd name="T29" fmla="*/ 3 h 205"/>
                <a:gd name="T30" fmla="*/ 106 w 141"/>
                <a:gd name="T31" fmla="*/ 0 h 205"/>
                <a:gd name="T32" fmla="*/ 99 w 141"/>
                <a:gd name="T33" fmla="*/ 0 h 205"/>
                <a:gd name="T34" fmla="*/ 93 w 141"/>
                <a:gd name="T35" fmla="*/ 0 h 205"/>
                <a:gd name="T36" fmla="*/ 86 w 141"/>
                <a:gd name="T37" fmla="*/ 2 h 205"/>
                <a:gd name="T38" fmla="*/ 79 w 141"/>
                <a:gd name="T39" fmla="*/ 4 h 205"/>
                <a:gd name="T40" fmla="*/ 72 w 141"/>
                <a:gd name="T41" fmla="*/ 7 h 205"/>
                <a:gd name="T42" fmla="*/ 58 w 141"/>
                <a:gd name="T43" fmla="*/ 17 h 205"/>
                <a:gd name="T44" fmla="*/ 47 w 141"/>
                <a:gd name="T45" fmla="*/ 34 h 205"/>
                <a:gd name="T46" fmla="*/ 30 w 141"/>
                <a:gd name="T47" fmla="*/ 48 h 205"/>
                <a:gd name="T48" fmla="*/ 20 w 141"/>
                <a:gd name="T49" fmla="*/ 66 h 205"/>
                <a:gd name="T50" fmla="*/ 12 w 141"/>
                <a:gd name="T51" fmla="*/ 88 h 205"/>
                <a:gd name="T52" fmla="*/ 6 w 141"/>
                <a:gd name="T53" fmla="*/ 107 h 205"/>
                <a:gd name="T54" fmla="*/ 1 w 141"/>
                <a:gd name="T55" fmla="*/ 129 h 205"/>
                <a:gd name="T56" fmla="*/ 0 w 141"/>
                <a:gd name="T57" fmla="*/ 150 h 205"/>
                <a:gd name="T58" fmla="*/ 1 w 141"/>
                <a:gd name="T59" fmla="*/ 172 h 205"/>
                <a:gd name="T60" fmla="*/ 5 w 141"/>
                <a:gd name="T61" fmla="*/ 191 h 205"/>
                <a:gd name="T62" fmla="*/ 11 w 141"/>
                <a:gd name="T63" fmla="*/ 207 h 205"/>
                <a:gd name="T64" fmla="*/ 19 w 141"/>
                <a:gd name="T65" fmla="*/ 219 h 205"/>
                <a:gd name="T66" fmla="*/ 28 w 141"/>
                <a:gd name="T67" fmla="*/ 226 h 205"/>
                <a:gd name="T68" fmla="*/ 44 w 141"/>
                <a:gd name="T69" fmla="*/ 230 h 205"/>
                <a:gd name="T70" fmla="*/ 58 w 141"/>
                <a:gd name="T71" fmla="*/ 230 h 205"/>
                <a:gd name="T72" fmla="*/ 72 w 141"/>
                <a:gd name="T73" fmla="*/ 226 h 20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41"/>
                <a:gd name="T112" fmla="*/ 0 h 205"/>
                <a:gd name="T113" fmla="*/ 141 w 141"/>
                <a:gd name="T114" fmla="*/ 205 h 20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41" h="205">
                  <a:moveTo>
                    <a:pt x="67" y="201"/>
                  </a:moveTo>
                  <a:lnTo>
                    <a:pt x="82" y="193"/>
                  </a:lnTo>
                  <a:lnTo>
                    <a:pt x="96" y="180"/>
                  </a:lnTo>
                  <a:lnTo>
                    <a:pt x="109" y="165"/>
                  </a:lnTo>
                  <a:lnTo>
                    <a:pt x="120" y="148"/>
                  </a:lnTo>
                  <a:lnTo>
                    <a:pt x="128" y="129"/>
                  </a:lnTo>
                  <a:lnTo>
                    <a:pt x="135" y="109"/>
                  </a:lnTo>
                  <a:lnTo>
                    <a:pt x="140" y="87"/>
                  </a:lnTo>
                  <a:lnTo>
                    <a:pt x="141" y="66"/>
                  </a:lnTo>
                  <a:lnTo>
                    <a:pt x="139" y="46"/>
                  </a:lnTo>
                  <a:lnTo>
                    <a:pt x="134" y="30"/>
                  </a:lnTo>
                  <a:lnTo>
                    <a:pt x="126" y="18"/>
                  </a:lnTo>
                  <a:lnTo>
                    <a:pt x="117" y="8"/>
                  </a:lnTo>
                  <a:lnTo>
                    <a:pt x="112" y="5"/>
                  </a:lnTo>
                  <a:lnTo>
                    <a:pt x="106" y="3"/>
                  </a:lnTo>
                  <a:lnTo>
                    <a:pt x="101" y="0"/>
                  </a:lnTo>
                  <a:lnTo>
                    <a:pt x="94" y="0"/>
                  </a:lnTo>
                  <a:lnTo>
                    <a:pt x="88" y="0"/>
                  </a:lnTo>
                  <a:lnTo>
                    <a:pt x="81" y="2"/>
                  </a:lnTo>
                  <a:lnTo>
                    <a:pt x="74" y="4"/>
                  </a:lnTo>
                  <a:lnTo>
                    <a:pt x="67" y="7"/>
                  </a:lnTo>
                  <a:lnTo>
                    <a:pt x="53" y="17"/>
                  </a:lnTo>
                  <a:lnTo>
                    <a:pt x="42" y="29"/>
                  </a:lnTo>
                  <a:lnTo>
                    <a:pt x="30" y="43"/>
                  </a:lnTo>
                  <a:lnTo>
                    <a:pt x="20" y="59"/>
                  </a:lnTo>
                  <a:lnTo>
                    <a:pt x="12" y="78"/>
                  </a:lnTo>
                  <a:lnTo>
                    <a:pt x="6" y="96"/>
                  </a:lnTo>
                  <a:lnTo>
                    <a:pt x="1" y="114"/>
                  </a:lnTo>
                  <a:lnTo>
                    <a:pt x="0" y="134"/>
                  </a:lnTo>
                  <a:lnTo>
                    <a:pt x="1" y="152"/>
                  </a:lnTo>
                  <a:lnTo>
                    <a:pt x="5" y="170"/>
                  </a:lnTo>
                  <a:lnTo>
                    <a:pt x="11" y="183"/>
                  </a:lnTo>
                  <a:lnTo>
                    <a:pt x="19" y="194"/>
                  </a:lnTo>
                  <a:lnTo>
                    <a:pt x="28" y="201"/>
                  </a:lnTo>
                  <a:lnTo>
                    <a:pt x="39" y="205"/>
                  </a:lnTo>
                  <a:lnTo>
                    <a:pt x="53" y="205"/>
                  </a:lnTo>
                  <a:lnTo>
                    <a:pt x="67" y="2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" name="Freeform 16"/>
            <p:cNvSpPr/>
            <p:nvPr/>
          </p:nvSpPr>
          <p:spPr bwMode="auto">
            <a:xfrm>
              <a:off x="4434" y="348"/>
              <a:ext cx="456" cy="274"/>
            </a:xfrm>
            <a:custGeom>
              <a:avLst/>
              <a:gdLst>
                <a:gd name="T0" fmla="*/ 83 w 446"/>
                <a:gd name="T1" fmla="*/ 5 h 268"/>
                <a:gd name="T2" fmla="*/ 63 w 446"/>
                <a:gd name="T3" fmla="*/ 36 h 268"/>
                <a:gd name="T4" fmla="*/ 54 w 446"/>
                <a:gd name="T5" fmla="*/ 51 h 268"/>
                <a:gd name="T6" fmla="*/ 38 w 446"/>
                <a:gd name="T7" fmla="*/ 51 h 268"/>
                <a:gd name="T8" fmla="*/ 22 w 446"/>
                <a:gd name="T9" fmla="*/ 57 h 268"/>
                <a:gd name="T10" fmla="*/ 34 w 446"/>
                <a:gd name="T11" fmla="*/ 72 h 268"/>
                <a:gd name="T12" fmla="*/ 47 w 446"/>
                <a:gd name="T13" fmla="*/ 90 h 268"/>
                <a:gd name="T14" fmla="*/ 57 w 446"/>
                <a:gd name="T15" fmla="*/ 102 h 268"/>
                <a:gd name="T16" fmla="*/ 302 w 446"/>
                <a:gd name="T17" fmla="*/ 196 h 268"/>
                <a:gd name="T18" fmla="*/ 293 w 446"/>
                <a:gd name="T19" fmla="*/ 196 h 268"/>
                <a:gd name="T20" fmla="*/ 268 w 446"/>
                <a:gd name="T21" fmla="*/ 196 h 268"/>
                <a:gd name="T22" fmla="*/ 233 w 446"/>
                <a:gd name="T23" fmla="*/ 194 h 268"/>
                <a:gd name="T24" fmla="*/ 190 w 446"/>
                <a:gd name="T25" fmla="*/ 193 h 268"/>
                <a:gd name="T26" fmla="*/ 146 w 446"/>
                <a:gd name="T27" fmla="*/ 192 h 268"/>
                <a:gd name="T28" fmla="*/ 105 w 446"/>
                <a:gd name="T29" fmla="*/ 189 h 268"/>
                <a:gd name="T30" fmla="*/ 77 w 446"/>
                <a:gd name="T31" fmla="*/ 184 h 268"/>
                <a:gd name="T32" fmla="*/ 56 w 446"/>
                <a:gd name="T33" fmla="*/ 177 h 268"/>
                <a:gd name="T34" fmla="*/ 43 w 446"/>
                <a:gd name="T35" fmla="*/ 139 h 268"/>
                <a:gd name="T36" fmla="*/ 48 w 446"/>
                <a:gd name="T37" fmla="*/ 116 h 268"/>
                <a:gd name="T38" fmla="*/ 39 w 446"/>
                <a:gd name="T39" fmla="*/ 128 h 268"/>
                <a:gd name="T40" fmla="*/ 15 w 446"/>
                <a:gd name="T41" fmla="*/ 148 h 268"/>
                <a:gd name="T42" fmla="*/ 2 w 446"/>
                <a:gd name="T43" fmla="*/ 179 h 268"/>
                <a:gd name="T44" fmla="*/ 6 w 446"/>
                <a:gd name="T45" fmla="*/ 208 h 268"/>
                <a:gd name="T46" fmla="*/ 28 w 446"/>
                <a:gd name="T47" fmla="*/ 224 h 268"/>
                <a:gd name="T48" fmla="*/ 58 w 446"/>
                <a:gd name="T49" fmla="*/ 233 h 268"/>
                <a:gd name="T50" fmla="*/ 101 w 446"/>
                <a:gd name="T51" fmla="*/ 236 h 268"/>
                <a:gd name="T52" fmla="*/ 150 w 446"/>
                <a:gd name="T53" fmla="*/ 236 h 268"/>
                <a:gd name="T54" fmla="*/ 200 w 446"/>
                <a:gd name="T55" fmla="*/ 235 h 268"/>
                <a:gd name="T56" fmla="*/ 249 w 446"/>
                <a:gd name="T57" fmla="*/ 232 h 268"/>
                <a:gd name="T58" fmla="*/ 292 w 446"/>
                <a:gd name="T59" fmla="*/ 227 h 268"/>
                <a:gd name="T60" fmla="*/ 327 w 446"/>
                <a:gd name="T61" fmla="*/ 223 h 268"/>
                <a:gd name="T62" fmla="*/ 349 w 446"/>
                <a:gd name="T63" fmla="*/ 235 h 268"/>
                <a:gd name="T64" fmla="*/ 385 w 446"/>
                <a:gd name="T65" fmla="*/ 255 h 268"/>
                <a:gd name="T66" fmla="*/ 429 w 446"/>
                <a:gd name="T67" fmla="*/ 278 h 268"/>
                <a:gd name="T68" fmla="*/ 476 w 446"/>
                <a:gd name="T69" fmla="*/ 299 h 268"/>
                <a:gd name="T70" fmla="*/ 485 w 446"/>
                <a:gd name="T71" fmla="*/ 288 h 268"/>
                <a:gd name="T72" fmla="*/ 494 w 446"/>
                <a:gd name="T73" fmla="*/ 274 h 268"/>
                <a:gd name="T74" fmla="*/ 497 w 446"/>
                <a:gd name="T75" fmla="*/ 256 h 268"/>
                <a:gd name="T76" fmla="*/ 498 w 446"/>
                <a:gd name="T77" fmla="*/ 243 h 268"/>
                <a:gd name="T78" fmla="*/ 451 w 446"/>
                <a:gd name="T79" fmla="*/ 231 h 268"/>
                <a:gd name="T80" fmla="*/ 403 w 446"/>
                <a:gd name="T81" fmla="*/ 215 h 268"/>
                <a:gd name="T82" fmla="*/ 361 w 446"/>
                <a:gd name="T83" fmla="*/ 202 h 268"/>
                <a:gd name="T84" fmla="*/ 334 w 446"/>
                <a:gd name="T85" fmla="*/ 197 h 268"/>
                <a:gd name="T86" fmla="*/ 313 w 446"/>
                <a:gd name="T87" fmla="*/ 174 h 268"/>
                <a:gd name="T88" fmla="*/ 286 w 446"/>
                <a:gd name="T89" fmla="*/ 142 h 268"/>
                <a:gd name="T90" fmla="*/ 253 w 446"/>
                <a:gd name="T91" fmla="*/ 106 h 268"/>
                <a:gd name="T92" fmla="*/ 218 w 446"/>
                <a:gd name="T93" fmla="*/ 72 h 268"/>
                <a:gd name="T94" fmla="*/ 184 w 446"/>
                <a:gd name="T95" fmla="*/ 42 h 268"/>
                <a:gd name="T96" fmla="*/ 149 w 446"/>
                <a:gd name="T97" fmla="*/ 16 h 268"/>
                <a:gd name="T98" fmla="*/ 121 w 446"/>
                <a:gd name="T99" fmla="*/ 2 h 268"/>
                <a:gd name="T100" fmla="*/ 98 w 446"/>
                <a:gd name="T101" fmla="*/ 0 h 2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6"/>
                <a:gd name="T154" fmla="*/ 0 h 268"/>
                <a:gd name="T155" fmla="*/ 446 w 446"/>
                <a:gd name="T156" fmla="*/ 268 h 26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6" h="268">
                  <a:moveTo>
                    <a:pt x="88" y="0"/>
                  </a:moveTo>
                  <a:lnTo>
                    <a:pt x="73" y="5"/>
                  </a:lnTo>
                  <a:lnTo>
                    <a:pt x="64" y="16"/>
                  </a:lnTo>
                  <a:lnTo>
                    <a:pt x="58" y="31"/>
                  </a:lnTo>
                  <a:lnTo>
                    <a:pt x="56" y="47"/>
                  </a:lnTo>
                  <a:lnTo>
                    <a:pt x="49" y="46"/>
                  </a:lnTo>
                  <a:lnTo>
                    <a:pt x="41" y="44"/>
                  </a:lnTo>
                  <a:lnTo>
                    <a:pt x="33" y="46"/>
                  </a:lnTo>
                  <a:lnTo>
                    <a:pt x="25" y="49"/>
                  </a:lnTo>
                  <a:lnTo>
                    <a:pt x="22" y="52"/>
                  </a:lnTo>
                  <a:lnTo>
                    <a:pt x="25" y="58"/>
                  </a:lnTo>
                  <a:lnTo>
                    <a:pt x="29" y="65"/>
                  </a:lnTo>
                  <a:lnTo>
                    <a:pt x="35" y="72"/>
                  </a:lnTo>
                  <a:lnTo>
                    <a:pt x="42" y="80"/>
                  </a:lnTo>
                  <a:lnTo>
                    <a:pt x="48" y="87"/>
                  </a:lnTo>
                  <a:lnTo>
                    <a:pt x="52" y="92"/>
                  </a:lnTo>
                  <a:lnTo>
                    <a:pt x="53" y="93"/>
                  </a:lnTo>
                  <a:lnTo>
                    <a:pt x="271" y="176"/>
                  </a:lnTo>
                  <a:lnTo>
                    <a:pt x="269" y="176"/>
                  </a:lnTo>
                  <a:lnTo>
                    <a:pt x="263" y="176"/>
                  </a:lnTo>
                  <a:lnTo>
                    <a:pt x="253" y="176"/>
                  </a:lnTo>
                  <a:lnTo>
                    <a:pt x="240" y="176"/>
                  </a:lnTo>
                  <a:lnTo>
                    <a:pt x="225" y="176"/>
                  </a:lnTo>
                  <a:lnTo>
                    <a:pt x="208" y="174"/>
                  </a:lnTo>
                  <a:lnTo>
                    <a:pt x="188" y="174"/>
                  </a:lnTo>
                  <a:lnTo>
                    <a:pt x="170" y="173"/>
                  </a:lnTo>
                  <a:lnTo>
                    <a:pt x="150" y="173"/>
                  </a:lnTo>
                  <a:lnTo>
                    <a:pt x="131" y="172"/>
                  </a:lnTo>
                  <a:lnTo>
                    <a:pt x="112" y="170"/>
                  </a:lnTo>
                  <a:lnTo>
                    <a:pt x="95" y="169"/>
                  </a:lnTo>
                  <a:lnTo>
                    <a:pt x="80" y="166"/>
                  </a:lnTo>
                  <a:lnTo>
                    <a:pt x="67" y="164"/>
                  </a:lnTo>
                  <a:lnTo>
                    <a:pt x="57" y="161"/>
                  </a:lnTo>
                  <a:lnTo>
                    <a:pt x="51" y="157"/>
                  </a:lnTo>
                  <a:lnTo>
                    <a:pt x="41" y="140"/>
                  </a:lnTo>
                  <a:lnTo>
                    <a:pt x="38" y="124"/>
                  </a:lnTo>
                  <a:lnTo>
                    <a:pt x="41" y="110"/>
                  </a:lnTo>
                  <a:lnTo>
                    <a:pt x="43" y="105"/>
                  </a:lnTo>
                  <a:lnTo>
                    <a:pt x="41" y="108"/>
                  </a:lnTo>
                  <a:lnTo>
                    <a:pt x="34" y="113"/>
                  </a:lnTo>
                  <a:lnTo>
                    <a:pt x="25" y="122"/>
                  </a:lnTo>
                  <a:lnTo>
                    <a:pt x="15" y="133"/>
                  </a:lnTo>
                  <a:lnTo>
                    <a:pt x="7" y="146"/>
                  </a:lnTo>
                  <a:lnTo>
                    <a:pt x="2" y="159"/>
                  </a:lnTo>
                  <a:lnTo>
                    <a:pt x="0" y="173"/>
                  </a:lnTo>
                  <a:lnTo>
                    <a:pt x="6" y="187"/>
                  </a:lnTo>
                  <a:lnTo>
                    <a:pt x="13" y="194"/>
                  </a:lnTo>
                  <a:lnTo>
                    <a:pt x="23" y="200"/>
                  </a:lnTo>
                  <a:lnTo>
                    <a:pt x="37" y="204"/>
                  </a:lnTo>
                  <a:lnTo>
                    <a:pt x="53" y="208"/>
                  </a:lnTo>
                  <a:lnTo>
                    <a:pt x="72" y="210"/>
                  </a:lnTo>
                  <a:lnTo>
                    <a:pt x="91" y="211"/>
                  </a:lnTo>
                  <a:lnTo>
                    <a:pt x="113" y="212"/>
                  </a:lnTo>
                  <a:lnTo>
                    <a:pt x="135" y="211"/>
                  </a:lnTo>
                  <a:lnTo>
                    <a:pt x="158" y="211"/>
                  </a:lnTo>
                  <a:lnTo>
                    <a:pt x="180" y="210"/>
                  </a:lnTo>
                  <a:lnTo>
                    <a:pt x="203" y="208"/>
                  </a:lnTo>
                  <a:lnTo>
                    <a:pt x="224" y="207"/>
                  </a:lnTo>
                  <a:lnTo>
                    <a:pt x="244" y="204"/>
                  </a:lnTo>
                  <a:lnTo>
                    <a:pt x="262" y="202"/>
                  </a:lnTo>
                  <a:lnTo>
                    <a:pt x="278" y="200"/>
                  </a:lnTo>
                  <a:lnTo>
                    <a:pt x="292" y="199"/>
                  </a:lnTo>
                  <a:lnTo>
                    <a:pt x="300" y="203"/>
                  </a:lnTo>
                  <a:lnTo>
                    <a:pt x="313" y="210"/>
                  </a:lnTo>
                  <a:lnTo>
                    <a:pt x="328" y="219"/>
                  </a:lnTo>
                  <a:lnTo>
                    <a:pt x="345" y="229"/>
                  </a:lnTo>
                  <a:lnTo>
                    <a:pt x="365" y="239"/>
                  </a:lnTo>
                  <a:lnTo>
                    <a:pt x="384" y="248"/>
                  </a:lnTo>
                  <a:lnTo>
                    <a:pt x="405" y="258"/>
                  </a:lnTo>
                  <a:lnTo>
                    <a:pt x="426" y="268"/>
                  </a:lnTo>
                  <a:lnTo>
                    <a:pt x="430" y="264"/>
                  </a:lnTo>
                  <a:lnTo>
                    <a:pt x="434" y="258"/>
                  </a:lnTo>
                  <a:lnTo>
                    <a:pt x="438" y="253"/>
                  </a:lnTo>
                  <a:lnTo>
                    <a:pt x="442" y="245"/>
                  </a:lnTo>
                  <a:lnTo>
                    <a:pt x="444" y="237"/>
                  </a:lnTo>
                  <a:lnTo>
                    <a:pt x="445" y="230"/>
                  </a:lnTo>
                  <a:lnTo>
                    <a:pt x="446" y="223"/>
                  </a:lnTo>
                  <a:lnTo>
                    <a:pt x="446" y="218"/>
                  </a:lnTo>
                  <a:lnTo>
                    <a:pt x="426" y="212"/>
                  </a:lnTo>
                  <a:lnTo>
                    <a:pt x="404" y="206"/>
                  </a:lnTo>
                  <a:lnTo>
                    <a:pt x="382" y="200"/>
                  </a:lnTo>
                  <a:lnTo>
                    <a:pt x="361" y="193"/>
                  </a:lnTo>
                  <a:lnTo>
                    <a:pt x="340" y="187"/>
                  </a:lnTo>
                  <a:lnTo>
                    <a:pt x="323" y="182"/>
                  </a:lnTo>
                  <a:lnTo>
                    <a:pt x="309" y="179"/>
                  </a:lnTo>
                  <a:lnTo>
                    <a:pt x="299" y="177"/>
                  </a:lnTo>
                  <a:lnTo>
                    <a:pt x="291" y="166"/>
                  </a:lnTo>
                  <a:lnTo>
                    <a:pt x="280" y="155"/>
                  </a:lnTo>
                  <a:lnTo>
                    <a:pt x="269" y="141"/>
                  </a:lnTo>
                  <a:lnTo>
                    <a:pt x="256" y="127"/>
                  </a:lnTo>
                  <a:lnTo>
                    <a:pt x="242" y="111"/>
                  </a:lnTo>
                  <a:lnTo>
                    <a:pt x="227" y="96"/>
                  </a:lnTo>
                  <a:lnTo>
                    <a:pt x="211" y="81"/>
                  </a:lnTo>
                  <a:lnTo>
                    <a:pt x="195" y="65"/>
                  </a:lnTo>
                  <a:lnTo>
                    <a:pt x="180" y="51"/>
                  </a:lnTo>
                  <a:lnTo>
                    <a:pt x="164" y="37"/>
                  </a:lnTo>
                  <a:lnTo>
                    <a:pt x="149" y="26"/>
                  </a:lnTo>
                  <a:lnTo>
                    <a:pt x="134" y="16"/>
                  </a:lnTo>
                  <a:lnTo>
                    <a:pt x="120" y="8"/>
                  </a:lnTo>
                  <a:lnTo>
                    <a:pt x="108" y="2"/>
                  </a:lnTo>
                  <a:lnTo>
                    <a:pt x="97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" name="Freeform 17"/>
            <p:cNvSpPr/>
            <p:nvPr/>
          </p:nvSpPr>
          <p:spPr bwMode="auto">
            <a:xfrm>
              <a:off x="5015" y="634"/>
              <a:ext cx="251" cy="113"/>
            </a:xfrm>
            <a:custGeom>
              <a:avLst/>
              <a:gdLst>
                <a:gd name="T0" fmla="*/ 257 w 248"/>
                <a:gd name="T1" fmla="*/ 103 h 112"/>
                <a:gd name="T2" fmla="*/ 247 w 248"/>
                <a:gd name="T3" fmla="*/ 100 h 112"/>
                <a:gd name="T4" fmla="*/ 226 w 248"/>
                <a:gd name="T5" fmla="*/ 91 h 112"/>
                <a:gd name="T6" fmla="*/ 193 w 248"/>
                <a:gd name="T7" fmla="*/ 80 h 112"/>
                <a:gd name="T8" fmla="*/ 162 w 248"/>
                <a:gd name="T9" fmla="*/ 68 h 112"/>
                <a:gd name="T10" fmla="*/ 128 w 248"/>
                <a:gd name="T11" fmla="*/ 52 h 112"/>
                <a:gd name="T12" fmla="*/ 99 w 248"/>
                <a:gd name="T13" fmla="*/ 42 h 112"/>
                <a:gd name="T14" fmla="*/ 80 w 248"/>
                <a:gd name="T15" fmla="*/ 34 h 112"/>
                <a:gd name="T16" fmla="*/ 73 w 248"/>
                <a:gd name="T17" fmla="*/ 31 h 112"/>
                <a:gd name="T18" fmla="*/ 72 w 248"/>
                <a:gd name="T19" fmla="*/ 30 h 112"/>
                <a:gd name="T20" fmla="*/ 69 w 248"/>
                <a:gd name="T21" fmla="*/ 29 h 112"/>
                <a:gd name="T22" fmla="*/ 64 w 248"/>
                <a:gd name="T23" fmla="*/ 27 h 112"/>
                <a:gd name="T24" fmla="*/ 57 w 248"/>
                <a:gd name="T25" fmla="*/ 22 h 112"/>
                <a:gd name="T26" fmla="*/ 49 w 248"/>
                <a:gd name="T27" fmla="*/ 19 h 112"/>
                <a:gd name="T28" fmla="*/ 35 w 248"/>
                <a:gd name="T29" fmla="*/ 13 h 112"/>
                <a:gd name="T30" fmla="*/ 23 w 248"/>
                <a:gd name="T31" fmla="*/ 7 h 112"/>
                <a:gd name="T32" fmla="*/ 12 w 248"/>
                <a:gd name="T33" fmla="*/ 0 h 112"/>
                <a:gd name="T34" fmla="*/ 12 w 248"/>
                <a:gd name="T35" fmla="*/ 4 h 112"/>
                <a:gd name="T36" fmla="*/ 11 w 248"/>
                <a:gd name="T37" fmla="*/ 8 h 112"/>
                <a:gd name="T38" fmla="*/ 9 w 248"/>
                <a:gd name="T39" fmla="*/ 12 h 112"/>
                <a:gd name="T40" fmla="*/ 8 w 248"/>
                <a:gd name="T41" fmla="*/ 16 h 112"/>
                <a:gd name="T42" fmla="*/ 6 w 248"/>
                <a:gd name="T43" fmla="*/ 21 h 112"/>
                <a:gd name="T44" fmla="*/ 5 w 248"/>
                <a:gd name="T45" fmla="*/ 24 h 112"/>
                <a:gd name="T46" fmla="*/ 3 w 248"/>
                <a:gd name="T47" fmla="*/ 28 h 112"/>
                <a:gd name="T48" fmla="*/ 0 w 248"/>
                <a:gd name="T49" fmla="*/ 31 h 112"/>
                <a:gd name="T50" fmla="*/ 14 w 248"/>
                <a:gd name="T51" fmla="*/ 34 h 112"/>
                <a:gd name="T52" fmla="*/ 26 w 248"/>
                <a:gd name="T53" fmla="*/ 37 h 112"/>
                <a:gd name="T54" fmla="*/ 36 w 248"/>
                <a:gd name="T55" fmla="*/ 38 h 112"/>
                <a:gd name="T56" fmla="*/ 51 w 248"/>
                <a:gd name="T57" fmla="*/ 40 h 112"/>
                <a:gd name="T58" fmla="*/ 58 w 248"/>
                <a:gd name="T59" fmla="*/ 42 h 112"/>
                <a:gd name="T60" fmla="*/ 64 w 248"/>
                <a:gd name="T61" fmla="*/ 42 h 112"/>
                <a:gd name="T62" fmla="*/ 67 w 248"/>
                <a:gd name="T63" fmla="*/ 43 h 112"/>
                <a:gd name="T64" fmla="*/ 69 w 248"/>
                <a:gd name="T65" fmla="*/ 43 h 112"/>
                <a:gd name="T66" fmla="*/ 72 w 248"/>
                <a:gd name="T67" fmla="*/ 44 h 112"/>
                <a:gd name="T68" fmla="*/ 82 w 248"/>
                <a:gd name="T69" fmla="*/ 49 h 112"/>
                <a:gd name="T70" fmla="*/ 97 w 248"/>
                <a:gd name="T71" fmla="*/ 54 h 112"/>
                <a:gd name="T72" fmla="*/ 116 w 248"/>
                <a:gd name="T73" fmla="*/ 66 h 112"/>
                <a:gd name="T74" fmla="*/ 143 w 248"/>
                <a:gd name="T75" fmla="*/ 74 h 112"/>
                <a:gd name="T76" fmla="*/ 165 w 248"/>
                <a:gd name="T77" fmla="*/ 83 h 112"/>
                <a:gd name="T78" fmla="*/ 187 w 248"/>
                <a:gd name="T79" fmla="*/ 91 h 112"/>
                <a:gd name="T80" fmla="*/ 207 w 248"/>
                <a:gd name="T81" fmla="*/ 100 h 112"/>
                <a:gd name="T82" fmla="*/ 219 w 248"/>
                <a:gd name="T83" fmla="*/ 103 h 112"/>
                <a:gd name="T84" fmla="*/ 227 w 248"/>
                <a:gd name="T85" fmla="*/ 105 h 112"/>
                <a:gd name="T86" fmla="*/ 234 w 248"/>
                <a:gd name="T87" fmla="*/ 109 h 112"/>
                <a:gd name="T88" fmla="*/ 240 w 248"/>
                <a:gd name="T89" fmla="*/ 111 h 112"/>
                <a:gd name="T90" fmla="*/ 246 w 248"/>
                <a:gd name="T91" fmla="*/ 112 h 112"/>
                <a:gd name="T92" fmla="*/ 249 w 248"/>
                <a:gd name="T93" fmla="*/ 115 h 112"/>
                <a:gd name="T94" fmla="*/ 253 w 248"/>
                <a:gd name="T95" fmla="*/ 115 h 112"/>
                <a:gd name="T96" fmla="*/ 254 w 248"/>
                <a:gd name="T97" fmla="*/ 116 h 112"/>
                <a:gd name="T98" fmla="*/ 260 w 248"/>
                <a:gd name="T99" fmla="*/ 117 h 112"/>
                <a:gd name="T100" fmla="*/ 263 w 248"/>
                <a:gd name="T101" fmla="*/ 112 h 112"/>
                <a:gd name="T102" fmla="*/ 262 w 248"/>
                <a:gd name="T103" fmla="*/ 108 h 112"/>
                <a:gd name="T104" fmla="*/ 257 w 248"/>
                <a:gd name="T105" fmla="*/ 103 h 1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8"/>
                <a:gd name="T160" fmla="*/ 0 h 112"/>
                <a:gd name="T161" fmla="*/ 248 w 248"/>
                <a:gd name="T162" fmla="*/ 112 h 1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8" h="112">
                  <a:moveTo>
                    <a:pt x="242" y="98"/>
                  </a:moveTo>
                  <a:lnTo>
                    <a:pt x="232" y="95"/>
                  </a:lnTo>
                  <a:lnTo>
                    <a:pt x="211" y="86"/>
                  </a:lnTo>
                  <a:lnTo>
                    <a:pt x="183" y="75"/>
                  </a:lnTo>
                  <a:lnTo>
                    <a:pt x="152" y="63"/>
                  </a:lnTo>
                  <a:lnTo>
                    <a:pt x="121" y="52"/>
                  </a:lnTo>
                  <a:lnTo>
                    <a:pt x="94" y="42"/>
                  </a:lnTo>
                  <a:lnTo>
                    <a:pt x="75" y="34"/>
                  </a:lnTo>
                  <a:lnTo>
                    <a:pt x="68" y="31"/>
                  </a:lnTo>
                  <a:lnTo>
                    <a:pt x="67" y="30"/>
                  </a:lnTo>
                  <a:lnTo>
                    <a:pt x="64" y="29"/>
                  </a:lnTo>
                  <a:lnTo>
                    <a:pt x="59" y="27"/>
                  </a:lnTo>
                  <a:lnTo>
                    <a:pt x="52" y="22"/>
                  </a:lnTo>
                  <a:lnTo>
                    <a:pt x="44" y="19"/>
                  </a:lnTo>
                  <a:lnTo>
                    <a:pt x="35" y="13"/>
                  </a:lnTo>
                  <a:lnTo>
                    <a:pt x="23" y="7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1" y="8"/>
                  </a:lnTo>
                  <a:lnTo>
                    <a:pt x="9" y="12"/>
                  </a:lnTo>
                  <a:lnTo>
                    <a:pt x="8" y="16"/>
                  </a:lnTo>
                  <a:lnTo>
                    <a:pt x="6" y="21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0" y="31"/>
                  </a:lnTo>
                  <a:lnTo>
                    <a:pt x="14" y="34"/>
                  </a:lnTo>
                  <a:lnTo>
                    <a:pt x="26" y="37"/>
                  </a:lnTo>
                  <a:lnTo>
                    <a:pt x="36" y="38"/>
                  </a:lnTo>
                  <a:lnTo>
                    <a:pt x="46" y="40"/>
                  </a:lnTo>
                  <a:lnTo>
                    <a:pt x="53" y="42"/>
                  </a:lnTo>
                  <a:lnTo>
                    <a:pt x="59" y="42"/>
                  </a:lnTo>
                  <a:lnTo>
                    <a:pt x="62" y="43"/>
                  </a:lnTo>
                  <a:lnTo>
                    <a:pt x="64" y="43"/>
                  </a:lnTo>
                  <a:lnTo>
                    <a:pt x="67" y="44"/>
                  </a:lnTo>
                  <a:lnTo>
                    <a:pt x="77" y="49"/>
                  </a:lnTo>
                  <a:lnTo>
                    <a:pt x="92" y="54"/>
                  </a:lnTo>
                  <a:lnTo>
                    <a:pt x="111" y="61"/>
                  </a:lnTo>
                  <a:lnTo>
                    <a:pt x="133" y="69"/>
                  </a:lnTo>
                  <a:lnTo>
                    <a:pt x="155" y="78"/>
                  </a:lnTo>
                  <a:lnTo>
                    <a:pt x="177" y="86"/>
                  </a:lnTo>
                  <a:lnTo>
                    <a:pt x="197" y="95"/>
                  </a:lnTo>
                  <a:lnTo>
                    <a:pt x="205" y="98"/>
                  </a:lnTo>
                  <a:lnTo>
                    <a:pt x="212" y="100"/>
                  </a:lnTo>
                  <a:lnTo>
                    <a:pt x="219" y="104"/>
                  </a:lnTo>
                  <a:lnTo>
                    <a:pt x="225" y="106"/>
                  </a:lnTo>
                  <a:lnTo>
                    <a:pt x="231" y="107"/>
                  </a:lnTo>
                  <a:lnTo>
                    <a:pt x="234" y="110"/>
                  </a:lnTo>
                  <a:lnTo>
                    <a:pt x="238" y="110"/>
                  </a:lnTo>
                  <a:lnTo>
                    <a:pt x="239" y="111"/>
                  </a:lnTo>
                  <a:lnTo>
                    <a:pt x="245" y="112"/>
                  </a:lnTo>
                  <a:lnTo>
                    <a:pt x="248" y="107"/>
                  </a:lnTo>
                  <a:lnTo>
                    <a:pt x="247" y="103"/>
                  </a:lnTo>
                  <a:lnTo>
                    <a:pt x="242" y="9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4" name="Freeform 18"/>
            <p:cNvSpPr/>
            <p:nvPr/>
          </p:nvSpPr>
          <p:spPr bwMode="auto">
            <a:xfrm>
              <a:off x="4892" y="579"/>
              <a:ext cx="113" cy="80"/>
            </a:xfrm>
            <a:custGeom>
              <a:avLst/>
              <a:gdLst>
                <a:gd name="T0" fmla="*/ 126 w 109"/>
                <a:gd name="T1" fmla="*/ 71 h 78"/>
                <a:gd name="T2" fmla="*/ 129 w 109"/>
                <a:gd name="T3" fmla="*/ 65 h 78"/>
                <a:gd name="T4" fmla="*/ 130 w 109"/>
                <a:gd name="T5" fmla="*/ 56 h 78"/>
                <a:gd name="T6" fmla="*/ 130 w 109"/>
                <a:gd name="T7" fmla="*/ 51 h 78"/>
                <a:gd name="T8" fmla="*/ 130 w 109"/>
                <a:gd name="T9" fmla="*/ 47 h 78"/>
                <a:gd name="T10" fmla="*/ 122 w 109"/>
                <a:gd name="T11" fmla="*/ 43 h 78"/>
                <a:gd name="T12" fmla="*/ 112 w 109"/>
                <a:gd name="T13" fmla="*/ 39 h 78"/>
                <a:gd name="T14" fmla="*/ 98 w 109"/>
                <a:gd name="T15" fmla="*/ 33 h 78"/>
                <a:gd name="T16" fmla="*/ 86 w 109"/>
                <a:gd name="T17" fmla="*/ 27 h 78"/>
                <a:gd name="T18" fmla="*/ 72 w 109"/>
                <a:gd name="T19" fmla="*/ 16 h 78"/>
                <a:gd name="T20" fmla="*/ 61 w 109"/>
                <a:gd name="T21" fmla="*/ 12 h 78"/>
                <a:gd name="T22" fmla="*/ 55 w 109"/>
                <a:gd name="T23" fmla="*/ 8 h 78"/>
                <a:gd name="T24" fmla="*/ 51 w 109"/>
                <a:gd name="T25" fmla="*/ 7 h 78"/>
                <a:gd name="T26" fmla="*/ 41 w 109"/>
                <a:gd name="T27" fmla="*/ 5 h 78"/>
                <a:gd name="T28" fmla="*/ 37 w 109"/>
                <a:gd name="T29" fmla="*/ 4 h 78"/>
                <a:gd name="T30" fmla="*/ 31 w 109"/>
                <a:gd name="T31" fmla="*/ 1 h 78"/>
                <a:gd name="T32" fmla="*/ 24 w 109"/>
                <a:gd name="T33" fmla="*/ 0 h 78"/>
                <a:gd name="T34" fmla="*/ 24 w 109"/>
                <a:gd name="T35" fmla="*/ 6 h 78"/>
                <a:gd name="T36" fmla="*/ 23 w 109"/>
                <a:gd name="T37" fmla="*/ 13 h 78"/>
                <a:gd name="T38" fmla="*/ 21 w 109"/>
                <a:gd name="T39" fmla="*/ 25 h 78"/>
                <a:gd name="T40" fmla="*/ 13 w 109"/>
                <a:gd name="T41" fmla="*/ 32 h 78"/>
                <a:gd name="T42" fmla="*/ 10 w 109"/>
                <a:gd name="T43" fmla="*/ 39 h 78"/>
                <a:gd name="T44" fmla="*/ 7 w 109"/>
                <a:gd name="T45" fmla="*/ 46 h 78"/>
                <a:gd name="T46" fmla="*/ 3 w 109"/>
                <a:gd name="T47" fmla="*/ 51 h 78"/>
                <a:gd name="T48" fmla="*/ 0 w 109"/>
                <a:gd name="T49" fmla="*/ 56 h 78"/>
                <a:gd name="T50" fmla="*/ 2 w 109"/>
                <a:gd name="T51" fmla="*/ 57 h 78"/>
                <a:gd name="T52" fmla="*/ 3 w 109"/>
                <a:gd name="T53" fmla="*/ 57 h 78"/>
                <a:gd name="T54" fmla="*/ 7 w 109"/>
                <a:gd name="T55" fmla="*/ 59 h 78"/>
                <a:gd name="T56" fmla="*/ 23 w 109"/>
                <a:gd name="T57" fmla="*/ 69 h 78"/>
                <a:gd name="T58" fmla="*/ 32 w 109"/>
                <a:gd name="T59" fmla="*/ 72 h 78"/>
                <a:gd name="T60" fmla="*/ 45 w 109"/>
                <a:gd name="T61" fmla="*/ 76 h 78"/>
                <a:gd name="T62" fmla="*/ 59 w 109"/>
                <a:gd name="T63" fmla="*/ 78 h 78"/>
                <a:gd name="T64" fmla="*/ 72 w 109"/>
                <a:gd name="T65" fmla="*/ 82 h 78"/>
                <a:gd name="T66" fmla="*/ 86 w 109"/>
                <a:gd name="T67" fmla="*/ 84 h 78"/>
                <a:gd name="T68" fmla="*/ 96 w 109"/>
                <a:gd name="T69" fmla="*/ 86 h 78"/>
                <a:gd name="T70" fmla="*/ 106 w 109"/>
                <a:gd name="T71" fmla="*/ 87 h 78"/>
                <a:gd name="T72" fmla="*/ 114 w 109"/>
                <a:gd name="T73" fmla="*/ 88 h 78"/>
                <a:gd name="T74" fmla="*/ 119 w 109"/>
                <a:gd name="T75" fmla="*/ 85 h 78"/>
                <a:gd name="T76" fmla="*/ 121 w 109"/>
                <a:gd name="T77" fmla="*/ 80 h 78"/>
                <a:gd name="T78" fmla="*/ 123 w 109"/>
                <a:gd name="T79" fmla="*/ 76 h 78"/>
                <a:gd name="T80" fmla="*/ 126 w 109"/>
                <a:gd name="T81" fmla="*/ 71 h 7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9"/>
                <a:gd name="T124" fmla="*/ 0 h 78"/>
                <a:gd name="T125" fmla="*/ 109 w 109"/>
                <a:gd name="T126" fmla="*/ 78 h 7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9" h="78">
                  <a:moveTo>
                    <a:pt x="106" y="61"/>
                  </a:moveTo>
                  <a:lnTo>
                    <a:pt x="108" y="57"/>
                  </a:lnTo>
                  <a:lnTo>
                    <a:pt x="109" y="51"/>
                  </a:lnTo>
                  <a:lnTo>
                    <a:pt x="109" y="46"/>
                  </a:lnTo>
                  <a:lnTo>
                    <a:pt x="109" y="42"/>
                  </a:lnTo>
                  <a:lnTo>
                    <a:pt x="102" y="38"/>
                  </a:lnTo>
                  <a:lnTo>
                    <a:pt x="93" y="34"/>
                  </a:lnTo>
                  <a:lnTo>
                    <a:pt x="83" y="28"/>
                  </a:lnTo>
                  <a:lnTo>
                    <a:pt x="71" y="22"/>
                  </a:lnTo>
                  <a:lnTo>
                    <a:pt x="61" y="16"/>
                  </a:lnTo>
                  <a:lnTo>
                    <a:pt x="51" y="12"/>
                  </a:lnTo>
                  <a:lnTo>
                    <a:pt x="45" y="8"/>
                  </a:lnTo>
                  <a:lnTo>
                    <a:pt x="41" y="7"/>
                  </a:lnTo>
                  <a:lnTo>
                    <a:pt x="36" y="5"/>
                  </a:lnTo>
                  <a:lnTo>
                    <a:pt x="32" y="4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9" y="6"/>
                  </a:lnTo>
                  <a:lnTo>
                    <a:pt x="18" y="13"/>
                  </a:lnTo>
                  <a:lnTo>
                    <a:pt x="16" y="20"/>
                  </a:lnTo>
                  <a:lnTo>
                    <a:pt x="13" y="27"/>
                  </a:lnTo>
                  <a:lnTo>
                    <a:pt x="10" y="34"/>
                  </a:lnTo>
                  <a:lnTo>
                    <a:pt x="7" y="41"/>
                  </a:lnTo>
                  <a:lnTo>
                    <a:pt x="3" y="46"/>
                  </a:lnTo>
                  <a:lnTo>
                    <a:pt x="0" y="51"/>
                  </a:lnTo>
                  <a:lnTo>
                    <a:pt x="2" y="52"/>
                  </a:lnTo>
                  <a:lnTo>
                    <a:pt x="3" y="52"/>
                  </a:lnTo>
                  <a:lnTo>
                    <a:pt x="7" y="54"/>
                  </a:lnTo>
                  <a:lnTo>
                    <a:pt x="18" y="59"/>
                  </a:lnTo>
                  <a:lnTo>
                    <a:pt x="27" y="62"/>
                  </a:lnTo>
                  <a:lnTo>
                    <a:pt x="38" y="66"/>
                  </a:lnTo>
                  <a:lnTo>
                    <a:pt x="49" y="68"/>
                  </a:lnTo>
                  <a:lnTo>
                    <a:pt x="61" y="72"/>
                  </a:lnTo>
                  <a:lnTo>
                    <a:pt x="71" y="74"/>
                  </a:lnTo>
                  <a:lnTo>
                    <a:pt x="81" y="76"/>
                  </a:lnTo>
                  <a:lnTo>
                    <a:pt x="89" y="77"/>
                  </a:lnTo>
                  <a:lnTo>
                    <a:pt x="95" y="78"/>
                  </a:lnTo>
                  <a:lnTo>
                    <a:pt x="99" y="75"/>
                  </a:lnTo>
                  <a:lnTo>
                    <a:pt x="101" y="70"/>
                  </a:lnTo>
                  <a:lnTo>
                    <a:pt x="103" y="66"/>
                  </a:lnTo>
                  <a:lnTo>
                    <a:pt x="106" y="6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4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17703A-7450-4291-BA3E-40357949D076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Utility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Anonymization is meaningless if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utility</a:t>
            </a:r>
            <a:r>
              <a:rPr lang="en-US" altLang="zh-CN">
                <a:ea typeface="宋体" panose="02010600030101010101" pitchFamily="2" charset="-122"/>
              </a:rPr>
              <a:t> of data not considered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empty data set has perfect privacy, but no utility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original data has full utility, but no privacy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What is “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utility</a:t>
            </a:r>
            <a:r>
              <a:rPr lang="en-US" altLang="zh-CN">
                <a:ea typeface="宋体" panose="02010600030101010101" pitchFamily="2" charset="-122"/>
              </a:rPr>
              <a:t>”?  Depends what the application is…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For fixed query set, can look at max, average distortion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Problem for publishing: want to support unknown applications!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Need some way to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quantify</a:t>
            </a:r>
            <a:r>
              <a:rPr lang="en-US" altLang="zh-CN">
                <a:ea typeface="宋体" panose="02010600030101010101" pitchFamily="2" charset="-122"/>
              </a:rPr>
              <a:t> utility of alternate anonymizations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3318" name="Group 4"/>
          <p:cNvGrpSpPr/>
          <p:nvPr/>
        </p:nvGrpSpPr>
        <p:grpSpPr bwMode="auto">
          <a:xfrm>
            <a:off x="7162800" y="381000"/>
            <a:ext cx="1077913" cy="1206500"/>
            <a:chOff x="2032" y="3305"/>
            <a:chExt cx="342" cy="383"/>
          </a:xfrm>
        </p:grpSpPr>
        <p:sp>
          <p:nvSpPr>
            <p:cNvPr id="13319" name="Freeform 5"/>
            <p:cNvSpPr/>
            <p:nvPr/>
          </p:nvSpPr>
          <p:spPr bwMode="auto">
            <a:xfrm>
              <a:off x="2032" y="3305"/>
              <a:ext cx="342" cy="383"/>
            </a:xfrm>
            <a:custGeom>
              <a:avLst/>
              <a:gdLst>
                <a:gd name="T0" fmla="*/ 22 w 683"/>
                <a:gd name="T1" fmla="*/ 0 h 766"/>
                <a:gd name="T2" fmla="*/ 0 w 683"/>
                <a:gd name="T3" fmla="*/ 0 h 766"/>
                <a:gd name="T4" fmla="*/ 0 w 683"/>
                <a:gd name="T5" fmla="*/ 15 h 766"/>
                <a:gd name="T6" fmla="*/ 7 w 683"/>
                <a:gd name="T7" fmla="*/ 15 h 766"/>
                <a:gd name="T8" fmla="*/ 4 w 683"/>
                <a:gd name="T9" fmla="*/ 24 h 766"/>
                <a:gd name="T10" fmla="*/ 5 w 683"/>
                <a:gd name="T11" fmla="*/ 24 h 766"/>
                <a:gd name="T12" fmla="*/ 8 w 683"/>
                <a:gd name="T13" fmla="*/ 15 h 766"/>
                <a:gd name="T14" fmla="*/ 14 w 683"/>
                <a:gd name="T15" fmla="*/ 15 h 766"/>
                <a:gd name="T16" fmla="*/ 17 w 683"/>
                <a:gd name="T17" fmla="*/ 24 h 766"/>
                <a:gd name="T18" fmla="*/ 18 w 683"/>
                <a:gd name="T19" fmla="*/ 24 h 766"/>
                <a:gd name="T20" fmla="*/ 15 w 683"/>
                <a:gd name="T21" fmla="*/ 15 h 766"/>
                <a:gd name="T22" fmla="*/ 22 w 683"/>
                <a:gd name="T23" fmla="*/ 15 h 766"/>
                <a:gd name="T24" fmla="*/ 22 w 683"/>
                <a:gd name="T25" fmla="*/ 0 h 7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83"/>
                <a:gd name="T40" fmla="*/ 0 h 766"/>
                <a:gd name="T41" fmla="*/ 683 w 683"/>
                <a:gd name="T42" fmla="*/ 766 h 7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83" h="766">
                  <a:moveTo>
                    <a:pt x="683" y="0"/>
                  </a:moveTo>
                  <a:lnTo>
                    <a:pt x="0" y="0"/>
                  </a:lnTo>
                  <a:lnTo>
                    <a:pt x="0" y="506"/>
                  </a:lnTo>
                  <a:lnTo>
                    <a:pt x="220" y="506"/>
                  </a:lnTo>
                  <a:lnTo>
                    <a:pt x="124" y="755"/>
                  </a:lnTo>
                  <a:lnTo>
                    <a:pt x="154" y="766"/>
                  </a:lnTo>
                  <a:lnTo>
                    <a:pt x="254" y="506"/>
                  </a:lnTo>
                  <a:lnTo>
                    <a:pt x="435" y="506"/>
                  </a:lnTo>
                  <a:lnTo>
                    <a:pt x="536" y="766"/>
                  </a:lnTo>
                  <a:lnTo>
                    <a:pt x="566" y="755"/>
                  </a:lnTo>
                  <a:lnTo>
                    <a:pt x="470" y="506"/>
                  </a:lnTo>
                  <a:lnTo>
                    <a:pt x="683" y="506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Rectangle 6"/>
            <p:cNvSpPr>
              <a:spLocks noChangeArrowheads="1"/>
            </p:cNvSpPr>
            <p:nvPr/>
          </p:nvSpPr>
          <p:spPr bwMode="auto">
            <a:xfrm>
              <a:off x="2048" y="3321"/>
              <a:ext cx="310" cy="2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3321" name="Freeform 7"/>
            <p:cNvSpPr/>
            <p:nvPr/>
          </p:nvSpPr>
          <p:spPr bwMode="auto">
            <a:xfrm>
              <a:off x="2070" y="3363"/>
              <a:ext cx="250" cy="136"/>
            </a:xfrm>
            <a:custGeom>
              <a:avLst/>
              <a:gdLst>
                <a:gd name="T0" fmla="*/ 15 w 501"/>
                <a:gd name="T1" fmla="*/ 0 h 273"/>
                <a:gd name="T2" fmla="*/ 12 w 501"/>
                <a:gd name="T3" fmla="*/ 0 h 273"/>
                <a:gd name="T4" fmla="*/ 13 w 501"/>
                <a:gd name="T5" fmla="*/ 1 h 273"/>
                <a:gd name="T6" fmla="*/ 12 w 501"/>
                <a:gd name="T7" fmla="*/ 1 h 273"/>
                <a:gd name="T8" fmla="*/ 11 w 501"/>
                <a:gd name="T9" fmla="*/ 2 h 273"/>
                <a:gd name="T10" fmla="*/ 11 w 501"/>
                <a:gd name="T11" fmla="*/ 3 h 273"/>
                <a:gd name="T12" fmla="*/ 10 w 501"/>
                <a:gd name="T13" fmla="*/ 4 h 273"/>
                <a:gd name="T14" fmla="*/ 9 w 501"/>
                <a:gd name="T15" fmla="*/ 4 h 273"/>
                <a:gd name="T16" fmla="*/ 8 w 501"/>
                <a:gd name="T17" fmla="*/ 5 h 273"/>
                <a:gd name="T18" fmla="*/ 8 w 501"/>
                <a:gd name="T19" fmla="*/ 5 h 273"/>
                <a:gd name="T20" fmla="*/ 7 w 501"/>
                <a:gd name="T21" fmla="*/ 6 h 273"/>
                <a:gd name="T22" fmla="*/ 7 w 501"/>
                <a:gd name="T23" fmla="*/ 5 h 273"/>
                <a:gd name="T24" fmla="*/ 7 w 501"/>
                <a:gd name="T25" fmla="*/ 5 h 273"/>
                <a:gd name="T26" fmla="*/ 6 w 501"/>
                <a:gd name="T27" fmla="*/ 4 h 273"/>
                <a:gd name="T28" fmla="*/ 6 w 501"/>
                <a:gd name="T29" fmla="*/ 3 h 273"/>
                <a:gd name="T30" fmla="*/ 6 w 501"/>
                <a:gd name="T31" fmla="*/ 3 h 273"/>
                <a:gd name="T32" fmla="*/ 5 w 501"/>
                <a:gd name="T33" fmla="*/ 2 h 273"/>
                <a:gd name="T34" fmla="*/ 5 w 501"/>
                <a:gd name="T35" fmla="*/ 2 h 273"/>
                <a:gd name="T36" fmla="*/ 5 w 501"/>
                <a:gd name="T37" fmla="*/ 2 h 273"/>
                <a:gd name="T38" fmla="*/ 0 w 501"/>
                <a:gd name="T39" fmla="*/ 7 h 273"/>
                <a:gd name="T40" fmla="*/ 0 w 501"/>
                <a:gd name="T41" fmla="*/ 8 h 273"/>
                <a:gd name="T42" fmla="*/ 0 w 501"/>
                <a:gd name="T43" fmla="*/ 8 h 273"/>
                <a:gd name="T44" fmla="*/ 1 w 501"/>
                <a:gd name="T45" fmla="*/ 7 h 273"/>
                <a:gd name="T46" fmla="*/ 1 w 501"/>
                <a:gd name="T47" fmla="*/ 7 h 273"/>
                <a:gd name="T48" fmla="*/ 2 w 501"/>
                <a:gd name="T49" fmla="*/ 6 h 273"/>
                <a:gd name="T50" fmla="*/ 3 w 501"/>
                <a:gd name="T51" fmla="*/ 5 h 273"/>
                <a:gd name="T52" fmla="*/ 4 w 501"/>
                <a:gd name="T53" fmla="*/ 4 h 273"/>
                <a:gd name="T54" fmla="*/ 4 w 501"/>
                <a:gd name="T55" fmla="*/ 4 h 273"/>
                <a:gd name="T56" fmla="*/ 5 w 501"/>
                <a:gd name="T57" fmla="*/ 3 h 273"/>
                <a:gd name="T58" fmla="*/ 5 w 501"/>
                <a:gd name="T59" fmla="*/ 4 h 273"/>
                <a:gd name="T60" fmla="*/ 5 w 501"/>
                <a:gd name="T61" fmla="*/ 4 h 273"/>
                <a:gd name="T62" fmla="*/ 6 w 501"/>
                <a:gd name="T63" fmla="*/ 5 h 273"/>
                <a:gd name="T64" fmla="*/ 6 w 501"/>
                <a:gd name="T65" fmla="*/ 6 h 273"/>
                <a:gd name="T66" fmla="*/ 7 w 501"/>
                <a:gd name="T67" fmla="*/ 6 h 273"/>
                <a:gd name="T68" fmla="*/ 7 w 501"/>
                <a:gd name="T69" fmla="*/ 7 h 273"/>
                <a:gd name="T70" fmla="*/ 7 w 501"/>
                <a:gd name="T71" fmla="*/ 7 h 273"/>
                <a:gd name="T72" fmla="*/ 7 w 501"/>
                <a:gd name="T73" fmla="*/ 7 h 273"/>
                <a:gd name="T74" fmla="*/ 13 w 501"/>
                <a:gd name="T75" fmla="*/ 2 h 273"/>
                <a:gd name="T76" fmla="*/ 15 w 501"/>
                <a:gd name="T77" fmla="*/ 3 h 273"/>
                <a:gd name="T78" fmla="*/ 15 w 501"/>
                <a:gd name="T79" fmla="*/ 0 h 27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01"/>
                <a:gd name="T121" fmla="*/ 0 h 273"/>
                <a:gd name="T122" fmla="*/ 501 w 501"/>
                <a:gd name="T123" fmla="*/ 273 h 27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01" h="273">
                  <a:moveTo>
                    <a:pt x="501" y="0"/>
                  </a:moveTo>
                  <a:lnTo>
                    <a:pt x="393" y="14"/>
                  </a:lnTo>
                  <a:lnTo>
                    <a:pt x="424" y="46"/>
                  </a:lnTo>
                  <a:lnTo>
                    <a:pt x="405" y="63"/>
                  </a:lnTo>
                  <a:lnTo>
                    <a:pt x="382" y="83"/>
                  </a:lnTo>
                  <a:lnTo>
                    <a:pt x="357" y="105"/>
                  </a:lnTo>
                  <a:lnTo>
                    <a:pt x="330" y="128"/>
                  </a:lnTo>
                  <a:lnTo>
                    <a:pt x="305" y="150"/>
                  </a:lnTo>
                  <a:lnTo>
                    <a:pt x="283" y="170"/>
                  </a:lnTo>
                  <a:lnTo>
                    <a:pt x="266" y="185"/>
                  </a:lnTo>
                  <a:lnTo>
                    <a:pt x="254" y="194"/>
                  </a:lnTo>
                  <a:lnTo>
                    <a:pt x="246" y="182"/>
                  </a:lnTo>
                  <a:lnTo>
                    <a:pt x="235" y="166"/>
                  </a:lnTo>
                  <a:lnTo>
                    <a:pt x="222" y="147"/>
                  </a:lnTo>
                  <a:lnTo>
                    <a:pt x="208" y="126"/>
                  </a:lnTo>
                  <a:lnTo>
                    <a:pt x="194" y="108"/>
                  </a:lnTo>
                  <a:lnTo>
                    <a:pt x="183" y="90"/>
                  </a:lnTo>
                  <a:lnTo>
                    <a:pt x="176" y="80"/>
                  </a:lnTo>
                  <a:lnTo>
                    <a:pt x="173" y="75"/>
                  </a:lnTo>
                  <a:lnTo>
                    <a:pt x="0" y="250"/>
                  </a:lnTo>
                  <a:lnTo>
                    <a:pt x="23" y="273"/>
                  </a:lnTo>
                  <a:lnTo>
                    <a:pt x="28" y="268"/>
                  </a:lnTo>
                  <a:lnTo>
                    <a:pt x="42" y="254"/>
                  </a:lnTo>
                  <a:lnTo>
                    <a:pt x="63" y="232"/>
                  </a:lnTo>
                  <a:lnTo>
                    <a:pt x="87" y="208"/>
                  </a:lnTo>
                  <a:lnTo>
                    <a:pt x="113" y="182"/>
                  </a:lnTo>
                  <a:lnTo>
                    <a:pt x="136" y="158"/>
                  </a:lnTo>
                  <a:lnTo>
                    <a:pt x="155" y="138"/>
                  </a:lnTo>
                  <a:lnTo>
                    <a:pt x="168" y="125"/>
                  </a:lnTo>
                  <a:lnTo>
                    <a:pt x="176" y="136"/>
                  </a:lnTo>
                  <a:lnTo>
                    <a:pt x="187" y="154"/>
                  </a:lnTo>
                  <a:lnTo>
                    <a:pt x="201" y="173"/>
                  </a:lnTo>
                  <a:lnTo>
                    <a:pt x="215" y="193"/>
                  </a:lnTo>
                  <a:lnTo>
                    <a:pt x="228" y="211"/>
                  </a:lnTo>
                  <a:lnTo>
                    <a:pt x="238" y="227"/>
                  </a:lnTo>
                  <a:lnTo>
                    <a:pt x="246" y="238"/>
                  </a:lnTo>
                  <a:lnTo>
                    <a:pt x="249" y="242"/>
                  </a:lnTo>
                  <a:lnTo>
                    <a:pt x="447" y="70"/>
                  </a:lnTo>
                  <a:lnTo>
                    <a:pt x="480" y="105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914FF8-DC96-4E50-A837-99489AF9E498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Measures of Utility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Define a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surrogate measure</a:t>
            </a:r>
            <a:r>
              <a:rPr lang="en-US" altLang="zh-CN">
                <a:ea typeface="宋体" panose="02010600030101010101" pitchFamily="2" charset="-122"/>
              </a:rPr>
              <a:t> and try to optimize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Often based on the “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information loss</a:t>
            </a:r>
            <a:r>
              <a:rPr lang="en-US" altLang="zh-CN">
                <a:ea typeface="宋体" panose="02010600030101010101" pitchFamily="2" charset="-122"/>
              </a:rPr>
              <a:t>” of the anonymization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Simple example: number of rows suppressed in a table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Give a guarantee for all queries in some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fixed class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Hope the class is representative, so other uses have low distortion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Costly: some methods enumerate all queries, or all anonymizations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Empirical Evaluation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Perform experiments with a reasonable workload on the result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Compare to results on original data (e.g. Netflix prize problems)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Combinations of multiple methods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Optimize for some surrogate, but also evaluate on real queries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4342" name="Group 22"/>
          <p:cNvGrpSpPr/>
          <p:nvPr/>
        </p:nvGrpSpPr>
        <p:grpSpPr bwMode="auto">
          <a:xfrm>
            <a:off x="7162800" y="381000"/>
            <a:ext cx="1077913" cy="1206500"/>
            <a:chOff x="2032" y="3305"/>
            <a:chExt cx="342" cy="383"/>
          </a:xfrm>
        </p:grpSpPr>
        <p:sp>
          <p:nvSpPr>
            <p:cNvPr id="14343" name="Freeform 8"/>
            <p:cNvSpPr/>
            <p:nvPr/>
          </p:nvSpPr>
          <p:spPr bwMode="auto">
            <a:xfrm>
              <a:off x="2032" y="3305"/>
              <a:ext cx="342" cy="383"/>
            </a:xfrm>
            <a:custGeom>
              <a:avLst/>
              <a:gdLst>
                <a:gd name="T0" fmla="*/ 22 w 683"/>
                <a:gd name="T1" fmla="*/ 0 h 766"/>
                <a:gd name="T2" fmla="*/ 0 w 683"/>
                <a:gd name="T3" fmla="*/ 0 h 766"/>
                <a:gd name="T4" fmla="*/ 0 w 683"/>
                <a:gd name="T5" fmla="*/ 15 h 766"/>
                <a:gd name="T6" fmla="*/ 7 w 683"/>
                <a:gd name="T7" fmla="*/ 15 h 766"/>
                <a:gd name="T8" fmla="*/ 4 w 683"/>
                <a:gd name="T9" fmla="*/ 24 h 766"/>
                <a:gd name="T10" fmla="*/ 5 w 683"/>
                <a:gd name="T11" fmla="*/ 24 h 766"/>
                <a:gd name="T12" fmla="*/ 8 w 683"/>
                <a:gd name="T13" fmla="*/ 15 h 766"/>
                <a:gd name="T14" fmla="*/ 14 w 683"/>
                <a:gd name="T15" fmla="*/ 15 h 766"/>
                <a:gd name="T16" fmla="*/ 17 w 683"/>
                <a:gd name="T17" fmla="*/ 24 h 766"/>
                <a:gd name="T18" fmla="*/ 18 w 683"/>
                <a:gd name="T19" fmla="*/ 24 h 766"/>
                <a:gd name="T20" fmla="*/ 15 w 683"/>
                <a:gd name="T21" fmla="*/ 15 h 766"/>
                <a:gd name="T22" fmla="*/ 22 w 683"/>
                <a:gd name="T23" fmla="*/ 15 h 766"/>
                <a:gd name="T24" fmla="*/ 22 w 683"/>
                <a:gd name="T25" fmla="*/ 0 h 7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83"/>
                <a:gd name="T40" fmla="*/ 0 h 766"/>
                <a:gd name="T41" fmla="*/ 683 w 683"/>
                <a:gd name="T42" fmla="*/ 766 h 7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83" h="766">
                  <a:moveTo>
                    <a:pt x="683" y="0"/>
                  </a:moveTo>
                  <a:lnTo>
                    <a:pt x="0" y="0"/>
                  </a:lnTo>
                  <a:lnTo>
                    <a:pt x="0" y="506"/>
                  </a:lnTo>
                  <a:lnTo>
                    <a:pt x="220" y="506"/>
                  </a:lnTo>
                  <a:lnTo>
                    <a:pt x="124" y="755"/>
                  </a:lnTo>
                  <a:lnTo>
                    <a:pt x="154" y="766"/>
                  </a:lnTo>
                  <a:lnTo>
                    <a:pt x="254" y="506"/>
                  </a:lnTo>
                  <a:lnTo>
                    <a:pt x="435" y="506"/>
                  </a:lnTo>
                  <a:lnTo>
                    <a:pt x="536" y="766"/>
                  </a:lnTo>
                  <a:lnTo>
                    <a:pt x="566" y="755"/>
                  </a:lnTo>
                  <a:lnTo>
                    <a:pt x="470" y="506"/>
                  </a:lnTo>
                  <a:lnTo>
                    <a:pt x="683" y="506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4" name="Rectangle 9"/>
            <p:cNvSpPr>
              <a:spLocks noChangeArrowheads="1"/>
            </p:cNvSpPr>
            <p:nvPr/>
          </p:nvSpPr>
          <p:spPr bwMode="auto">
            <a:xfrm>
              <a:off x="2048" y="3321"/>
              <a:ext cx="310" cy="2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4345" name="Freeform 15"/>
            <p:cNvSpPr/>
            <p:nvPr/>
          </p:nvSpPr>
          <p:spPr bwMode="auto">
            <a:xfrm>
              <a:off x="2070" y="3363"/>
              <a:ext cx="250" cy="136"/>
            </a:xfrm>
            <a:custGeom>
              <a:avLst/>
              <a:gdLst>
                <a:gd name="T0" fmla="*/ 15 w 501"/>
                <a:gd name="T1" fmla="*/ 0 h 273"/>
                <a:gd name="T2" fmla="*/ 12 w 501"/>
                <a:gd name="T3" fmla="*/ 0 h 273"/>
                <a:gd name="T4" fmla="*/ 13 w 501"/>
                <a:gd name="T5" fmla="*/ 1 h 273"/>
                <a:gd name="T6" fmla="*/ 12 w 501"/>
                <a:gd name="T7" fmla="*/ 1 h 273"/>
                <a:gd name="T8" fmla="*/ 11 w 501"/>
                <a:gd name="T9" fmla="*/ 2 h 273"/>
                <a:gd name="T10" fmla="*/ 11 w 501"/>
                <a:gd name="T11" fmla="*/ 3 h 273"/>
                <a:gd name="T12" fmla="*/ 10 w 501"/>
                <a:gd name="T13" fmla="*/ 4 h 273"/>
                <a:gd name="T14" fmla="*/ 9 w 501"/>
                <a:gd name="T15" fmla="*/ 4 h 273"/>
                <a:gd name="T16" fmla="*/ 8 w 501"/>
                <a:gd name="T17" fmla="*/ 5 h 273"/>
                <a:gd name="T18" fmla="*/ 8 w 501"/>
                <a:gd name="T19" fmla="*/ 5 h 273"/>
                <a:gd name="T20" fmla="*/ 7 w 501"/>
                <a:gd name="T21" fmla="*/ 6 h 273"/>
                <a:gd name="T22" fmla="*/ 7 w 501"/>
                <a:gd name="T23" fmla="*/ 5 h 273"/>
                <a:gd name="T24" fmla="*/ 7 w 501"/>
                <a:gd name="T25" fmla="*/ 5 h 273"/>
                <a:gd name="T26" fmla="*/ 6 w 501"/>
                <a:gd name="T27" fmla="*/ 4 h 273"/>
                <a:gd name="T28" fmla="*/ 6 w 501"/>
                <a:gd name="T29" fmla="*/ 3 h 273"/>
                <a:gd name="T30" fmla="*/ 6 w 501"/>
                <a:gd name="T31" fmla="*/ 3 h 273"/>
                <a:gd name="T32" fmla="*/ 5 w 501"/>
                <a:gd name="T33" fmla="*/ 2 h 273"/>
                <a:gd name="T34" fmla="*/ 5 w 501"/>
                <a:gd name="T35" fmla="*/ 2 h 273"/>
                <a:gd name="T36" fmla="*/ 5 w 501"/>
                <a:gd name="T37" fmla="*/ 2 h 273"/>
                <a:gd name="T38" fmla="*/ 0 w 501"/>
                <a:gd name="T39" fmla="*/ 7 h 273"/>
                <a:gd name="T40" fmla="*/ 0 w 501"/>
                <a:gd name="T41" fmla="*/ 8 h 273"/>
                <a:gd name="T42" fmla="*/ 0 w 501"/>
                <a:gd name="T43" fmla="*/ 8 h 273"/>
                <a:gd name="T44" fmla="*/ 1 w 501"/>
                <a:gd name="T45" fmla="*/ 7 h 273"/>
                <a:gd name="T46" fmla="*/ 1 w 501"/>
                <a:gd name="T47" fmla="*/ 7 h 273"/>
                <a:gd name="T48" fmla="*/ 2 w 501"/>
                <a:gd name="T49" fmla="*/ 6 h 273"/>
                <a:gd name="T50" fmla="*/ 3 w 501"/>
                <a:gd name="T51" fmla="*/ 5 h 273"/>
                <a:gd name="T52" fmla="*/ 4 w 501"/>
                <a:gd name="T53" fmla="*/ 4 h 273"/>
                <a:gd name="T54" fmla="*/ 4 w 501"/>
                <a:gd name="T55" fmla="*/ 4 h 273"/>
                <a:gd name="T56" fmla="*/ 5 w 501"/>
                <a:gd name="T57" fmla="*/ 3 h 273"/>
                <a:gd name="T58" fmla="*/ 5 w 501"/>
                <a:gd name="T59" fmla="*/ 4 h 273"/>
                <a:gd name="T60" fmla="*/ 5 w 501"/>
                <a:gd name="T61" fmla="*/ 4 h 273"/>
                <a:gd name="T62" fmla="*/ 6 w 501"/>
                <a:gd name="T63" fmla="*/ 5 h 273"/>
                <a:gd name="T64" fmla="*/ 6 w 501"/>
                <a:gd name="T65" fmla="*/ 6 h 273"/>
                <a:gd name="T66" fmla="*/ 7 w 501"/>
                <a:gd name="T67" fmla="*/ 6 h 273"/>
                <a:gd name="T68" fmla="*/ 7 w 501"/>
                <a:gd name="T69" fmla="*/ 7 h 273"/>
                <a:gd name="T70" fmla="*/ 7 w 501"/>
                <a:gd name="T71" fmla="*/ 7 h 273"/>
                <a:gd name="T72" fmla="*/ 7 w 501"/>
                <a:gd name="T73" fmla="*/ 7 h 273"/>
                <a:gd name="T74" fmla="*/ 13 w 501"/>
                <a:gd name="T75" fmla="*/ 2 h 273"/>
                <a:gd name="T76" fmla="*/ 15 w 501"/>
                <a:gd name="T77" fmla="*/ 3 h 273"/>
                <a:gd name="T78" fmla="*/ 15 w 501"/>
                <a:gd name="T79" fmla="*/ 0 h 27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01"/>
                <a:gd name="T121" fmla="*/ 0 h 273"/>
                <a:gd name="T122" fmla="*/ 501 w 501"/>
                <a:gd name="T123" fmla="*/ 273 h 27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01" h="273">
                  <a:moveTo>
                    <a:pt x="501" y="0"/>
                  </a:moveTo>
                  <a:lnTo>
                    <a:pt x="393" y="14"/>
                  </a:lnTo>
                  <a:lnTo>
                    <a:pt x="424" y="46"/>
                  </a:lnTo>
                  <a:lnTo>
                    <a:pt x="405" y="63"/>
                  </a:lnTo>
                  <a:lnTo>
                    <a:pt x="382" y="83"/>
                  </a:lnTo>
                  <a:lnTo>
                    <a:pt x="357" y="105"/>
                  </a:lnTo>
                  <a:lnTo>
                    <a:pt x="330" y="128"/>
                  </a:lnTo>
                  <a:lnTo>
                    <a:pt x="305" y="150"/>
                  </a:lnTo>
                  <a:lnTo>
                    <a:pt x="283" y="170"/>
                  </a:lnTo>
                  <a:lnTo>
                    <a:pt x="266" y="185"/>
                  </a:lnTo>
                  <a:lnTo>
                    <a:pt x="254" y="194"/>
                  </a:lnTo>
                  <a:lnTo>
                    <a:pt x="246" y="182"/>
                  </a:lnTo>
                  <a:lnTo>
                    <a:pt x="235" y="166"/>
                  </a:lnTo>
                  <a:lnTo>
                    <a:pt x="222" y="147"/>
                  </a:lnTo>
                  <a:lnTo>
                    <a:pt x="208" y="126"/>
                  </a:lnTo>
                  <a:lnTo>
                    <a:pt x="194" y="108"/>
                  </a:lnTo>
                  <a:lnTo>
                    <a:pt x="183" y="90"/>
                  </a:lnTo>
                  <a:lnTo>
                    <a:pt x="176" y="80"/>
                  </a:lnTo>
                  <a:lnTo>
                    <a:pt x="173" y="75"/>
                  </a:lnTo>
                  <a:lnTo>
                    <a:pt x="0" y="250"/>
                  </a:lnTo>
                  <a:lnTo>
                    <a:pt x="23" y="273"/>
                  </a:lnTo>
                  <a:lnTo>
                    <a:pt x="28" y="268"/>
                  </a:lnTo>
                  <a:lnTo>
                    <a:pt x="42" y="254"/>
                  </a:lnTo>
                  <a:lnTo>
                    <a:pt x="63" y="232"/>
                  </a:lnTo>
                  <a:lnTo>
                    <a:pt x="87" y="208"/>
                  </a:lnTo>
                  <a:lnTo>
                    <a:pt x="113" y="182"/>
                  </a:lnTo>
                  <a:lnTo>
                    <a:pt x="136" y="158"/>
                  </a:lnTo>
                  <a:lnTo>
                    <a:pt x="155" y="138"/>
                  </a:lnTo>
                  <a:lnTo>
                    <a:pt x="168" y="125"/>
                  </a:lnTo>
                  <a:lnTo>
                    <a:pt x="176" y="136"/>
                  </a:lnTo>
                  <a:lnTo>
                    <a:pt x="187" y="154"/>
                  </a:lnTo>
                  <a:lnTo>
                    <a:pt x="201" y="173"/>
                  </a:lnTo>
                  <a:lnTo>
                    <a:pt x="215" y="193"/>
                  </a:lnTo>
                  <a:lnTo>
                    <a:pt x="228" y="211"/>
                  </a:lnTo>
                  <a:lnTo>
                    <a:pt x="238" y="227"/>
                  </a:lnTo>
                  <a:lnTo>
                    <a:pt x="246" y="238"/>
                  </a:lnTo>
                  <a:lnTo>
                    <a:pt x="249" y="242"/>
                  </a:lnTo>
                  <a:lnTo>
                    <a:pt x="447" y="70"/>
                  </a:lnTo>
                  <a:lnTo>
                    <a:pt x="480" y="105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7D3722-97CB-4474-A12A-64BA722CEBFA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Definitions of Technical Terms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Identifiers</a:t>
            </a:r>
            <a:r>
              <a:rPr lang="en-US" altLang="zh-CN" dirty="0">
                <a:ea typeface="宋体" panose="02010600030101010101" pitchFamily="2" charset="-122"/>
              </a:rPr>
              <a:t>–uniquely identify, e.g. Social Security Number (SSN)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Step 0: remove all identifiers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Was not enough for AOL search data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Quasi-Identifiers</a:t>
            </a:r>
            <a:r>
              <a:rPr lang="en-US" altLang="zh-CN" dirty="0">
                <a:ea typeface="宋体" panose="02010600030101010101" pitchFamily="2" charset="-122"/>
              </a:rPr>
              <a:t> (QI)—such as DOB, Sex, ZIP Code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Enough to partially identify an individual in a dataset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DOB+Sex+ZIP unique for 87% of US Residents </a:t>
            </a:r>
            <a:r>
              <a:rPr lang="en-US" altLang="zh-CN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[Sweeney 02]</a:t>
            </a:r>
            <a:endParaRPr lang="en-US" altLang="zh-CN" dirty="0">
              <a:solidFill>
                <a:srgbClr val="0000FF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Sensitive attributes</a:t>
            </a:r>
            <a:r>
              <a:rPr lang="en-US" altLang="zh-CN" dirty="0">
                <a:ea typeface="宋体" panose="02010600030101010101" pitchFamily="2" charset="-122"/>
              </a:rPr>
              <a:t> (SA)—the associations we want to hide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Salary in the “census” example is considered sensitive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Not always well-defined: only some “search” queries sensitive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 “video”, association between user and video is sensitive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SA can be identifying: bonus may identify salary…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5366" name="Group 30"/>
          <p:cNvGrpSpPr/>
          <p:nvPr/>
        </p:nvGrpSpPr>
        <p:grpSpPr bwMode="auto">
          <a:xfrm>
            <a:off x="6792913" y="152400"/>
            <a:ext cx="1131887" cy="1295400"/>
            <a:chOff x="4166" y="-229"/>
            <a:chExt cx="955" cy="1093"/>
          </a:xfrm>
        </p:grpSpPr>
        <p:sp>
          <p:nvSpPr>
            <p:cNvPr id="15423" name="Freeform 8"/>
            <p:cNvSpPr/>
            <p:nvPr/>
          </p:nvSpPr>
          <p:spPr bwMode="auto">
            <a:xfrm>
              <a:off x="4187" y="-194"/>
              <a:ext cx="583" cy="387"/>
            </a:xfrm>
            <a:custGeom>
              <a:avLst/>
              <a:gdLst>
                <a:gd name="T0" fmla="*/ 16 w 1165"/>
                <a:gd name="T1" fmla="*/ 1 h 774"/>
                <a:gd name="T2" fmla="*/ 36 w 1165"/>
                <a:gd name="T3" fmla="*/ 0 h 774"/>
                <a:gd name="T4" fmla="*/ 37 w 1165"/>
                <a:gd name="T5" fmla="*/ 9 h 774"/>
                <a:gd name="T6" fmla="*/ 15 w 1165"/>
                <a:gd name="T7" fmla="*/ 24 h 774"/>
                <a:gd name="T8" fmla="*/ 3 w 1165"/>
                <a:gd name="T9" fmla="*/ 24 h 774"/>
                <a:gd name="T10" fmla="*/ 0 w 1165"/>
                <a:gd name="T11" fmla="*/ 21 h 774"/>
                <a:gd name="T12" fmla="*/ 2 w 1165"/>
                <a:gd name="T13" fmla="*/ 18 h 774"/>
                <a:gd name="T14" fmla="*/ 16 w 1165"/>
                <a:gd name="T15" fmla="*/ 1 h 7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65"/>
                <a:gd name="T25" fmla="*/ 0 h 774"/>
                <a:gd name="T26" fmla="*/ 1165 w 1165"/>
                <a:gd name="T27" fmla="*/ 774 h 77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65" h="774">
                  <a:moveTo>
                    <a:pt x="495" y="15"/>
                  </a:moveTo>
                  <a:lnTo>
                    <a:pt x="1146" y="0"/>
                  </a:lnTo>
                  <a:lnTo>
                    <a:pt x="1165" y="280"/>
                  </a:lnTo>
                  <a:lnTo>
                    <a:pt x="456" y="765"/>
                  </a:lnTo>
                  <a:lnTo>
                    <a:pt x="95" y="774"/>
                  </a:lnTo>
                  <a:lnTo>
                    <a:pt x="0" y="650"/>
                  </a:lnTo>
                  <a:lnTo>
                    <a:pt x="44" y="568"/>
                  </a:lnTo>
                  <a:lnTo>
                    <a:pt x="495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9"/>
            <p:cNvSpPr/>
            <p:nvPr/>
          </p:nvSpPr>
          <p:spPr bwMode="auto">
            <a:xfrm>
              <a:off x="4273" y="-197"/>
              <a:ext cx="432" cy="325"/>
            </a:xfrm>
            <a:custGeom>
              <a:avLst/>
              <a:gdLst>
                <a:gd name="T0" fmla="*/ 28 w 862"/>
                <a:gd name="T1" fmla="*/ 0 h 650"/>
                <a:gd name="T2" fmla="*/ 25 w 862"/>
                <a:gd name="T3" fmla="*/ 1 h 650"/>
                <a:gd name="T4" fmla="*/ 0 w 862"/>
                <a:gd name="T5" fmla="*/ 20 h 650"/>
                <a:gd name="T6" fmla="*/ 28 w 862"/>
                <a:gd name="T7" fmla="*/ 0 h 6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2"/>
                <a:gd name="T13" fmla="*/ 0 h 650"/>
                <a:gd name="T14" fmla="*/ 862 w 862"/>
                <a:gd name="T15" fmla="*/ 650 h 6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2" h="650">
                  <a:moveTo>
                    <a:pt x="862" y="0"/>
                  </a:moveTo>
                  <a:lnTo>
                    <a:pt x="790" y="2"/>
                  </a:lnTo>
                  <a:lnTo>
                    <a:pt x="0" y="650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10"/>
            <p:cNvSpPr/>
            <p:nvPr/>
          </p:nvSpPr>
          <p:spPr bwMode="auto">
            <a:xfrm>
              <a:off x="4252" y="-195"/>
              <a:ext cx="375" cy="324"/>
            </a:xfrm>
            <a:custGeom>
              <a:avLst/>
              <a:gdLst>
                <a:gd name="T0" fmla="*/ 23 w 751"/>
                <a:gd name="T1" fmla="*/ 0 h 649"/>
                <a:gd name="T2" fmla="*/ 21 w 751"/>
                <a:gd name="T3" fmla="*/ 0 h 649"/>
                <a:gd name="T4" fmla="*/ 0 w 751"/>
                <a:gd name="T5" fmla="*/ 20 h 649"/>
                <a:gd name="T6" fmla="*/ 23 w 751"/>
                <a:gd name="T7" fmla="*/ 0 h 6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1"/>
                <a:gd name="T13" fmla="*/ 0 h 649"/>
                <a:gd name="T14" fmla="*/ 751 w 751"/>
                <a:gd name="T15" fmla="*/ 649 h 6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1" h="649">
                  <a:moveTo>
                    <a:pt x="751" y="0"/>
                  </a:moveTo>
                  <a:lnTo>
                    <a:pt x="698" y="2"/>
                  </a:lnTo>
                  <a:lnTo>
                    <a:pt x="0" y="649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11"/>
            <p:cNvSpPr/>
            <p:nvPr/>
          </p:nvSpPr>
          <p:spPr bwMode="auto">
            <a:xfrm>
              <a:off x="4230" y="-193"/>
              <a:ext cx="328" cy="324"/>
            </a:xfrm>
            <a:custGeom>
              <a:avLst/>
              <a:gdLst>
                <a:gd name="T0" fmla="*/ 21 w 655"/>
                <a:gd name="T1" fmla="*/ 0 h 648"/>
                <a:gd name="T2" fmla="*/ 20 w 655"/>
                <a:gd name="T3" fmla="*/ 1 h 648"/>
                <a:gd name="T4" fmla="*/ 0 w 655"/>
                <a:gd name="T5" fmla="*/ 20 h 648"/>
                <a:gd name="T6" fmla="*/ 21 w 655"/>
                <a:gd name="T7" fmla="*/ 0 h 6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5"/>
                <a:gd name="T13" fmla="*/ 0 h 648"/>
                <a:gd name="T14" fmla="*/ 655 w 655"/>
                <a:gd name="T15" fmla="*/ 648 h 6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5" h="648">
                  <a:moveTo>
                    <a:pt x="655" y="0"/>
                  </a:moveTo>
                  <a:lnTo>
                    <a:pt x="616" y="2"/>
                  </a:lnTo>
                  <a:lnTo>
                    <a:pt x="0" y="648"/>
                  </a:lnTo>
                  <a:lnTo>
                    <a:pt x="655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12"/>
            <p:cNvSpPr/>
            <p:nvPr/>
          </p:nvSpPr>
          <p:spPr bwMode="auto">
            <a:xfrm>
              <a:off x="4209" y="-191"/>
              <a:ext cx="285" cy="324"/>
            </a:xfrm>
            <a:custGeom>
              <a:avLst/>
              <a:gdLst>
                <a:gd name="T0" fmla="*/ 17 w 571"/>
                <a:gd name="T1" fmla="*/ 0 h 646"/>
                <a:gd name="T2" fmla="*/ 16 w 571"/>
                <a:gd name="T3" fmla="*/ 1 h 646"/>
                <a:gd name="T4" fmla="*/ 0 w 571"/>
                <a:gd name="T5" fmla="*/ 21 h 646"/>
                <a:gd name="T6" fmla="*/ 17 w 571"/>
                <a:gd name="T7" fmla="*/ 0 h 6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1"/>
                <a:gd name="T13" fmla="*/ 0 h 646"/>
                <a:gd name="T14" fmla="*/ 571 w 571"/>
                <a:gd name="T15" fmla="*/ 646 h 6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1" h="646">
                  <a:moveTo>
                    <a:pt x="571" y="0"/>
                  </a:moveTo>
                  <a:lnTo>
                    <a:pt x="541" y="1"/>
                  </a:lnTo>
                  <a:lnTo>
                    <a:pt x="0" y="64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Freeform 13"/>
            <p:cNvSpPr/>
            <p:nvPr/>
          </p:nvSpPr>
          <p:spPr bwMode="auto">
            <a:xfrm>
              <a:off x="4166" y="-229"/>
              <a:ext cx="955" cy="1093"/>
            </a:xfrm>
            <a:custGeom>
              <a:avLst/>
              <a:gdLst>
                <a:gd name="T0" fmla="*/ 40 w 1911"/>
                <a:gd name="T1" fmla="*/ 1 h 2186"/>
                <a:gd name="T2" fmla="*/ 40 w 1911"/>
                <a:gd name="T3" fmla="*/ 1 h 2186"/>
                <a:gd name="T4" fmla="*/ 40 w 1911"/>
                <a:gd name="T5" fmla="*/ 1 h 2186"/>
                <a:gd name="T6" fmla="*/ 39 w 1911"/>
                <a:gd name="T7" fmla="*/ 0 h 2186"/>
                <a:gd name="T8" fmla="*/ 39 w 1911"/>
                <a:gd name="T9" fmla="*/ 1 h 2186"/>
                <a:gd name="T10" fmla="*/ 7 w 1911"/>
                <a:gd name="T11" fmla="*/ 21 h 2186"/>
                <a:gd name="T12" fmla="*/ 6 w 1911"/>
                <a:gd name="T13" fmla="*/ 22 h 2186"/>
                <a:gd name="T14" fmla="*/ 6 w 1911"/>
                <a:gd name="T15" fmla="*/ 22 h 2186"/>
                <a:gd name="T16" fmla="*/ 5 w 1911"/>
                <a:gd name="T17" fmla="*/ 22 h 2186"/>
                <a:gd name="T18" fmla="*/ 4 w 1911"/>
                <a:gd name="T19" fmla="*/ 22 h 2186"/>
                <a:gd name="T20" fmla="*/ 3 w 1911"/>
                <a:gd name="T21" fmla="*/ 22 h 2186"/>
                <a:gd name="T22" fmla="*/ 2 w 1911"/>
                <a:gd name="T23" fmla="*/ 22 h 2186"/>
                <a:gd name="T24" fmla="*/ 2 w 1911"/>
                <a:gd name="T25" fmla="*/ 22 h 2186"/>
                <a:gd name="T26" fmla="*/ 2 w 1911"/>
                <a:gd name="T27" fmla="*/ 22 h 2186"/>
                <a:gd name="T28" fmla="*/ 2 w 1911"/>
                <a:gd name="T29" fmla="*/ 22 h 2186"/>
                <a:gd name="T30" fmla="*/ 2 w 1911"/>
                <a:gd name="T31" fmla="*/ 22 h 2186"/>
                <a:gd name="T32" fmla="*/ 1 w 1911"/>
                <a:gd name="T33" fmla="*/ 21 h 2186"/>
                <a:gd name="T34" fmla="*/ 1 w 1911"/>
                <a:gd name="T35" fmla="*/ 21 h 2186"/>
                <a:gd name="T36" fmla="*/ 1 w 1911"/>
                <a:gd name="T37" fmla="*/ 21 h 2186"/>
                <a:gd name="T38" fmla="*/ 1 w 1911"/>
                <a:gd name="T39" fmla="*/ 21 h 2186"/>
                <a:gd name="T40" fmla="*/ 0 w 1911"/>
                <a:gd name="T41" fmla="*/ 21 h 2186"/>
                <a:gd name="T42" fmla="*/ 0 w 1911"/>
                <a:gd name="T43" fmla="*/ 21 h 2186"/>
                <a:gd name="T44" fmla="*/ 0 w 1911"/>
                <a:gd name="T45" fmla="*/ 21 h 2186"/>
                <a:gd name="T46" fmla="*/ 0 w 1911"/>
                <a:gd name="T47" fmla="*/ 22 h 2186"/>
                <a:gd name="T48" fmla="*/ 0 w 1911"/>
                <a:gd name="T49" fmla="*/ 23 h 2186"/>
                <a:gd name="T50" fmla="*/ 19 w 1911"/>
                <a:gd name="T51" fmla="*/ 66 h 2186"/>
                <a:gd name="T52" fmla="*/ 19 w 1911"/>
                <a:gd name="T53" fmla="*/ 67 h 2186"/>
                <a:gd name="T54" fmla="*/ 20 w 1911"/>
                <a:gd name="T55" fmla="*/ 68 h 2186"/>
                <a:gd name="T56" fmla="*/ 21 w 1911"/>
                <a:gd name="T57" fmla="*/ 68 h 2186"/>
                <a:gd name="T58" fmla="*/ 21 w 1911"/>
                <a:gd name="T59" fmla="*/ 68 h 2186"/>
                <a:gd name="T60" fmla="*/ 22 w 1911"/>
                <a:gd name="T61" fmla="*/ 68 h 2186"/>
                <a:gd name="T62" fmla="*/ 23 w 1911"/>
                <a:gd name="T63" fmla="*/ 68 h 2186"/>
                <a:gd name="T64" fmla="*/ 24 w 1911"/>
                <a:gd name="T65" fmla="*/ 68 h 2186"/>
                <a:gd name="T66" fmla="*/ 25 w 1911"/>
                <a:gd name="T67" fmla="*/ 68 h 2186"/>
                <a:gd name="T68" fmla="*/ 26 w 1911"/>
                <a:gd name="T69" fmla="*/ 68 h 2186"/>
                <a:gd name="T70" fmla="*/ 27 w 1911"/>
                <a:gd name="T71" fmla="*/ 67 h 2186"/>
                <a:gd name="T72" fmla="*/ 27 w 1911"/>
                <a:gd name="T73" fmla="*/ 67 h 2186"/>
                <a:gd name="T74" fmla="*/ 27 w 1911"/>
                <a:gd name="T75" fmla="*/ 67 h 2186"/>
                <a:gd name="T76" fmla="*/ 59 w 1911"/>
                <a:gd name="T77" fmla="*/ 44 h 2186"/>
                <a:gd name="T78" fmla="*/ 59 w 1911"/>
                <a:gd name="T79" fmla="*/ 43 h 218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911"/>
                <a:gd name="T121" fmla="*/ 0 h 2186"/>
                <a:gd name="T122" fmla="*/ 1911 w 1911"/>
                <a:gd name="T123" fmla="*/ 2186 h 218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911" h="2186">
                  <a:moveTo>
                    <a:pt x="1909" y="1392"/>
                  </a:moveTo>
                  <a:lnTo>
                    <a:pt x="1305" y="17"/>
                  </a:lnTo>
                  <a:lnTo>
                    <a:pt x="1302" y="11"/>
                  </a:lnTo>
                  <a:lnTo>
                    <a:pt x="1298" y="7"/>
                  </a:lnTo>
                  <a:lnTo>
                    <a:pt x="1292" y="3"/>
                  </a:lnTo>
                  <a:lnTo>
                    <a:pt x="1287" y="1"/>
                  </a:lnTo>
                  <a:lnTo>
                    <a:pt x="1280" y="0"/>
                  </a:lnTo>
                  <a:lnTo>
                    <a:pt x="1273" y="0"/>
                  </a:lnTo>
                  <a:lnTo>
                    <a:pt x="1267" y="2"/>
                  </a:lnTo>
                  <a:lnTo>
                    <a:pt x="1261" y="4"/>
                  </a:lnTo>
                  <a:lnTo>
                    <a:pt x="258" y="697"/>
                  </a:lnTo>
                  <a:lnTo>
                    <a:pt x="247" y="702"/>
                  </a:lnTo>
                  <a:lnTo>
                    <a:pt x="235" y="705"/>
                  </a:lnTo>
                  <a:lnTo>
                    <a:pt x="223" y="710"/>
                  </a:lnTo>
                  <a:lnTo>
                    <a:pt x="209" y="714"/>
                  </a:lnTo>
                  <a:lnTo>
                    <a:pt x="195" y="718"/>
                  </a:lnTo>
                  <a:lnTo>
                    <a:pt x="182" y="721"/>
                  </a:lnTo>
                  <a:lnTo>
                    <a:pt x="168" y="725"/>
                  </a:lnTo>
                  <a:lnTo>
                    <a:pt x="155" y="727"/>
                  </a:lnTo>
                  <a:lnTo>
                    <a:pt x="142" y="729"/>
                  </a:lnTo>
                  <a:lnTo>
                    <a:pt x="129" y="730"/>
                  </a:lnTo>
                  <a:lnTo>
                    <a:pt x="117" y="732"/>
                  </a:lnTo>
                  <a:lnTo>
                    <a:pt x="106" y="732"/>
                  </a:lnTo>
                  <a:lnTo>
                    <a:pt x="95" y="732"/>
                  </a:lnTo>
                  <a:lnTo>
                    <a:pt x="86" y="730"/>
                  </a:lnTo>
                  <a:lnTo>
                    <a:pt x="77" y="728"/>
                  </a:lnTo>
                  <a:lnTo>
                    <a:pt x="71" y="725"/>
                  </a:lnTo>
                  <a:lnTo>
                    <a:pt x="71" y="723"/>
                  </a:lnTo>
                  <a:lnTo>
                    <a:pt x="69" y="723"/>
                  </a:lnTo>
                  <a:lnTo>
                    <a:pt x="64" y="711"/>
                  </a:lnTo>
                  <a:lnTo>
                    <a:pt x="60" y="702"/>
                  </a:lnTo>
                  <a:lnTo>
                    <a:pt x="58" y="697"/>
                  </a:lnTo>
                  <a:lnTo>
                    <a:pt x="57" y="695"/>
                  </a:lnTo>
                  <a:lnTo>
                    <a:pt x="54" y="690"/>
                  </a:lnTo>
                  <a:lnTo>
                    <a:pt x="51" y="685"/>
                  </a:lnTo>
                  <a:lnTo>
                    <a:pt x="48" y="682"/>
                  </a:lnTo>
                  <a:lnTo>
                    <a:pt x="43" y="680"/>
                  </a:lnTo>
                  <a:lnTo>
                    <a:pt x="38" y="677"/>
                  </a:lnTo>
                  <a:lnTo>
                    <a:pt x="33" y="676"/>
                  </a:lnTo>
                  <a:lnTo>
                    <a:pt x="28" y="676"/>
                  </a:lnTo>
                  <a:lnTo>
                    <a:pt x="22" y="677"/>
                  </a:lnTo>
                  <a:lnTo>
                    <a:pt x="13" y="682"/>
                  </a:lnTo>
                  <a:lnTo>
                    <a:pt x="6" y="690"/>
                  </a:lnTo>
                  <a:lnTo>
                    <a:pt x="1" y="699"/>
                  </a:lnTo>
                  <a:lnTo>
                    <a:pt x="0" y="710"/>
                  </a:lnTo>
                  <a:lnTo>
                    <a:pt x="3" y="723"/>
                  </a:lnTo>
                  <a:lnTo>
                    <a:pt x="7" y="736"/>
                  </a:lnTo>
                  <a:lnTo>
                    <a:pt x="13" y="748"/>
                  </a:lnTo>
                  <a:lnTo>
                    <a:pt x="20" y="758"/>
                  </a:lnTo>
                  <a:lnTo>
                    <a:pt x="610" y="2103"/>
                  </a:lnTo>
                  <a:lnTo>
                    <a:pt x="618" y="2121"/>
                  </a:lnTo>
                  <a:lnTo>
                    <a:pt x="628" y="2136"/>
                  </a:lnTo>
                  <a:lnTo>
                    <a:pt x="638" y="2149"/>
                  </a:lnTo>
                  <a:lnTo>
                    <a:pt x="649" y="2159"/>
                  </a:lnTo>
                  <a:lnTo>
                    <a:pt x="660" y="2167"/>
                  </a:lnTo>
                  <a:lnTo>
                    <a:pt x="672" y="2173"/>
                  </a:lnTo>
                  <a:lnTo>
                    <a:pt x="682" y="2178"/>
                  </a:lnTo>
                  <a:lnTo>
                    <a:pt x="692" y="2181"/>
                  </a:lnTo>
                  <a:lnTo>
                    <a:pt x="709" y="2185"/>
                  </a:lnTo>
                  <a:lnTo>
                    <a:pt x="725" y="2186"/>
                  </a:lnTo>
                  <a:lnTo>
                    <a:pt x="742" y="2186"/>
                  </a:lnTo>
                  <a:lnTo>
                    <a:pt x="758" y="2183"/>
                  </a:lnTo>
                  <a:lnTo>
                    <a:pt x="774" y="2180"/>
                  </a:lnTo>
                  <a:lnTo>
                    <a:pt x="789" y="2175"/>
                  </a:lnTo>
                  <a:lnTo>
                    <a:pt x="805" y="2170"/>
                  </a:lnTo>
                  <a:lnTo>
                    <a:pt x="819" y="2164"/>
                  </a:lnTo>
                  <a:lnTo>
                    <a:pt x="833" y="2158"/>
                  </a:lnTo>
                  <a:lnTo>
                    <a:pt x="846" y="2151"/>
                  </a:lnTo>
                  <a:lnTo>
                    <a:pt x="857" y="2144"/>
                  </a:lnTo>
                  <a:lnTo>
                    <a:pt x="868" y="2139"/>
                  </a:lnTo>
                  <a:lnTo>
                    <a:pt x="877" y="2133"/>
                  </a:lnTo>
                  <a:lnTo>
                    <a:pt x="884" y="2128"/>
                  </a:lnTo>
                  <a:lnTo>
                    <a:pt x="889" y="2124"/>
                  </a:lnTo>
                  <a:lnTo>
                    <a:pt x="893" y="2121"/>
                  </a:lnTo>
                  <a:lnTo>
                    <a:pt x="1898" y="1428"/>
                  </a:lnTo>
                  <a:lnTo>
                    <a:pt x="1905" y="1421"/>
                  </a:lnTo>
                  <a:lnTo>
                    <a:pt x="1910" y="1411"/>
                  </a:lnTo>
                  <a:lnTo>
                    <a:pt x="1911" y="1401"/>
                  </a:lnTo>
                  <a:lnTo>
                    <a:pt x="1909" y="13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14"/>
            <p:cNvSpPr/>
            <p:nvPr/>
          </p:nvSpPr>
          <p:spPr bwMode="auto">
            <a:xfrm>
              <a:off x="4320" y="-192"/>
              <a:ext cx="768" cy="989"/>
            </a:xfrm>
            <a:custGeom>
              <a:avLst/>
              <a:gdLst>
                <a:gd name="T0" fmla="*/ 48 w 1535"/>
                <a:gd name="T1" fmla="*/ 42 h 1978"/>
                <a:gd name="T2" fmla="*/ 19 w 1535"/>
                <a:gd name="T3" fmla="*/ 62 h 1978"/>
                <a:gd name="T4" fmla="*/ 0 w 1535"/>
                <a:gd name="T5" fmla="*/ 21 h 1978"/>
                <a:gd name="T6" fmla="*/ 30 w 1535"/>
                <a:gd name="T7" fmla="*/ 0 h 1978"/>
                <a:gd name="T8" fmla="*/ 48 w 1535"/>
                <a:gd name="T9" fmla="*/ 42 h 19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5"/>
                <a:gd name="T16" fmla="*/ 0 h 1978"/>
                <a:gd name="T17" fmla="*/ 1535 w 1535"/>
                <a:gd name="T18" fmla="*/ 1978 h 19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5" h="1978">
                  <a:moveTo>
                    <a:pt x="1535" y="1319"/>
                  </a:moveTo>
                  <a:lnTo>
                    <a:pt x="579" y="1978"/>
                  </a:lnTo>
                  <a:lnTo>
                    <a:pt x="0" y="659"/>
                  </a:lnTo>
                  <a:lnTo>
                    <a:pt x="957" y="0"/>
                  </a:lnTo>
                  <a:lnTo>
                    <a:pt x="1535" y="1319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16"/>
            <p:cNvSpPr/>
            <p:nvPr/>
          </p:nvSpPr>
          <p:spPr bwMode="auto">
            <a:xfrm>
              <a:off x="4216" y="151"/>
              <a:ext cx="369" cy="684"/>
            </a:xfrm>
            <a:custGeom>
              <a:avLst/>
              <a:gdLst>
                <a:gd name="T0" fmla="*/ 18 w 740"/>
                <a:gd name="T1" fmla="*/ 43 h 1367"/>
                <a:gd name="T2" fmla="*/ 18 w 740"/>
                <a:gd name="T3" fmla="*/ 43 h 1367"/>
                <a:gd name="T4" fmla="*/ 18 w 740"/>
                <a:gd name="T5" fmla="*/ 43 h 1367"/>
                <a:gd name="T6" fmla="*/ 18 w 740"/>
                <a:gd name="T7" fmla="*/ 43 h 1367"/>
                <a:gd name="T8" fmla="*/ 18 w 740"/>
                <a:gd name="T9" fmla="*/ 43 h 1367"/>
                <a:gd name="T10" fmla="*/ 18 w 740"/>
                <a:gd name="T11" fmla="*/ 42 h 1367"/>
                <a:gd name="T12" fmla="*/ 17 w 740"/>
                <a:gd name="T13" fmla="*/ 42 h 1367"/>
                <a:gd name="T14" fmla="*/ 17 w 740"/>
                <a:gd name="T15" fmla="*/ 42 h 1367"/>
                <a:gd name="T16" fmla="*/ 17 w 740"/>
                <a:gd name="T17" fmla="*/ 42 h 1367"/>
                <a:gd name="T18" fmla="*/ 17 w 740"/>
                <a:gd name="T19" fmla="*/ 41 h 1367"/>
                <a:gd name="T20" fmla="*/ 17 w 740"/>
                <a:gd name="T21" fmla="*/ 40 h 1367"/>
                <a:gd name="T22" fmla="*/ 16 w 740"/>
                <a:gd name="T23" fmla="*/ 39 h 1367"/>
                <a:gd name="T24" fmla="*/ 15 w 740"/>
                <a:gd name="T25" fmla="*/ 37 h 1367"/>
                <a:gd name="T26" fmla="*/ 14 w 740"/>
                <a:gd name="T27" fmla="*/ 34 h 1367"/>
                <a:gd name="T28" fmla="*/ 13 w 740"/>
                <a:gd name="T29" fmla="*/ 32 h 1367"/>
                <a:gd name="T30" fmla="*/ 11 w 740"/>
                <a:gd name="T31" fmla="*/ 28 h 1367"/>
                <a:gd name="T32" fmla="*/ 10 w 740"/>
                <a:gd name="T33" fmla="*/ 25 h 1367"/>
                <a:gd name="T34" fmla="*/ 8 w 740"/>
                <a:gd name="T35" fmla="*/ 22 h 1367"/>
                <a:gd name="T36" fmla="*/ 7 w 740"/>
                <a:gd name="T37" fmla="*/ 18 h 1367"/>
                <a:gd name="T38" fmla="*/ 6 w 740"/>
                <a:gd name="T39" fmla="*/ 15 h 1367"/>
                <a:gd name="T40" fmla="*/ 4 w 740"/>
                <a:gd name="T41" fmla="*/ 12 h 1367"/>
                <a:gd name="T42" fmla="*/ 3 w 740"/>
                <a:gd name="T43" fmla="*/ 9 h 1367"/>
                <a:gd name="T44" fmla="*/ 2 w 740"/>
                <a:gd name="T45" fmla="*/ 6 h 1367"/>
                <a:gd name="T46" fmla="*/ 0 w 740"/>
                <a:gd name="T47" fmla="*/ 3 h 1367"/>
                <a:gd name="T48" fmla="*/ 0 w 740"/>
                <a:gd name="T49" fmla="*/ 1 h 1367"/>
                <a:gd name="T50" fmla="*/ 0 w 740"/>
                <a:gd name="T51" fmla="*/ 1 h 1367"/>
                <a:gd name="T52" fmla="*/ 1 w 740"/>
                <a:gd name="T53" fmla="*/ 1 h 1367"/>
                <a:gd name="T54" fmla="*/ 2 w 740"/>
                <a:gd name="T55" fmla="*/ 1 h 1367"/>
                <a:gd name="T56" fmla="*/ 2 w 740"/>
                <a:gd name="T57" fmla="*/ 1 h 1367"/>
                <a:gd name="T58" fmla="*/ 3 w 740"/>
                <a:gd name="T59" fmla="*/ 1 h 1367"/>
                <a:gd name="T60" fmla="*/ 3 w 740"/>
                <a:gd name="T61" fmla="*/ 1 h 1367"/>
                <a:gd name="T62" fmla="*/ 4 w 740"/>
                <a:gd name="T63" fmla="*/ 1 h 1367"/>
                <a:gd name="T64" fmla="*/ 4 w 740"/>
                <a:gd name="T65" fmla="*/ 0 h 1367"/>
                <a:gd name="T66" fmla="*/ 23 w 740"/>
                <a:gd name="T67" fmla="*/ 42 h 1367"/>
                <a:gd name="T68" fmla="*/ 22 w 740"/>
                <a:gd name="T69" fmla="*/ 42 h 1367"/>
                <a:gd name="T70" fmla="*/ 22 w 740"/>
                <a:gd name="T71" fmla="*/ 42 h 1367"/>
                <a:gd name="T72" fmla="*/ 21 w 740"/>
                <a:gd name="T73" fmla="*/ 43 h 1367"/>
                <a:gd name="T74" fmla="*/ 21 w 740"/>
                <a:gd name="T75" fmla="*/ 43 h 1367"/>
                <a:gd name="T76" fmla="*/ 20 w 740"/>
                <a:gd name="T77" fmla="*/ 43 h 1367"/>
                <a:gd name="T78" fmla="*/ 20 w 740"/>
                <a:gd name="T79" fmla="*/ 43 h 1367"/>
                <a:gd name="T80" fmla="*/ 19 w 740"/>
                <a:gd name="T81" fmla="*/ 43 h 1367"/>
                <a:gd name="T82" fmla="*/ 18 w 740"/>
                <a:gd name="T83" fmla="*/ 43 h 1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40"/>
                <a:gd name="T127" fmla="*/ 0 h 1367"/>
                <a:gd name="T128" fmla="*/ 740 w 740"/>
                <a:gd name="T129" fmla="*/ 1367 h 1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40" h="1367">
                  <a:moveTo>
                    <a:pt x="608" y="1365"/>
                  </a:moveTo>
                  <a:lnTo>
                    <a:pt x="602" y="1362"/>
                  </a:lnTo>
                  <a:lnTo>
                    <a:pt x="596" y="1359"/>
                  </a:lnTo>
                  <a:lnTo>
                    <a:pt x="589" y="1354"/>
                  </a:lnTo>
                  <a:lnTo>
                    <a:pt x="584" y="1350"/>
                  </a:lnTo>
                  <a:lnTo>
                    <a:pt x="578" y="1344"/>
                  </a:lnTo>
                  <a:lnTo>
                    <a:pt x="574" y="1337"/>
                  </a:lnTo>
                  <a:lnTo>
                    <a:pt x="569" y="1329"/>
                  </a:lnTo>
                  <a:lnTo>
                    <a:pt x="566" y="1320"/>
                  </a:lnTo>
                  <a:lnTo>
                    <a:pt x="561" y="1308"/>
                  </a:lnTo>
                  <a:lnTo>
                    <a:pt x="546" y="1277"/>
                  </a:lnTo>
                  <a:lnTo>
                    <a:pt x="526" y="1228"/>
                  </a:lnTo>
                  <a:lnTo>
                    <a:pt x="497" y="1162"/>
                  </a:lnTo>
                  <a:lnTo>
                    <a:pt x="462" y="1084"/>
                  </a:lnTo>
                  <a:lnTo>
                    <a:pt x="423" y="994"/>
                  </a:lnTo>
                  <a:lnTo>
                    <a:pt x="379" y="896"/>
                  </a:lnTo>
                  <a:lnTo>
                    <a:pt x="334" y="792"/>
                  </a:lnTo>
                  <a:lnTo>
                    <a:pt x="287" y="685"/>
                  </a:lnTo>
                  <a:lnTo>
                    <a:pt x="239" y="575"/>
                  </a:lnTo>
                  <a:lnTo>
                    <a:pt x="192" y="468"/>
                  </a:lnTo>
                  <a:lnTo>
                    <a:pt x="147" y="363"/>
                  </a:lnTo>
                  <a:lnTo>
                    <a:pt x="103" y="265"/>
                  </a:lnTo>
                  <a:lnTo>
                    <a:pt x="64" y="175"/>
                  </a:lnTo>
                  <a:lnTo>
                    <a:pt x="29" y="96"/>
                  </a:lnTo>
                  <a:lnTo>
                    <a:pt x="0" y="30"/>
                  </a:lnTo>
                  <a:lnTo>
                    <a:pt x="21" y="30"/>
                  </a:lnTo>
                  <a:lnTo>
                    <a:pt x="43" y="29"/>
                  </a:lnTo>
                  <a:lnTo>
                    <a:pt x="65" y="26"/>
                  </a:lnTo>
                  <a:lnTo>
                    <a:pt x="86" y="22"/>
                  </a:lnTo>
                  <a:lnTo>
                    <a:pt x="106" y="16"/>
                  </a:lnTo>
                  <a:lnTo>
                    <a:pt x="125" y="12"/>
                  </a:lnTo>
                  <a:lnTo>
                    <a:pt x="143" y="6"/>
                  </a:lnTo>
                  <a:lnTo>
                    <a:pt x="158" y="0"/>
                  </a:lnTo>
                  <a:lnTo>
                    <a:pt x="740" y="1327"/>
                  </a:lnTo>
                  <a:lnTo>
                    <a:pt x="726" y="1335"/>
                  </a:lnTo>
                  <a:lnTo>
                    <a:pt x="711" y="1343"/>
                  </a:lnTo>
                  <a:lnTo>
                    <a:pt x="694" y="1351"/>
                  </a:lnTo>
                  <a:lnTo>
                    <a:pt x="676" y="1358"/>
                  </a:lnTo>
                  <a:lnTo>
                    <a:pt x="659" y="1364"/>
                  </a:lnTo>
                  <a:lnTo>
                    <a:pt x="642" y="1367"/>
                  </a:lnTo>
                  <a:lnTo>
                    <a:pt x="625" y="1367"/>
                  </a:lnTo>
                  <a:lnTo>
                    <a:pt x="608" y="136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17"/>
            <p:cNvSpPr/>
            <p:nvPr/>
          </p:nvSpPr>
          <p:spPr bwMode="auto">
            <a:xfrm>
              <a:off x="4216" y="151"/>
              <a:ext cx="320" cy="684"/>
            </a:xfrm>
            <a:custGeom>
              <a:avLst/>
              <a:gdLst>
                <a:gd name="T0" fmla="*/ 19 w 641"/>
                <a:gd name="T1" fmla="*/ 42 h 1367"/>
                <a:gd name="T2" fmla="*/ 18 w 641"/>
                <a:gd name="T3" fmla="*/ 40 h 1367"/>
                <a:gd name="T4" fmla="*/ 16 w 641"/>
                <a:gd name="T5" fmla="*/ 35 h 1367"/>
                <a:gd name="T6" fmla="*/ 13 w 641"/>
                <a:gd name="T7" fmla="*/ 29 h 1367"/>
                <a:gd name="T8" fmla="*/ 10 w 641"/>
                <a:gd name="T9" fmla="*/ 23 h 1367"/>
                <a:gd name="T10" fmla="*/ 7 w 641"/>
                <a:gd name="T11" fmla="*/ 16 h 1367"/>
                <a:gd name="T12" fmla="*/ 5 w 641"/>
                <a:gd name="T13" fmla="*/ 10 h 1367"/>
                <a:gd name="T14" fmla="*/ 2 w 641"/>
                <a:gd name="T15" fmla="*/ 4 h 1367"/>
                <a:gd name="T16" fmla="*/ 2 w 641"/>
                <a:gd name="T17" fmla="*/ 2 h 1367"/>
                <a:gd name="T18" fmla="*/ 3 w 641"/>
                <a:gd name="T19" fmla="*/ 2 h 1367"/>
                <a:gd name="T20" fmla="*/ 4 w 641"/>
                <a:gd name="T21" fmla="*/ 2 h 1367"/>
                <a:gd name="T22" fmla="*/ 5 w 641"/>
                <a:gd name="T23" fmla="*/ 2 h 1367"/>
                <a:gd name="T24" fmla="*/ 4 w 641"/>
                <a:gd name="T25" fmla="*/ 0 h 1367"/>
                <a:gd name="T26" fmla="*/ 3 w 641"/>
                <a:gd name="T27" fmla="*/ 1 h 1367"/>
                <a:gd name="T28" fmla="*/ 2 w 641"/>
                <a:gd name="T29" fmla="*/ 1 h 1367"/>
                <a:gd name="T30" fmla="*/ 1 w 641"/>
                <a:gd name="T31" fmla="*/ 1 h 1367"/>
                <a:gd name="T32" fmla="*/ 0 w 641"/>
                <a:gd name="T33" fmla="*/ 1 h 1367"/>
                <a:gd name="T34" fmla="*/ 2 w 641"/>
                <a:gd name="T35" fmla="*/ 6 h 1367"/>
                <a:gd name="T36" fmla="*/ 4 w 641"/>
                <a:gd name="T37" fmla="*/ 12 h 1367"/>
                <a:gd name="T38" fmla="*/ 7 w 641"/>
                <a:gd name="T39" fmla="*/ 18 h 1367"/>
                <a:gd name="T40" fmla="*/ 10 w 641"/>
                <a:gd name="T41" fmla="*/ 25 h 1367"/>
                <a:gd name="T42" fmla="*/ 13 w 641"/>
                <a:gd name="T43" fmla="*/ 32 h 1367"/>
                <a:gd name="T44" fmla="*/ 15 w 641"/>
                <a:gd name="T45" fmla="*/ 37 h 1367"/>
                <a:gd name="T46" fmla="*/ 17 w 641"/>
                <a:gd name="T47" fmla="*/ 40 h 1367"/>
                <a:gd name="T48" fmla="*/ 17 w 641"/>
                <a:gd name="T49" fmla="*/ 42 h 1367"/>
                <a:gd name="T50" fmla="*/ 17 w 641"/>
                <a:gd name="T51" fmla="*/ 42 h 1367"/>
                <a:gd name="T52" fmla="*/ 18 w 641"/>
                <a:gd name="T53" fmla="*/ 43 h 1367"/>
                <a:gd name="T54" fmla="*/ 18 w 641"/>
                <a:gd name="T55" fmla="*/ 43 h 1367"/>
                <a:gd name="T56" fmla="*/ 19 w 641"/>
                <a:gd name="T57" fmla="*/ 43 h 1367"/>
                <a:gd name="T58" fmla="*/ 19 w 641"/>
                <a:gd name="T59" fmla="*/ 43 h 1367"/>
                <a:gd name="T60" fmla="*/ 20 w 641"/>
                <a:gd name="T61" fmla="*/ 43 h 1367"/>
                <a:gd name="T62" fmla="*/ 19 w 641"/>
                <a:gd name="T63" fmla="*/ 43 h 1367"/>
                <a:gd name="T64" fmla="*/ 19 w 641"/>
                <a:gd name="T65" fmla="*/ 42 h 136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41"/>
                <a:gd name="T100" fmla="*/ 0 h 1367"/>
                <a:gd name="T101" fmla="*/ 641 w 641"/>
                <a:gd name="T102" fmla="*/ 1367 h 136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41" h="1367">
                  <a:moveTo>
                    <a:pt x="628" y="1344"/>
                  </a:moveTo>
                  <a:lnTo>
                    <a:pt x="623" y="1332"/>
                  </a:lnTo>
                  <a:lnTo>
                    <a:pt x="610" y="1301"/>
                  </a:lnTo>
                  <a:lnTo>
                    <a:pt x="588" y="1252"/>
                  </a:lnTo>
                  <a:lnTo>
                    <a:pt x="559" y="1186"/>
                  </a:lnTo>
                  <a:lnTo>
                    <a:pt x="524" y="1108"/>
                  </a:lnTo>
                  <a:lnTo>
                    <a:pt x="485" y="1018"/>
                  </a:lnTo>
                  <a:lnTo>
                    <a:pt x="443" y="920"/>
                  </a:lnTo>
                  <a:lnTo>
                    <a:pt x="397" y="816"/>
                  </a:lnTo>
                  <a:lnTo>
                    <a:pt x="349" y="709"/>
                  </a:lnTo>
                  <a:lnTo>
                    <a:pt x="302" y="600"/>
                  </a:lnTo>
                  <a:lnTo>
                    <a:pt x="255" y="492"/>
                  </a:lnTo>
                  <a:lnTo>
                    <a:pt x="209" y="388"/>
                  </a:lnTo>
                  <a:lnTo>
                    <a:pt x="166" y="290"/>
                  </a:lnTo>
                  <a:lnTo>
                    <a:pt x="126" y="200"/>
                  </a:lnTo>
                  <a:lnTo>
                    <a:pt x="91" y="120"/>
                  </a:lnTo>
                  <a:lnTo>
                    <a:pt x="63" y="54"/>
                  </a:lnTo>
                  <a:lnTo>
                    <a:pt x="76" y="54"/>
                  </a:lnTo>
                  <a:lnTo>
                    <a:pt x="90" y="54"/>
                  </a:lnTo>
                  <a:lnTo>
                    <a:pt x="105" y="53"/>
                  </a:lnTo>
                  <a:lnTo>
                    <a:pt x="119" y="51"/>
                  </a:lnTo>
                  <a:lnTo>
                    <a:pt x="134" y="49"/>
                  </a:lnTo>
                  <a:lnTo>
                    <a:pt x="148" y="46"/>
                  </a:lnTo>
                  <a:lnTo>
                    <a:pt x="162" y="43"/>
                  </a:lnTo>
                  <a:lnTo>
                    <a:pt x="174" y="40"/>
                  </a:lnTo>
                  <a:lnTo>
                    <a:pt x="158" y="0"/>
                  </a:lnTo>
                  <a:lnTo>
                    <a:pt x="143" y="6"/>
                  </a:lnTo>
                  <a:lnTo>
                    <a:pt x="125" y="12"/>
                  </a:lnTo>
                  <a:lnTo>
                    <a:pt x="106" y="16"/>
                  </a:lnTo>
                  <a:lnTo>
                    <a:pt x="86" y="22"/>
                  </a:lnTo>
                  <a:lnTo>
                    <a:pt x="65" y="26"/>
                  </a:lnTo>
                  <a:lnTo>
                    <a:pt x="43" y="29"/>
                  </a:lnTo>
                  <a:lnTo>
                    <a:pt x="21" y="30"/>
                  </a:lnTo>
                  <a:lnTo>
                    <a:pt x="0" y="30"/>
                  </a:lnTo>
                  <a:lnTo>
                    <a:pt x="29" y="96"/>
                  </a:lnTo>
                  <a:lnTo>
                    <a:pt x="64" y="175"/>
                  </a:lnTo>
                  <a:lnTo>
                    <a:pt x="103" y="265"/>
                  </a:lnTo>
                  <a:lnTo>
                    <a:pt x="147" y="363"/>
                  </a:lnTo>
                  <a:lnTo>
                    <a:pt x="192" y="468"/>
                  </a:lnTo>
                  <a:lnTo>
                    <a:pt x="239" y="575"/>
                  </a:lnTo>
                  <a:lnTo>
                    <a:pt x="287" y="685"/>
                  </a:lnTo>
                  <a:lnTo>
                    <a:pt x="334" y="792"/>
                  </a:lnTo>
                  <a:lnTo>
                    <a:pt x="379" y="896"/>
                  </a:lnTo>
                  <a:lnTo>
                    <a:pt x="423" y="994"/>
                  </a:lnTo>
                  <a:lnTo>
                    <a:pt x="462" y="1084"/>
                  </a:lnTo>
                  <a:lnTo>
                    <a:pt x="497" y="1162"/>
                  </a:lnTo>
                  <a:lnTo>
                    <a:pt x="526" y="1228"/>
                  </a:lnTo>
                  <a:lnTo>
                    <a:pt x="546" y="1277"/>
                  </a:lnTo>
                  <a:lnTo>
                    <a:pt x="561" y="1308"/>
                  </a:lnTo>
                  <a:lnTo>
                    <a:pt x="566" y="1320"/>
                  </a:lnTo>
                  <a:lnTo>
                    <a:pt x="569" y="1329"/>
                  </a:lnTo>
                  <a:lnTo>
                    <a:pt x="574" y="1337"/>
                  </a:lnTo>
                  <a:lnTo>
                    <a:pt x="578" y="1344"/>
                  </a:lnTo>
                  <a:lnTo>
                    <a:pt x="584" y="1350"/>
                  </a:lnTo>
                  <a:lnTo>
                    <a:pt x="589" y="1354"/>
                  </a:lnTo>
                  <a:lnTo>
                    <a:pt x="596" y="1359"/>
                  </a:lnTo>
                  <a:lnTo>
                    <a:pt x="602" y="1362"/>
                  </a:lnTo>
                  <a:lnTo>
                    <a:pt x="608" y="1365"/>
                  </a:lnTo>
                  <a:lnTo>
                    <a:pt x="617" y="1366"/>
                  </a:lnTo>
                  <a:lnTo>
                    <a:pt x="625" y="1367"/>
                  </a:lnTo>
                  <a:lnTo>
                    <a:pt x="633" y="1367"/>
                  </a:lnTo>
                  <a:lnTo>
                    <a:pt x="641" y="1367"/>
                  </a:lnTo>
                  <a:lnTo>
                    <a:pt x="637" y="1361"/>
                  </a:lnTo>
                  <a:lnTo>
                    <a:pt x="634" y="1355"/>
                  </a:lnTo>
                  <a:lnTo>
                    <a:pt x="630" y="1350"/>
                  </a:lnTo>
                  <a:lnTo>
                    <a:pt x="628" y="13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18"/>
            <p:cNvSpPr/>
            <p:nvPr/>
          </p:nvSpPr>
          <p:spPr bwMode="auto">
            <a:xfrm>
              <a:off x="4167" y="-214"/>
              <a:ext cx="280" cy="353"/>
            </a:xfrm>
            <a:custGeom>
              <a:avLst/>
              <a:gdLst>
                <a:gd name="T0" fmla="*/ 1 w 561"/>
                <a:gd name="T1" fmla="*/ 22 h 705"/>
                <a:gd name="T2" fmla="*/ 17 w 561"/>
                <a:gd name="T3" fmla="*/ 2 h 705"/>
                <a:gd name="T4" fmla="*/ 17 w 561"/>
                <a:gd name="T5" fmla="*/ 2 h 705"/>
                <a:gd name="T6" fmla="*/ 17 w 561"/>
                <a:gd name="T7" fmla="*/ 2 h 705"/>
                <a:gd name="T8" fmla="*/ 17 w 561"/>
                <a:gd name="T9" fmla="*/ 1 h 705"/>
                <a:gd name="T10" fmla="*/ 17 w 561"/>
                <a:gd name="T11" fmla="*/ 1 h 705"/>
                <a:gd name="T12" fmla="*/ 17 w 561"/>
                <a:gd name="T13" fmla="*/ 1 h 705"/>
                <a:gd name="T14" fmla="*/ 17 w 561"/>
                <a:gd name="T15" fmla="*/ 1 h 705"/>
                <a:gd name="T16" fmla="*/ 16 w 561"/>
                <a:gd name="T17" fmla="*/ 1 h 705"/>
                <a:gd name="T18" fmla="*/ 16 w 561"/>
                <a:gd name="T19" fmla="*/ 0 h 705"/>
                <a:gd name="T20" fmla="*/ 16 w 561"/>
                <a:gd name="T21" fmla="*/ 0 h 705"/>
                <a:gd name="T22" fmla="*/ 16 w 561"/>
                <a:gd name="T23" fmla="*/ 1 h 705"/>
                <a:gd name="T24" fmla="*/ 16 w 561"/>
                <a:gd name="T25" fmla="*/ 1 h 705"/>
                <a:gd name="T26" fmla="*/ 16 w 561"/>
                <a:gd name="T27" fmla="*/ 1 h 705"/>
                <a:gd name="T28" fmla="*/ 15 w 561"/>
                <a:gd name="T29" fmla="*/ 1 h 705"/>
                <a:gd name="T30" fmla="*/ 15 w 561"/>
                <a:gd name="T31" fmla="*/ 1 h 705"/>
                <a:gd name="T32" fmla="*/ 0 w 561"/>
                <a:gd name="T33" fmla="*/ 21 h 705"/>
                <a:gd name="T34" fmla="*/ 0 w 561"/>
                <a:gd name="T35" fmla="*/ 21 h 705"/>
                <a:gd name="T36" fmla="*/ 0 w 561"/>
                <a:gd name="T37" fmla="*/ 21 h 705"/>
                <a:gd name="T38" fmla="*/ 0 w 561"/>
                <a:gd name="T39" fmla="*/ 22 h 705"/>
                <a:gd name="T40" fmla="*/ 0 w 561"/>
                <a:gd name="T41" fmla="*/ 22 h 705"/>
                <a:gd name="T42" fmla="*/ 0 w 561"/>
                <a:gd name="T43" fmla="*/ 22 h 705"/>
                <a:gd name="T44" fmla="*/ 0 w 561"/>
                <a:gd name="T45" fmla="*/ 22 h 705"/>
                <a:gd name="T46" fmla="*/ 0 w 561"/>
                <a:gd name="T47" fmla="*/ 22 h 705"/>
                <a:gd name="T48" fmla="*/ 0 w 561"/>
                <a:gd name="T49" fmla="*/ 23 h 705"/>
                <a:gd name="T50" fmla="*/ 1 w 561"/>
                <a:gd name="T51" fmla="*/ 23 h 705"/>
                <a:gd name="T52" fmla="*/ 1 w 561"/>
                <a:gd name="T53" fmla="*/ 22 h 705"/>
                <a:gd name="T54" fmla="*/ 1 w 561"/>
                <a:gd name="T55" fmla="*/ 22 h 705"/>
                <a:gd name="T56" fmla="*/ 1 w 561"/>
                <a:gd name="T57" fmla="*/ 22 h 705"/>
                <a:gd name="T58" fmla="*/ 1 w 561"/>
                <a:gd name="T59" fmla="*/ 22 h 705"/>
                <a:gd name="T60" fmla="*/ 1 w 561"/>
                <a:gd name="T61" fmla="*/ 22 h 70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561"/>
                <a:gd name="T94" fmla="*/ 0 h 705"/>
                <a:gd name="T95" fmla="*/ 561 w 561"/>
                <a:gd name="T96" fmla="*/ 705 h 70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561" h="705">
                  <a:moveTo>
                    <a:pt x="52" y="694"/>
                  </a:moveTo>
                  <a:lnTo>
                    <a:pt x="556" y="48"/>
                  </a:lnTo>
                  <a:lnTo>
                    <a:pt x="561" y="38"/>
                  </a:lnTo>
                  <a:lnTo>
                    <a:pt x="561" y="26"/>
                  </a:lnTo>
                  <a:lnTo>
                    <a:pt x="558" y="16"/>
                  </a:lnTo>
                  <a:lnTo>
                    <a:pt x="550" y="7"/>
                  </a:lnTo>
                  <a:lnTo>
                    <a:pt x="545" y="3"/>
                  </a:lnTo>
                  <a:lnTo>
                    <a:pt x="539" y="1"/>
                  </a:lnTo>
                  <a:lnTo>
                    <a:pt x="534" y="0"/>
                  </a:lnTo>
                  <a:lnTo>
                    <a:pt x="528" y="0"/>
                  </a:lnTo>
                  <a:lnTo>
                    <a:pt x="522" y="2"/>
                  </a:lnTo>
                  <a:lnTo>
                    <a:pt x="518" y="3"/>
                  </a:lnTo>
                  <a:lnTo>
                    <a:pt x="513" y="7"/>
                  </a:lnTo>
                  <a:lnTo>
                    <a:pt x="508" y="11"/>
                  </a:lnTo>
                  <a:lnTo>
                    <a:pt x="6" y="658"/>
                  </a:lnTo>
                  <a:lnTo>
                    <a:pt x="0" y="668"/>
                  </a:lnTo>
                  <a:lnTo>
                    <a:pt x="0" y="680"/>
                  </a:lnTo>
                  <a:lnTo>
                    <a:pt x="3" y="690"/>
                  </a:lnTo>
                  <a:lnTo>
                    <a:pt x="11" y="699"/>
                  </a:lnTo>
                  <a:lnTo>
                    <a:pt x="15" y="703"/>
                  </a:lnTo>
                  <a:lnTo>
                    <a:pt x="21" y="704"/>
                  </a:lnTo>
                  <a:lnTo>
                    <a:pt x="27" y="705"/>
                  </a:lnTo>
                  <a:lnTo>
                    <a:pt x="33" y="705"/>
                  </a:lnTo>
                  <a:lnTo>
                    <a:pt x="38" y="704"/>
                  </a:lnTo>
                  <a:lnTo>
                    <a:pt x="43" y="702"/>
                  </a:lnTo>
                  <a:lnTo>
                    <a:pt x="48" y="698"/>
                  </a:lnTo>
                  <a:lnTo>
                    <a:pt x="52" y="6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79615" name="Picture 3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90500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12"/>
          <p:cNvGrpSpPr/>
          <p:nvPr/>
        </p:nvGrpSpPr>
        <p:grpSpPr bwMode="auto">
          <a:xfrm>
            <a:off x="7701583" y="2849563"/>
            <a:ext cx="1055068" cy="943633"/>
            <a:chOff x="4683" y="1846"/>
            <a:chExt cx="742" cy="723"/>
          </a:xfrm>
        </p:grpSpPr>
        <p:sp>
          <p:nvSpPr>
            <p:cNvPr id="15370" name="Freeform 41"/>
            <p:cNvSpPr/>
            <p:nvPr/>
          </p:nvSpPr>
          <p:spPr bwMode="auto">
            <a:xfrm>
              <a:off x="4683" y="2084"/>
              <a:ext cx="742" cy="485"/>
            </a:xfrm>
            <a:custGeom>
              <a:avLst/>
              <a:gdLst>
                <a:gd name="T0" fmla="*/ 8 w 1485"/>
                <a:gd name="T1" fmla="*/ 24 h 970"/>
                <a:gd name="T2" fmla="*/ 0 w 1485"/>
                <a:gd name="T3" fmla="*/ 25 h 970"/>
                <a:gd name="T4" fmla="*/ 7 w 1485"/>
                <a:gd name="T5" fmla="*/ 29 h 970"/>
                <a:gd name="T6" fmla="*/ 9 w 1485"/>
                <a:gd name="T7" fmla="*/ 30 h 970"/>
                <a:gd name="T8" fmla="*/ 35 w 1485"/>
                <a:gd name="T9" fmla="*/ 30 h 970"/>
                <a:gd name="T10" fmla="*/ 36 w 1485"/>
                <a:gd name="T11" fmla="*/ 29 h 970"/>
                <a:gd name="T12" fmla="*/ 46 w 1485"/>
                <a:gd name="T13" fmla="*/ 24 h 970"/>
                <a:gd name="T14" fmla="*/ 38 w 1485"/>
                <a:gd name="T15" fmla="*/ 23 h 970"/>
                <a:gd name="T16" fmla="*/ 39 w 1485"/>
                <a:gd name="T17" fmla="*/ 15 h 970"/>
                <a:gd name="T18" fmla="*/ 37 w 1485"/>
                <a:gd name="T19" fmla="*/ 13 h 970"/>
                <a:gd name="T20" fmla="*/ 39 w 1485"/>
                <a:gd name="T21" fmla="*/ 10 h 970"/>
                <a:gd name="T22" fmla="*/ 39 w 1485"/>
                <a:gd name="T23" fmla="*/ 4 h 970"/>
                <a:gd name="T24" fmla="*/ 38 w 1485"/>
                <a:gd name="T25" fmla="*/ 1 h 970"/>
                <a:gd name="T26" fmla="*/ 34 w 1485"/>
                <a:gd name="T27" fmla="*/ 0 h 970"/>
                <a:gd name="T28" fmla="*/ 12 w 1485"/>
                <a:gd name="T29" fmla="*/ 0 h 970"/>
                <a:gd name="T30" fmla="*/ 6 w 1485"/>
                <a:gd name="T31" fmla="*/ 2 h 970"/>
                <a:gd name="T32" fmla="*/ 5 w 1485"/>
                <a:gd name="T33" fmla="*/ 5 h 970"/>
                <a:gd name="T34" fmla="*/ 6 w 1485"/>
                <a:gd name="T35" fmla="*/ 12 h 970"/>
                <a:gd name="T36" fmla="*/ 8 w 1485"/>
                <a:gd name="T37" fmla="*/ 14 h 970"/>
                <a:gd name="T38" fmla="*/ 6 w 1485"/>
                <a:gd name="T39" fmla="*/ 15 h 970"/>
                <a:gd name="T40" fmla="*/ 8 w 1485"/>
                <a:gd name="T41" fmla="*/ 24 h 97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85"/>
                <a:gd name="T64" fmla="*/ 0 h 970"/>
                <a:gd name="T65" fmla="*/ 1485 w 1485"/>
                <a:gd name="T66" fmla="*/ 970 h 97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85" h="970">
                  <a:moveTo>
                    <a:pt x="275" y="741"/>
                  </a:moveTo>
                  <a:lnTo>
                    <a:pt x="0" y="784"/>
                  </a:lnTo>
                  <a:lnTo>
                    <a:pt x="247" y="917"/>
                  </a:lnTo>
                  <a:lnTo>
                    <a:pt x="293" y="970"/>
                  </a:lnTo>
                  <a:lnTo>
                    <a:pt x="1144" y="963"/>
                  </a:lnTo>
                  <a:lnTo>
                    <a:pt x="1183" y="916"/>
                  </a:lnTo>
                  <a:lnTo>
                    <a:pt x="1485" y="764"/>
                  </a:lnTo>
                  <a:lnTo>
                    <a:pt x="1221" y="712"/>
                  </a:lnTo>
                  <a:lnTo>
                    <a:pt x="1253" y="454"/>
                  </a:lnTo>
                  <a:lnTo>
                    <a:pt x="1211" y="391"/>
                  </a:lnTo>
                  <a:lnTo>
                    <a:pt x="1251" y="311"/>
                  </a:lnTo>
                  <a:lnTo>
                    <a:pt x="1277" y="105"/>
                  </a:lnTo>
                  <a:lnTo>
                    <a:pt x="1235" y="31"/>
                  </a:lnTo>
                  <a:lnTo>
                    <a:pt x="1088" y="0"/>
                  </a:lnTo>
                  <a:lnTo>
                    <a:pt x="405" y="0"/>
                  </a:lnTo>
                  <a:lnTo>
                    <a:pt x="211" y="62"/>
                  </a:lnTo>
                  <a:lnTo>
                    <a:pt x="175" y="138"/>
                  </a:lnTo>
                  <a:lnTo>
                    <a:pt x="205" y="364"/>
                  </a:lnTo>
                  <a:lnTo>
                    <a:pt x="266" y="423"/>
                  </a:lnTo>
                  <a:lnTo>
                    <a:pt x="220" y="485"/>
                  </a:lnTo>
                  <a:lnTo>
                    <a:pt x="275" y="7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42"/>
            <p:cNvSpPr/>
            <p:nvPr/>
          </p:nvSpPr>
          <p:spPr bwMode="auto">
            <a:xfrm>
              <a:off x="4793" y="2101"/>
              <a:ext cx="509" cy="284"/>
            </a:xfrm>
            <a:custGeom>
              <a:avLst/>
              <a:gdLst>
                <a:gd name="T0" fmla="*/ 6 w 1017"/>
                <a:gd name="T1" fmla="*/ 1 h 568"/>
                <a:gd name="T2" fmla="*/ 1 w 1017"/>
                <a:gd name="T3" fmla="*/ 1 h 568"/>
                <a:gd name="T4" fmla="*/ 0 w 1017"/>
                <a:gd name="T5" fmla="*/ 3 h 568"/>
                <a:gd name="T6" fmla="*/ 1 w 1017"/>
                <a:gd name="T7" fmla="*/ 9 h 568"/>
                <a:gd name="T8" fmla="*/ 4 w 1017"/>
                <a:gd name="T9" fmla="*/ 11 h 568"/>
                <a:gd name="T10" fmla="*/ 2 w 1017"/>
                <a:gd name="T11" fmla="*/ 14 h 568"/>
                <a:gd name="T12" fmla="*/ 6 w 1017"/>
                <a:gd name="T13" fmla="*/ 18 h 568"/>
                <a:gd name="T14" fmla="*/ 11 w 1017"/>
                <a:gd name="T15" fmla="*/ 18 h 568"/>
                <a:gd name="T16" fmla="*/ 15 w 1017"/>
                <a:gd name="T17" fmla="*/ 15 h 568"/>
                <a:gd name="T18" fmla="*/ 16 w 1017"/>
                <a:gd name="T19" fmla="*/ 13 h 568"/>
                <a:gd name="T20" fmla="*/ 18 w 1017"/>
                <a:gd name="T21" fmla="*/ 13 h 568"/>
                <a:gd name="T22" fmla="*/ 20 w 1017"/>
                <a:gd name="T23" fmla="*/ 18 h 568"/>
                <a:gd name="T24" fmla="*/ 24 w 1017"/>
                <a:gd name="T25" fmla="*/ 17 h 568"/>
                <a:gd name="T26" fmla="*/ 25 w 1017"/>
                <a:gd name="T27" fmla="*/ 13 h 568"/>
                <a:gd name="T28" fmla="*/ 28 w 1017"/>
                <a:gd name="T29" fmla="*/ 15 h 568"/>
                <a:gd name="T30" fmla="*/ 31 w 1017"/>
                <a:gd name="T31" fmla="*/ 13 h 568"/>
                <a:gd name="T32" fmla="*/ 30 w 1017"/>
                <a:gd name="T33" fmla="*/ 11 h 568"/>
                <a:gd name="T34" fmla="*/ 31 w 1017"/>
                <a:gd name="T35" fmla="*/ 9 h 568"/>
                <a:gd name="T36" fmla="*/ 32 w 1017"/>
                <a:gd name="T37" fmla="*/ 2 h 568"/>
                <a:gd name="T38" fmla="*/ 31 w 1017"/>
                <a:gd name="T39" fmla="*/ 1 h 568"/>
                <a:gd name="T40" fmla="*/ 27 w 1017"/>
                <a:gd name="T41" fmla="*/ 0 h 568"/>
                <a:gd name="T42" fmla="*/ 6 w 1017"/>
                <a:gd name="T43" fmla="*/ 1 h 5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17"/>
                <a:gd name="T67" fmla="*/ 0 h 568"/>
                <a:gd name="T68" fmla="*/ 1017 w 1017"/>
                <a:gd name="T69" fmla="*/ 568 h 5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17" h="568">
                  <a:moveTo>
                    <a:pt x="176" y="11"/>
                  </a:moveTo>
                  <a:lnTo>
                    <a:pt x="27" y="62"/>
                  </a:lnTo>
                  <a:lnTo>
                    <a:pt x="0" y="113"/>
                  </a:lnTo>
                  <a:lnTo>
                    <a:pt x="27" y="317"/>
                  </a:lnTo>
                  <a:lnTo>
                    <a:pt x="105" y="375"/>
                  </a:lnTo>
                  <a:lnTo>
                    <a:pt x="62" y="462"/>
                  </a:lnTo>
                  <a:lnTo>
                    <a:pt x="184" y="568"/>
                  </a:lnTo>
                  <a:lnTo>
                    <a:pt x="334" y="554"/>
                  </a:lnTo>
                  <a:lnTo>
                    <a:pt x="461" y="501"/>
                  </a:lnTo>
                  <a:lnTo>
                    <a:pt x="508" y="427"/>
                  </a:lnTo>
                  <a:lnTo>
                    <a:pt x="570" y="423"/>
                  </a:lnTo>
                  <a:lnTo>
                    <a:pt x="630" y="553"/>
                  </a:lnTo>
                  <a:lnTo>
                    <a:pt x="759" y="520"/>
                  </a:lnTo>
                  <a:lnTo>
                    <a:pt x="779" y="419"/>
                  </a:lnTo>
                  <a:lnTo>
                    <a:pt x="893" y="486"/>
                  </a:lnTo>
                  <a:lnTo>
                    <a:pt x="974" y="442"/>
                  </a:lnTo>
                  <a:lnTo>
                    <a:pt x="949" y="352"/>
                  </a:lnTo>
                  <a:lnTo>
                    <a:pt x="978" y="270"/>
                  </a:lnTo>
                  <a:lnTo>
                    <a:pt x="1017" y="86"/>
                  </a:lnTo>
                  <a:lnTo>
                    <a:pt x="974" y="34"/>
                  </a:lnTo>
                  <a:lnTo>
                    <a:pt x="834" y="0"/>
                  </a:lnTo>
                  <a:lnTo>
                    <a:pt x="176" y="11"/>
                  </a:lnTo>
                  <a:close/>
                </a:path>
              </a:pathLst>
            </a:custGeom>
            <a:solidFill>
              <a:srgbClr val="DB5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Freeform 43"/>
            <p:cNvSpPr/>
            <p:nvPr/>
          </p:nvSpPr>
          <p:spPr bwMode="auto">
            <a:xfrm>
              <a:off x="4844" y="2117"/>
              <a:ext cx="426" cy="57"/>
            </a:xfrm>
            <a:custGeom>
              <a:avLst/>
              <a:gdLst>
                <a:gd name="T0" fmla="*/ 2 w 854"/>
                <a:gd name="T1" fmla="*/ 0 h 114"/>
                <a:gd name="T2" fmla="*/ 24 w 854"/>
                <a:gd name="T3" fmla="*/ 1 h 114"/>
                <a:gd name="T4" fmla="*/ 26 w 854"/>
                <a:gd name="T5" fmla="*/ 2 h 114"/>
                <a:gd name="T6" fmla="*/ 14 w 854"/>
                <a:gd name="T7" fmla="*/ 4 h 114"/>
                <a:gd name="T8" fmla="*/ 3 w 854"/>
                <a:gd name="T9" fmla="*/ 3 h 114"/>
                <a:gd name="T10" fmla="*/ 0 w 854"/>
                <a:gd name="T11" fmla="*/ 2 h 114"/>
                <a:gd name="T12" fmla="*/ 2 w 854"/>
                <a:gd name="T13" fmla="*/ 0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54"/>
                <a:gd name="T22" fmla="*/ 0 h 114"/>
                <a:gd name="T23" fmla="*/ 854 w 854"/>
                <a:gd name="T24" fmla="*/ 114 h 1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54" h="114">
                  <a:moveTo>
                    <a:pt x="87" y="0"/>
                  </a:moveTo>
                  <a:lnTo>
                    <a:pt x="799" y="8"/>
                  </a:lnTo>
                  <a:lnTo>
                    <a:pt x="854" y="36"/>
                  </a:lnTo>
                  <a:lnTo>
                    <a:pt x="454" y="114"/>
                  </a:lnTo>
                  <a:lnTo>
                    <a:pt x="118" y="82"/>
                  </a:lnTo>
                  <a:lnTo>
                    <a:pt x="0" y="36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EA8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Freeform 44"/>
            <p:cNvSpPr/>
            <p:nvPr/>
          </p:nvSpPr>
          <p:spPr bwMode="auto">
            <a:xfrm>
              <a:off x="4814" y="2162"/>
              <a:ext cx="160" cy="90"/>
            </a:xfrm>
            <a:custGeom>
              <a:avLst/>
              <a:gdLst>
                <a:gd name="T0" fmla="*/ 0 w 320"/>
                <a:gd name="T1" fmla="*/ 0 h 181"/>
                <a:gd name="T2" fmla="*/ 5 w 320"/>
                <a:gd name="T3" fmla="*/ 1 h 181"/>
                <a:gd name="T4" fmla="*/ 10 w 320"/>
                <a:gd name="T5" fmla="*/ 1 h 181"/>
                <a:gd name="T6" fmla="*/ 5 w 320"/>
                <a:gd name="T7" fmla="*/ 2 h 181"/>
                <a:gd name="T8" fmla="*/ 3 w 320"/>
                <a:gd name="T9" fmla="*/ 5 h 181"/>
                <a:gd name="T10" fmla="*/ 1 w 320"/>
                <a:gd name="T11" fmla="*/ 4 h 181"/>
                <a:gd name="T12" fmla="*/ 0 w 320"/>
                <a:gd name="T13" fmla="*/ 0 h 1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0"/>
                <a:gd name="T22" fmla="*/ 0 h 181"/>
                <a:gd name="T23" fmla="*/ 320 w 320"/>
                <a:gd name="T24" fmla="*/ 181 h 1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0" h="181">
                  <a:moveTo>
                    <a:pt x="0" y="0"/>
                  </a:moveTo>
                  <a:lnTo>
                    <a:pt x="180" y="35"/>
                  </a:lnTo>
                  <a:lnTo>
                    <a:pt x="320" y="35"/>
                  </a:lnTo>
                  <a:lnTo>
                    <a:pt x="148" y="90"/>
                  </a:lnTo>
                  <a:lnTo>
                    <a:pt x="94" y="181"/>
                  </a:lnTo>
                  <a:lnTo>
                    <a:pt x="23" y="1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Freeform 45"/>
            <p:cNvSpPr/>
            <p:nvPr/>
          </p:nvSpPr>
          <p:spPr bwMode="auto">
            <a:xfrm>
              <a:off x="5088" y="2145"/>
              <a:ext cx="214" cy="160"/>
            </a:xfrm>
            <a:custGeom>
              <a:avLst/>
              <a:gdLst>
                <a:gd name="T0" fmla="*/ 14 w 426"/>
                <a:gd name="T1" fmla="*/ 0 h 320"/>
                <a:gd name="T2" fmla="*/ 13 w 426"/>
                <a:gd name="T3" fmla="*/ 5 h 320"/>
                <a:gd name="T4" fmla="*/ 11 w 426"/>
                <a:gd name="T5" fmla="*/ 10 h 320"/>
                <a:gd name="T6" fmla="*/ 6 w 426"/>
                <a:gd name="T7" fmla="*/ 7 h 320"/>
                <a:gd name="T8" fmla="*/ 7 w 426"/>
                <a:gd name="T9" fmla="*/ 5 h 320"/>
                <a:gd name="T10" fmla="*/ 0 w 426"/>
                <a:gd name="T11" fmla="*/ 5 h 320"/>
                <a:gd name="T12" fmla="*/ 8 w 426"/>
                <a:gd name="T13" fmla="*/ 3 h 320"/>
                <a:gd name="T14" fmla="*/ 14 w 426"/>
                <a:gd name="T15" fmla="*/ 0 h 3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26"/>
                <a:gd name="T25" fmla="*/ 0 h 320"/>
                <a:gd name="T26" fmla="*/ 426 w 426"/>
                <a:gd name="T27" fmla="*/ 320 h 3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26" h="320">
                  <a:moveTo>
                    <a:pt x="426" y="0"/>
                  </a:moveTo>
                  <a:lnTo>
                    <a:pt x="403" y="141"/>
                  </a:lnTo>
                  <a:lnTo>
                    <a:pt x="333" y="320"/>
                  </a:lnTo>
                  <a:lnTo>
                    <a:pt x="185" y="235"/>
                  </a:lnTo>
                  <a:lnTo>
                    <a:pt x="216" y="165"/>
                  </a:lnTo>
                  <a:lnTo>
                    <a:pt x="0" y="141"/>
                  </a:lnTo>
                  <a:lnTo>
                    <a:pt x="227" y="66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rgbClr val="BF3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Freeform 46"/>
            <p:cNvSpPr/>
            <p:nvPr/>
          </p:nvSpPr>
          <p:spPr bwMode="auto">
            <a:xfrm>
              <a:off x="4830" y="2340"/>
              <a:ext cx="409" cy="138"/>
            </a:xfrm>
            <a:custGeom>
              <a:avLst/>
              <a:gdLst>
                <a:gd name="T0" fmla="*/ 25 w 819"/>
                <a:gd name="T1" fmla="*/ 2 h 275"/>
                <a:gd name="T2" fmla="*/ 20 w 819"/>
                <a:gd name="T3" fmla="*/ 8 h 275"/>
                <a:gd name="T4" fmla="*/ 1 w 819"/>
                <a:gd name="T5" fmla="*/ 9 h 275"/>
                <a:gd name="T6" fmla="*/ 0 w 819"/>
                <a:gd name="T7" fmla="*/ 2 h 275"/>
                <a:gd name="T8" fmla="*/ 2 w 819"/>
                <a:gd name="T9" fmla="*/ 4 h 275"/>
                <a:gd name="T10" fmla="*/ 8 w 819"/>
                <a:gd name="T11" fmla="*/ 4 h 275"/>
                <a:gd name="T12" fmla="*/ 12 w 819"/>
                <a:gd name="T13" fmla="*/ 3 h 275"/>
                <a:gd name="T14" fmla="*/ 14 w 819"/>
                <a:gd name="T15" fmla="*/ 0 h 275"/>
                <a:gd name="T16" fmla="*/ 16 w 819"/>
                <a:gd name="T17" fmla="*/ 4 h 275"/>
                <a:gd name="T18" fmla="*/ 22 w 819"/>
                <a:gd name="T19" fmla="*/ 3 h 275"/>
                <a:gd name="T20" fmla="*/ 23 w 819"/>
                <a:gd name="T21" fmla="*/ 1 h 275"/>
                <a:gd name="T22" fmla="*/ 25 w 819"/>
                <a:gd name="T23" fmla="*/ 2 h 2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19"/>
                <a:gd name="T37" fmla="*/ 0 h 275"/>
                <a:gd name="T38" fmla="*/ 819 w 819"/>
                <a:gd name="T39" fmla="*/ 275 h 27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19" h="275">
                  <a:moveTo>
                    <a:pt x="819" y="50"/>
                  </a:moveTo>
                  <a:lnTo>
                    <a:pt x="654" y="246"/>
                  </a:lnTo>
                  <a:lnTo>
                    <a:pt x="47" y="275"/>
                  </a:lnTo>
                  <a:lnTo>
                    <a:pt x="0" y="47"/>
                  </a:lnTo>
                  <a:lnTo>
                    <a:pt x="94" y="125"/>
                  </a:lnTo>
                  <a:lnTo>
                    <a:pt x="270" y="121"/>
                  </a:lnTo>
                  <a:lnTo>
                    <a:pt x="406" y="65"/>
                  </a:lnTo>
                  <a:lnTo>
                    <a:pt x="465" y="0"/>
                  </a:lnTo>
                  <a:lnTo>
                    <a:pt x="528" y="125"/>
                  </a:lnTo>
                  <a:lnTo>
                    <a:pt x="724" y="75"/>
                  </a:lnTo>
                  <a:lnTo>
                    <a:pt x="744" y="12"/>
                  </a:lnTo>
                  <a:lnTo>
                    <a:pt x="819" y="50"/>
                  </a:lnTo>
                  <a:close/>
                </a:path>
              </a:pathLst>
            </a:custGeom>
            <a:solidFill>
              <a:srgbClr val="99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Freeform 47"/>
            <p:cNvSpPr/>
            <p:nvPr/>
          </p:nvSpPr>
          <p:spPr bwMode="auto">
            <a:xfrm>
              <a:off x="4856" y="2268"/>
              <a:ext cx="199" cy="51"/>
            </a:xfrm>
            <a:custGeom>
              <a:avLst/>
              <a:gdLst>
                <a:gd name="T0" fmla="*/ 2 w 398"/>
                <a:gd name="T1" fmla="*/ 2 h 101"/>
                <a:gd name="T2" fmla="*/ 12 w 398"/>
                <a:gd name="T3" fmla="*/ 0 h 101"/>
                <a:gd name="T4" fmla="*/ 12 w 398"/>
                <a:gd name="T5" fmla="*/ 1 h 101"/>
                <a:gd name="T6" fmla="*/ 8 w 398"/>
                <a:gd name="T7" fmla="*/ 4 h 101"/>
                <a:gd name="T8" fmla="*/ 0 w 398"/>
                <a:gd name="T9" fmla="*/ 3 h 101"/>
                <a:gd name="T10" fmla="*/ 2 w 398"/>
                <a:gd name="T11" fmla="*/ 2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8"/>
                <a:gd name="T19" fmla="*/ 0 h 101"/>
                <a:gd name="T20" fmla="*/ 398 w 398"/>
                <a:gd name="T21" fmla="*/ 101 h 1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8" h="101">
                  <a:moveTo>
                    <a:pt x="39" y="58"/>
                  </a:moveTo>
                  <a:lnTo>
                    <a:pt x="359" y="0"/>
                  </a:lnTo>
                  <a:lnTo>
                    <a:pt x="398" y="31"/>
                  </a:lnTo>
                  <a:lnTo>
                    <a:pt x="256" y="101"/>
                  </a:lnTo>
                  <a:lnTo>
                    <a:pt x="0" y="96"/>
                  </a:lnTo>
                  <a:lnTo>
                    <a:pt x="39" y="58"/>
                  </a:lnTo>
                  <a:close/>
                </a:path>
              </a:pathLst>
            </a:custGeom>
            <a:solidFill>
              <a:srgbClr val="EA8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Freeform 48"/>
            <p:cNvSpPr/>
            <p:nvPr/>
          </p:nvSpPr>
          <p:spPr bwMode="auto">
            <a:xfrm>
              <a:off x="4902" y="2073"/>
              <a:ext cx="79" cy="51"/>
            </a:xfrm>
            <a:custGeom>
              <a:avLst/>
              <a:gdLst>
                <a:gd name="T0" fmla="*/ 2 w 158"/>
                <a:gd name="T1" fmla="*/ 3 h 103"/>
                <a:gd name="T2" fmla="*/ 3 w 158"/>
                <a:gd name="T3" fmla="*/ 2 h 103"/>
                <a:gd name="T4" fmla="*/ 3 w 158"/>
                <a:gd name="T5" fmla="*/ 1 h 103"/>
                <a:gd name="T6" fmla="*/ 5 w 158"/>
                <a:gd name="T7" fmla="*/ 0 h 103"/>
                <a:gd name="T8" fmla="*/ 0 w 158"/>
                <a:gd name="T9" fmla="*/ 0 h 103"/>
                <a:gd name="T10" fmla="*/ 1 w 158"/>
                <a:gd name="T11" fmla="*/ 1 h 103"/>
                <a:gd name="T12" fmla="*/ 1 w 158"/>
                <a:gd name="T13" fmla="*/ 3 h 103"/>
                <a:gd name="T14" fmla="*/ 2 w 158"/>
                <a:gd name="T15" fmla="*/ 3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3"/>
                <a:gd name="T26" fmla="*/ 158 w 158"/>
                <a:gd name="T27" fmla="*/ 103 h 1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3">
                  <a:moveTo>
                    <a:pt x="91" y="103"/>
                  </a:moveTo>
                  <a:lnTo>
                    <a:pt x="119" y="84"/>
                  </a:lnTo>
                  <a:lnTo>
                    <a:pt x="124" y="49"/>
                  </a:lnTo>
                  <a:lnTo>
                    <a:pt x="158" y="0"/>
                  </a:lnTo>
                  <a:lnTo>
                    <a:pt x="0" y="4"/>
                  </a:lnTo>
                  <a:lnTo>
                    <a:pt x="40" y="50"/>
                  </a:lnTo>
                  <a:lnTo>
                    <a:pt x="52" y="97"/>
                  </a:lnTo>
                  <a:lnTo>
                    <a:pt x="91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Freeform 49"/>
            <p:cNvSpPr/>
            <p:nvPr/>
          </p:nvSpPr>
          <p:spPr bwMode="auto">
            <a:xfrm>
              <a:off x="4921" y="1945"/>
              <a:ext cx="41" cy="144"/>
            </a:xfrm>
            <a:custGeom>
              <a:avLst/>
              <a:gdLst>
                <a:gd name="T0" fmla="*/ 1 w 82"/>
                <a:gd name="T1" fmla="*/ 9 h 288"/>
                <a:gd name="T2" fmla="*/ 0 w 82"/>
                <a:gd name="T3" fmla="*/ 1 h 288"/>
                <a:gd name="T4" fmla="*/ 1 w 82"/>
                <a:gd name="T5" fmla="*/ 0 h 288"/>
                <a:gd name="T6" fmla="*/ 2 w 82"/>
                <a:gd name="T7" fmla="*/ 0 h 288"/>
                <a:gd name="T8" fmla="*/ 3 w 82"/>
                <a:gd name="T9" fmla="*/ 1 h 288"/>
                <a:gd name="T10" fmla="*/ 3 w 82"/>
                <a:gd name="T11" fmla="*/ 9 h 288"/>
                <a:gd name="T12" fmla="*/ 1 w 82"/>
                <a:gd name="T13" fmla="*/ 9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288"/>
                <a:gd name="T23" fmla="*/ 82 w 82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288">
                  <a:moveTo>
                    <a:pt x="11" y="288"/>
                  </a:moveTo>
                  <a:lnTo>
                    <a:pt x="0" y="35"/>
                  </a:lnTo>
                  <a:lnTo>
                    <a:pt x="23" y="0"/>
                  </a:lnTo>
                  <a:lnTo>
                    <a:pt x="64" y="0"/>
                  </a:lnTo>
                  <a:lnTo>
                    <a:pt x="82" y="30"/>
                  </a:lnTo>
                  <a:lnTo>
                    <a:pt x="76" y="276"/>
                  </a:lnTo>
                  <a:lnTo>
                    <a:pt x="11" y="2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Rectangle 50"/>
            <p:cNvSpPr>
              <a:spLocks noChangeArrowheads="1"/>
            </p:cNvSpPr>
            <p:nvPr/>
          </p:nvSpPr>
          <p:spPr bwMode="auto">
            <a:xfrm>
              <a:off x="4936" y="1916"/>
              <a:ext cx="12" cy="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5380" name="Freeform 51"/>
            <p:cNvSpPr/>
            <p:nvPr/>
          </p:nvSpPr>
          <p:spPr bwMode="auto">
            <a:xfrm>
              <a:off x="4914" y="1848"/>
              <a:ext cx="56" cy="89"/>
            </a:xfrm>
            <a:custGeom>
              <a:avLst/>
              <a:gdLst>
                <a:gd name="T0" fmla="*/ 2 w 112"/>
                <a:gd name="T1" fmla="*/ 6 h 177"/>
                <a:gd name="T2" fmla="*/ 4 w 112"/>
                <a:gd name="T3" fmla="*/ 5 h 177"/>
                <a:gd name="T4" fmla="*/ 3 w 112"/>
                <a:gd name="T5" fmla="*/ 3 h 177"/>
                <a:gd name="T6" fmla="*/ 3 w 112"/>
                <a:gd name="T7" fmla="*/ 0 h 177"/>
                <a:gd name="T8" fmla="*/ 1 w 112"/>
                <a:gd name="T9" fmla="*/ 3 h 177"/>
                <a:gd name="T10" fmla="*/ 0 w 112"/>
                <a:gd name="T11" fmla="*/ 5 h 177"/>
                <a:gd name="T12" fmla="*/ 2 w 112"/>
                <a:gd name="T13" fmla="*/ 6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"/>
                <a:gd name="T22" fmla="*/ 0 h 177"/>
                <a:gd name="T23" fmla="*/ 112 w 112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" h="177">
                  <a:moveTo>
                    <a:pt x="62" y="177"/>
                  </a:moveTo>
                  <a:lnTo>
                    <a:pt x="112" y="132"/>
                  </a:lnTo>
                  <a:lnTo>
                    <a:pt x="77" y="69"/>
                  </a:lnTo>
                  <a:lnTo>
                    <a:pt x="77" y="0"/>
                  </a:lnTo>
                  <a:lnTo>
                    <a:pt x="14" y="67"/>
                  </a:lnTo>
                  <a:lnTo>
                    <a:pt x="0" y="134"/>
                  </a:lnTo>
                  <a:lnTo>
                    <a:pt x="62" y="1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52"/>
            <p:cNvSpPr/>
            <p:nvPr/>
          </p:nvSpPr>
          <p:spPr bwMode="auto">
            <a:xfrm>
              <a:off x="4921" y="2078"/>
              <a:ext cx="43" cy="30"/>
            </a:xfrm>
            <a:custGeom>
              <a:avLst/>
              <a:gdLst>
                <a:gd name="T0" fmla="*/ 3 w 86"/>
                <a:gd name="T1" fmla="*/ 0 h 61"/>
                <a:gd name="T2" fmla="*/ 0 w 86"/>
                <a:gd name="T3" fmla="*/ 0 h 61"/>
                <a:gd name="T4" fmla="*/ 1 w 86"/>
                <a:gd name="T5" fmla="*/ 0 h 61"/>
                <a:gd name="T6" fmla="*/ 1 w 86"/>
                <a:gd name="T7" fmla="*/ 1 h 61"/>
                <a:gd name="T8" fmla="*/ 1 w 86"/>
                <a:gd name="T9" fmla="*/ 1 h 61"/>
                <a:gd name="T10" fmla="*/ 1 w 86"/>
                <a:gd name="T11" fmla="*/ 0 h 61"/>
                <a:gd name="T12" fmla="*/ 3 w 86"/>
                <a:gd name="T13" fmla="*/ 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61"/>
                <a:gd name="T23" fmla="*/ 86 w 86"/>
                <a:gd name="T24" fmla="*/ 61 h 6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61">
                  <a:moveTo>
                    <a:pt x="86" y="0"/>
                  </a:moveTo>
                  <a:lnTo>
                    <a:pt x="0" y="8"/>
                  </a:lnTo>
                  <a:lnTo>
                    <a:pt x="26" y="27"/>
                  </a:lnTo>
                  <a:lnTo>
                    <a:pt x="31" y="61"/>
                  </a:lnTo>
                  <a:lnTo>
                    <a:pt x="47" y="57"/>
                  </a:lnTo>
                  <a:lnTo>
                    <a:pt x="50" y="2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53"/>
            <p:cNvSpPr/>
            <p:nvPr/>
          </p:nvSpPr>
          <p:spPr bwMode="auto">
            <a:xfrm>
              <a:off x="4934" y="1954"/>
              <a:ext cx="18" cy="116"/>
            </a:xfrm>
            <a:custGeom>
              <a:avLst/>
              <a:gdLst>
                <a:gd name="T0" fmla="*/ 1 w 36"/>
                <a:gd name="T1" fmla="*/ 0 h 231"/>
                <a:gd name="T2" fmla="*/ 0 w 36"/>
                <a:gd name="T3" fmla="*/ 1 h 231"/>
                <a:gd name="T4" fmla="*/ 0 w 36"/>
                <a:gd name="T5" fmla="*/ 8 h 231"/>
                <a:gd name="T6" fmla="*/ 1 w 36"/>
                <a:gd name="T7" fmla="*/ 7 h 231"/>
                <a:gd name="T8" fmla="*/ 1 w 36"/>
                <a:gd name="T9" fmla="*/ 1 h 231"/>
                <a:gd name="T10" fmla="*/ 1 w 36"/>
                <a:gd name="T11" fmla="*/ 0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"/>
                <a:gd name="T19" fmla="*/ 0 h 231"/>
                <a:gd name="T20" fmla="*/ 36 w 36"/>
                <a:gd name="T21" fmla="*/ 231 h 2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" h="231">
                  <a:moveTo>
                    <a:pt x="16" y="0"/>
                  </a:moveTo>
                  <a:lnTo>
                    <a:pt x="0" y="13"/>
                  </a:lnTo>
                  <a:lnTo>
                    <a:pt x="0" y="231"/>
                  </a:lnTo>
                  <a:lnTo>
                    <a:pt x="32" y="200"/>
                  </a:lnTo>
                  <a:lnTo>
                    <a:pt x="36" y="1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54"/>
            <p:cNvSpPr/>
            <p:nvPr/>
          </p:nvSpPr>
          <p:spPr bwMode="auto">
            <a:xfrm>
              <a:off x="4925" y="1872"/>
              <a:ext cx="31" cy="51"/>
            </a:xfrm>
            <a:custGeom>
              <a:avLst/>
              <a:gdLst>
                <a:gd name="T0" fmla="*/ 2 w 61"/>
                <a:gd name="T1" fmla="*/ 0 h 102"/>
                <a:gd name="T2" fmla="*/ 1 w 61"/>
                <a:gd name="T3" fmla="*/ 1 h 102"/>
                <a:gd name="T4" fmla="*/ 0 w 61"/>
                <a:gd name="T5" fmla="*/ 3 h 102"/>
                <a:gd name="T6" fmla="*/ 1 w 61"/>
                <a:gd name="T7" fmla="*/ 3 h 102"/>
                <a:gd name="T8" fmla="*/ 2 w 61"/>
                <a:gd name="T9" fmla="*/ 3 h 102"/>
                <a:gd name="T10" fmla="*/ 2 w 61"/>
                <a:gd name="T11" fmla="*/ 1 h 102"/>
                <a:gd name="T12" fmla="*/ 2 w 61"/>
                <a:gd name="T13" fmla="*/ 0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1"/>
                <a:gd name="T22" fmla="*/ 0 h 102"/>
                <a:gd name="T23" fmla="*/ 61 w 61"/>
                <a:gd name="T24" fmla="*/ 102 h 10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1" h="102">
                  <a:moveTo>
                    <a:pt x="36" y="0"/>
                  </a:moveTo>
                  <a:lnTo>
                    <a:pt x="9" y="30"/>
                  </a:lnTo>
                  <a:lnTo>
                    <a:pt x="0" y="74"/>
                  </a:lnTo>
                  <a:lnTo>
                    <a:pt x="32" y="102"/>
                  </a:lnTo>
                  <a:lnTo>
                    <a:pt x="61" y="78"/>
                  </a:lnTo>
                  <a:lnTo>
                    <a:pt x="33" y="29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Freeform 55"/>
            <p:cNvSpPr/>
            <p:nvPr/>
          </p:nvSpPr>
          <p:spPr bwMode="auto">
            <a:xfrm>
              <a:off x="4934" y="1889"/>
              <a:ext cx="12" cy="28"/>
            </a:xfrm>
            <a:custGeom>
              <a:avLst/>
              <a:gdLst>
                <a:gd name="T0" fmla="*/ 1 w 24"/>
                <a:gd name="T1" fmla="*/ 2 h 56"/>
                <a:gd name="T2" fmla="*/ 0 w 24"/>
                <a:gd name="T3" fmla="*/ 2 h 56"/>
                <a:gd name="T4" fmla="*/ 1 w 24"/>
                <a:gd name="T5" fmla="*/ 1 h 56"/>
                <a:gd name="T6" fmla="*/ 1 w 24"/>
                <a:gd name="T7" fmla="*/ 0 h 56"/>
                <a:gd name="T8" fmla="*/ 1 w 24"/>
                <a:gd name="T9" fmla="*/ 1 h 56"/>
                <a:gd name="T10" fmla="*/ 1 w 24"/>
                <a:gd name="T11" fmla="*/ 1 h 56"/>
                <a:gd name="T12" fmla="*/ 1 w 24"/>
                <a:gd name="T13" fmla="*/ 2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56"/>
                <a:gd name="T23" fmla="*/ 24 w 24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56">
                  <a:moveTo>
                    <a:pt x="15" y="56"/>
                  </a:moveTo>
                  <a:lnTo>
                    <a:pt x="0" y="40"/>
                  </a:lnTo>
                  <a:lnTo>
                    <a:pt x="1" y="18"/>
                  </a:lnTo>
                  <a:lnTo>
                    <a:pt x="7" y="0"/>
                  </a:lnTo>
                  <a:lnTo>
                    <a:pt x="9" y="19"/>
                  </a:lnTo>
                  <a:lnTo>
                    <a:pt x="24" y="30"/>
                  </a:lnTo>
                  <a:lnTo>
                    <a:pt x="15" y="56"/>
                  </a:lnTo>
                  <a:close/>
                </a:path>
              </a:pathLst>
            </a:custGeom>
            <a:solidFill>
              <a:srgbClr val="FF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Freeform 56"/>
            <p:cNvSpPr/>
            <p:nvPr/>
          </p:nvSpPr>
          <p:spPr bwMode="auto">
            <a:xfrm>
              <a:off x="4934" y="1958"/>
              <a:ext cx="14" cy="100"/>
            </a:xfrm>
            <a:custGeom>
              <a:avLst/>
              <a:gdLst>
                <a:gd name="T0" fmla="*/ 1 w 28"/>
                <a:gd name="T1" fmla="*/ 0 h 200"/>
                <a:gd name="T2" fmla="*/ 1 w 28"/>
                <a:gd name="T3" fmla="*/ 1 h 200"/>
                <a:gd name="T4" fmla="*/ 1 w 28"/>
                <a:gd name="T5" fmla="*/ 6 h 200"/>
                <a:gd name="T6" fmla="*/ 0 w 28"/>
                <a:gd name="T7" fmla="*/ 1 h 200"/>
                <a:gd name="T8" fmla="*/ 1 w 28"/>
                <a:gd name="T9" fmla="*/ 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200"/>
                <a:gd name="T17" fmla="*/ 28 w 28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200">
                  <a:moveTo>
                    <a:pt x="28" y="0"/>
                  </a:moveTo>
                  <a:lnTo>
                    <a:pt x="16" y="16"/>
                  </a:lnTo>
                  <a:lnTo>
                    <a:pt x="5" y="200"/>
                  </a:lnTo>
                  <a:lnTo>
                    <a:pt x="0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57"/>
            <p:cNvSpPr/>
            <p:nvPr/>
          </p:nvSpPr>
          <p:spPr bwMode="auto">
            <a:xfrm>
              <a:off x="5027" y="2071"/>
              <a:ext cx="80" cy="51"/>
            </a:xfrm>
            <a:custGeom>
              <a:avLst/>
              <a:gdLst>
                <a:gd name="T0" fmla="*/ 3 w 160"/>
                <a:gd name="T1" fmla="*/ 3 h 102"/>
                <a:gd name="T2" fmla="*/ 3 w 160"/>
                <a:gd name="T3" fmla="*/ 3 h 102"/>
                <a:gd name="T4" fmla="*/ 3 w 160"/>
                <a:gd name="T5" fmla="*/ 2 h 102"/>
                <a:gd name="T6" fmla="*/ 5 w 160"/>
                <a:gd name="T7" fmla="*/ 0 h 102"/>
                <a:gd name="T8" fmla="*/ 0 w 160"/>
                <a:gd name="T9" fmla="*/ 1 h 102"/>
                <a:gd name="T10" fmla="*/ 1 w 160"/>
                <a:gd name="T11" fmla="*/ 2 h 102"/>
                <a:gd name="T12" fmla="*/ 1 w 160"/>
                <a:gd name="T13" fmla="*/ 3 h 102"/>
                <a:gd name="T14" fmla="*/ 3 w 160"/>
                <a:gd name="T15" fmla="*/ 3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"/>
                <a:gd name="T25" fmla="*/ 0 h 102"/>
                <a:gd name="T26" fmla="*/ 160 w 160"/>
                <a:gd name="T27" fmla="*/ 102 h 10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" h="102">
                  <a:moveTo>
                    <a:pt x="92" y="102"/>
                  </a:moveTo>
                  <a:lnTo>
                    <a:pt x="119" y="83"/>
                  </a:lnTo>
                  <a:lnTo>
                    <a:pt x="125" y="48"/>
                  </a:lnTo>
                  <a:lnTo>
                    <a:pt x="160" y="0"/>
                  </a:lnTo>
                  <a:lnTo>
                    <a:pt x="0" y="3"/>
                  </a:lnTo>
                  <a:lnTo>
                    <a:pt x="41" y="48"/>
                  </a:lnTo>
                  <a:lnTo>
                    <a:pt x="53" y="95"/>
                  </a:lnTo>
                  <a:lnTo>
                    <a:pt x="92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58"/>
            <p:cNvSpPr/>
            <p:nvPr/>
          </p:nvSpPr>
          <p:spPr bwMode="auto">
            <a:xfrm>
              <a:off x="5046" y="1944"/>
              <a:ext cx="41" cy="144"/>
            </a:xfrm>
            <a:custGeom>
              <a:avLst/>
              <a:gdLst>
                <a:gd name="T0" fmla="*/ 1 w 82"/>
                <a:gd name="T1" fmla="*/ 9 h 288"/>
                <a:gd name="T2" fmla="*/ 0 w 82"/>
                <a:gd name="T3" fmla="*/ 1 h 288"/>
                <a:gd name="T4" fmla="*/ 1 w 82"/>
                <a:gd name="T5" fmla="*/ 0 h 288"/>
                <a:gd name="T6" fmla="*/ 2 w 82"/>
                <a:gd name="T7" fmla="*/ 0 h 288"/>
                <a:gd name="T8" fmla="*/ 3 w 82"/>
                <a:gd name="T9" fmla="*/ 1 h 288"/>
                <a:gd name="T10" fmla="*/ 3 w 82"/>
                <a:gd name="T11" fmla="*/ 9 h 288"/>
                <a:gd name="T12" fmla="*/ 1 w 82"/>
                <a:gd name="T13" fmla="*/ 9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288"/>
                <a:gd name="T23" fmla="*/ 82 w 82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288">
                  <a:moveTo>
                    <a:pt x="11" y="288"/>
                  </a:moveTo>
                  <a:lnTo>
                    <a:pt x="0" y="35"/>
                  </a:lnTo>
                  <a:lnTo>
                    <a:pt x="23" y="0"/>
                  </a:lnTo>
                  <a:lnTo>
                    <a:pt x="64" y="0"/>
                  </a:lnTo>
                  <a:lnTo>
                    <a:pt x="82" y="29"/>
                  </a:lnTo>
                  <a:lnTo>
                    <a:pt x="76" y="277"/>
                  </a:lnTo>
                  <a:lnTo>
                    <a:pt x="11" y="2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Rectangle 59"/>
            <p:cNvSpPr>
              <a:spLocks noChangeArrowheads="1"/>
            </p:cNvSpPr>
            <p:nvPr/>
          </p:nvSpPr>
          <p:spPr bwMode="auto">
            <a:xfrm>
              <a:off x="5061" y="1914"/>
              <a:ext cx="11" cy="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5389" name="Freeform 60"/>
            <p:cNvSpPr/>
            <p:nvPr/>
          </p:nvSpPr>
          <p:spPr bwMode="auto">
            <a:xfrm>
              <a:off x="5039" y="1846"/>
              <a:ext cx="56" cy="88"/>
            </a:xfrm>
            <a:custGeom>
              <a:avLst/>
              <a:gdLst>
                <a:gd name="T0" fmla="*/ 2 w 112"/>
                <a:gd name="T1" fmla="*/ 5 h 177"/>
                <a:gd name="T2" fmla="*/ 4 w 112"/>
                <a:gd name="T3" fmla="*/ 4 h 177"/>
                <a:gd name="T4" fmla="*/ 3 w 112"/>
                <a:gd name="T5" fmla="*/ 2 h 177"/>
                <a:gd name="T6" fmla="*/ 3 w 112"/>
                <a:gd name="T7" fmla="*/ 0 h 177"/>
                <a:gd name="T8" fmla="*/ 1 w 112"/>
                <a:gd name="T9" fmla="*/ 2 h 177"/>
                <a:gd name="T10" fmla="*/ 0 w 112"/>
                <a:gd name="T11" fmla="*/ 4 h 177"/>
                <a:gd name="T12" fmla="*/ 2 w 112"/>
                <a:gd name="T13" fmla="*/ 5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"/>
                <a:gd name="T22" fmla="*/ 0 h 177"/>
                <a:gd name="T23" fmla="*/ 112 w 112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" h="177">
                  <a:moveTo>
                    <a:pt x="61" y="177"/>
                  </a:moveTo>
                  <a:lnTo>
                    <a:pt x="112" y="133"/>
                  </a:lnTo>
                  <a:lnTo>
                    <a:pt x="77" y="70"/>
                  </a:lnTo>
                  <a:lnTo>
                    <a:pt x="77" y="0"/>
                  </a:lnTo>
                  <a:lnTo>
                    <a:pt x="14" y="67"/>
                  </a:lnTo>
                  <a:lnTo>
                    <a:pt x="0" y="133"/>
                  </a:lnTo>
                  <a:lnTo>
                    <a:pt x="61" y="1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Freeform 61"/>
            <p:cNvSpPr/>
            <p:nvPr/>
          </p:nvSpPr>
          <p:spPr bwMode="auto">
            <a:xfrm>
              <a:off x="5045" y="2075"/>
              <a:ext cx="43" cy="32"/>
            </a:xfrm>
            <a:custGeom>
              <a:avLst/>
              <a:gdLst>
                <a:gd name="T0" fmla="*/ 3 w 86"/>
                <a:gd name="T1" fmla="*/ 0 h 62"/>
                <a:gd name="T2" fmla="*/ 0 w 86"/>
                <a:gd name="T3" fmla="*/ 1 h 62"/>
                <a:gd name="T4" fmla="*/ 1 w 86"/>
                <a:gd name="T5" fmla="*/ 1 h 62"/>
                <a:gd name="T6" fmla="*/ 1 w 86"/>
                <a:gd name="T7" fmla="*/ 3 h 62"/>
                <a:gd name="T8" fmla="*/ 1 w 86"/>
                <a:gd name="T9" fmla="*/ 2 h 62"/>
                <a:gd name="T10" fmla="*/ 1 w 86"/>
                <a:gd name="T11" fmla="*/ 1 h 62"/>
                <a:gd name="T12" fmla="*/ 3 w 86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62"/>
                <a:gd name="T23" fmla="*/ 86 w 86"/>
                <a:gd name="T24" fmla="*/ 62 h 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62">
                  <a:moveTo>
                    <a:pt x="86" y="0"/>
                  </a:moveTo>
                  <a:lnTo>
                    <a:pt x="0" y="8"/>
                  </a:lnTo>
                  <a:lnTo>
                    <a:pt x="27" y="28"/>
                  </a:lnTo>
                  <a:lnTo>
                    <a:pt x="32" y="62"/>
                  </a:lnTo>
                  <a:lnTo>
                    <a:pt x="47" y="58"/>
                  </a:lnTo>
                  <a:lnTo>
                    <a:pt x="51" y="2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Freeform 62"/>
            <p:cNvSpPr/>
            <p:nvPr/>
          </p:nvSpPr>
          <p:spPr bwMode="auto">
            <a:xfrm>
              <a:off x="5059" y="1952"/>
              <a:ext cx="18" cy="116"/>
            </a:xfrm>
            <a:custGeom>
              <a:avLst/>
              <a:gdLst>
                <a:gd name="T0" fmla="*/ 1 w 36"/>
                <a:gd name="T1" fmla="*/ 0 h 232"/>
                <a:gd name="T2" fmla="*/ 0 w 36"/>
                <a:gd name="T3" fmla="*/ 1 h 232"/>
                <a:gd name="T4" fmla="*/ 0 w 36"/>
                <a:gd name="T5" fmla="*/ 7 h 232"/>
                <a:gd name="T6" fmla="*/ 1 w 36"/>
                <a:gd name="T7" fmla="*/ 7 h 232"/>
                <a:gd name="T8" fmla="*/ 1 w 36"/>
                <a:gd name="T9" fmla="*/ 1 h 232"/>
                <a:gd name="T10" fmla="*/ 1 w 36"/>
                <a:gd name="T11" fmla="*/ 0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"/>
                <a:gd name="T19" fmla="*/ 0 h 232"/>
                <a:gd name="T20" fmla="*/ 36 w 36"/>
                <a:gd name="T21" fmla="*/ 232 h 2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" h="232">
                  <a:moveTo>
                    <a:pt x="16" y="0"/>
                  </a:moveTo>
                  <a:lnTo>
                    <a:pt x="0" y="12"/>
                  </a:lnTo>
                  <a:lnTo>
                    <a:pt x="0" y="232"/>
                  </a:lnTo>
                  <a:lnTo>
                    <a:pt x="32" y="201"/>
                  </a:lnTo>
                  <a:lnTo>
                    <a:pt x="36" y="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63"/>
            <p:cNvSpPr/>
            <p:nvPr/>
          </p:nvSpPr>
          <p:spPr bwMode="auto">
            <a:xfrm>
              <a:off x="5050" y="1870"/>
              <a:ext cx="30" cy="51"/>
            </a:xfrm>
            <a:custGeom>
              <a:avLst/>
              <a:gdLst>
                <a:gd name="T0" fmla="*/ 1 w 61"/>
                <a:gd name="T1" fmla="*/ 0 h 102"/>
                <a:gd name="T2" fmla="*/ 0 w 61"/>
                <a:gd name="T3" fmla="*/ 1 h 102"/>
                <a:gd name="T4" fmla="*/ 0 w 61"/>
                <a:gd name="T5" fmla="*/ 3 h 102"/>
                <a:gd name="T6" fmla="*/ 1 w 61"/>
                <a:gd name="T7" fmla="*/ 3 h 102"/>
                <a:gd name="T8" fmla="*/ 1 w 61"/>
                <a:gd name="T9" fmla="*/ 3 h 102"/>
                <a:gd name="T10" fmla="*/ 1 w 61"/>
                <a:gd name="T11" fmla="*/ 1 h 102"/>
                <a:gd name="T12" fmla="*/ 1 w 61"/>
                <a:gd name="T13" fmla="*/ 0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1"/>
                <a:gd name="T22" fmla="*/ 0 h 102"/>
                <a:gd name="T23" fmla="*/ 61 w 61"/>
                <a:gd name="T24" fmla="*/ 102 h 10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1" h="102">
                  <a:moveTo>
                    <a:pt x="37" y="0"/>
                  </a:moveTo>
                  <a:lnTo>
                    <a:pt x="10" y="31"/>
                  </a:lnTo>
                  <a:lnTo>
                    <a:pt x="0" y="73"/>
                  </a:lnTo>
                  <a:lnTo>
                    <a:pt x="33" y="102"/>
                  </a:lnTo>
                  <a:lnTo>
                    <a:pt x="61" y="77"/>
                  </a:lnTo>
                  <a:lnTo>
                    <a:pt x="34" y="3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64"/>
            <p:cNvSpPr/>
            <p:nvPr/>
          </p:nvSpPr>
          <p:spPr bwMode="auto">
            <a:xfrm>
              <a:off x="5059" y="1887"/>
              <a:ext cx="11" cy="28"/>
            </a:xfrm>
            <a:custGeom>
              <a:avLst/>
              <a:gdLst>
                <a:gd name="T0" fmla="*/ 0 w 23"/>
                <a:gd name="T1" fmla="*/ 1 h 57"/>
                <a:gd name="T2" fmla="*/ 0 w 23"/>
                <a:gd name="T3" fmla="*/ 1 h 57"/>
                <a:gd name="T4" fmla="*/ 0 w 23"/>
                <a:gd name="T5" fmla="*/ 0 h 57"/>
                <a:gd name="T6" fmla="*/ 0 w 23"/>
                <a:gd name="T7" fmla="*/ 0 h 57"/>
                <a:gd name="T8" fmla="*/ 0 w 23"/>
                <a:gd name="T9" fmla="*/ 0 h 57"/>
                <a:gd name="T10" fmla="*/ 0 w 23"/>
                <a:gd name="T11" fmla="*/ 0 h 57"/>
                <a:gd name="T12" fmla="*/ 0 w 23"/>
                <a:gd name="T13" fmla="*/ 1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"/>
                <a:gd name="T22" fmla="*/ 0 h 57"/>
                <a:gd name="T23" fmla="*/ 23 w 23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" h="57">
                  <a:moveTo>
                    <a:pt x="15" y="57"/>
                  </a:moveTo>
                  <a:lnTo>
                    <a:pt x="0" y="39"/>
                  </a:lnTo>
                  <a:lnTo>
                    <a:pt x="1" y="18"/>
                  </a:lnTo>
                  <a:lnTo>
                    <a:pt x="7" y="0"/>
                  </a:lnTo>
                  <a:lnTo>
                    <a:pt x="9" y="19"/>
                  </a:lnTo>
                  <a:lnTo>
                    <a:pt x="23" y="29"/>
                  </a:lnTo>
                  <a:lnTo>
                    <a:pt x="15" y="57"/>
                  </a:lnTo>
                  <a:close/>
                </a:path>
              </a:pathLst>
            </a:custGeom>
            <a:solidFill>
              <a:srgbClr val="FF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65"/>
            <p:cNvSpPr/>
            <p:nvPr/>
          </p:nvSpPr>
          <p:spPr bwMode="auto">
            <a:xfrm>
              <a:off x="5059" y="1956"/>
              <a:ext cx="14" cy="100"/>
            </a:xfrm>
            <a:custGeom>
              <a:avLst/>
              <a:gdLst>
                <a:gd name="T0" fmla="*/ 1 w 28"/>
                <a:gd name="T1" fmla="*/ 0 h 199"/>
                <a:gd name="T2" fmla="*/ 1 w 28"/>
                <a:gd name="T3" fmla="*/ 1 h 199"/>
                <a:gd name="T4" fmla="*/ 1 w 28"/>
                <a:gd name="T5" fmla="*/ 7 h 199"/>
                <a:gd name="T6" fmla="*/ 0 w 28"/>
                <a:gd name="T7" fmla="*/ 1 h 199"/>
                <a:gd name="T8" fmla="*/ 1 w 28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199"/>
                <a:gd name="T17" fmla="*/ 28 w 28"/>
                <a:gd name="T18" fmla="*/ 199 h 1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199">
                  <a:moveTo>
                    <a:pt x="28" y="0"/>
                  </a:moveTo>
                  <a:lnTo>
                    <a:pt x="16" y="14"/>
                  </a:lnTo>
                  <a:lnTo>
                    <a:pt x="5" y="199"/>
                  </a:lnTo>
                  <a:lnTo>
                    <a:pt x="0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66"/>
            <p:cNvSpPr/>
            <p:nvPr/>
          </p:nvSpPr>
          <p:spPr bwMode="auto">
            <a:xfrm>
              <a:off x="5148" y="2073"/>
              <a:ext cx="80" cy="51"/>
            </a:xfrm>
            <a:custGeom>
              <a:avLst/>
              <a:gdLst>
                <a:gd name="T0" fmla="*/ 3 w 160"/>
                <a:gd name="T1" fmla="*/ 3 h 103"/>
                <a:gd name="T2" fmla="*/ 3 w 160"/>
                <a:gd name="T3" fmla="*/ 2 h 103"/>
                <a:gd name="T4" fmla="*/ 3 w 160"/>
                <a:gd name="T5" fmla="*/ 1 h 103"/>
                <a:gd name="T6" fmla="*/ 5 w 160"/>
                <a:gd name="T7" fmla="*/ 0 h 103"/>
                <a:gd name="T8" fmla="*/ 0 w 160"/>
                <a:gd name="T9" fmla="*/ 0 h 103"/>
                <a:gd name="T10" fmla="*/ 1 w 160"/>
                <a:gd name="T11" fmla="*/ 1 h 103"/>
                <a:gd name="T12" fmla="*/ 1 w 160"/>
                <a:gd name="T13" fmla="*/ 3 h 103"/>
                <a:gd name="T14" fmla="*/ 3 w 160"/>
                <a:gd name="T15" fmla="*/ 3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"/>
                <a:gd name="T25" fmla="*/ 0 h 103"/>
                <a:gd name="T26" fmla="*/ 160 w 160"/>
                <a:gd name="T27" fmla="*/ 103 h 1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" h="103">
                  <a:moveTo>
                    <a:pt x="92" y="103"/>
                  </a:moveTo>
                  <a:lnTo>
                    <a:pt x="119" y="83"/>
                  </a:lnTo>
                  <a:lnTo>
                    <a:pt x="125" y="49"/>
                  </a:lnTo>
                  <a:lnTo>
                    <a:pt x="160" y="0"/>
                  </a:lnTo>
                  <a:lnTo>
                    <a:pt x="0" y="4"/>
                  </a:lnTo>
                  <a:lnTo>
                    <a:pt x="41" y="50"/>
                  </a:lnTo>
                  <a:lnTo>
                    <a:pt x="52" y="96"/>
                  </a:lnTo>
                  <a:lnTo>
                    <a:pt x="92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Freeform 67"/>
            <p:cNvSpPr/>
            <p:nvPr/>
          </p:nvSpPr>
          <p:spPr bwMode="auto">
            <a:xfrm>
              <a:off x="5167" y="1946"/>
              <a:ext cx="41" cy="144"/>
            </a:xfrm>
            <a:custGeom>
              <a:avLst/>
              <a:gdLst>
                <a:gd name="T0" fmla="*/ 1 w 81"/>
                <a:gd name="T1" fmla="*/ 9 h 288"/>
                <a:gd name="T2" fmla="*/ 0 w 81"/>
                <a:gd name="T3" fmla="*/ 1 h 288"/>
                <a:gd name="T4" fmla="*/ 1 w 81"/>
                <a:gd name="T5" fmla="*/ 0 h 288"/>
                <a:gd name="T6" fmla="*/ 2 w 81"/>
                <a:gd name="T7" fmla="*/ 0 h 288"/>
                <a:gd name="T8" fmla="*/ 3 w 81"/>
                <a:gd name="T9" fmla="*/ 1 h 288"/>
                <a:gd name="T10" fmla="*/ 3 w 81"/>
                <a:gd name="T11" fmla="*/ 9 h 288"/>
                <a:gd name="T12" fmla="*/ 1 w 81"/>
                <a:gd name="T13" fmla="*/ 9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1"/>
                <a:gd name="T22" fmla="*/ 0 h 288"/>
                <a:gd name="T23" fmla="*/ 81 w 81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1" h="288">
                  <a:moveTo>
                    <a:pt x="11" y="288"/>
                  </a:moveTo>
                  <a:lnTo>
                    <a:pt x="0" y="34"/>
                  </a:lnTo>
                  <a:lnTo>
                    <a:pt x="23" y="0"/>
                  </a:lnTo>
                  <a:lnTo>
                    <a:pt x="64" y="0"/>
                  </a:lnTo>
                  <a:lnTo>
                    <a:pt x="81" y="29"/>
                  </a:lnTo>
                  <a:lnTo>
                    <a:pt x="76" y="276"/>
                  </a:lnTo>
                  <a:lnTo>
                    <a:pt x="11" y="2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Rectangle 68"/>
            <p:cNvSpPr>
              <a:spLocks noChangeArrowheads="1"/>
            </p:cNvSpPr>
            <p:nvPr/>
          </p:nvSpPr>
          <p:spPr bwMode="auto">
            <a:xfrm>
              <a:off x="5182" y="1917"/>
              <a:ext cx="11" cy="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5398" name="Freeform 69"/>
            <p:cNvSpPr/>
            <p:nvPr/>
          </p:nvSpPr>
          <p:spPr bwMode="auto">
            <a:xfrm>
              <a:off x="5160" y="1849"/>
              <a:ext cx="56" cy="88"/>
            </a:xfrm>
            <a:custGeom>
              <a:avLst/>
              <a:gdLst>
                <a:gd name="T0" fmla="*/ 2 w 111"/>
                <a:gd name="T1" fmla="*/ 6 h 176"/>
                <a:gd name="T2" fmla="*/ 4 w 111"/>
                <a:gd name="T3" fmla="*/ 5 h 176"/>
                <a:gd name="T4" fmla="*/ 3 w 111"/>
                <a:gd name="T5" fmla="*/ 3 h 176"/>
                <a:gd name="T6" fmla="*/ 3 w 111"/>
                <a:gd name="T7" fmla="*/ 0 h 176"/>
                <a:gd name="T8" fmla="*/ 1 w 111"/>
                <a:gd name="T9" fmla="*/ 3 h 176"/>
                <a:gd name="T10" fmla="*/ 0 w 111"/>
                <a:gd name="T11" fmla="*/ 5 h 176"/>
                <a:gd name="T12" fmla="*/ 2 w 111"/>
                <a:gd name="T13" fmla="*/ 6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176"/>
                <a:gd name="T23" fmla="*/ 111 w 111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176">
                  <a:moveTo>
                    <a:pt x="61" y="176"/>
                  </a:moveTo>
                  <a:lnTo>
                    <a:pt x="111" y="133"/>
                  </a:lnTo>
                  <a:lnTo>
                    <a:pt x="77" y="69"/>
                  </a:lnTo>
                  <a:lnTo>
                    <a:pt x="77" y="0"/>
                  </a:lnTo>
                  <a:lnTo>
                    <a:pt x="14" y="67"/>
                  </a:lnTo>
                  <a:lnTo>
                    <a:pt x="0" y="133"/>
                  </a:lnTo>
                  <a:lnTo>
                    <a:pt x="61" y="1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70"/>
            <p:cNvSpPr/>
            <p:nvPr/>
          </p:nvSpPr>
          <p:spPr bwMode="auto">
            <a:xfrm>
              <a:off x="5166" y="2078"/>
              <a:ext cx="43" cy="31"/>
            </a:xfrm>
            <a:custGeom>
              <a:avLst/>
              <a:gdLst>
                <a:gd name="T0" fmla="*/ 2 w 87"/>
                <a:gd name="T1" fmla="*/ 0 h 62"/>
                <a:gd name="T2" fmla="*/ 0 w 87"/>
                <a:gd name="T3" fmla="*/ 1 h 62"/>
                <a:gd name="T4" fmla="*/ 0 w 87"/>
                <a:gd name="T5" fmla="*/ 1 h 62"/>
                <a:gd name="T6" fmla="*/ 1 w 87"/>
                <a:gd name="T7" fmla="*/ 2 h 62"/>
                <a:gd name="T8" fmla="*/ 1 w 87"/>
                <a:gd name="T9" fmla="*/ 2 h 62"/>
                <a:gd name="T10" fmla="*/ 1 w 87"/>
                <a:gd name="T11" fmla="*/ 1 h 62"/>
                <a:gd name="T12" fmla="*/ 2 w 87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7"/>
                <a:gd name="T22" fmla="*/ 0 h 62"/>
                <a:gd name="T23" fmla="*/ 87 w 87"/>
                <a:gd name="T24" fmla="*/ 62 h 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7" h="62">
                  <a:moveTo>
                    <a:pt x="87" y="0"/>
                  </a:moveTo>
                  <a:lnTo>
                    <a:pt x="0" y="8"/>
                  </a:lnTo>
                  <a:lnTo>
                    <a:pt x="28" y="27"/>
                  </a:lnTo>
                  <a:lnTo>
                    <a:pt x="33" y="62"/>
                  </a:lnTo>
                  <a:lnTo>
                    <a:pt x="48" y="57"/>
                  </a:lnTo>
                  <a:lnTo>
                    <a:pt x="52" y="27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71"/>
            <p:cNvSpPr/>
            <p:nvPr/>
          </p:nvSpPr>
          <p:spPr bwMode="auto">
            <a:xfrm>
              <a:off x="5180" y="1955"/>
              <a:ext cx="18" cy="115"/>
            </a:xfrm>
            <a:custGeom>
              <a:avLst/>
              <a:gdLst>
                <a:gd name="T0" fmla="*/ 1 w 36"/>
                <a:gd name="T1" fmla="*/ 0 h 232"/>
                <a:gd name="T2" fmla="*/ 0 w 36"/>
                <a:gd name="T3" fmla="*/ 0 h 232"/>
                <a:gd name="T4" fmla="*/ 0 w 36"/>
                <a:gd name="T5" fmla="*/ 7 h 232"/>
                <a:gd name="T6" fmla="*/ 1 w 36"/>
                <a:gd name="T7" fmla="*/ 6 h 232"/>
                <a:gd name="T8" fmla="*/ 1 w 36"/>
                <a:gd name="T9" fmla="*/ 0 h 232"/>
                <a:gd name="T10" fmla="*/ 1 w 36"/>
                <a:gd name="T11" fmla="*/ 0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"/>
                <a:gd name="T19" fmla="*/ 0 h 232"/>
                <a:gd name="T20" fmla="*/ 36 w 36"/>
                <a:gd name="T21" fmla="*/ 232 h 2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" h="232">
                  <a:moveTo>
                    <a:pt x="16" y="0"/>
                  </a:moveTo>
                  <a:lnTo>
                    <a:pt x="0" y="12"/>
                  </a:lnTo>
                  <a:lnTo>
                    <a:pt x="0" y="232"/>
                  </a:lnTo>
                  <a:lnTo>
                    <a:pt x="31" y="200"/>
                  </a:lnTo>
                  <a:lnTo>
                    <a:pt x="36" y="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Freeform 72"/>
            <p:cNvSpPr/>
            <p:nvPr/>
          </p:nvSpPr>
          <p:spPr bwMode="auto">
            <a:xfrm>
              <a:off x="5171" y="1872"/>
              <a:ext cx="30" cy="51"/>
            </a:xfrm>
            <a:custGeom>
              <a:avLst/>
              <a:gdLst>
                <a:gd name="T0" fmla="*/ 1 w 61"/>
                <a:gd name="T1" fmla="*/ 0 h 103"/>
                <a:gd name="T2" fmla="*/ 0 w 61"/>
                <a:gd name="T3" fmla="*/ 0 h 103"/>
                <a:gd name="T4" fmla="*/ 0 w 61"/>
                <a:gd name="T5" fmla="*/ 2 h 103"/>
                <a:gd name="T6" fmla="*/ 1 w 61"/>
                <a:gd name="T7" fmla="*/ 3 h 103"/>
                <a:gd name="T8" fmla="*/ 1 w 61"/>
                <a:gd name="T9" fmla="*/ 2 h 103"/>
                <a:gd name="T10" fmla="*/ 1 w 61"/>
                <a:gd name="T11" fmla="*/ 0 h 103"/>
                <a:gd name="T12" fmla="*/ 1 w 61"/>
                <a:gd name="T13" fmla="*/ 0 h 1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1"/>
                <a:gd name="T22" fmla="*/ 0 h 103"/>
                <a:gd name="T23" fmla="*/ 61 w 61"/>
                <a:gd name="T24" fmla="*/ 103 h 10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1" h="103">
                  <a:moveTo>
                    <a:pt x="36" y="0"/>
                  </a:moveTo>
                  <a:lnTo>
                    <a:pt x="10" y="31"/>
                  </a:lnTo>
                  <a:lnTo>
                    <a:pt x="0" y="74"/>
                  </a:lnTo>
                  <a:lnTo>
                    <a:pt x="33" y="103"/>
                  </a:lnTo>
                  <a:lnTo>
                    <a:pt x="61" y="78"/>
                  </a:lnTo>
                  <a:lnTo>
                    <a:pt x="34" y="3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Freeform 73"/>
            <p:cNvSpPr/>
            <p:nvPr/>
          </p:nvSpPr>
          <p:spPr bwMode="auto">
            <a:xfrm>
              <a:off x="5179" y="1889"/>
              <a:ext cx="12" cy="29"/>
            </a:xfrm>
            <a:custGeom>
              <a:avLst/>
              <a:gdLst>
                <a:gd name="T0" fmla="*/ 1 w 23"/>
                <a:gd name="T1" fmla="*/ 2 h 56"/>
                <a:gd name="T2" fmla="*/ 0 w 23"/>
                <a:gd name="T3" fmla="*/ 2 h 56"/>
                <a:gd name="T4" fmla="*/ 1 w 23"/>
                <a:gd name="T5" fmla="*/ 1 h 56"/>
                <a:gd name="T6" fmla="*/ 1 w 23"/>
                <a:gd name="T7" fmla="*/ 0 h 56"/>
                <a:gd name="T8" fmla="*/ 1 w 23"/>
                <a:gd name="T9" fmla="*/ 1 h 56"/>
                <a:gd name="T10" fmla="*/ 1 w 23"/>
                <a:gd name="T11" fmla="*/ 1 h 56"/>
                <a:gd name="T12" fmla="*/ 1 w 23"/>
                <a:gd name="T13" fmla="*/ 2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"/>
                <a:gd name="T22" fmla="*/ 0 h 56"/>
                <a:gd name="T23" fmla="*/ 23 w 23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" h="56">
                  <a:moveTo>
                    <a:pt x="15" y="56"/>
                  </a:moveTo>
                  <a:lnTo>
                    <a:pt x="0" y="39"/>
                  </a:lnTo>
                  <a:lnTo>
                    <a:pt x="1" y="17"/>
                  </a:lnTo>
                  <a:lnTo>
                    <a:pt x="7" y="0"/>
                  </a:lnTo>
                  <a:lnTo>
                    <a:pt x="9" y="18"/>
                  </a:lnTo>
                  <a:lnTo>
                    <a:pt x="23" y="29"/>
                  </a:lnTo>
                  <a:lnTo>
                    <a:pt x="15" y="56"/>
                  </a:lnTo>
                  <a:close/>
                </a:path>
              </a:pathLst>
            </a:custGeom>
            <a:solidFill>
              <a:srgbClr val="FF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74"/>
            <p:cNvSpPr/>
            <p:nvPr/>
          </p:nvSpPr>
          <p:spPr bwMode="auto">
            <a:xfrm>
              <a:off x="5180" y="1959"/>
              <a:ext cx="14" cy="99"/>
            </a:xfrm>
            <a:custGeom>
              <a:avLst/>
              <a:gdLst>
                <a:gd name="T0" fmla="*/ 1 w 28"/>
                <a:gd name="T1" fmla="*/ 0 h 199"/>
                <a:gd name="T2" fmla="*/ 1 w 28"/>
                <a:gd name="T3" fmla="*/ 0 h 199"/>
                <a:gd name="T4" fmla="*/ 1 w 28"/>
                <a:gd name="T5" fmla="*/ 6 h 199"/>
                <a:gd name="T6" fmla="*/ 0 w 28"/>
                <a:gd name="T7" fmla="*/ 0 h 199"/>
                <a:gd name="T8" fmla="*/ 1 w 28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199"/>
                <a:gd name="T17" fmla="*/ 28 w 28"/>
                <a:gd name="T18" fmla="*/ 199 h 1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199">
                  <a:moveTo>
                    <a:pt x="28" y="0"/>
                  </a:moveTo>
                  <a:lnTo>
                    <a:pt x="16" y="15"/>
                  </a:lnTo>
                  <a:lnTo>
                    <a:pt x="5" y="199"/>
                  </a:lnTo>
                  <a:lnTo>
                    <a:pt x="0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75"/>
            <p:cNvSpPr/>
            <p:nvPr/>
          </p:nvSpPr>
          <p:spPr bwMode="auto">
            <a:xfrm>
              <a:off x="4916" y="2376"/>
              <a:ext cx="317" cy="101"/>
            </a:xfrm>
            <a:custGeom>
              <a:avLst/>
              <a:gdLst>
                <a:gd name="T0" fmla="*/ 20 w 633"/>
                <a:gd name="T1" fmla="*/ 0 h 204"/>
                <a:gd name="T2" fmla="*/ 16 w 633"/>
                <a:gd name="T3" fmla="*/ 5 h 204"/>
                <a:gd name="T4" fmla="*/ 0 w 633"/>
                <a:gd name="T5" fmla="*/ 6 h 204"/>
                <a:gd name="T6" fmla="*/ 11 w 633"/>
                <a:gd name="T7" fmla="*/ 2 h 204"/>
                <a:gd name="T8" fmla="*/ 20 w 633"/>
                <a:gd name="T9" fmla="*/ 0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3"/>
                <a:gd name="T16" fmla="*/ 0 h 204"/>
                <a:gd name="T17" fmla="*/ 633 w 633"/>
                <a:gd name="T18" fmla="*/ 204 h 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3" h="204">
                  <a:moveTo>
                    <a:pt x="633" y="0"/>
                  </a:moveTo>
                  <a:lnTo>
                    <a:pt x="492" y="181"/>
                  </a:lnTo>
                  <a:lnTo>
                    <a:pt x="0" y="204"/>
                  </a:lnTo>
                  <a:lnTo>
                    <a:pt x="328" y="78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633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Freeform 76"/>
            <p:cNvSpPr/>
            <p:nvPr/>
          </p:nvSpPr>
          <p:spPr bwMode="auto">
            <a:xfrm>
              <a:off x="4746" y="2472"/>
              <a:ext cx="626" cy="49"/>
            </a:xfrm>
            <a:custGeom>
              <a:avLst/>
              <a:gdLst>
                <a:gd name="T0" fmla="*/ 0 w 1253"/>
                <a:gd name="T1" fmla="*/ 1 h 98"/>
                <a:gd name="T2" fmla="*/ 4 w 1253"/>
                <a:gd name="T3" fmla="*/ 3 h 98"/>
                <a:gd name="T4" fmla="*/ 32 w 1253"/>
                <a:gd name="T5" fmla="*/ 3 h 98"/>
                <a:gd name="T6" fmla="*/ 39 w 1253"/>
                <a:gd name="T7" fmla="*/ 0 h 98"/>
                <a:gd name="T8" fmla="*/ 31 w 1253"/>
                <a:gd name="T9" fmla="*/ 1 h 98"/>
                <a:gd name="T10" fmla="*/ 5 w 1253"/>
                <a:gd name="T11" fmla="*/ 2 h 98"/>
                <a:gd name="T12" fmla="*/ 0 w 1253"/>
                <a:gd name="T13" fmla="*/ 1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3"/>
                <a:gd name="T22" fmla="*/ 0 h 98"/>
                <a:gd name="T23" fmla="*/ 1253 w 1253"/>
                <a:gd name="T24" fmla="*/ 98 h 9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3" h="98">
                  <a:moveTo>
                    <a:pt x="0" y="17"/>
                  </a:moveTo>
                  <a:lnTo>
                    <a:pt x="156" y="98"/>
                  </a:lnTo>
                  <a:lnTo>
                    <a:pt x="1029" y="87"/>
                  </a:lnTo>
                  <a:lnTo>
                    <a:pt x="1253" y="0"/>
                  </a:lnTo>
                  <a:lnTo>
                    <a:pt x="1002" y="32"/>
                  </a:lnTo>
                  <a:lnTo>
                    <a:pt x="176" y="5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9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Freeform 77"/>
            <p:cNvSpPr/>
            <p:nvPr/>
          </p:nvSpPr>
          <p:spPr bwMode="auto">
            <a:xfrm>
              <a:off x="4836" y="2540"/>
              <a:ext cx="341" cy="16"/>
            </a:xfrm>
            <a:custGeom>
              <a:avLst/>
              <a:gdLst>
                <a:gd name="T0" fmla="*/ 0 w 682"/>
                <a:gd name="T1" fmla="*/ 0 h 31"/>
                <a:gd name="T2" fmla="*/ 1 w 682"/>
                <a:gd name="T3" fmla="*/ 1 h 31"/>
                <a:gd name="T4" fmla="*/ 21 w 682"/>
                <a:gd name="T5" fmla="*/ 1 h 31"/>
                <a:gd name="T6" fmla="*/ 0 w 682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2"/>
                <a:gd name="T13" fmla="*/ 0 h 31"/>
                <a:gd name="T14" fmla="*/ 682 w 682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2" h="31">
                  <a:moveTo>
                    <a:pt x="0" y="0"/>
                  </a:moveTo>
                  <a:lnTo>
                    <a:pt x="16" y="31"/>
                  </a:lnTo>
                  <a:lnTo>
                    <a:pt x="682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Freeform 78"/>
            <p:cNvSpPr/>
            <p:nvPr/>
          </p:nvSpPr>
          <p:spPr bwMode="auto">
            <a:xfrm>
              <a:off x="4793" y="2115"/>
              <a:ext cx="501" cy="75"/>
            </a:xfrm>
            <a:custGeom>
              <a:avLst/>
              <a:gdLst>
                <a:gd name="T0" fmla="*/ 2 w 1002"/>
                <a:gd name="T1" fmla="*/ 1 h 150"/>
                <a:gd name="T2" fmla="*/ 5 w 1002"/>
                <a:gd name="T3" fmla="*/ 2 h 150"/>
                <a:gd name="T4" fmla="*/ 6 w 1002"/>
                <a:gd name="T5" fmla="*/ 3 h 150"/>
                <a:gd name="T6" fmla="*/ 9 w 1002"/>
                <a:gd name="T7" fmla="*/ 2 h 150"/>
                <a:gd name="T8" fmla="*/ 11 w 1002"/>
                <a:gd name="T9" fmla="*/ 3 h 150"/>
                <a:gd name="T10" fmla="*/ 13 w 1002"/>
                <a:gd name="T11" fmla="*/ 2 h 150"/>
                <a:gd name="T12" fmla="*/ 15 w 1002"/>
                <a:gd name="T13" fmla="*/ 3 h 150"/>
                <a:gd name="T14" fmla="*/ 18 w 1002"/>
                <a:gd name="T15" fmla="*/ 2 h 150"/>
                <a:gd name="T16" fmla="*/ 20 w 1002"/>
                <a:gd name="T17" fmla="*/ 3 h 150"/>
                <a:gd name="T18" fmla="*/ 23 w 1002"/>
                <a:gd name="T19" fmla="*/ 2 h 150"/>
                <a:gd name="T20" fmla="*/ 25 w 1002"/>
                <a:gd name="T21" fmla="*/ 2 h 150"/>
                <a:gd name="T22" fmla="*/ 27 w 1002"/>
                <a:gd name="T23" fmla="*/ 1 h 150"/>
                <a:gd name="T24" fmla="*/ 29 w 1002"/>
                <a:gd name="T25" fmla="*/ 1 h 150"/>
                <a:gd name="T26" fmla="*/ 31 w 1002"/>
                <a:gd name="T27" fmla="*/ 0 h 150"/>
                <a:gd name="T28" fmla="*/ 31 w 1002"/>
                <a:gd name="T29" fmla="*/ 2 h 150"/>
                <a:gd name="T30" fmla="*/ 30 w 1002"/>
                <a:gd name="T31" fmla="*/ 3 h 150"/>
                <a:gd name="T32" fmla="*/ 28 w 1002"/>
                <a:gd name="T33" fmla="*/ 2 h 150"/>
                <a:gd name="T34" fmla="*/ 26 w 1002"/>
                <a:gd name="T35" fmla="*/ 3 h 150"/>
                <a:gd name="T36" fmla="*/ 25 w 1002"/>
                <a:gd name="T37" fmla="*/ 3 h 150"/>
                <a:gd name="T38" fmla="*/ 23 w 1002"/>
                <a:gd name="T39" fmla="*/ 3 h 150"/>
                <a:gd name="T40" fmla="*/ 22 w 1002"/>
                <a:gd name="T41" fmla="*/ 3 h 150"/>
                <a:gd name="T42" fmla="*/ 19 w 1002"/>
                <a:gd name="T43" fmla="*/ 5 h 150"/>
                <a:gd name="T44" fmla="*/ 16 w 1002"/>
                <a:gd name="T45" fmla="*/ 3 h 150"/>
                <a:gd name="T46" fmla="*/ 14 w 1002"/>
                <a:gd name="T47" fmla="*/ 5 h 150"/>
                <a:gd name="T48" fmla="*/ 11 w 1002"/>
                <a:gd name="T49" fmla="*/ 5 h 150"/>
                <a:gd name="T50" fmla="*/ 9 w 1002"/>
                <a:gd name="T51" fmla="*/ 5 h 150"/>
                <a:gd name="T52" fmla="*/ 6 w 1002"/>
                <a:gd name="T53" fmla="*/ 3 h 150"/>
                <a:gd name="T54" fmla="*/ 4 w 1002"/>
                <a:gd name="T55" fmla="*/ 3 h 150"/>
                <a:gd name="T56" fmla="*/ 3 w 1002"/>
                <a:gd name="T57" fmla="*/ 2 h 150"/>
                <a:gd name="T58" fmla="*/ 1 w 1002"/>
                <a:gd name="T59" fmla="*/ 2 h 150"/>
                <a:gd name="T60" fmla="*/ 0 w 1002"/>
                <a:gd name="T61" fmla="*/ 1 h 150"/>
                <a:gd name="T62" fmla="*/ 1 w 1002"/>
                <a:gd name="T63" fmla="*/ 1 h 150"/>
                <a:gd name="T64" fmla="*/ 2 w 1002"/>
                <a:gd name="T65" fmla="*/ 1 h 150"/>
                <a:gd name="T66" fmla="*/ 2 w 1002"/>
                <a:gd name="T67" fmla="*/ 1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02"/>
                <a:gd name="T103" fmla="*/ 0 h 150"/>
                <a:gd name="T104" fmla="*/ 1002 w 1002"/>
                <a:gd name="T105" fmla="*/ 150 h 15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02" h="150">
                  <a:moveTo>
                    <a:pt x="43" y="56"/>
                  </a:moveTo>
                  <a:lnTo>
                    <a:pt x="141" y="64"/>
                  </a:lnTo>
                  <a:lnTo>
                    <a:pt x="176" y="99"/>
                  </a:lnTo>
                  <a:lnTo>
                    <a:pt x="258" y="83"/>
                  </a:lnTo>
                  <a:lnTo>
                    <a:pt x="333" y="103"/>
                  </a:lnTo>
                  <a:lnTo>
                    <a:pt x="410" y="83"/>
                  </a:lnTo>
                  <a:lnTo>
                    <a:pt x="472" y="103"/>
                  </a:lnTo>
                  <a:lnTo>
                    <a:pt x="575" y="80"/>
                  </a:lnTo>
                  <a:lnTo>
                    <a:pt x="630" y="103"/>
                  </a:lnTo>
                  <a:lnTo>
                    <a:pt x="723" y="64"/>
                  </a:lnTo>
                  <a:lnTo>
                    <a:pt x="774" y="75"/>
                  </a:lnTo>
                  <a:lnTo>
                    <a:pt x="857" y="44"/>
                  </a:lnTo>
                  <a:lnTo>
                    <a:pt x="924" y="60"/>
                  </a:lnTo>
                  <a:lnTo>
                    <a:pt x="986" y="0"/>
                  </a:lnTo>
                  <a:lnTo>
                    <a:pt x="1002" y="64"/>
                  </a:lnTo>
                  <a:lnTo>
                    <a:pt x="939" y="106"/>
                  </a:lnTo>
                  <a:lnTo>
                    <a:pt x="868" y="91"/>
                  </a:lnTo>
                  <a:lnTo>
                    <a:pt x="829" y="119"/>
                  </a:lnTo>
                  <a:lnTo>
                    <a:pt x="782" y="111"/>
                  </a:lnTo>
                  <a:lnTo>
                    <a:pt x="728" y="126"/>
                  </a:lnTo>
                  <a:lnTo>
                    <a:pt x="676" y="122"/>
                  </a:lnTo>
                  <a:lnTo>
                    <a:pt x="598" y="142"/>
                  </a:lnTo>
                  <a:lnTo>
                    <a:pt x="508" y="126"/>
                  </a:lnTo>
                  <a:lnTo>
                    <a:pt x="430" y="150"/>
                  </a:lnTo>
                  <a:lnTo>
                    <a:pt x="341" y="130"/>
                  </a:lnTo>
                  <a:lnTo>
                    <a:pt x="270" y="139"/>
                  </a:lnTo>
                  <a:lnTo>
                    <a:pt x="188" y="119"/>
                  </a:lnTo>
                  <a:lnTo>
                    <a:pt x="98" y="119"/>
                  </a:lnTo>
                  <a:lnTo>
                    <a:pt x="78" y="87"/>
                  </a:lnTo>
                  <a:lnTo>
                    <a:pt x="12" y="91"/>
                  </a:lnTo>
                  <a:lnTo>
                    <a:pt x="0" y="48"/>
                  </a:lnTo>
                  <a:lnTo>
                    <a:pt x="20" y="13"/>
                  </a:lnTo>
                  <a:lnTo>
                    <a:pt x="46" y="33"/>
                  </a:lnTo>
                  <a:lnTo>
                    <a:pt x="43" y="56"/>
                  </a:lnTo>
                  <a:close/>
                </a:path>
              </a:pathLst>
            </a:custGeom>
            <a:solidFill>
              <a:srgbClr val="FF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79"/>
            <p:cNvSpPr/>
            <p:nvPr/>
          </p:nvSpPr>
          <p:spPr bwMode="auto">
            <a:xfrm>
              <a:off x="4837" y="2145"/>
              <a:ext cx="17" cy="20"/>
            </a:xfrm>
            <a:custGeom>
              <a:avLst/>
              <a:gdLst>
                <a:gd name="T0" fmla="*/ 1 w 33"/>
                <a:gd name="T1" fmla="*/ 2 h 39"/>
                <a:gd name="T2" fmla="*/ 1 w 33"/>
                <a:gd name="T3" fmla="*/ 2 h 39"/>
                <a:gd name="T4" fmla="*/ 1 w 33"/>
                <a:gd name="T5" fmla="*/ 2 h 39"/>
                <a:gd name="T6" fmla="*/ 1 w 33"/>
                <a:gd name="T7" fmla="*/ 1 h 39"/>
                <a:gd name="T8" fmla="*/ 2 w 33"/>
                <a:gd name="T9" fmla="*/ 1 h 39"/>
                <a:gd name="T10" fmla="*/ 1 w 33"/>
                <a:gd name="T11" fmla="*/ 1 h 39"/>
                <a:gd name="T12" fmla="*/ 1 w 33"/>
                <a:gd name="T13" fmla="*/ 1 h 39"/>
                <a:gd name="T14" fmla="*/ 1 w 33"/>
                <a:gd name="T15" fmla="*/ 1 h 39"/>
                <a:gd name="T16" fmla="*/ 1 w 33"/>
                <a:gd name="T17" fmla="*/ 0 h 39"/>
                <a:gd name="T18" fmla="*/ 1 w 33"/>
                <a:gd name="T19" fmla="*/ 1 h 39"/>
                <a:gd name="T20" fmla="*/ 1 w 33"/>
                <a:gd name="T21" fmla="*/ 1 h 39"/>
                <a:gd name="T22" fmla="*/ 1 w 33"/>
                <a:gd name="T23" fmla="*/ 1 h 39"/>
                <a:gd name="T24" fmla="*/ 0 w 33"/>
                <a:gd name="T25" fmla="*/ 1 h 39"/>
                <a:gd name="T26" fmla="*/ 1 w 33"/>
                <a:gd name="T27" fmla="*/ 1 h 39"/>
                <a:gd name="T28" fmla="*/ 1 w 33"/>
                <a:gd name="T29" fmla="*/ 2 h 39"/>
                <a:gd name="T30" fmla="*/ 1 w 33"/>
                <a:gd name="T31" fmla="*/ 2 h 39"/>
                <a:gd name="T32" fmla="*/ 1 w 33"/>
                <a:gd name="T33" fmla="*/ 2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3"/>
                <a:gd name="T52" fmla="*/ 0 h 39"/>
                <a:gd name="T53" fmla="*/ 33 w 33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3" h="39">
                  <a:moveTo>
                    <a:pt x="16" y="39"/>
                  </a:moveTo>
                  <a:lnTo>
                    <a:pt x="23" y="38"/>
                  </a:lnTo>
                  <a:lnTo>
                    <a:pt x="29" y="34"/>
                  </a:lnTo>
                  <a:lnTo>
                    <a:pt x="32" y="28"/>
                  </a:lnTo>
                  <a:lnTo>
                    <a:pt x="33" y="20"/>
                  </a:lnTo>
                  <a:lnTo>
                    <a:pt x="32" y="13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10" y="1"/>
                  </a:lnTo>
                  <a:lnTo>
                    <a:pt x="4" y="6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8"/>
                  </a:lnTo>
                  <a:lnTo>
                    <a:pt x="4" y="34"/>
                  </a:lnTo>
                  <a:lnTo>
                    <a:pt x="10" y="38"/>
                  </a:lnTo>
                  <a:lnTo>
                    <a:pt x="16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80"/>
            <p:cNvSpPr/>
            <p:nvPr/>
          </p:nvSpPr>
          <p:spPr bwMode="auto">
            <a:xfrm>
              <a:off x="4910" y="2156"/>
              <a:ext cx="17" cy="14"/>
            </a:xfrm>
            <a:custGeom>
              <a:avLst/>
              <a:gdLst>
                <a:gd name="T0" fmla="*/ 1 w 33"/>
                <a:gd name="T1" fmla="*/ 1 h 28"/>
                <a:gd name="T2" fmla="*/ 1 w 33"/>
                <a:gd name="T3" fmla="*/ 1 h 28"/>
                <a:gd name="T4" fmla="*/ 1 w 33"/>
                <a:gd name="T5" fmla="*/ 1 h 28"/>
                <a:gd name="T6" fmla="*/ 1 w 33"/>
                <a:gd name="T7" fmla="*/ 1 h 28"/>
                <a:gd name="T8" fmla="*/ 2 w 33"/>
                <a:gd name="T9" fmla="*/ 1 h 28"/>
                <a:gd name="T10" fmla="*/ 1 w 33"/>
                <a:gd name="T11" fmla="*/ 1 h 28"/>
                <a:gd name="T12" fmla="*/ 1 w 33"/>
                <a:gd name="T13" fmla="*/ 1 h 28"/>
                <a:gd name="T14" fmla="*/ 1 w 33"/>
                <a:gd name="T15" fmla="*/ 1 h 28"/>
                <a:gd name="T16" fmla="*/ 1 w 33"/>
                <a:gd name="T17" fmla="*/ 0 h 28"/>
                <a:gd name="T18" fmla="*/ 1 w 33"/>
                <a:gd name="T19" fmla="*/ 1 h 28"/>
                <a:gd name="T20" fmla="*/ 1 w 33"/>
                <a:gd name="T21" fmla="*/ 1 h 28"/>
                <a:gd name="T22" fmla="*/ 1 w 33"/>
                <a:gd name="T23" fmla="*/ 1 h 28"/>
                <a:gd name="T24" fmla="*/ 0 w 33"/>
                <a:gd name="T25" fmla="*/ 1 h 28"/>
                <a:gd name="T26" fmla="*/ 1 w 33"/>
                <a:gd name="T27" fmla="*/ 1 h 28"/>
                <a:gd name="T28" fmla="*/ 1 w 33"/>
                <a:gd name="T29" fmla="*/ 1 h 28"/>
                <a:gd name="T30" fmla="*/ 1 w 33"/>
                <a:gd name="T31" fmla="*/ 1 h 28"/>
                <a:gd name="T32" fmla="*/ 1 w 33"/>
                <a:gd name="T33" fmla="*/ 1 h 2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3"/>
                <a:gd name="T52" fmla="*/ 0 h 28"/>
                <a:gd name="T53" fmla="*/ 33 w 33"/>
                <a:gd name="T54" fmla="*/ 28 h 2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3" h="28">
                  <a:moveTo>
                    <a:pt x="16" y="28"/>
                  </a:moveTo>
                  <a:lnTo>
                    <a:pt x="23" y="27"/>
                  </a:lnTo>
                  <a:lnTo>
                    <a:pt x="29" y="24"/>
                  </a:lnTo>
                  <a:lnTo>
                    <a:pt x="32" y="20"/>
                  </a:lnTo>
                  <a:lnTo>
                    <a:pt x="33" y="14"/>
                  </a:lnTo>
                  <a:lnTo>
                    <a:pt x="32" y="8"/>
                  </a:lnTo>
                  <a:lnTo>
                    <a:pt x="29" y="4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9" y="1"/>
                  </a:lnTo>
                  <a:lnTo>
                    <a:pt x="4" y="4"/>
                  </a:lnTo>
                  <a:lnTo>
                    <a:pt x="1" y="8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4" y="24"/>
                  </a:lnTo>
                  <a:lnTo>
                    <a:pt x="9" y="27"/>
                  </a:lnTo>
                  <a:lnTo>
                    <a:pt x="16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Freeform 81"/>
            <p:cNvSpPr/>
            <p:nvPr/>
          </p:nvSpPr>
          <p:spPr bwMode="auto">
            <a:xfrm>
              <a:off x="4987" y="2160"/>
              <a:ext cx="20" cy="14"/>
            </a:xfrm>
            <a:custGeom>
              <a:avLst/>
              <a:gdLst>
                <a:gd name="T0" fmla="*/ 1 w 39"/>
                <a:gd name="T1" fmla="*/ 1 h 28"/>
                <a:gd name="T2" fmla="*/ 1 w 39"/>
                <a:gd name="T3" fmla="*/ 1 h 28"/>
                <a:gd name="T4" fmla="*/ 2 w 39"/>
                <a:gd name="T5" fmla="*/ 1 h 28"/>
                <a:gd name="T6" fmla="*/ 2 w 39"/>
                <a:gd name="T7" fmla="*/ 1 h 28"/>
                <a:gd name="T8" fmla="*/ 2 w 39"/>
                <a:gd name="T9" fmla="*/ 1 h 28"/>
                <a:gd name="T10" fmla="*/ 2 w 39"/>
                <a:gd name="T11" fmla="*/ 1 h 28"/>
                <a:gd name="T12" fmla="*/ 2 w 39"/>
                <a:gd name="T13" fmla="*/ 1 h 28"/>
                <a:gd name="T14" fmla="*/ 1 w 39"/>
                <a:gd name="T15" fmla="*/ 1 h 28"/>
                <a:gd name="T16" fmla="*/ 1 w 39"/>
                <a:gd name="T17" fmla="*/ 0 h 28"/>
                <a:gd name="T18" fmla="*/ 1 w 39"/>
                <a:gd name="T19" fmla="*/ 1 h 28"/>
                <a:gd name="T20" fmla="*/ 1 w 39"/>
                <a:gd name="T21" fmla="*/ 1 h 28"/>
                <a:gd name="T22" fmla="*/ 1 w 39"/>
                <a:gd name="T23" fmla="*/ 1 h 28"/>
                <a:gd name="T24" fmla="*/ 0 w 39"/>
                <a:gd name="T25" fmla="*/ 1 h 28"/>
                <a:gd name="T26" fmla="*/ 1 w 39"/>
                <a:gd name="T27" fmla="*/ 1 h 28"/>
                <a:gd name="T28" fmla="*/ 1 w 39"/>
                <a:gd name="T29" fmla="*/ 1 h 28"/>
                <a:gd name="T30" fmla="*/ 1 w 39"/>
                <a:gd name="T31" fmla="*/ 1 h 28"/>
                <a:gd name="T32" fmla="*/ 1 w 39"/>
                <a:gd name="T33" fmla="*/ 1 h 2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9"/>
                <a:gd name="T52" fmla="*/ 0 h 28"/>
                <a:gd name="T53" fmla="*/ 39 w 39"/>
                <a:gd name="T54" fmla="*/ 28 h 2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9" h="28">
                  <a:moveTo>
                    <a:pt x="20" y="28"/>
                  </a:moveTo>
                  <a:lnTo>
                    <a:pt x="28" y="27"/>
                  </a:lnTo>
                  <a:lnTo>
                    <a:pt x="34" y="23"/>
                  </a:lnTo>
                  <a:lnTo>
                    <a:pt x="38" y="19"/>
                  </a:lnTo>
                  <a:lnTo>
                    <a:pt x="39" y="14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28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6" y="4"/>
                  </a:lnTo>
                  <a:lnTo>
                    <a:pt x="1" y="8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6" y="23"/>
                  </a:lnTo>
                  <a:lnTo>
                    <a:pt x="13" y="27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Freeform 82"/>
            <p:cNvSpPr/>
            <p:nvPr/>
          </p:nvSpPr>
          <p:spPr bwMode="auto">
            <a:xfrm>
              <a:off x="5062" y="2154"/>
              <a:ext cx="19" cy="17"/>
            </a:xfrm>
            <a:custGeom>
              <a:avLst/>
              <a:gdLst>
                <a:gd name="T0" fmla="*/ 1 w 38"/>
                <a:gd name="T1" fmla="*/ 2 h 33"/>
                <a:gd name="T2" fmla="*/ 1 w 38"/>
                <a:gd name="T3" fmla="*/ 1 h 33"/>
                <a:gd name="T4" fmla="*/ 1 w 38"/>
                <a:gd name="T5" fmla="*/ 1 h 33"/>
                <a:gd name="T6" fmla="*/ 1 w 38"/>
                <a:gd name="T7" fmla="*/ 1 h 33"/>
                <a:gd name="T8" fmla="*/ 1 w 38"/>
                <a:gd name="T9" fmla="*/ 1 h 33"/>
                <a:gd name="T10" fmla="*/ 1 w 38"/>
                <a:gd name="T11" fmla="*/ 1 h 33"/>
                <a:gd name="T12" fmla="*/ 1 w 38"/>
                <a:gd name="T13" fmla="*/ 1 h 33"/>
                <a:gd name="T14" fmla="*/ 1 w 38"/>
                <a:gd name="T15" fmla="*/ 1 h 33"/>
                <a:gd name="T16" fmla="*/ 1 w 38"/>
                <a:gd name="T17" fmla="*/ 0 h 33"/>
                <a:gd name="T18" fmla="*/ 1 w 38"/>
                <a:gd name="T19" fmla="*/ 1 h 33"/>
                <a:gd name="T20" fmla="*/ 1 w 38"/>
                <a:gd name="T21" fmla="*/ 1 h 33"/>
                <a:gd name="T22" fmla="*/ 1 w 38"/>
                <a:gd name="T23" fmla="*/ 1 h 33"/>
                <a:gd name="T24" fmla="*/ 0 w 38"/>
                <a:gd name="T25" fmla="*/ 1 h 33"/>
                <a:gd name="T26" fmla="*/ 1 w 38"/>
                <a:gd name="T27" fmla="*/ 1 h 33"/>
                <a:gd name="T28" fmla="*/ 1 w 38"/>
                <a:gd name="T29" fmla="*/ 1 h 33"/>
                <a:gd name="T30" fmla="*/ 1 w 38"/>
                <a:gd name="T31" fmla="*/ 1 h 33"/>
                <a:gd name="T32" fmla="*/ 1 w 38"/>
                <a:gd name="T33" fmla="*/ 2 h 3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8"/>
                <a:gd name="T52" fmla="*/ 0 h 33"/>
                <a:gd name="T53" fmla="*/ 38 w 38"/>
                <a:gd name="T54" fmla="*/ 33 h 3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8" h="33">
                  <a:moveTo>
                    <a:pt x="19" y="33"/>
                  </a:moveTo>
                  <a:lnTo>
                    <a:pt x="26" y="32"/>
                  </a:lnTo>
                  <a:lnTo>
                    <a:pt x="32" y="27"/>
                  </a:lnTo>
                  <a:lnTo>
                    <a:pt x="37" y="23"/>
                  </a:lnTo>
                  <a:lnTo>
                    <a:pt x="38" y="16"/>
                  </a:lnTo>
                  <a:lnTo>
                    <a:pt x="37" y="9"/>
                  </a:lnTo>
                  <a:lnTo>
                    <a:pt x="32" y="4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1" y="1"/>
                  </a:lnTo>
                  <a:lnTo>
                    <a:pt x="6" y="4"/>
                  </a:lnTo>
                  <a:lnTo>
                    <a:pt x="1" y="9"/>
                  </a:lnTo>
                  <a:lnTo>
                    <a:pt x="0" y="16"/>
                  </a:lnTo>
                  <a:lnTo>
                    <a:pt x="1" y="23"/>
                  </a:lnTo>
                  <a:lnTo>
                    <a:pt x="6" y="27"/>
                  </a:lnTo>
                  <a:lnTo>
                    <a:pt x="11" y="32"/>
                  </a:lnTo>
                  <a:lnTo>
                    <a:pt x="19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Freeform 83"/>
            <p:cNvSpPr/>
            <p:nvPr/>
          </p:nvSpPr>
          <p:spPr bwMode="auto">
            <a:xfrm>
              <a:off x="4798" y="2131"/>
              <a:ext cx="19" cy="14"/>
            </a:xfrm>
            <a:custGeom>
              <a:avLst/>
              <a:gdLst>
                <a:gd name="T0" fmla="*/ 0 w 39"/>
                <a:gd name="T1" fmla="*/ 1 h 27"/>
                <a:gd name="T2" fmla="*/ 0 w 39"/>
                <a:gd name="T3" fmla="*/ 1 h 27"/>
                <a:gd name="T4" fmla="*/ 1 w 39"/>
                <a:gd name="T5" fmla="*/ 1 h 27"/>
                <a:gd name="T6" fmla="*/ 1 w 39"/>
                <a:gd name="T7" fmla="*/ 1 h 27"/>
                <a:gd name="T8" fmla="*/ 1 w 39"/>
                <a:gd name="T9" fmla="*/ 1 h 27"/>
                <a:gd name="T10" fmla="*/ 1 w 39"/>
                <a:gd name="T11" fmla="*/ 1 h 27"/>
                <a:gd name="T12" fmla="*/ 1 w 39"/>
                <a:gd name="T13" fmla="*/ 1 h 27"/>
                <a:gd name="T14" fmla="*/ 0 w 39"/>
                <a:gd name="T15" fmla="*/ 1 h 27"/>
                <a:gd name="T16" fmla="*/ 0 w 39"/>
                <a:gd name="T17" fmla="*/ 0 h 27"/>
                <a:gd name="T18" fmla="*/ 0 w 39"/>
                <a:gd name="T19" fmla="*/ 1 h 27"/>
                <a:gd name="T20" fmla="*/ 0 w 39"/>
                <a:gd name="T21" fmla="*/ 1 h 27"/>
                <a:gd name="T22" fmla="*/ 0 w 39"/>
                <a:gd name="T23" fmla="*/ 1 h 27"/>
                <a:gd name="T24" fmla="*/ 0 w 39"/>
                <a:gd name="T25" fmla="*/ 1 h 27"/>
                <a:gd name="T26" fmla="*/ 0 w 39"/>
                <a:gd name="T27" fmla="*/ 1 h 27"/>
                <a:gd name="T28" fmla="*/ 0 w 39"/>
                <a:gd name="T29" fmla="*/ 1 h 27"/>
                <a:gd name="T30" fmla="*/ 0 w 39"/>
                <a:gd name="T31" fmla="*/ 1 h 27"/>
                <a:gd name="T32" fmla="*/ 0 w 39"/>
                <a:gd name="T33" fmla="*/ 1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9"/>
                <a:gd name="T52" fmla="*/ 0 h 27"/>
                <a:gd name="T53" fmla="*/ 39 w 39"/>
                <a:gd name="T54" fmla="*/ 27 h 2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9" h="27">
                  <a:moveTo>
                    <a:pt x="20" y="27"/>
                  </a:moveTo>
                  <a:lnTo>
                    <a:pt x="27" y="26"/>
                  </a:lnTo>
                  <a:lnTo>
                    <a:pt x="34" y="23"/>
                  </a:lnTo>
                  <a:lnTo>
                    <a:pt x="38" y="18"/>
                  </a:lnTo>
                  <a:lnTo>
                    <a:pt x="39" y="13"/>
                  </a:lnTo>
                  <a:lnTo>
                    <a:pt x="38" y="8"/>
                  </a:lnTo>
                  <a:lnTo>
                    <a:pt x="34" y="3"/>
                  </a:lnTo>
                  <a:lnTo>
                    <a:pt x="27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6" y="3"/>
                  </a:lnTo>
                  <a:lnTo>
                    <a:pt x="1" y="8"/>
                  </a:lnTo>
                  <a:lnTo>
                    <a:pt x="0" y="13"/>
                  </a:lnTo>
                  <a:lnTo>
                    <a:pt x="1" y="18"/>
                  </a:lnTo>
                  <a:lnTo>
                    <a:pt x="6" y="23"/>
                  </a:lnTo>
                  <a:lnTo>
                    <a:pt x="13" y="26"/>
                  </a:lnTo>
                  <a:lnTo>
                    <a:pt x="2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Freeform 84"/>
            <p:cNvSpPr/>
            <p:nvPr/>
          </p:nvSpPr>
          <p:spPr bwMode="auto">
            <a:xfrm>
              <a:off x="4912" y="2248"/>
              <a:ext cx="38" cy="6"/>
            </a:xfrm>
            <a:custGeom>
              <a:avLst/>
              <a:gdLst>
                <a:gd name="T0" fmla="*/ 3 w 75"/>
                <a:gd name="T1" fmla="*/ 1 h 11"/>
                <a:gd name="T2" fmla="*/ 3 w 75"/>
                <a:gd name="T3" fmla="*/ 1 h 11"/>
                <a:gd name="T4" fmla="*/ 3 w 75"/>
                <a:gd name="T5" fmla="*/ 1 h 11"/>
                <a:gd name="T6" fmla="*/ 3 w 75"/>
                <a:gd name="T7" fmla="*/ 1 h 11"/>
                <a:gd name="T8" fmla="*/ 3 w 75"/>
                <a:gd name="T9" fmla="*/ 1 h 11"/>
                <a:gd name="T10" fmla="*/ 3 w 75"/>
                <a:gd name="T11" fmla="*/ 1 h 11"/>
                <a:gd name="T12" fmla="*/ 3 w 75"/>
                <a:gd name="T13" fmla="*/ 1 h 11"/>
                <a:gd name="T14" fmla="*/ 3 w 75"/>
                <a:gd name="T15" fmla="*/ 1 h 11"/>
                <a:gd name="T16" fmla="*/ 3 w 75"/>
                <a:gd name="T17" fmla="*/ 0 h 11"/>
                <a:gd name="T18" fmla="*/ 3 w 75"/>
                <a:gd name="T19" fmla="*/ 0 h 11"/>
                <a:gd name="T20" fmla="*/ 1 w 75"/>
                <a:gd name="T21" fmla="*/ 0 h 11"/>
                <a:gd name="T22" fmla="*/ 1 w 75"/>
                <a:gd name="T23" fmla="*/ 0 h 11"/>
                <a:gd name="T24" fmla="*/ 1 w 75"/>
                <a:gd name="T25" fmla="*/ 1 h 11"/>
                <a:gd name="T26" fmla="*/ 0 w 75"/>
                <a:gd name="T27" fmla="*/ 1 h 11"/>
                <a:gd name="T28" fmla="*/ 0 w 75"/>
                <a:gd name="T29" fmla="*/ 1 h 11"/>
                <a:gd name="T30" fmla="*/ 0 w 75"/>
                <a:gd name="T31" fmla="*/ 1 h 11"/>
                <a:gd name="T32" fmla="*/ 0 w 75"/>
                <a:gd name="T33" fmla="*/ 1 h 11"/>
                <a:gd name="T34" fmla="*/ 1 w 75"/>
                <a:gd name="T35" fmla="*/ 1 h 11"/>
                <a:gd name="T36" fmla="*/ 1 w 75"/>
                <a:gd name="T37" fmla="*/ 1 h 11"/>
                <a:gd name="T38" fmla="*/ 1 w 75"/>
                <a:gd name="T39" fmla="*/ 1 h 11"/>
                <a:gd name="T40" fmla="*/ 3 w 75"/>
                <a:gd name="T41" fmla="*/ 1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5"/>
                <a:gd name="T64" fmla="*/ 0 h 11"/>
                <a:gd name="T65" fmla="*/ 75 w 75"/>
                <a:gd name="T66" fmla="*/ 11 h 1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5" h="11">
                  <a:moveTo>
                    <a:pt x="70" y="11"/>
                  </a:moveTo>
                  <a:lnTo>
                    <a:pt x="72" y="11"/>
                  </a:lnTo>
                  <a:lnTo>
                    <a:pt x="74" y="10"/>
                  </a:lnTo>
                  <a:lnTo>
                    <a:pt x="75" y="8"/>
                  </a:lnTo>
                  <a:lnTo>
                    <a:pt x="75" y="5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rgbClr val="009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85"/>
            <p:cNvSpPr/>
            <p:nvPr/>
          </p:nvSpPr>
          <p:spPr bwMode="auto">
            <a:xfrm>
              <a:off x="5227" y="2196"/>
              <a:ext cx="31" cy="24"/>
            </a:xfrm>
            <a:custGeom>
              <a:avLst/>
              <a:gdLst>
                <a:gd name="T0" fmla="*/ 1 w 63"/>
                <a:gd name="T1" fmla="*/ 2 h 48"/>
                <a:gd name="T2" fmla="*/ 1 w 63"/>
                <a:gd name="T3" fmla="*/ 2 h 48"/>
                <a:gd name="T4" fmla="*/ 1 w 63"/>
                <a:gd name="T5" fmla="*/ 2 h 48"/>
                <a:gd name="T6" fmla="*/ 1 w 63"/>
                <a:gd name="T7" fmla="*/ 2 h 48"/>
                <a:gd name="T8" fmla="*/ 1 w 63"/>
                <a:gd name="T9" fmla="*/ 2 h 48"/>
                <a:gd name="T10" fmla="*/ 1 w 63"/>
                <a:gd name="T11" fmla="*/ 2 h 48"/>
                <a:gd name="T12" fmla="*/ 1 w 63"/>
                <a:gd name="T13" fmla="*/ 2 h 48"/>
                <a:gd name="T14" fmla="*/ 1 w 63"/>
                <a:gd name="T15" fmla="*/ 2 h 48"/>
                <a:gd name="T16" fmla="*/ 1 w 63"/>
                <a:gd name="T17" fmla="*/ 2 h 48"/>
                <a:gd name="T18" fmla="*/ 1 w 63"/>
                <a:gd name="T19" fmla="*/ 2 h 48"/>
                <a:gd name="T20" fmla="*/ 0 w 63"/>
                <a:gd name="T21" fmla="*/ 1 h 48"/>
                <a:gd name="T22" fmla="*/ 0 w 63"/>
                <a:gd name="T23" fmla="*/ 0 h 48"/>
                <a:gd name="T24" fmla="*/ 0 w 63"/>
                <a:gd name="T25" fmla="*/ 0 h 48"/>
                <a:gd name="T26" fmla="*/ 0 w 63"/>
                <a:gd name="T27" fmla="*/ 1 h 48"/>
                <a:gd name="T28" fmla="*/ 0 w 63"/>
                <a:gd name="T29" fmla="*/ 1 h 48"/>
                <a:gd name="T30" fmla="*/ 0 w 63"/>
                <a:gd name="T31" fmla="*/ 1 h 48"/>
                <a:gd name="T32" fmla="*/ 0 w 63"/>
                <a:gd name="T33" fmla="*/ 1 h 48"/>
                <a:gd name="T34" fmla="*/ 0 w 63"/>
                <a:gd name="T35" fmla="*/ 1 h 48"/>
                <a:gd name="T36" fmla="*/ 0 w 63"/>
                <a:gd name="T37" fmla="*/ 1 h 48"/>
                <a:gd name="T38" fmla="*/ 0 w 63"/>
                <a:gd name="T39" fmla="*/ 1 h 48"/>
                <a:gd name="T40" fmla="*/ 1 w 63"/>
                <a:gd name="T41" fmla="*/ 2 h 4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3"/>
                <a:gd name="T64" fmla="*/ 0 h 48"/>
                <a:gd name="T65" fmla="*/ 63 w 63"/>
                <a:gd name="T66" fmla="*/ 48 h 4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3" h="48">
                  <a:moveTo>
                    <a:pt x="53" y="47"/>
                  </a:moveTo>
                  <a:lnTo>
                    <a:pt x="56" y="48"/>
                  </a:lnTo>
                  <a:lnTo>
                    <a:pt x="58" y="48"/>
                  </a:lnTo>
                  <a:lnTo>
                    <a:pt x="60" y="48"/>
                  </a:lnTo>
                  <a:lnTo>
                    <a:pt x="62" y="46"/>
                  </a:lnTo>
                  <a:lnTo>
                    <a:pt x="63" y="43"/>
                  </a:lnTo>
                  <a:lnTo>
                    <a:pt x="63" y="41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10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8"/>
                  </a:lnTo>
                  <a:lnTo>
                    <a:pt x="3" y="10"/>
                  </a:lnTo>
                  <a:lnTo>
                    <a:pt x="53" y="47"/>
                  </a:lnTo>
                  <a:close/>
                </a:path>
              </a:pathLst>
            </a:custGeom>
            <a:solidFill>
              <a:srgbClr val="009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86"/>
            <p:cNvSpPr/>
            <p:nvPr/>
          </p:nvSpPr>
          <p:spPr bwMode="auto">
            <a:xfrm>
              <a:off x="5110" y="2119"/>
              <a:ext cx="37" cy="8"/>
            </a:xfrm>
            <a:custGeom>
              <a:avLst/>
              <a:gdLst>
                <a:gd name="T0" fmla="*/ 2 w 74"/>
                <a:gd name="T1" fmla="*/ 0 h 18"/>
                <a:gd name="T2" fmla="*/ 2 w 74"/>
                <a:gd name="T3" fmla="*/ 0 h 18"/>
                <a:gd name="T4" fmla="*/ 2 w 74"/>
                <a:gd name="T5" fmla="*/ 0 h 18"/>
                <a:gd name="T6" fmla="*/ 2 w 74"/>
                <a:gd name="T7" fmla="*/ 0 h 18"/>
                <a:gd name="T8" fmla="*/ 2 w 74"/>
                <a:gd name="T9" fmla="*/ 0 h 18"/>
                <a:gd name="T10" fmla="*/ 2 w 74"/>
                <a:gd name="T11" fmla="*/ 0 h 18"/>
                <a:gd name="T12" fmla="*/ 2 w 74"/>
                <a:gd name="T13" fmla="*/ 0 h 18"/>
                <a:gd name="T14" fmla="*/ 2 w 74"/>
                <a:gd name="T15" fmla="*/ 0 h 18"/>
                <a:gd name="T16" fmla="*/ 2 w 74"/>
                <a:gd name="T17" fmla="*/ 0 h 18"/>
                <a:gd name="T18" fmla="*/ 2 w 74"/>
                <a:gd name="T19" fmla="*/ 0 h 18"/>
                <a:gd name="T20" fmla="*/ 1 w 74"/>
                <a:gd name="T21" fmla="*/ 0 h 18"/>
                <a:gd name="T22" fmla="*/ 1 w 74"/>
                <a:gd name="T23" fmla="*/ 0 h 18"/>
                <a:gd name="T24" fmla="*/ 1 w 74"/>
                <a:gd name="T25" fmla="*/ 0 h 18"/>
                <a:gd name="T26" fmla="*/ 1 w 74"/>
                <a:gd name="T27" fmla="*/ 0 h 18"/>
                <a:gd name="T28" fmla="*/ 0 w 74"/>
                <a:gd name="T29" fmla="*/ 0 h 18"/>
                <a:gd name="T30" fmla="*/ 0 w 74"/>
                <a:gd name="T31" fmla="*/ 0 h 18"/>
                <a:gd name="T32" fmla="*/ 0 w 74"/>
                <a:gd name="T33" fmla="*/ 0 h 18"/>
                <a:gd name="T34" fmla="*/ 1 w 74"/>
                <a:gd name="T35" fmla="*/ 0 h 18"/>
                <a:gd name="T36" fmla="*/ 1 w 74"/>
                <a:gd name="T37" fmla="*/ 0 h 18"/>
                <a:gd name="T38" fmla="*/ 1 w 74"/>
                <a:gd name="T39" fmla="*/ 0 h 18"/>
                <a:gd name="T40" fmla="*/ 2 w 74"/>
                <a:gd name="T41" fmla="*/ 0 h 1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4"/>
                <a:gd name="T64" fmla="*/ 0 h 18"/>
                <a:gd name="T65" fmla="*/ 74 w 74"/>
                <a:gd name="T66" fmla="*/ 18 h 1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4" h="18">
                  <a:moveTo>
                    <a:pt x="67" y="18"/>
                  </a:moveTo>
                  <a:lnTo>
                    <a:pt x="70" y="18"/>
                  </a:lnTo>
                  <a:lnTo>
                    <a:pt x="72" y="16"/>
                  </a:lnTo>
                  <a:lnTo>
                    <a:pt x="73" y="15"/>
                  </a:lnTo>
                  <a:lnTo>
                    <a:pt x="74" y="13"/>
                  </a:lnTo>
                  <a:lnTo>
                    <a:pt x="74" y="11"/>
                  </a:lnTo>
                  <a:lnTo>
                    <a:pt x="73" y="8"/>
                  </a:lnTo>
                  <a:lnTo>
                    <a:pt x="71" y="7"/>
                  </a:lnTo>
                  <a:lnTo>
                    <a:pt x="69" y="6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10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67" y="18"/>
                  </a:lnTo>
                  <a:close/>
                </a:path>
              </a:pathLst>
            </a:custGeom>
            <a:solidFill>
              <a:srgbClr val="009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Freeform 87"/>
            <p:cNvSpPr/>
            <p:nvPr/>
          </p:nvSpPr>
          <p:spPr bwMode="auto">
            <a:xfrm>
              <a:off x="5010" y="2207"/>
              <a:ext cx="9" cy="37"/>
            </a:xfrm>
            <a:custGeom>
              <a:avLst/>
              <a:gdLst>
                <a:gd name="T0" fmla="*/ 0 w 20"/>
                <a:gd name="T1" fmla="*/ 2 h 74"/>
                <a:gd name="T2" fmla="*/ 0 w 20"/>
                <a:gd name="T3" fmla="*/ 2 h 74"/>
                <a:gd name="T4" fmla="*/ 0 w 20"/>
                <a:gd name="T5" fmla="*/ 2 h 74"/>
                <a:gd name="T6" fmla="*/ 0 w 20"/>
                <a:gd name="T7" fmla="*/ 2 h 74"/>
                <a:gd name="T8" fmla="*/ 0 w 20"/>
                <a:gd name="T9" fmla="*/ 2 h 74"/>
                <a:gd name="T10" fmla="*/ 0 w 20"/>
                <a:gd name="T11" fmla="*/ 1 h 74"/>
                <a:gd name="T12" fmla="*/ 0 w 20"/>
                <a:gd name="T13" fmla="*/ 1 h 74"/>
                <a:gd name="T14" fmla="*/ 0 w 20"/>
                <a:gd name="T15" fmla="*/ 1 h 74"/>
                <a:gd name="T16" fmla="*/ 0 w 20"/>
                <a:gd name="T17" fmla="*/ 1 h 74"/>
                <a:gd name="T18" fmla="*/ 0 w 20"/>
                <a:gd name="T19" fmla="*/ 0 h 74"/>
                <a:gd name="T20" fmla="*/ 0 w 20"/>
                <a:gd name="T21" fmla="*/ 0 h 74"/>
                <a:gd name="T22" fmla="*/ 0 w 20"/>
                <a:gd name="T23" fmla="*/ 1 h 74"/>
                <a:gd name="T24" fmla="*/ 0 w 20"/>
                <a:gd name="T25" fmla="*/ 1 h 74"/>
                <a:gd name="T26" fmla="*/ 0 w 20"/>
                <a:gd name="T27" fmla="*/ 1 h 74"/>
                <a:gd name="T28" fmla="*/ 0 w 20"/>
                <a:gd name="T29" fmla="*/ 1 h 74"/>
                <a:gd name="T30" fmla="*/ 0 w 20"/>
                <a:gd name="T31" fmla="*/ 2 h 74"/>
                <a:gd name="T32" fmla="*/ 0 w 20"/>
                <a:gd name="T33" fmla="*/ 2 h 74"/>
                <a:gd name="T34" fmla="*/ 0 w 20"/>
                <a:gd name="T35" fmla="*/ 2 h 74"/>
                <a:gd name="T36" fmla="*/ 0 w 20"/>
                <a:gd name="T37" fmla="*/ 2 h 74"/>
                <a:gd name="T38" fmla="*/ 0 w 20"/>
                <a:gd name="T39" fmla="*/ 2 h 74"/>
                <a:gd name="T40" fmla="*/ 0 w 20"/>
                <a:gd name="T41" fmla="*/ 2 h 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"/>
                <a:gd name="T64" fmla="*/ 0 h 74"/>
                <a:gd name="T65" fmla="*/ 20 w 20"/>
                <a:gd name="T66" fmla="*/ 74 h 7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" h="74">
                  <a:moveTo>
                    <a:pt x="10" y="74"/>
                  </a:moveTo>
                  <a:lnTo>
                    <a:pt x="6" y="73"/>
                  </a:lnTo>
                  <a:lnTo>
                    <a:pt x="4" y="71"/>
                  </a:lnTo>
                  <a:lnTo>
                    <a:pt x="1" y="69"/>
                  </a:lnTo>
                  <a:lnTo>
                    <a:pt x="0" y="65"/>
                  </a:lnTo>
                  <a:lnTo>
                    <a:pt x="0" y="10"/>
                  </a:lnTo>
                  <a:lnTo>
                    <a:pt x="1" y="5"/>
                  </a:lnTo>
                  <a:lnTo>
                    <a:pt x="4" y="3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4" y="1"/>
                  </a:lnTo>
                  <a:lnTo>
                    <a:pt x="17" y="3"/>
                  </a:lnTo>
                  <a:lnTo>
                    <a:pt x="19" y="5"/>
                  </a:lnTo>
                  <a:lnTo>
                    <a:pt x="20" y="10"/>
                  </a:lnTo>
                  <a:lnTo>
                    <a:pt x="20" y="65"/>
                  </a:lnTo>
                  <a:lnTo>
                    <a:pt x="19" y="69"/>
                  </a:lnTo>
                  <a:lnTo>
                    <a:pt x="17" y="71"/>
                  </a:lnTo>
                  <a:lnTo>
                    <a:pt x="14" y="73"/>
                  </a:lnTo>
                  <a:lnTo>
                    <a:pt x="10" y="74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Freeform 88"/>
            <p:cNvSpPr/>
            <p:nvPr/>
          </p:nvSpPr>
          <p:spPr bwMode="auto">
            <a:xfrm>
              <a:off x="4902" y="2313"/>
              <a:ext cx="25" cy="33"/>
            </a:xfrm>
            <a:custGeom>
              <a:avLst/>
              <a:gdLst>
                <a:gd name="T0" fmla="*/ 1 w 49"/>
                <a:gd name="T1" fmla="*/ 2 h 65"/>
                <a:gd name="T2" fmla="*/ 1 w 49"/>
                <a:gd name="T3" fmla="*/ 2 h 65"/>
                <a:gd name="T4" fmla="*/ 0 w 49"/>
                <a:gd name="T5" fmla="*/ 2 h 65"/>
                <a:gd name="T6" fmla="*/ 0 w 49"/>
                <a:gd name="T7" fmla="*/ 2 h 65"/>
                <a:gd name="T8" fmla="*/ 1 w 49"/>
                <a:gd name="T9" fmla="*/ 2 h 65"/>
                <a:gd name="T10" fmla="*/ 1 w 49"/>
                <a:gd name="T11" fmla="*/ 1 h 65"/>
                <a:gd name="T12" fmla="*/ 2 w 49"/>
                <a:gd name="T13" fmla="*/ 1 h 65"/>
                <a:gd name="T14" fmla="*/ 2 w 49"/>
                <a:gd name="T15" fmla="*/ 0 h 65"/>
                <a:gd name="T16" fmla="*/ 2 w 49"/>
                <a:gd name="T17" fmla="*/ 0 h 65"/>
                <a:gd name="T18" fmla="*/ 2 w 49"/>
                <a:gd name="T19" fmla="*/ 1 h 65"/>
                <a:gd name="T20" fmla="*/ 2 w 49"/>
                <a:gd name="T21" fmla="*/ 1 h 65"/>
                <a:gd name="T22" fmla="*/ 2 w 49"/>
                <a:gd name="T23" fmla="*/ 1 h 65"/>
                <a:gd name="T24" fmla="*/ 2 w 49"/>
                <a:gd name="T25" fmla="*/ 1 h 65"/>
                <a:gd name="T26" fmla="*/ 2 w 49"/>
                <a:gd name="T27" fmla="*/ 1 h 65"/>
                <a:gd name="T28" fmla="*/ 2 w 49"/>
                <a:gd name="T29" fmla="*/ 1 h 65"/>
                <a:gd name="T30" fmla="*/ 1 w 49"/>
                <a:gd name="T31" fmla="*/ 2 h 65"/>
                <a:gd name="T32" fmla="*/ 1 w 49"/>
                <a:gd name="T33" fmla="*/ 2 h 65"/>
                <a:gd name="T34" fmla="*/ 1 w 49"/>
                <a:gd name="T35" fmla="*/ 3 h 65"/>
                <a:gd name="T36" fmla="*/ 1 w 49"/>
                <a:gd name="T37" fmla="*/ 3 h 65"/>
                <a:gd name="T38" fmla="*/ 1 w 49"/>
                <a:gd name="T39" fmla="*/ 2 h 65"/>
                <a:gd name="T40" fmla="*/ 1 w 49"/>
                <a:gd name="T41" fmla="*/ 2 h 6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"/>
                <a:gd name="T64" fmla="*/ 0 h 65"/>
                <a:gd name="T65" fmla="*/ 49 w 49"/>
                <a:gd name="T66" fmla="*/ 65 h 6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" h="65">
                  <a:moveTo>
                    <a:pt x="4" y="63"/>
                  </a:moveTo>
                  <a:lnTo>
                    <a:pt x="2" y="60"/>
                  </a:lnTo>
                  <a:lnTo>
                    <a:pt x="0" y="56"/>
                  </a:lnTo>
                  <a:lnTo>
                    <a:pt x="0" y="53"/>
                  </a:lnTo>
                  <a:lnTo>
                    <a:pt x="1" y="49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38" y="0"/>
                  </a:lnTo>
                  <a:lnTo>
                    <a:pt x="41" y="0"/>
                  </a:lnTo>
                  <a:lnTo>
                    <a:pt x="45" y="1"/>
                  </a:lnTo>
                  <a:lnTo>
                    <a:pt x="47" y="4"/>
                  </a:lnTo>
                  <a:lnTo>
                    <a:pt x="49" y="8"/>
                  </a:lnTo>
                  <a:lnTo>
                    <a:pt x="49" y="11"/>
                  </a:lnTo>
                  <a:lnTo>
                    <a:pt x="48" y="15"/>
                  </a:lnTo>
                  <a:lnTo>
                    <a:pt x="18" y="61"/>
                  </a:lnTo>
                  <a:lnTo>
                    <a:pt x="15" y="63"/>
                  </a:lnTo>
                  <a:lnTo>
                    <a:pt x="11" y="65"/>
                  </a:lnTo>
                  <a:lnTo>
                    <a:pt x="8" y="65"/>
                  </a:lnTo>
                  <a:lnTo>
                    <a:pt x="4" y="63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Freeform 89"/>
            <p:cNvSpPr/>
            <p:nvPr/>
          </p:nvSpPr>
          <p:spPr bwMode="auto">
            <a:xfrm>
              <a:off x="4881" y="2121"/>
              <a:ext cx="33" cy="12"/>
            </a:xfrm>
            <a:custGeom>
              <a:avLst/>
              <a:gdLst>
                <a:gd name="T0" fmla="*/ 0 w 67"/>
                <a:gd name="T1" fmla="*/ 1 h 24"/>
                <a:gd name="T2" fmla="*/ 0 w 67"/>
                <a:gd name="T3" fmla="*/ 1 h 24"/>
                <a:gd name="T4" fmla="*/ 0 w 67"/>
                <a:gd name="T5" fmla="*/ 1 h 24"/>
                <a:gd name="T6" fmla="*/ 0 w 67"/>
                <a:gd name="T7" fmla="*/ 1 h 24"/>
                <a:gd name="T8" fmla="*/ 0 w 67"/>
                <a:gd name="T9" fmla="*/ 1 h 24"/>
                <a:gd name="T10" fmla="*/ 1 w 67"/>
                <a:gd name="T11" fmla="*/ 1 h 24"/>
                <a:gd name="T12" fmla="*/ 1 w 67"/>
                <a:gd name="T13" fmla="*/ 0 h 24"/>
                <a:gd name="T14" fmla="*/ 1 w 67"/>
                <a:gd name="T15" fmla="*/ 0 h 24"/>
                <a:gd name="T16" fmla="*/ 1 w 67"/>
                <a:gd name="T17" fmla="*/ 1 h 24"/>
                <a:gd name="T18" fmla="*/ 2 w 67"/>
                <a:gd name="T19" fmla="*/ 1 h 24"/>
                <a:gd name="T20" fmla="*/ 2 w 67"/>
                <a:gd name="T21" fmla="*/ 1 h 24"/>
                <a:gd name="T22" fmla="*/ 2 w 67"/>
                <a:gd name="T23" fmla="*/ 1 h 24"/>
                <a:gd name="T24" fmla="*/ 2 w 67"/>
                <a:gd name="T25" fmla="*/ 1 h 24"/>
                <a:gd name="T26" fmla="*/ 2 w 67"/>
                <a:gd name="T27" fmla="*/ 1 h 24"/>
                <a:gd name="T28" fmla="*/ 1 w 67"/>
                <a:gd name="T29" fmla="*/ 1 h 24"/>
                <a:gd name="T30" fmla="*/ 0 w 67"/>
                <a:gd name="T31" fmla="*/ 1 h 24"/>
                <a:gd name="T32" fmla="*/ 0 w 67"/>
                <a:gd name="T33" fmla="*/ 1 h 24"/>
                <a:gd name="T34" fmla="*/ 0 w 67"/>
                <a:gd name="T35" fmla="*/ 1 h 24"/>
                <a:gd name="T36" fmla="*/ 0 w 67"/>
                <a:gd name="T37" fmla="*/ 1 h 24"/>
                <a:gd name="T38" fmla="*/ 0 w 67"/>
                <a:gd name="T39" fmla="*/ 1 h 24"/>
                <a:gd name="T40" fmla="*/ 0 w 67"/>
                <a:gd name="T41" fmla="*/ 1 h 2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7"/>
                <a:gd name="T64" fmla="*/ 0 h 24"/>
                <a:gd name="T65" fmla="*/ 67 w 67"/>
                <a:gd name="T66" fmla="*/ 24 h 2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7" h="24">
                  <a:moveTo>
                    <a:pt x="1" y="22"/>
                  </a:moveTo>
                  <a:lnTo>
                    <a:pt x="0" y="20"/>
                  </a:lnTo>
                  <a:lnTo>
                    <a:pt x="0" y="18"/>
                  </a:lnTo>
                  <a:lnTo>
                    <a:pt x="2" y="16"/>
                  </a:lnTo>
                  <a:lnTo>
                    <a:pt x="5" y="15"/>
                  </a:lnTo>
                  <a:lnTo>
                    <a:pt x="52" y="1"/>
                  </a:lnTo>
                  <a:lnTo>
                    <a:pt x="57" y="0"/>
                  </a:lnTo>
                  <a:lnTo>
                    <a:pt x="60" y="0"/>
                  </a:lnTo>
                  <a:lnTo>
                    <a:pt x="63" y="1"/>
                  </a:lnTo>
                  <a:lnTo>
                    <a:pt x="66" y="2"/>
                  </a:lnTo>
                  <a:lnTo>
                    <a:pt x="67" y="5"/>
                  </a:lnTo>
                  <a:lnTo>
                    <a:pt x="67" y="6"/>
                  </a:lnTo>
                  <a:lnTo>
                    <a:pt x="65" y="8"/>
                  </a:lnTo>
                  <a:lnTo>
                    <a:pt x="62" y="9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8" y="24"/>
                  </a:lnTo>
                  <a:lnTo>
                    <a:pt x="5" y="23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CC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90"/>
            <p:cNvSpPr/>
            <p:nvPr/>
          </p:nvSpPr>
          <p:spPr bwMode="auto">
            <a:xfrm>
              <a:off x="5096" y="2268"/>
              <a:ext cx="45" cy="10"/>
            </a:xfrm>
            <a:custGeom>
              <a:avLst/>
              <a:gdLst>
                <a:gd name="T0" fmla="*/ 3 w 90"/>
                <a:gd name="T1" fmla="*/ 1 h 19"/>
                <a:gd name="T2" fmla="*/ 3 w 90"/>
                <a:gd name="T3" fmla="*/ 1 h 19"/>
                <a:gd name="T4" fmla="*/ 3 w 90"/>
                <a:gd name="T5" fmla="*/ 1 h 19"/>
                <a:gd name="T6" fmla="*/ 3 w 90"/>
                <a:gd name="T7" fmla="*/ 1 h 19"/>
                <a:gd name="T8" fmla="*/ 3 w 90"/>
                <a:gd name="T9" fmla="*/ 1 h 19"/>
                <a:gd name="T10" fmla="*/ 3 w 90"/>
                <a:gd name="T11" fmla="*/ 1 h 19"/>
                <a:gd name="T12" fmla="*/ 3 w 90"/>
                <a:gd name="T13" fmla="*/ 1 h 19"/>
                <a:gd name="T14" fmla="*/ 3 w 90"/>
                <a:gd name="T15" fmla="*/ 1 h 19"/>
                <a:gd name="T16" fmla="*/ 3 w 90"/>
                <a:gd name="T17" fmla="*/ 1 h 19"/>
                <a:gd name="T18" fmla="*/ 3 w 90"/>
                <a:gd name="T19" fmla="*/ 0 h 19"/>
                <a:gd name="T20" fmla="*/ 1 w 90"/>
                <a:gd name="T21" fmla="*/ 0 h 19"/>
                <a:gd name="T22" fmla="*/ 1 w 90"/>
                <a:gd name="T23" fmla="*/ 1 h 19"/>
                <a:gd name="T24" fmla="*/ 1 w 90"/>
                <a:gd name="T25" fmla="*/ 1 h 19"/>
                <a:gd name="T26" fmla="*/ 1 w 90"/>
                <a:gd name="T27" fmla="*/ 1 h 19"/>
                <a:gd name="T28" fmla="*/ 0 w 90"/>
                <a:gd name="T29" fmla="*/ 1 h 19"/>
                <a:gd name="T30" fmla="*/ 0 w 90"/>
                <a:gd name="T31" fmla="*/ 1 h 19"/>
                <a:gd name="T32" fmla="*/ 1 w 90"/>
                <a:gd name="T33" fmla="*/ 1 h 19"/>
                <a:gd name="T34" fmla="*/ 1 w 90"/>
                <a:gd name="T35" fmla="*/ 1 h 19"/>
                <a:gd name="T36" fmla="*/ 1 w 90"/>
                <a:gd name="T37" fmla="*/ 1 h 19"/>
                <a:gd name="T38" fmla="*/ 1 w 90"/>
                <a:gd name="T39" fmla="*/ 1 h 19"/>
                <a:gd name="T40" fmla="*/ 3 w 90"/>
                <a:gd name="T41" fmla="*/ 1 h 1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0"/>
                <a:gd name="T64" fmla="*/ 0 h 19"/>
                <a:gd name="T65" fmla="*/ 90 w 90"/>
                <a:gd name="T66" fmla="*/ 19 h 1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0" h="19">
                  <a:moveTo>
                    <a:pt x="80" y="19"/>
                  </a:moveTo>
                  <a:lnTo>
                    <a:pt x="84" y="18"/>
                  </a:lnTo>
                  <a:lnTo>
                    <a:pt x="87" y="16"/>
                  </a:lnTo>
                  <a:lnTo>
                    <a:pt x="89" y="13"/>
                  </a:lnTo>
                  <a:lnTo>
                    <a:pt x="90" y="9"/>
                  </a:lnTo>
                  <a:lnTo>
                    <a:pt x="89" y="5"/>
                  </a:lnTo>
                  <a:lnTo>
                    <a:pt x="87" y="2"/>
                  </a:lnTo>
                  <a:lnTo>
                    <a:pt x="84" y="1"/>
                  </a:lnTo>
                  <a:lnTo>
                    <a:pt x="80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3" y="16"/>
                  </a:lnTo>
                  <a:lnTo>
                    <a:pt x="6" y="18"/>
                  </a:lnTo>
                  <a:lnTo>
                    <a:pt x="10" y="19"/>
                  </a:lnTo>
                  <a:lnTo>
                    <a:pt x="80" y="19"/>
                  </a:lnTo>
                  <a:close/>
                </a:path>
              </a:pathLst>
            </a:custGeom>
            <a:solidFill>
              <a:srgbClr val="BF3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91"/>
            <p:cNvSpPr/>
            <p:nvPr/>
          </p:nvSpPr>
          <p:spPr bwMode="auto">
            <a:xfrm>
              <a:off x="4999" y="2129"/>
              <a:ext cx="43" cy="10"/>
            </a:xfrm>
            <a:custGeom>
              <a:avLst/>
              <a:gdLst>
                <a:gd name="T0" fmla="*/ 2 w 88"/>
                <a:gd name="T1" fmla="*/ 1 h 20"/>
                <a:gd name="T2" fmla="*/ 2 w 88"/>
                <a:gd name="T3" fmla="*/ 1 h 20"/>
                <a:gd name="T4" fmla="*/ 2 w 88"/>
                <a:gd name="T5" fmla="*/ 1 h 20"/>
                <a:gd name="T6" fmla="*/ 2 w 88"/>
                <a:gd name="T7" fmla="*/ 1 h 20"/>
                <a:gd name="T8" fmla="*/ 2 w 88"/>
                <a:gd name="T9" fmla="*/ 1 h 20"/>
                <a:gd name="T10" fmla="*/ 2 w 88"/>
                <a:gd name="T11" fmla="*/ 1 h 20"/>
                <a:gd name="T12" fmla="*/ 2 w 88"/>
                <a:gd name="T13" fmla="*/ 1 h 20"/>
                <a:gd name="T14" fmla="*/ 2 w 88"/>
                <a:gd name="T15" fmla="*/ 1 h 20"/>
                <a:gd name="T16" fmla="*/ 2 w 88"/>
                <a:gd name="T17" fmla="*/ 1 h 20"/>
                <a:gd name="T18" fmla="*/ 2 w 88"/>
                <a:gd name="T19" fmla="*/ 0 h 20"/>
                <a:gd name="T20" fmla="*/ 0 w 88"/>
                <a:gd name="T21" fmla="*/ 0 h 20"/>
                <a:gd name="T22" fmla="*/ 0 w 88"/>
                <a:gd name="T23" fmla="*/ 1 h 20"/>
                <a:gd name="T24" fmla="*/ 0 w 88"/>
                <a:gd name="T25" fmla="*/ 1 h 20"/>
                <a:gd name="T26" fmla="*/ 0 w 88"/>
                <a:gd name="T27" fmla="*/ 1 h 20"/>
                <a:gd name="T28" fmla="*/ 0 w 88"/>
                <a:gd name="T29" fmla="*/ 1 h 20"/>
                <a:gd name="T30" fmla="*/ 0 w 88"/>
                <a:gd name="T31" fmla="*/ 1 h 20"/>
                <a:gd name="T32" fmla="*/ 0 w 88"/>
                <a:gd name="T33" fmla="*/ 1 h 20"/>
                <a:gd name="T34" fmla="*/ 0 w 88"/>
                <a:gd name="T35" fmla="*/ 1 h 20"/>
                <a:gd name="T36" fmla="*/ 0 w 88"/>
                <a:gd name="T37" fmla="*/ 1 h 20"/>
                <a:gd name="T38" fmla="*/ 0 w 88"/>
                <a:gd name="T39" fmla="*/ 1 h 20"/>
                <a:gd name="T40" fmla="*/ 2 w 88"/>
                <a:gd name="T41" fmla="*/ 1 h 2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8"/>
                <a:gd name="T64" fmla="*/ 0 h 20"/>
                <a:gd name="T65" fmla="*/ 88 w 88"/>
                <a:gd name="T66" fmla="*/ 20 h 2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8" h="20">
                  <a:moveTo>
                    <a:pt x="79" y="20"/>
                  </a:moveTo>
                  <a:lnTo>
                    <a:pt x="82" y="19"/>
                  </a:lnTo>
                  <a:lnTo>
                    <a:pt x="85" y="16"/>
                  </a:lnTo>
                  <a:lnTo>
                    <a:pt x="87" y="14"/>
                  </a:lnTo>
                  <a:lnTo>
                    <a:pt x="88" y="9"/>
                  </a:lnTo>
                  <a:lnTo>
                    <a:pt x="87" y="6"/>
                  </a:lnTo>
                  <a:lnTo>
                    <a:pt x="85" y="2"/>
                  </a:lnTo>
                  <a:lnTo>
                    <a:pt x="82" y="1"/>
                  </a:lnTo>
                  <a:lnTo>
                    <a:pt x="79" y="0"/>
                  </a:lnTo>
                  <a:lnTo>
                    <a:pt x="11" y="0"/>
                  </a:lnTo>
                  <a:lnTo>
                    <a:pt x="6" y="1"/>
                  </a:lnTo>
                  <a:lnTo>
                    <a:pt x="4" y="2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14"/>
                  </a:lnTo>
                  <a:lnTo>
                    <a:pt x="4" y="16"/>
                  </a:lnTo>
                  <a:lnTo>
                    <a:pt x="6" y="19"/>
                  </a:lnTo>
                  <a:lnTo>
                    <a:pt x="11" y="20"/>
                  </a:lnTo>
                  <a:lnTo>
                    <a:pt x="79" y="20"/>
                  </a:lnTo>
                  <a:close/>
                </a:path>
              </a:pathLst>
            </a:custGeom>
            <a:solidFill>
              <a:srgbClr val="BF3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92"/>
            <p:cNvSpPr/>
            <p:nvPr/>
          </p:nvSpPr>
          <p:spPr bwMode="auto">
            <a:xfrm>
              <a:off x="4833" y="2187"/>
              <a:ext cx="39" cy="28"/>
            </a:xfrm>
            <a:custGeom>
              <a:avLst/>
              <a:gdLst>
                <a:gd name="T0" fmla="*/ 2 w 79"/>
                <a:gd name="T1" fmla="*/ 0 h 57"/>
                <a:gd name="T2" fmla="*/ 2 w 79"/>
                <a:gd name="T3" fmla="*/ 0 h 57"/>
                <a:gd name="T4" fmla="*/ 2 w 79"/>
                <a:gd name="T5" fmla="*/ 0 h 57"/>
                <a:gd name="T6" fmla="*/ 2 w 79"/>
                <a:gd name="T7" fmla="*/ 0 h 57"/>
                <a:gd name="T8" fmla="*/ 2 w 79"/>
                <a:gd name="T9" fmla="*/ 0 h 57"/>
                <a:gd name="T10" fmla="*/ 2 w 79"/>
                <a:gd name="T11" fmla="*/ 0 h 57"/>
                <a:gd name="T12" fmla="*/ 2 w 79"/>
                <a:gd name="T13" fmla="*/ 0 h 57"/>
                <a:gd name="T14" fmla="*/ 2 w 79"/>
                <a:gd name="T15" fmla="*/ 0 h 57"/>
                <a:gd name="T16" fmla="*/ 2 w 79"/>
                <a:gd name="T17" fmla="*/ 0 h 57"/>
                <a:gd name="T18" fmla="*/ 2 w 79"/>
                <a:gd name="T19" fmla="*/ 0 h 57"/>
                <a:gd name="T20" fmla="*/ 0 w 79"/>
                <a:gd name="T21" fmla="*/ 1 h 57"/>
                <a:gd name="T22" fmla="*/ 0 w 79"/>
                <a:gd name="T23" fmla="*/ 1 h 57"/>
                <a:gd name="T24" fmla="*/ 0 w 79"/>
                <a:gd name="T25" fmla="*/ 1 h 57"/>
                <a:gd name="T26" fmla="*/ 0 w 79"/>
                <a:gd name="T27" fmla="*/ 1 h 57"/>
                <a:gd name="T28" fmla="*/ 0 w 79"/>
                <a:gd name="T29" fmla="*/ 1 h 57"/>
                <a:gd name="T30" fmla="*/ 0 w 79"/>
                <a:gd name="T31" fmla="*/ 1 h 57"/>
                <a:gd name="T32" fmla="*/ 0 w 79"/>
                <a:gd name="T33" fmla="*/ 1 h 57"/>
                <a:gd name="T34" fmla="*/ 0 w 79"/>
                <a:gd name="T35" fmla="*/ 1 h 57"/>
                <a:gd name="T36" fmla="*/ 0 w 79"/>
                <a:gd name="T37" fmla="*/ 1 h 57"/>
                <a:gd name="T38" fmla="*/ 0 w 79"/>
                <a:gd name="T39" fmla="*/ 1 h 57"/>
                <a:gd name="T40" fmla="*/ 2 w 79"/>
                <a:gd name="T41" fmla="*/ 0 h 5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9"/>
                <a:gd name="T64" fmla="*/ 0 h 57"/>
                <a:gd name="T65" fmla="*/ 79 w 79"/>
                <a:gd name="T66" fmla="*/ 57 h 5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9" h="57">
                  <a:moveTo>
                    <a:pt x="74" y="18"/>
                  </a:moveTo>
                  <a:lnTo>
                    <a:pt x="77" y="15"/>
                  </a:lnTo>
                  <a:lnTo>
                    <a:pt x="79" y="12"/>
                  </a:lnTo>
                  <a:lnTo>
                    <a:pt x="79" y="8"/>
                  </a:lnTo>
                  <a:lnTo>
                    <a:pt x="78" y="5"/>
                  </a:lnTo>
                  <a:lnTo>
                    <a:pt x="74" y="1"/>
                  </a:lnTo>
                  <a:lnTo>
                    <a:pt x="71" y="0"/>
                  </a:lnTo>
                  <a:lnTo>
                    <a:pt x="67" y="0"/>
                  </a:lnTo>
                  <a:lnTo>
                    <a:pt x="64" y="1"/>
                  </a:lnTo>
                  <a:lnTo>
                    <a:pt x="4" y="39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1" y="52"/>
                  </a:lnTo>
                  <a:lnTo>
                    <a:pt x="4" y="54"/>
                  </a:lnTo>
                  <a:lnTo>
                    <a:pt x="8" y="57"/>
                  </a:lnTo>
                  <a:lnTo>
                    <a:pt x="11" y="57"/>
                  </a:lnTo>
                  <a:lnTo>
                    <a:pt x="14" y="56"/>
                  </a:lnTo>
                  <a:lnTo>
                    <a:pt x="74" y="18"/>
                  </a:lnTo>
                  <a:close/>
                </a:path>
              </a:pathLst>
            </a:custGeom>
            <a:solidFill>
              <a:srgbClr val="BF3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93"/>
            <p:cNvSpPr/>
            <p:nvPr/>
          </p:nvSpPr>
          <p:spPr bwMode="auto">
            <a:xfrm>
              <a:off x="5144" y="2296"/>
              <a:ext cx="39" cy="29"/>
            </a:xfrm>
            <a:custGeom>
              <a:avLst/>
              <a:gdLst>
                <a:gd name="T0" fmla="*/ 2 w 80"/>
                <a:gd name="T1" fmla="*/ 1 h 58"/>
                <a:gd name="T2" fmla="*/ 2 w 80"/>
                <a:gd name="T3" fmla="*/ 1 h 58"/>
                <a:gd name="T4" fmla="*/ 2 w 80"/>
                <a:gd name="T5" fmla="*/ 1 h 58"/>
                <a:gd name="T6" fmla="*/ 2 w 80"/>
                <a:gd name="T7" fmla="*/ 1 h 58"/>
                <a:gd name="T8" fmla="*/ 2 w 80"/>
                <a:gd name="T9" fmla="*/ 1 h 58"/>
                <a:gd name="T10" fmla="*/ 2 w 80"/>
                <a:gd name="T11" fmla="*/ 1 h 58"/>
                <a:gd name="T12" fmla="*/ 2 w 80"/>
                <a:gd name="T13" fmla="*/ 1 h 58"/>
                <a:gd name="T14" fmla="*/ 2 w 80"/>
                <a:gd name="T15" fmla="*/ 0 h 58"/>
                <a:gd name="T16" fmla="*/ 2 w 80"/>
                <a:gd name="T17" fmla="*/ 0 h 58"/>
                <a:gd name="T18" fmla="*/ 2 w 80"/>
                <a:gd name="T19" fmla="*/ 1 h 58"/>
                <a:gd name="T20" fmla="*/ 0 w 80"/>
                <a:gd name="T21" fmla="*/ 2 h 58"/>
                <a:gd name="T22" fmla="*/ 0 w 80"/>
                <a:gd name="T23" fmla="*/ 2 h 58"/>
                <a:gd name="T24" fmla="*/ 0 w 80"/>
                <a:gd name="T25" fmla="*/ 2 h 58"/>
                <a:gd name="T26" fmla="*/ 0 w 80"/>
                <a:gd name="T27" fmla="*/ 2 h 58"/>
                <a:gd name="T28" fmla="*/ 0 w 80"/>
                <a:gd name="T29" fmla="*/ 2 h 58"/>
                <a:gd name="T30" fmla="*/ 0 w 80"/>
                <a:gd name="T31" fmla="*/ 2 h 58"/>
                <a:gd name="T32" fmla="*/ 0 w 80"/>
                <a:gd name="T33" fmla="*/ 2 h 58"/>
                <a:gd name="T34" fmla="*/ 0 w 80"/>
                <a:gd name="T35" fmla="*/ 2 h 58"/>
                <a:gd name="T36" fmla="*/ 0 w 80"/>
                <a:gd name="T37" fmla="*/ 2 h 58"/>
                <a:gd name="T38" fmla="*/ 0 w 80"/>
                <a:gd name="T39" fmla="*/ 2 h 58"/>
                <a:gd name="T40" fmla="*/ 2 w 80"/>
                <a:gd name="T41" fmla="*/ 1 h 5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58"/>
                <a:gd name="T65" fmla="*/ 80 w 80"/>
                <a:gd name="T66" fmla="*/ 58 h 5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58">
                  <a:moveTo>
                    <a:pt x="75" y="19"/>
                  </a:moveTo>
                  <a:lnTo>
                    <a:pt x="78" y="16"/>
                  </a:lnTo>
                  <a:lnTo>
                    <a:pt x="80" y="13"/>
                  </a:lnTo>
                  <a:lnTo>
                    <a:pt x="80" y="8"/>
                  </a:lnTo>
                  <a:lnTo>
                    <a:pt x="79" y="5"/>
                  </a:lnTo>
                  <a:lnTo>
                    <a:pt x="75" y="2"/>
                  </a:lnTo>
                  <a:lnTo>
                    <a:pt x="72" y="0"/>
                  </a:lnTo>
                  <a:lnTo>
                    <a:pt x="68" y="0"/>
                  </a:lnTo>
                  <a:lnTo>
                    <a:pt x="65" y="2"/>
                  </a:lnTo>
                  <a:lnTo>
                    <a:pt x="5" y="39"/>
                  </a:lnTo>
                  <a:lnTo>
                    <a:pt x="3" y="43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3" y="53"/>
                  </a:lnTo>
                  <a:lnTo>
                    <a:pt x="5" y="55"/>
                  </a:lnTo>
                  <a:lnTo>
                    <a:pt x="9" y="58"/>
                  </a:lnTo>
                  <a:lnTo>
                    <a:pt x="12" y="58"/>
                  </a:lnTo>
                  <a:lnTo>
                    <a:pt x="15" y="57"/>
                  </a:lnTo>
                  <a:lnTo>
                    <a:pt x="75" y="19"/>
                  </a:lnTo>
                  <a:close/>
                </a:path>
              </a:pathLst>
            </a:custGeom>
            <a:solidFill>
              <a:srgbClr val="009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79700" name="Picture 116" descr="MCj0412762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99368">
            <a:off x="7819345" y="4888967"/>
            <a:ext cx="14478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3085DD-764F-45EF-9272-29D35F56EC25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Summary of Anonymization Motivation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Anonymization needed for safe data sharing and retention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Many legal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requirements</a:t>
            </a:r>
            <a:r>
              <a:rPr lang="en-US" altLang="zh-CN">
                <a:ea typeface="宋体" panose="02010600030101010101" pitchFamily="2" charset="-122"/>
              </a:rPr>
              <a:t> apply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Various privacy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definitions</a:t>
            </a:r>
            <a:r>
              <a:rPr lang="en-US" altLang="zh-CN">
                <a:ea typeface="宋体" panose="02010600030101010101" pitchFamily="2" charset="-122"/>
              </a:rPr>
              <a:t> possible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Primarily, prevent inference of sensitive information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Under some assumptions of background knowledge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Utility</a:t>
            </a:r>
            <a:r>
              <a:rPr lang="en-US" altLang="zh-CN">
                <a:ea typeface="宋体" panose="02010600030101010101" pitchFamily="2" charset="-122"/>
              </a:rPr>
              <a:t> of the anonymized data needs to be carefully studied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Different data types imply different classes of query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Our focus</a:t>
            </a:r>
            <a:r>
              <a:rPr lang="en-US" altLang="zh-CN">
                <a:ea typeface="宋体" panose="02010600030101010101" pitchFamily="2" charset="-122"/>
              </a:rPr>
              <a:t>: publishing model with careful utility consideration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Data types: tables (census), sets and graphs (video &amp; search)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99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B94E94-61B2-4CB4-A675-E93E346C2B97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Anonymization as Uncertainty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3434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We view anonymization as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adding uncertainty to certain data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To ensure an attacker can’t be sure about associations, presence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It is important to use the tools and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models of uncertainty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To quantify the uncertainty of an attacker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To understand the impact of background knowledge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To allow efficient, accurate querying of anonymized data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Much recent work on anonymization and uncertainty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 separately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Here, we aim to bring them together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More formal framework for anonymization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New application to drive uncertainty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CEDE31-A06E-4607-9502-14E59A152C81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Possible Worlds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Uncertain Data typically represents multiple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possible worlds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Each possible world corresponds to a database (or graph, or…)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uncertainty model may attach a probability to each world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Queries conceptually range over all possible worlds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Possibilistic</a:t>
            </a:r>
            <a:r>
              <a:rPr lang="en-US" altLang="zh-CN">
                <a:ea typeface="宋体" panose="02010600030101010101" pitchFamily="2" charset="-122"/>
              </a:rPr>
              <a:t> interpretations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Is a given fact possible ( 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>
                <a:ea typeface="宋体" panose="02010600030101010101" pitchFamily="2" charset="-122"/>
              </a:rPr>
              <a:t> a world W where it is true) 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Is a given fact certain ( 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>
                <a:ea typeface="宋体" panose="02010600030101010101" pitchFamily="2" charset="-122"/>
              </a:rPr>
              <a:t> worlds W it is true) ?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Probabilistic</a:t>
            </a:r>
            <a:r>
              <a:rPr lang="en-US" altLang="zh-CN">
                <a:ea typeface="宋体" panose="02010600030101010101" pitchFamily="2" charset="-122"/>
              </a:rPr>
              <a:t> interpretations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What is the probability of a fact being true?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What is the distribution of answers to an aggregate query?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What is the (min, max, mean) answer to an aggregate query? 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8CACF9-1A23-47F1-A1D9-625F911F6BCB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600" b="1" dirty="0">
                <a:solidFill>
                  <a:srgbClr val="CC3300"/>
                </a:solidFill>
                <a:ea typeface="宋体" panose="02010600030101010101" pitchFamily="2" charset="-122"/>
              </a:rPr>
              <a:t>Part 1</a:t>
            </a:r>
            <a:endParaRPr lang="en-US" altLang="zh-CN" sz="36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Introduction to Anonymization and Uncertainty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Tabular Data Anonymization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200" b="1" dirty="0">
                <a:solidFill>
                  <a:srgbClr val="CC3300"/>
                </a:solidFill>
                <a:ea typeface="宋体" panose="02010600030101010101" pitchFamily="2" charset="-122"/>
              </a:rPr>
              <a:t>Part 2</a:t>
            </a:r>
            <a:endParaRPr lang="en-US" altLang="zh-CN" sz="32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Differential privacy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Local Differential privacy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71653E-BAD9-4997-947B-7E4DA568A8D6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04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Census data recording incomes and demographics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Releasing SSN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Salary association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violates</a:t>
            </a:r>
            <a:r>
              <a:rPr lang="en-US" altLang="zh-CN" dirty="0">
                <a:ea typeface="宋体" panose="02010600030101010101" pitchFamily="2" charset="-122"/>
              </a:rPr>
              <a:t> individual’s privacy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SSN is an identifier, Salary is a sensitive attribute (SA)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4191001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  <a:gridCol w="838202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22-2-222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44-4-444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55-5-555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66-6-666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2E679D-433A-4CD7-8CEF-4C0E689877DD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15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De-Identification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Census data</a:t>
            </a:r>
            <a:r>
              <a:rPr lang="en-US" altLang="zh-CN">
                <a:ea typeface="宋体" panose="02010600030101010101" pitchFamily="2" charset="-122"/>
              </a:rPr>
              <a:t>: remove SSN to create de-identified table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Does the de-identified table preserve an individual’s privacy?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Depends on what other information an attacker knows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98865F-8A3D-4A9A-AC97-05E2767FDDFF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25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Linking Attack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De-identified private data + publicly available data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Cannot uniquely identify either individual’s salary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DOB is a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quasi-identifier </a:t>
            </a:r>
            <a:r>
              <a:rPr lang="en-US" altLang="zh-CN">
                <a:ea typeface="宋体" panose="02010600030101010101" pitchFamily="2" charset="-122"/>
              </a:rPr>
              <a:t>(QI)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22578" name="Straight Connector 11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9" name="Straight Connector 13"/>
          <p:cNvCxnSpPr>
            <a:cxnSpLocks noChangeShapeType="1"/>
          </p:cNvCxnSpPr>
          <p:nvPr/>
        </p:nvCxnSpPr>
        <p:spPr bwMode="auto">
          <a:xfrm rot="5400000" flipH="1" flipV="1">
            <a:off x="4648200" y="2895600"/>
            <a:ext cx="9144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" name="Group 153"/>
          <p:cNvGraphicFramePr>
            <a:graphicFrameLocks noGrp="1"/>
          </p:cNvGraphicFramePr>
          <p:nvPr/>
        </p:nvGraphicFramePr>
        <p:xfrm>
          <a:off x="5486400" y="2362200"/>
          <a:ext cx="1955800" cy="914400"/>
        </p:xfrm>
        <a:graphic>
          <a:graphicData uri="http://schemas.openxmlformats.org/drawingml/2006/table">
            <a:tbl>
              <a:tblPr/>
              <a:tblGrid>
                <a:gridCol w="977899"/>
                <a:gridCol w="9779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22594" name="Straight Connector 12"/>
          <p:cNvCxnSpPr>
            <a:cxnSpLocks noChangeShapeType="1"/>
          </p:cNvCxnSpPr>
          <p:nvPr/>
        </p:nvCxnSpPr>
        <p:spPr bwMode="auto">
          <a:xfrm flipV="1">
            <a:off x="4724400" y="3124200"/>
            <a:ext cx="7620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95" name="Straight Connector 18"/>
          <p:cNvCxnSpPr>
            <a:cxnSpLocks noChangeShapeType="1"/>
          </p:cNvCxnSpPr>
          <p:nvPr/>
        </p:nvCxnSpPr>
        <p:spPr bwMode="auto">
          <a:xfrm rot="5400000" flipH="1" flipV="1">
            <a:off x="4533900" y="3314700"/>
            <a:ext cx="11430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F3D114-52D1-471F-851F-4D12E01C6FE8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35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Linking Attack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De-identified private data + publicly available data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Uniquely identified one individual’s salary, but not the other’s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DOB, Sex are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quasi-identifiers </a:t>
            </a:r>
            <a:r>
              <a:rPr lang="en-US" altLang="zh-CN">
                <a:ea typeface="宋体" panose="02010600030101010101" pitchFamily="2" charset="-122"/>
              </a:rPr>
              <a:t>(QI)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3602" name="Straight Connector 11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3" name="Straight Connector 13"/>
          <p:cNvCxnSpPr>
            <a:cxnSpLocks noChangeShapeType="1"/>
          </p:cNvCxnSpPr>
          <p:nvPr/>
        </p:nvCxnSpPr>
        <p:spPr bwMode="auto">
          <a:xfrm rot="5400000" flipH="1" flipV="1">
            <a:off x="4648200" y="2895600"/>
            <a:ext cx="9144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" name="Group 153"/>
          <p:cNvGraphicFramePr>
            <a:graphicFrameLocks noGrp="1"/>
          </p:cNvGraphicFramePr>
          <p:nvPr/>
        </p:nvGraphicFramePr>
        <p:xfrm>
          <a:off x="5486400" y="2362200"/>
          <a:ext cx="2514599" cy="9144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23622" name="Straight Connector 9"/>
          <p:cNvCxnSpPr>
            <a:cxnSpLocks noChangeShapeType="1"/>
          </p:cNvCxnSpPr>
          <p:nvPr/>
        </p:nvCxnSpPr>
        <p:spPr bwMode="auto">
          <a:xfrm flipV="1">
            <a:off x="4724400" y="3124200"/>
            <a:ext cx="7620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AEAF0A-B68E-44E7-9B8D-0758F7743FA2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45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Linking Attack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De-identified private data + publicly available data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Uniquely identified both individuals’ salaries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[DOB, Sex, ZIP] is unique for lots of US residents </a:t>
            </a:r>
            <a:r>
              <a:rPr lang="en-US" altLang="zh-CN" dirty="0">
                <a:solidFill>
                  <a:srgbClr val="0000FF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[Sweeney 02]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4626" name="Straight Connector 11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" name="Group 153"/>
          <p:cNvGraphicFramePr>
            <a:graphicFrameLocks noGrp="1"/>
          </p:cNvGraphicFramePr>
          <p:nvPr/>
        </p:nvGraphicFramePr>
        <p:xfrm>
          <a:off x="5486400" y="2362200"/>
          <a:ext cx="3352799" cy="9144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24649" name="Straight Connector 9"/>
          <p:cNvCxnSpPr>
            <a:cxnSpLocks noChangeShapeType="1"/>
          </p:cNvCxnSpPr>
          <p:nvPr/>
        </p:nvCxnSpPr>
        <p:spPr bwMode="auto">
          <a:xfrm flipV="1">
            <a:off x="4724400" y="3124200"/>
            <a:ext cx="7620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5AF566-689F-4056-8A6B-D8428EFD70F8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Anonymization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Anonymization through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tuple suppression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Cannot link to private table even with knowledge of QI values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Missing tuples could take any value from the space of all tuples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Introduces a lot of uncertainty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Group 153"/>
          <p:cNvGraphicFramePr>
            <a:graphicFrameLocks noGrp="1"/>
          </p:cNvGraphicFramePr>
          <p:nvPr/>
        </p:nvGraphicFramePr>
        <p:xfrm>
          <a:off x="5486400" y="2362200"/>
          <a:ext cx="3352799" cy="6096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5667" name="Straight Connector 15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8" name="Straight Connector 16"/>
          <p:cNvCxnSpPr>
            <a:cxnSpLocks noChangeShapeType="1"/>
          </p:cNvCxnSpPr>
          <p:nvPr/>
        </p:nvCxnSpPr>
        <p:spPr bwMode="auto">
          <a:xfrm rot="5400000" flipH="1" flipV="1">
            <a:off x="4648200" y="2895600"/>
            <a:ext cx="9144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842D1F-C1F1-48AC-A593-CC453EF4943A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66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Anonymization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Anonymization through QI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attribute generalization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Cannot uniquely identify tuple with knowledge of QI values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More precise form of uncertainty than tuple suppression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ZIP = 537** → ZIP 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{53700, …, 53799}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Group 153"/>
          <p:cNvGraphicFramePr>
            <a:graphicFrameLocks noGrp="1"/>
          </p:cNvGraphicFramePr>
          <p:nvPr/>
        </p:nvGraphicFramePr>
        <p:xfrm>
          <a:off x="5486400" y="2362200"/>
          <a:ext cx="3352799" cy="9144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6696" name="Straight Connector 15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7" name="Straight Connector 16"/>
          <p:cNvCxnSpPr>
            <a:cxnSpLocks noChangeShapeType="1"/>
          </p:cNvCxnSpPr>
          <p:nvPr/>
        </p:nvCxnSpPr>
        <p:spPr bwMode="auto">
          <a:xfrm rot="5400000" flipH="1" flipV="1">
            <a:off x="4648200" y="2895600"/>
            <a:ext cx="9144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8" name="Straight Connector 17"/>
          <p:cNvCxnSpPr>
            <a:cxnSpLocks noChangeShapeType="1"/>
          </p:cNvCxnSpPr>
          <p:nvPr/>
        </p:nvCxnSpPr>
        <p:spPr bwMode="auto">
          <a:xfrm flipV="1">
            <a:off x="4724400" y="3124200"/>
            <a:ext cx="7620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9" name="Straight Connector 18"/>
          <p:cNvCxnSpPr>
            <a:cxnSpLocks noChangeShapeType="1"/>
          </p:cNvCxnSpPr>
          <p:nvPr/>
        </p:nvCxnSpPr>
        <p:spPr bwMode="auto">
          <a:xfrm rot="5400000" flipH="1" flipV="1">
            <a:off x="4533900" y="3314700"/>
            <a:ext cx="11430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239FFA-D9BD-42DD-B390-32EF68BCC36D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76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Anonymization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Anonymization through sensitive attribute (SA)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permutation</a:t>
            </a:r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Can uniquely identify tuple, but uncertainty about SA value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Much more precise form of uncertainty than generalization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Can be represented with c-tables, MayBMS in a tedious way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cxnSp>
        <p:nvCxnSpPr>
          <p:cNvPr id="27698" name="Straight Connector 11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" name="Group 153"/>
          <p:cNvGraphicFramePr>
            <a:graphicFrameLocks noGrp="1"/>
          </p:cNvGraphicFramePr>
          <p:nvPr/>
        </p:nvGraphicFramePr>
        <p:xfrm>
          <a:off x="5486400" y="2362200"/>
          <a:ext cx="3352799" cy="9144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7721" name="Straight Connector 9"/>
          <p:cNvCxnSpPr>
            <a:cxnSpLocks noChangeShapeType="1"/>
          </p:cNvCxnSpPr>
          <p:nvPr/>
        </p:nvCxnSpPr>
        <p:spPr bwMode="auto">
          <a:xfrm flipV="1">
            <a:off x="4724400" y="3124200"/>
            <a:ext cx="7620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AA65F1-F6F5-4505-AE08-0FF73A78B591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86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Tabular Data Example: Anonymization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Anonymization through sensitive attribute (SA)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perturbation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Can uniquely identify tuple, but get “noisy” SA value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If distribution of perturbation is given, it implicitly defines a model that can be encoded in c-tables, Trio, </a:t>
            </a:r>
            <a:r>
              <a:rPr lang="en-US" altLang="zh-CN" dirty="0" err="1">
                <a:ea typeface="宋体" panose="02010600030101010101" pitchFamily="2" charset="-122"/>
              </a:rPr>
              <a:t>MayBMS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1524000" y="2362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80,000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cxnSp>
        <p:nvCxnSpPr>
          <p:cNvPr id="28722" name="Straight Connector 11"/>
          <p:cNvCxnSpPr>
            <a:cxnSpLocks noChangeShapeType="1"/>
          </p:cNvCxnSpPr>
          <p:nvPr/>
        </p:nvCxnSpPr>
        <p:spPr bwMode="auto">
          <a:xfrm>
            <a:off x="4724400" y="2819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" name="Group 153"/>
          <p:cNvGraphicFramePr>
            <a:graphicFrameLocks noGrp="1"/>
          </p:cNvGraphicFramePr>
          <p:nvPr/>
        </p:nvGraphicFramePr>
        <p:xfrm>
          <a:off x="5486400" y="2362200"/>
          <a:ext cx="3352799" cy="9144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33-3-333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8745" name="Straight Connector 9"/>
          <p:cNvCxnSpPr>
            <a:cxnSpLocks noChangeShapeType="1"/>
          </p:cNvCxnSpPr>
          <p:nvPr/>
        </p:nvCxnSpPr>
        <p:spPr bwMode="auto">
          <a:xfrm flipV="1">
            <a:off x="4724400" y="3124200"/>
            <a:ext cx="7620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6544CA-549A-4BA7-AC6F-7D7D7E0B6727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297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k-Anonymization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[Samarati, Sweeney 98]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2286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k-anonymity: Table T satisfies k-anonymity wrt quasi-identifier QI iff each tuple in (the multiset)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T[QI]</a:t>
            </a:r>
            <a:r>
              <a:rPr lang="en-US" altLang="zh-CN" dirty="0">
                <a:ea typeface="宋体" panose="02010600030101010101" pitchFamily="2" charset="-122"/>
              </a:rPr>
              <a:t> appears at least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times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Protects against “linking attack”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k-anonymization: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 </a:t>
            </a:r>
            <a:r>
              <a:rPr lang="en-US" altLang="zh-CN" dirty="0">
                <a:ea typeface="宋体" panose="02010600030101010101" pitchFamily="2" charset="-122"/>
              </a:rPr>
              <a:t>is a k-anonymization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if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is a generalization/suppression 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, and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satisfies k-anonymity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153"/>
          <p:cNvGraphicFramePr>
            <a:graphicFrameLocks noGrp="1"/>
          </p:cNvGraphicFramePr>
          <p:nvPr/>
        </p:nvGraphicFramePr>
        <p:xfrm>
          <a:off x="50292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88" name="TextBox 9"/>
          <p:cNvSpPr txBox="1">
            <a:spLocks noChangeArrowheads="1"/>
          </p:cNvSpPr>
          <p:nvPr/>
        </p:nvSpPr>
        <p:spPr bwMode="auto">
          <a:xfrm>
            <a:off x="4191000" y="449580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4800" b="0">
                <a:ea typeface="宋体" panose="02010600030101010101" pitchFamily="2" charset="-122"/>
              </a:rPr>
              <a:t>→</a:t>
            </a:r>
            <a:endParaRPr lang="en-US" altLang="zh-CN" sz="4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5DC259-AE6E-42FB-B605-B7652025D905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0724" name="TextBox 9"/>
          <p:cNvSpPr txBox="1">
            <a:spLocks noChangeArrowheads="1"/>
          </p:cNvSpPr>
          <p:nvPr/>
        </p:nvSpPr>
        <p:spPr bwMode="auto">
          <a:xfrm>
            <a:off x="4191000" y="449580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4800" b="0">
                <a:ea typeface="宋体" panose="02010600030101010101" pitchFamily="2" charset="-122"/>
              </a:rPr>
              <a:t>→</a:t>
            </a:r>
            <a:endParaRPr lang="en-US" altLang="zh-CN" sz="4800" b="0">
              <a:ea typeface="宋体" panose="02010600030101010101" pitchFamily="2" charset="-122"/>
            </a:endParaRPr>
          </a:p>
        </p:txBody>
      </p:sp>
      <p:sp>
        <p:nvSpPr>
          <p:cNvPr id="307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k-Anonymization and Uncertainty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22098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Intuition</a:t>
            </a:r>
            <a:r>
              <a:rPr lang="en-US" altLang="zh-CN" dirty="0">
                <a:ea typeface="宋体" panose="02010600030101010101" pitchFamily="2" charset="-122"/>
              </a:rPr>
              <a:t>: A k-anonymized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represents the set of all “possible world” tables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s.t.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is a k-anonymization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endParaRPr lang="en-US" altLang="zh-CN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from which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was originally derived is one of the possible worlds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" name="Group 153"/>
          <p:cNvGraphicFramePr>
            <a:graphicFrameLocks noGrp="1"/>
          </p:cNvGraphicFramePr>
          <p:nvPr/>
        </p:nvGraphicFramePr>
        <p:xfrm>
          <a:off x="51054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477AD0-35AA-40E8-A85A-B992F5F3F410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17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k-Anonymization and Uncertainty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20574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Intuition</a:t>
            </a:r>
            <a:r>
              <a:rPr lang="en-US" altLang="zh-CN" dirty="0">
                <a:ea typeface="宋体" panose="02010600030101010101" pitchFamily="2" charset="-122"/>
              </a:rPr>
              <a:t>: A k-anonymized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represents the set of all “possible world” tables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s.t.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is a k-anonymization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endParaRPr lang="en-US" altLang="zh-CN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(Many) other tables are also possible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" name="Group 153"/>
          <p:cNvGraphicFramePr>
            <a:graphicFrameLocks noGrp="1"/>
          </p:cNvGraphicFramePr>
          <p:nvPr/>
        </p:nvGraphicFramePr>
        <p:xfrm>
          <a:off x="51054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836" name="TextBox 9"/>
          <p:cNvSpPr txBox="1">
            <a:spLocks noChangeArrowheads="1"/>
          </p:cNvSpPr>
          <p:nvPr/>
        </p:nvSpPr>
        <p:spPr bwMode="auto">
          <a:xfrm>
            <a:off x="4191000" y="449580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4800" b="0">
                <a:ea typeface="宋体" panose="02010600030101010101" pitchFamily="2" charset="-122"/>
              </a:rPr>
              <a:t>→</a:t>
            </a:r>
            <a:endParaRPr lang="en-US" altLang="zh-CN" sz="4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B922D0A-4639-49C0-BAB1-8B14BC8DF349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27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k-Anonymization and Uncertainty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Intuition</a:t>
            </a:r>
            <a:r>
              <a:rPr lang="en-US" altLang="zh-CN" dirty="0">
                <a:ea typeface="宋体" panose="02010600030101010101" pitchFamily="2" charset="-122"/>
              </a:rPr>
              <a:t>: A k-anonymized table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T’ </a:t>
            </a:r>
            <a:r>
              <a:rPr lang="en-US" altLang="zh-CN" dirty="0">
                <a:ea typeface="宋体" panose="02010600030101010101" pitchFamily="2" charset="-122"/>
              </a:rPr>
              <a:t>represents the set of all “possible world” tables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s.t.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T’ </a:t>
            </a:r>
            <a:r>
              <a:rPr lang="en-US" altLang="zh-CN" dirty="0">
                <a:ea typeface="宋体" panose="02010600030101010101" pitchFamily="2" charset="-122"/>
              </a:rPr>
              <a:t>is a k-anonymization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endParaRPr lang="en-US" altLang="zh-CN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If no background knowledge, all possible worlds are equally likely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Easily representable in systems for uncertain data (see later)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Query Answering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Queries should (implicitly) range over all possible worlds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Example query: what is the salary of individual (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1/21/76, M, 53715</a:t>
            </a:r>
            <a:r>
              <a:rPr lang="en-US" altLang="zh-CN" dirty="0">
                <a:ea typeface="宋体" panose="02010600030101010101" pitchFamily="2" charset="-122"/>
              </a:rPr>
              <a:t>)? Best guess is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57,500</a:t>
            </a:r>
            <a:r>
              <a:rPr lang="en-US" altLang="zh-CN" dirty="0">
                <a:ea typeface="宋体" panose="02010600030101010101" pitchFamily="2" charset="-122"/>
              </a:rPr>
              <a:t> (weighted average of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50,000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65,000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Example query: what is the maximum salary of males in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53706</a:t>
            </a:r>
            <a:r>
              <a:rPr lang="en-US" altLang="zh-CN" dirty="0">
                <a:ea typeface="宋体" panose="02010600030101010101" pitchFamily="2" charset="-122"/>
              </a:rPr>
              <a:t>? Could be as small as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50,000</a:t>
            </a:r>
            <a:r>
              <a:rPr lang="en-US" altLang="zh-CN" dirty="0">
                <a:ea typeface="宋体" panose="02010600030101010101" pitchFamily="2" charset="-122"/>
              </a:rPr>
              <a:t>, or as big as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75,000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7E2663-5230-45A2-9187-0FFA8622759A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37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Computing k-Anonymizations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Huge literature</a:t>
            </a:r>
            <a:r>
              <a:rPr lang="en-US" altLang="zh-CN">
                <a:ea typeface="宋体" panose="02010600030101010101" pitchFamily="2" charset="-122"/>
              </a:rPr>
              <a:t>: variations depend on search space and algorithm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Generalization vs (tuple) suppression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Global (e.g., full-domain) vs local (e.g., multidimensional) recoding 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Hierarchy-based vs partition-based (e.g., numerical attributes)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1066800" y="3657600"/>
          <a:ext cx="7391400" cy="1524000"/>
        </p:xfrm>
        <a:graphic>
          <a:graphicData uri="http://schemas.openxmlformats.org/drawingml/2006/table">
            <a:tbl>
              <a:tblPr/>
              <a:tblGrid>
                <a:gridCol w="1524000"/>
                <a:gridCol w="1447800"/>
                <a:gridCol w="2971800"/>
                <a:gridCol w="14478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Algorithm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Properties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Complexity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Samarati 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G+TS, FD, HB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One exact, binary search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O(2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|QI|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Sweeney 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G+TS, FD, HB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Exact, exhaustive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O(2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|QI|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Bayardo+ 05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G+TS, FD, PB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Exact, top-down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O(2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|QI|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LeFevre+ 05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G+TS, FD, HB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All exact, bottom-up cube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|QI|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592A58-ACB5-47A3-BD15-44C0810D96FB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48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Computing k-Anonymizations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Huge literature</a:t>
            </a:r>
            <a:r>
              <a:rPr lang="en-US" altLang="zh-CN">
                <a:ea typeface="宋体" panose="02010600030101010101" pitchFamily="2" charset="-122"/>
              </a:rPr>
              <a:t>: variations depend on search space and algorithm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Generalization vs (tuple) suppression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Global (e.g., full-domain) vs local (e.g., multidimensional) recoding 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Hierarchy-based vs partition-based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1066800" y="3657600"/>
          <a:ext cx="7391400" cy="1219200"/>
        </p:xfrm>
        <a:graphic>
          <a:graphicData uri="http://schemas.openxmlformats.org/drawingml/2006/table">
            <a:tbl>
              <a:tblPr/>
              <a:tblGrid>
                <a:gridCol w="1524000"/>
                <a:gridCol w="1447800"/>
                <a:gridCol w="2971800"/>
                <a:gridCol w="14478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Algorithm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Properties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Complexity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Iyengar 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G+TS, FD, PB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Heuristic, stochastic search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No bounds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Winkler 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G+TS, FD, HB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Heuristic, simulated annealing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No bounds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Fung+ 05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G, FD, PB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Heuristic, top-down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No bounds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B29312-7F92-4C90-AA5E-6C7E1328A10D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58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Computing k-Anonymizations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Huge literature</a:t>
            </a:r>
            <a:r>
              <a:rPr lang="en-US" altLang="zh-CN">
                <a:ea typeface="宋体" panose="02010600030101010101" pitchFamily="2" charset="-122"/>
              </a:rPr>
              <a:t>: variations depend on search space and algorithm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Generalization vs (tuple) suppression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Global (e.g., full-domain) vs local (e.g., multidimensional) recoding 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Hierarchy-based vs partition-based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1066800" y="3657600"/>
          <a:ext cx="7391400" cy="1524000"/>
        </p:xfrm>
        <a:graphic>
          <a:graphicData uri="http://schemas.openxmlformats.org/drawingml/2006/table">
            <a:tbl>
              <a:tblPr/>
              <a:tblGrid>
                <a:gridCol w="1524000"/>
                <a:gridCol w="1219200"/>
                <a:gridCol w="3276600"/>
                <a:gridCol w="13716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Algorithm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Properties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Complexity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Meyerson+ 04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S, 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NP-hard, O(k log k) approximation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2k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Aggarwal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+ 05a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S, 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O(k) approximation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O(kn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Aggarwal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+ 05b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G, L, HB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O(k) approximation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O(kn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</a:rPr>
                        <a:t>LeFevre+ 06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G, MD, PB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Constant-factor approximation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O(n log n)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105AD2-419A-483B-9E98-BE219443F431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68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Incognito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[LeFevre+ 05]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Computes all “minimal” full-domain generalizations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Uses ideas from data cube computation, association rule mining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Key intuitions for efficient computation: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Subset Property</a:t>
            </a:r>
            <a:r>
              <a:rPr lang="en-US" altLang="zh-CN" dirty="0">
                <a:ea typeface="宋体" panose="02010600030101010101" pitchFamily="2" charset="-122"/>
              </a:rPr>
              <a:t>: If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is k-anonymous wrt a set of attributes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ea typeface="宋体" panose="02010600030101010101" pitchFamily="2" charset="-122"/>
              </a:rPr>
              <a:t>, then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is k-anonymous wrt any set of attributes that is a subset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Q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Generalization Property</a:t>
            </a:r>
            <a:r>
              <a:rPr lang="en-US" altLang="zh-CN" dirty="0">
                <a:ea typeface="宋体" panose="02010600030101010101" pitchFamily="2" charset="-122"/>
              </a:rPr>
              <a:t>:  If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is a generalization of table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and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is k-anonymous, then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is k-anonymous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Properties useful for stronger notions of privacy too!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-diversity, t-closeness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C57C7D-BA72-479E-97BA-D68ECDB670D0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78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Incognito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[LeFevre+ 05]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Every full-domain generalization described by a “domain vector”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B0={1/21/76, 2/28/76, 4/13/86} 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B1={76-86}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S0={M, F}  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 S1={*}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Z0={53715,53710,53706,53703}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Z1={5371*,5370*}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Z2={537**}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153"/>
          <p:cNvGraphicFramePr>
            <a:graphicFrameLocks noGrp="1"/>
          </p:cNvGraphicFramePr>
          <p:nvPr/>
        </p:nvGraphicFramePr>
        <p:xfrm>
          <a:off x="52578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980" name="TextBox 7"/>
          <p:cNvSpPr txBox="1">
            <a:spLocks noChangeArrowheads="1"/>
          </p:cNvSpPr>
          <p:nvPr/>
        </p:nvSpPr>
        <p:spPr bwMode="auto">
          <a:xfrm>
            <a:off x="4267200" y="4433888"/>
            <a:ext cx="7937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4800">
                <a:ea typeface="宋体" panose="02010600030101010101" pitchFamily="2" charset="-122"/>
              </a:rPr>
              <a:t>→</a:t>
            </a:r>
            <a:endParaRPr lang="en-US" altLang="zh-CN" sz="4800">
              <a:ea typeface="宋体" panose="02010600030101010101" pitchFamily="2" charset="-122"/>
            </a:endParaRPr>
          </a:p>
        </p:txBody>
      </p:sp>
      <p:sp>
        <p:nvSpPr>
          <p:cNvPr id="37981" name="TextBox 10"/>
          <p:cNvSpPr txBox="1">
            <a:spLocks noChangeArrowheads="1"/>
          </p:cNvSpPr>
          <p:nvPr/>
        </p:nvSpPr>
        <p:spPr bwMode="auto">
          <a:xfrm>
            <a:off x="4191000" y="4419600"/>
            <a:ext cx="1085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B0, S1, Z2</a:t>
            </a:r>
            <a:endParaRPr lang="en-US" altLang="zh-CN" b="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53DAD7-6E63-4AF1-BCCF-2448FEA30F66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89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Incognito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[LeFevre+ 05]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Every full-domain generalization described by a “domain vector”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B0={1/21/76, 2/28/76, 4/13/86} 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B1={76-86}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S0={M, F}  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 S1={*}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Z0={53715,53710,53706,53703}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Z1={5371*,5370*}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Z2={537**}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153"/>
          <p:cNvGraphicFramePr>
            <a:graphicFrameLocks noGrp="1"/>
          </p:cNvGraphicFramePr>
          <p:nvPr/>
        </p:nvGraphicFramePr>
        <p:xfrm>
          <a:off x="52578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004" name="TextBox 7"/>
          <p:cNvSpPr txBox="1">
            <a:spLocks noChangeArrowheads="1"/>
          </p:cNvSpPr>
          <p:nvPr/>
        </p:nvSpPr>
        <p:spPr bwMode="auto">
          <a:xfrm>
            <a:off x="4267200" y="4433888"/>
            <a:ext cx="7937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4800">
                <a:ea typeface="宋体" panose="02010600030101010101" pitchFamily="2" charset="-122"/>
              </a:rPr>
              <a:t>→</a:t>
            </a:r>
            <a:endParaRPr lang="en-US" altLang="zh-CN" sz="4800">
              <a:ea typeface="宋体" panose="02010600030101010101" pitchFamily="2" charset="-122"/>
            </a:endParaRPr>
          </a:p>
        </p:txBody>
      </p:sp>
      <p:graphicFrame>
        <p:nvGraphicFramePr>
          <p:cNvPr id="2" name="Group 153"/>
          <p:cNvGraphicFramePr>
            <a:graphicFrameLocks noGrp="1"/>
          </p:cNvGraphicFramePr>
          <p:nvPr/>
        </p:nvGraphicFramePr>
        <p:xfrm>
          <a:off x="52578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047" name="TextBox 10"/>
          <p:cNvSpPr txBox="1">
            <a:spLocks noChangeArrowheads="1"/>
          </p:cNvSpPr>
          <p:nvPr/>
        </p:nvSpPr>
        <p:spPr bwMode="auto">
          <a:xfrm>
            <a:off x="4252913" y="4433888"/>
            <a:ext cx="993775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B1, S0, Z2</a:t>
            </a:r>
            <a:endParaRPr lang="en-US" altLang="zh-CN" b="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3EF54F-29B6-4758-8FDC-BF7DCB6B8B50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399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Incognito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[LeFevre+ 05]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Lattice of domain vectors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2971800"/>
            <a:ext cx="4270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B0</a:t>
            </a:r>
            <a:endParaRPr lang="en-US" b="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286000"/>
            <a:ext cx="4270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B1</a:t>
            </a:r>
            <a:endParaRPr lang="en-US" b="0" dirty="0">
              <a:latin typeface="+mn-lt"/>
            </a:endParaRPr>
          </a:p>
        </p:txBody>
      </p:sp>
      <p:cxnSp>
        <p:nvCxnSpPr>
          <p:cNvPr id="39946" name="Straight Arrow Connector 8"/>
          <p:cNvCxnSpPr>
            <a:cxnSpLocks noChangeShapeType="1"/>
            <a:stCxn id="6" idx="0"/>
            <a:endCxn id="7" idx="2"/>
          </p:cNvCxnSpPr>
          <p:nvPr/>
        </p:nvCxnSpPr>
        <p:spPr bwMode="auto">
          <a:xfrm rot="5400000" flipH="1" flipV="1">
            <a:off x="2569369" y="2813844"/>
            <a:ext cx="3175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7" name="Group 11"/>
          <p:cNvGrpSpPr/>
          <p:nvPr/>
        </p:nvGrpSpPr>
        <p:grpSpPr bwMode="auto">
          <a:xfrm>
            <a:off x="1752600" y="2286000"/>
            <a:ext cx="407988" cy="1055688"/>
            <a:chOff x="1676400" y="2286000"/>
            <a:chExt cx="407484" cy="1055132"/>
          </a:xfrm>
        </p:grpSpPr>
        <p:sp>
          <p:nvSpPr>
            <p:cNvPr id="13" name="TextBox 12"/>
            <p:cNvSpPr txBox="1"/>
            <p:nvPr/>
          </p:nvSpPr>
          <p:spPr>
            <a:xfrm>
              <a:off x="1676400" y="2971439"/>
              <a:ext cx="407484" cy="3696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76400" y="2286000"/>
              <a:ext cx="407484" cy="3696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0003" name="Straight Arrow Connector 14"/>
            <p:cNvCxnSpPr>
              <a:cxnSpLocks noChangeShapeType="1"/>
              <a:stCxn id="13" idx="0"/>
              <a:endCxn id="14" idx="2"/>
            </p:cNvCxnSpPr>
            <p:nvPr/>
          </p:nvCxnSpPr>
          <p:spPr bwMode="auto">
            <a:xfrm rot="5400000" flipH="1" flipV="1">
              <a:off x="1721908" y="2813566"/>
              <a:ext cx="3164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948" name="Group 21"/>
          <p:cNvGrpSpPr/>
          <p:nvPr/>
        </p:nvGrpSpPr>
        <p:grpSpPr bwMode="auto">
          <a:xfrm>
            <a:off x="990600" y="2286000"/>
            <a:ext cx="409575" cy="1741488"/>
            <a:chOff x="2971800" y="2286000"/>
            <a:chExt cx="409086" cy="1740932"/>
          </a:xfrm>
        </p:grpSpPr>
        <p:sp>
          <p:nvSpPr>
            <p:cNvPr id="17" name="TextBox 16"/>
            <p:cNvSpPr txBox="1"/>
            <p:nvPr/>
          </p:nvSpPr>
          <p:spPr>
            <a:xfrm>
              <a:off x="2971800" y="2971581"/>
              <a:ext cx="409086" cy="3697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800" y="2286000"/>
              <a:ext cx="409086" cy="3697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Z2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39998" name="Straight Arrow Connector 18"/>
            <p:cNvCxnSpPr>
              <a:cxnSpLocks noChangeShapeType="1"/>
              <a:stCxn id="17" idx="0"/>
              <a:endCxn id="18" idx="2"/>
            </p:cNvCxnSpPr>
            <p:nvPr/>
          </p:nvCxnSpPr>
          <p:spPr bwMode="auto">
            <a:xfrm rot="5400000" flipH="1" flipV="1">
              <a:off x="3018109" y="2813566"/>
              <a:ext cx="3164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/>
            <p:nvPr/>
          </p:nvSpPr>
          <p:spPr>
            <a:xfrm>
              <a:off x="2971800" y="3657162"/>
              <a:ext cx="409086" cy="3697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Z0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0000" name="Straight Arrow Connector 20"/>
            <p:cNvCxnSpPr>
              <a:cxnSpLocks noChangeShapeType="1"/>
              <a:stCxn id="20" idx="0"/>
            </p:cNvCxnSpPr>
            <p:nvPr/>
          </p:nvCxnSpPr>
          <p:spPr bwMode="auto">
            <a:xfrm rot="16200000" flipV="1">
              <a:off x="3018503" y="3499760"/>
              <a:ext cx="315673" cy="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949" name="Group 47"/>
          <p:cNvGrpSpPr/>
          <p:nvPr/>
        </p:nvGrpSpPr>
        <p:grpSpPr bwMode="auto">
          <a:xfrm>
            <a:off x="1295400" y="3581400"/>
            <a:ext cx="2822575" cy="2427288"/>
            <a:chOff x="1676400" y="3657600"/>
            <a:chExt cx="2823212" cy="2426732"/>
          </a:xfrm>
        </p:grpSpPr>
        <p:sp>
          <p:nvSpPr>
            <p:cNvPr id="24" name="TextBox 23"/>
            <p:cNvSpPr txBox="1"/>
            <p:nvPr/>
          </p:nvSpPr>
          <p:spPr>
            <a:xfrm>
              <a:off x="2743441" y="5714529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76400" y="5105068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76400" y="4267060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10482" y="5105068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10482" y="4267060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43441" y="3657600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S1,Z2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39989" name="Straight Arrow Connector 31"/>
            <p:cNvCxnSpPr>
              <a:cxnSpLocks noChangeShapeType="1"/>
              <a:stCxn id="24" idx="1"/>
              <a:endCxn id="25" idx="2"/>
            </p:cNvCxnSpPr>
            <p:nvPr/>
          </p:nvCxnSpPr>
          <p:spPr bwMode="auto">
            <a:xfrm rot="10800000">
              <a:off x="2021206" y="5474732"/>
              <a:ext cx="721994" cy="4249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90" name="Straight Arrow Connector 33"/>
            <p:cNvCxnSpPr>
              <a:cxnSpLocks noChangeShapeType="1"/>
              <a:stCxn id="24" idx="3"/>
              <a:endCxn id="27" idx="2"/>
            </p:cNvCxnSpPr>
            <p:nvPr/>
          </p:nvCxnSpPr>
          <p:spPr bwMode="auto">
            <a:xfrm flipV="1">
              <a:off x="3432812" y="5474732"/>
              <a:ext cx="721994" cy="4249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91" name="Straight Arrow Connector 35"/>
            <p:cNvCxnSpPr>
              <a:cxnSpLocks noChangeShapeType="1"/>
              <a:stCxn id="25" idx="0"/>
              <a:endCxn id="26" idx="2"/>
            </p:cNvCxnSpPr>
            <p:nvPr/>
          </p:nvCxnSpPr>
          <p:spPr bwMode="auto">
            <a:xfrm rot="5400000" flipH="1" flipV="1">
              <a:off x="1786772" y="4870966"/>
              <a:ext cx="4688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92" name="Straight Arrow Connector 37"/>
            <p:cNvCxnSpPr>
              <a:cxnSpLocks noChangeShapeType="1"/>
              <a:stCxn id="27" idx="0"/>
              <a:endCxn id="28" idx="2"/>
            </p:cNvCxnSpPr>
            <p:nvPr/>
          </p:nvCxnSpPr>
          <p:spPr bwMode="auto">
            <a:xfrm rot="5400000" flipH="1" flipV="1">
              <a:off x="3920372" y="4870966"/>
              <a:ext cx="4688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93" name="Straight Arrow Connector 42"/>
            <p:cNvCxnSpPr>
              <a:cxnSpLocks noChangeShapeType="1"/>
              <a:stCxn id="26" idx="0"/>
              <a:endCxn id="29" idx="1"/>
            </p:cNvCxnSpPr>
            <p:nvPr/>
          </p:nvCxnSpPr>
          <p:spPr bwMode="auto">
            <a:xfrm rot="5400000" flipH="1" flipV="1">
              <a:off x="2169736" y="3693736"/>
              <a:ext cx="424934" cy="7219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94" name="Straight Arrow Connector 44"/>
            <p:cNvCxnSpPr>
              <a:cxnSpLocks noChangeShapeType="1"/>
              <a:stCxn id="28" idx="0"/>
              <a:endCxn id="29" idx="3"/>
            </p:cNvCxnSpPr>
            <p:nvPr/>
          </p:nvCxnSpPr>
          <p:spPr bwMode="auto">
            <a:xfrm rot="16200000" flipV="1">
              <a:off x="3581342" y="3693736"/>
              <a:ext cx="424934" cy="7219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95" name="Straight Arrow Connector 46"/>
            <p:cNvCxnSpPr>
              <a:cxnSpLocks noChangeShapeType="1"/>
              <a:stCxn id="27" idx="1"/>
              <a:endCxn id="26" idx="3"/>
            </p:cNvCxnSpPr>
            <p:nvPr/>
          </p:nvCxnSpPr>
          <p:spPr bwMode="auto">
            <a:xfrm rot="10800000">
              <a:off x="2366012" y="4451866"/>
              <a:ext cx="1443988" cy="838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950" name="Group 108"/>
          <p:cNvGrpSpPr/>
          <p:nvPr/>
        </p:nvGrpSpPr>
        <p:grpSpPr bwMode="auto">
          <a:xfrm>
            <a:off x="3886200" y="1981200"/>
            <a:ext cx="5027613" cy="3494088"/>
            <a:chOff x="3886200" y="1981200"/>
            <a:chExt cx="5027973" cy="3493532"/>
          </a:xfrm>
        </p:grpSpPr>
        <p:sp>
          <p:nvSpPr>
            <p:cNvPr id="49" name="TextBox 48"/>
            <p:cNvSpPr txBox="1"/>
            <p:nvPr/>
          </p:nvSpPr>
          <p:spPr>
            <a:xfrm>
              <a:off x="5867542" y="5104903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B0,S0,Z0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67542" y="4343024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B0,S1,Z0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239240" y="4343024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B0,S0,Z1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19638" y="4343024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B1,S0,Z0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867542" y="2743079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B1,S0,Z2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39240" y="2743079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B0,S1,Z2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19638" y="2743079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B1,S1,Z1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67542" y="1981200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B1,S1,Z2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886200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B1,S1,Z0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57898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B1,S0,Z1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553391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B0,S1,Z1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925089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B0,S0,Z2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39963" name="Straight Arrow Connector 61"/>
            <p:cNvCxnSpPr>
              <a:cxnSpLocks noChangeShapeType="1"/>
              <a:stCxn id="49" idx="1"/>
              <a:endCxn id="52" idx="2"/>
            </p:cNvCxnSpPr>
            <p:nvPr/>
          </p:nvCxnSpPr>
          <p:spPr bwMode="auto">
            <a:xfrm rot="10800000">
              <a:off x="4914288" y="4712732"/>
              <a:ext cx="953113" cy="5773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4" name="Straight Arrow Connector 63"/>
            <p:cNvCxnSpPr>
              <a:cxnSpLocks noChangeShapeType="1"/>
              <a:stCxn id="49" idx="0"/>
              <a:endCxn id="50" idx="2"/>
            </p:cNvCxnSpPr>
            <p:nvPr/>
          </p:nvCxnSpPr>
          <p:spPr bwMode="auto">
            <a:xfrm rot="5400000" flipH="1" flipV="1">
              <a:off x="6165753" y="4909066"/>
              <a:ext cx="3926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5" name="Straight Arrow Connector 65"/>
            <p:cNvCxnSpPr>
              <a:cxnSpLocks noChangeShapeType="1"/>
              <a:stCxn id="49" idx="3"/>
              <a:endCxn id="51" idx="2"/>
            </p:cNvCxnSpPr>
            <p:nvPr/>
          </p:nvCxnSpPr>
          <p:spPr bwMode="auto">
            <a:xfrm flipV="1">
              <a:off x="6856773" y="4712732"/>
              <a:ext cx="876914" cy="5773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6" name="Straight Arrow Connector 67"/>
            <p:cNvCxnSpPr>
              <a:cxnSpLocks noChangeShapeType="1"/>
              <a:stCxn id="52" idx="0"/>
              <a:endCxn id="57" idx="2"/>
            </p:cNvCxnSpPr>
            <p:nvPr/>
          </p:nvCxnSpPr>
          <p:spPr bwMode="auto">
            <a:xfrm rot="16200000" flipV="1">
              <a:off x="4451253" y="3880366"/>
              <a:ext cx="392668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7" name="Straight Arrow Connector 73"/>
            <p:cNvCxnSpPr>
              <a:cxnSpLocks noChangeShapeType="1"/>
              <a:stCxn id="52" idx="0"/>
              <a:endCxn id="58" idx="2"/>
            </p:cNvCxnSpPr>
            <p:nvPr/>
          </p:nvCxnSpPr>
          <p:spPr bwMode="auto">
            <a:xfrm rot="5400000" flipH="1" flipV="1">
              <a:off x="5137053" y="3727966"/>
              <a:ext cx="392668" cy="838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8" name="Straight Arrow Connector 75"/>
            <p:cNvCxnSpPr>
              <a:cxnSpLocks noChangeShapeType="1"/>
              <a:stCxn id="50" idx="0"/>
              <a:endCxn id="57" idx="2"/>
            </p:cNvCxnSpPr>
            <p:nvPr/>
          </p:nvCxnSpPr>
          <p:spPr bwMode="auto">
            <a:xfrm rot="16200000" flipV="1">
              <a:off x="5175153" y="3156466"/>
              <a:ext cx="392668" cy="1981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9" name="Straight Arrow Connector 77"/>
            <p:cNvCxnSpPr>
              <a:cxnSpLocks noChangeShapeType="1"/>
              <a:stCxn id="50" idx="0"/>
              <a:endCxn id="59" idx="2"/>
            </p:cNvCxnSpPr>
            <p:nvPr/>
          </p:nvCxnSpPr>
          <p:spPr bwMode="auto">
            <a:xfrm rot="5400000" flipH="1" flipV="1">
              <a:off x="6508653" y="3804166"/>
              <a:ext cx="3926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0" name="Straight Arrow Connector 81"/>
            <p:cNvCxnSpPr>
              <a:cxnSpLocks noChangeShapeType="1"/>
              <a:stCxn id="51" idx="0"/>
              <a:endCxn id="60" idx="2"/>
            </p:cNvCxnSpPr>
            <p:nvPr/>
          </p:nvCxnSpPr>
          <p:spPr bwMode="auto">
            <a:xfrm rot="5400000" flipH="1" flipV="1">
              <a:off x="7880253" y="3804166"/>
              <a:ext cx="3926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1" name="Straight Arrow Connector 83"/>
            <p:cNvCxnSpPr>
              <a:cxnSpLocks noChangeShapeType="1"/>
              <a:stCxn id="51" idx="0"/>
              <a:endCxn id="59" idx="2"/>
            </p:cNvCxnSpPr>
            <p:nvPr/>
          </p:nvCxnSpPr>
          <p:spPr bwMode="auto">
            <a:xfrm rot="16200000" flipV="1">
              <a:off x="7194453" y="3804166"/>
              <a:ext cx="3926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2" name="Straight Arrow Connector 85"/>
            <p:cNvCxnSpPr>
              <a:cxnSpLocks noChangeShapeType="1"/>
              <a:stCxn id="51" idx="0"/>
              <a:endCxn id="58" idx="2"/>
            </p:cNvCxnSpPr>
            <p:nvPr/>
          </p:nvCxnSpPr>
          <p:spPr bwMode="auto">
            <a:xfrm rot="16200000" flipV="1">
              <a:off x="6546753" y="3156466"/>
              <a:ext cx="392668" cy="1981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3" name="Straight Arrow Connector 87"/>
            <p:cNvCxnSpPr>
              <a:cxnSpLocks noChangeShapeType="1"/>
              <a:stCxn id="57" idx="0"/>
              <a:endCxn id="55" idx="2"/>
            </p:cNvCxnSpPr>
            <p:nvPr/>
          </p:nvCxnSpPr>
          <p:spPr bwMode="auto">
            <a:xfrm rot="5400000" flipH="1" flipV="1">
              <a:off x="4413153" y="3080266"/>
              <a:ext cx="468868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4" name="Straight Arrow Connector 89"/>
            <p:cNvCxnSpPr>
              <a:cxnSpLocks noChangeShapeType="1"/>
              <a:stCxn id="58" idx="0"/>
              <a:endCxn id="55" idx="2"/>
            </p:cNvCxnSpPr>
            <p:nvPr/>
          </p:nvCxnSpPr>
          <p:spPr bwMode="auto">
            <a:xfrm rot="16200000" flipV="1">
              <a:off x="5098953" y="2927866"/>
              <a:ext cx="468868" cy="838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5" name="Straight Arrow Connector 91"/>
            <p:cNvCxnSpPr>
              <a:cxnSpLocks noChangeShapeType="1"/>
              <a:stCxn id="58" idx="0"/>
              <a:endCxn id="53" idx="2"/>
            </p:cNvCxnSpPr>
            <p:nvPr/>
          </p:nvCxnSpPr>
          <p:spPr bwMode="auto">
            <a:xfrm rot="5400000" flipH="1" flipV="1">
              <a:off x="5822853" y="3042166"/>
              <a:ext cx="468868" cy="609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6" name="Straight Arrow Connector 93"/>
            <p:cNvCxnSpPr>
              <a:cxnSpLocks noChangeShapeType="1"/>
              <a:stCxn id="59" idx="0"/>
              <a:endCxn id="54" idx="2"/>
            </p:cNvCxnSpPr>
            <p:nvPr/>
          </p:nvCxnSpPr>
          <p:spPr bwMode="auto">
            <a:xfrm rot="5400000" flipH="1" flipV="1">
              <a:off x="7156353" y="3004066"/>
              <a:ext cx="4688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7" name="Straight Arrow Connector 95"/>
            <p:cNvCxnSpPr>
              <a:cxnSpLocks noChangeShapeType="1"/>
              <a:stCxn id="59" idx="0"/>
              <a:endCxn id="55" idx="2"/>
            </p:cNvCxnSpPr>
            <p:nvPr/>
          </p:nvCxnSpPr>
          <p:spPr bwMode="auto">
            <a:xfrm rot="16200000" flipV="1">
              <a:off x="5746653" y="2280166"/>
              <a:ext cx="468868" cy="2133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8" name="Straight Arrow Connector 97"/>
            <p:cNvCxnSpPr>
              <a:cxnSpLocks noChangeShapeType="1"/>
              <a:stCxn id="60" idx="0"/>
              <a:endCxn id="54" idx="2"/>
            </p:cNvCxnSpPr>
            <p:nvPr/>
          </p:nvCxnSpPr>
          <p:spPr bwMode="auto">
            <a:xfrm rot="16200000" flipV="1">
              <a:off x="7842153" y="3004066"/>
              <a:ext cx="4688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9" name="Straight Arrow Connector 101"/>
            <p:cNvCxnSpPr>
              <a:cxnSpLocks noChangeShapeType="1"/>
            </p:cNvCxnSpPr>
            <p:nvPr/>
          </p:nvCxnSpPr>
          <p:spPr bwMode="auto">
            <a:xfrm rot="10800000">
              <a:off x="6362088" y="3112532"/>
              <a:ext cx="1867513" cy="46886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0" name="Straight Arrow Connector 103"/>
            <p:cNvCxnSpPr>
              <a:cxnSpLocks noChangeShapeType="1"/>
              <a:stCxn id="55" idx="0"/>
              <a:endCxn id="56" idx="2"/>
            </p:cNvCxnSpPr>
            <p:nvPr/>
          </p:nvCxnSpPr>
          <p:spPr bwMode="auto">
            <a:xfrm rot="5400000" flipH="1" flipV="1">
              <a:off x="5441853" y="1822966"/>
              <a:ext cx="392668" cy="1447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1" name="Straight Arrow Connector 105"/>
            <p:cNvCxnSpPr>
              <a:cxnSpLocks noChangeShapeType="1"/>
              <a:stCxn id="53" idx="0"/>
              <a:endCxn id="56" idx="2"/>
            </p:cNvCxnSpPr>
            <p:nvPr/>
          </p:nvCxnSpPr>
          <p:spPr bwMode="auto">
            <a:xfrm rot="5400000" flipH="1" flipV="1">
              <a:off x="6165753" y="2546866"/>
              <a:ext cx="3926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2" name="Straight Arrow Connector 107"/>
            <p:cNvCxnSpPr>
              <a:cxnSpLocks noChangeShapeType="1"/>
              <a:stCxn id="54" idx="0"/>
              <a:endCxn id="56" idx="2"/>
            </p:cNvCxnSpPr>
            <p:nvPr/>
          </p:nvCxnSpPr>
          <p:spPr bwMode="auto">
            <a:xfrm rot="16200000" flipV="1">
              <a:off x="6851553" y="1861066"/>
              <a:ext cx="392668" cy="1371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668270-0556-4F3B-A9E2-3E4CC7F35898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09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Incognito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[LeFevre+ 05]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Lattice of domain vectors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2971800"/>
            <a:ext cx="4270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B0</a:t>
            </a:r>
            <a:endParaRPr lang="en-US" b="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286000"/>
            <a:ext cx="4270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B1</a:t>
            </a:r>
            <a:endParaRPr lang="en-US" b="0" dirty="0">
              <a:latin typeface="+mn-lt"/>
            </a:endParaRPr>
          </a:p>
        </p:txBody>
      </p:sp>
      <p:cxnSp>
        <p:nvCxnSpPr>
          <p:cNvPr id="40970" name="Straight Arrow Connector 8"/>
          <p:cNvCxnSpPr>
            <a:cxnSpLocks noChangeShapeType="1"/>
            <a:stCxn id="6" idx="0"/>
            <a:endCxn id="7" idx="2"/>
          </p:cNvCxnSpPr>
          <p:nvPr/>
        </p:nvCxnSpPr>
        <p:spPr bwMode="auto">
          <a:xfrm rot="5400000" flipH="1" flipV="1">
            <a:off x="2569369" y="2813844"/>
            <a:ext cx="3175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0971" name="Group 11"/>
          <p:cNvGrpSpPr/>
          <p:nvPr/>
        </p:nvGrpSpPr>
        <p:grpSpPr bwMode="auto">
          <a:xfrm>
            <a:off x="1752600" y="2286000"/>
            <a:ext cx="407988" cy="1055688"/>
            <a:chOff x="1676400" y="2286000"/>
            <a:chExt cx="407484" cy="1055132"/>
          </a:xfrm>
        </p:grpSpPr>
        <p:sp>
          <p:nvSpPr>
            <p:cNvPr id="13" name="TextBox 12"/>
            <p:cNvSpPr txBox="1"/>
            <p:nvPr/>
          </p:nvSpPr>
          <p:spPr>
            <a:xfrm>
              <a:off x="1676400" y="2971439"/>
              <a:ext cx="407484" cy="3696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76400" y="2286000"/>
              <a:ext cx="407484" cy="3696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1048" name="Straight Arrow Connector 14"/>
            <p:cNvCxnSpPr>
              <a:cxnSpLocks noChangeShapeType="1"/>
              <a:stCxn id="13" idx="0"/>
              <a:endCxn id="14" idx="2"/>
            </p:cNvCxnSpPr>
            <p:nvPr/>
          </p:nvCxnSpPr>
          <p:spPr bwMode="auto">
            <a:xfrm rot="5400000" flipH="1" flipV="1">
              <a:off x="1721908" y="2813566"/>
              <a:ext cx="3164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972" name="Group 21"/>
          <p:cNvGrpSpPr/>
          <p:nvPr/>
        </p:nvGrpSpPr>
        <p:grpSpPr bwMode="auto">
          <a:xfrm>
            <a:off x="990600" y="2286000"/>
            <a:ext cx="409575" cy="1741488"/>
            <a:chOff x="2971800" y="2286000"/>
            <a:chExt cx="409086" cy="1740932"/>
          </a:xfrm>
        </p:grpSpPr>
        <p:sp>
          <p:nvSpPr>
            <p:cNvPr id="17" name="TextBox 16"/>
            <p:cNvSpPr txBox="1"/>
            <p:nvPr/>
          </p:nvSpPr>
          <p:spPr>
            <a:xfrm>
              <a:off x="2971800" y="2971581"/>
              <a:ext cx="409086" cy="3697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800" y="2286000"/>
              <a:ext cx="409086" cy="3697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Z2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1043" name="Straight Arrow Connector 18"/>
            <p:cNvCxnSpPr>
              <a:cxnSpLocks noChangeShapeType="1"/>
              <a:stCxn id="17" idx="0"/>
              <a:endCxn id="18" idx="2"/>
            </p:cNvCxnSpPr>
            <p:nvPr/>
          </p:nvCxnSpPr>
          <p:spPr bwMode="auto">
            <a:xfrm rot="5400000" flipH="1" flipV="1">
              <a:off x="3018109" y="2813566"/>
              <a:ext cx="3164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/>
            <p:nvPr/>
          </p:nvSpPr>
          <p:spPr>
            <a:xfrm>
              <a:off x="2971800" y="3657162"/>
              <a:ext cx="409086" cy="3697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Z0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1045" name="Straight Arrow Connector 20"/>
            <p:cNvCxnSpPr>
              <a:cxnSpLocks noChangeShapeType="1"/>
              <a:stCxn id="20" idx="0"/>
            </p:cNvCxnSpPr>
            <p:nvPr/>
          </p:nvCxnSpPr>
          <p:spPr bwMode="auto">
            <a:xfrm rot="16200000" flipV="1">
              <a:off x="3018503" y="3499760"/>
              <a:ext cx="315673" cy="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973" name="Group 47"/>
          <p:cNvGrpSpPr/>
          <p:nvPr/>
        </p:nvGrpSpPr>
        <p:grpSpPr bwMode="auto">
          <a:xfrm>
            <a:off x="1295400" y="3581400"/>
            <a:ext cx="2822575" cy="2427288"/>
            <a:chOff x="1676400" y="3657600"/>
            <a:chExt cx="2823212" cy="2426732"/>
          </a:xfrm>
        </p:grpSpPr>
        <p:sp>
          <p:nvSpPr>
            <p:cNvPr id="24" name="TextBox 23"/>
            <p:cNvSpPr txBox="1"/>
            <p:nvPr/>
          </p:nvSpPr>
          <p:spPr>
            <a:xfrm>
              <a:off x="2743441" y="5714529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76400" y="5105068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76400" y="4267060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10482" y="5105068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10482" y="4267060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S0,Z2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43441" y="3657600"/>
              <a:ext cx="689130" cy="369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S1,Z2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1034" name="Straight Arrow Connector 31"/>
            <p:cNvCxnSpPr>
              <a:cxnSpLocks noChangeShapeType="1"/>
              <a:stCxn id="24" idx="1"/>
              <a:endCxn id="25" idx="2"/>
            </p:cNvCxnSpPr>
            <p:nvPr/>
          </p:nvCxnSpPr>
          <p:spPr bwMode="auto">
            <a:xfrm rot="10800000">
              <a:off x="2021206" y="5474732"/>
              <a:ext cx="721994" cy="4249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35" name="Straight Arrow Connector 33"/>
            <p:cNvCxnSpPr>
              <a:cxnSpLocks noChangeShapeType="1"/>
              <a:stCxn id="24" idx="3"/>
              <a:endCxn id="27" idx="2"/>
            </p:cNvCxnSpPr>
            <p:nvPr/>
          </p:nvCxnSpPr>
          <p:spPr bwMode="auto">
            <a:xfrm flipV="1">
              <a:off x="3432812" y="5474732"/>
              <a:ext cx="721994" cy="4249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36" name="Straight Arrow Connector 35"/>
            <p:cNvCxnSpPr>
              <a:cxnSpLocks noChangeShapeType="1"/>
              <a:stCxn id="25" idx="0"/>
              <a:endCxn id="26" idx="2"/>
            </p:cNvCxnSpPr>
            <p:nvPr/>
          </p:nvCxnSpPr>
          <p:spPr bwMode="auto">
            <a:xfrm rot="5400000" flipH="1" flipV="1">
              <a:off x="1786772" y="4870966"/>
              <a:ext cx="4688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37" name="Straight Arrow Connector 37"/>
            <p:cNvCxnSpPr>
              <a:cxnSpLocks noChangeShapeType="1"/>
              <a:stCxn id="27" idx="0"/>
              <a:endCxn id="28" idx="2"/>
            </p:cNvCxnSpPr>
            <p:nvPr/>
          </p:nvCxnSpPr>
          <p:spPr bwMode="auto">
            <a:xfrm rot="5400000" flipH="1" flipV="1">
              <a:off x="3920372" y="4870966"/>
              <a:ext cx="4688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38" name="Straight Arrow Connector 42"/>
            <p:cNvCxnSpPr>
              <a:cxnSpLocks noChangeShapeType="1"/>
              <a:stCxn id="26" idx="0"/>
              <a:endCxn id="29" idx="1"/>
            </p:cNvCxnSpPr>
            <p:nvPr/>
          </p:nvCxnSpPr>
          <p:spPr bwMode="auto">
            <a:xfrm rot="5400000" flipH="1" flipV="1">
              <a:off x="2169736" y="3693736"/>
              <a:ext cx="424934" cy="7219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39" name="Straight Arrow Connector 44"/>
            <p:cNvCxnSpPr>
              <a:cxnSpLocks noChangeShapeType="1"/>
              <a:stCxn id="28" idx="0"/>
              <a:endCxn id="29" idx="3"/>
            </p:cNvCxnSpPr>
            <p:nvPr/>
          </p:nvCxnSpPr>
          <p:spPr bwMode="auto">
            <a:xfrm rot="16200000" flipV="1">
              <a:off x="3581342" y="3693736"/>
              <a:ext cx="424934" cy="7219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40" name="Straight Arrow Connector 46"/>
            <p:cNvCxnSpPr>
              <a:cxnSpLocks noChangeShapeType="1"/>
              <a:stCxn id="27" idx="1"/>
              <a:endCxn id="26" idx="3"/>
            </p:cNvCxnSpPr>
            <p:nvPr/>
          </p:nvCxnSpPr>
          <p:spPr bwMode="auto">
            <a:xfrm rot="10800000">
              <a:off x="2366012" y="4451866"/>
              <a:ext cx="1443988" cy="838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974" name="Group 108"/>
          <p:cNvGrpSpPr/>
          <p:nvPr/>
        </p:nvGrpSpPr>
        <p:grpSpPr bwMode="auto">
          <a:xfrm>
            <a:off x="3886200" y="1981200"/>
            <a:ext cx="5027613" cy="3494088"/>
            <a:chOff x="3886200" y="1981200"/>
            <a:chExt cx="5027973" cy="3493532"/>
          </a:xfrm>
        </p:grpSpPr>
        <p:sp>
          <p:nvSpPr>
            <p:cNvPr id="49" name="TextBox 48"/>
            <p:cNvSpPr txBox="1"/>
            <p:nvPr/>
          </p:nvSpPr>
          <p:spPr>
            <a:xfrm>
              <a:off x="5867542" y="5104903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B0,S0,Z0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67542" y="4343024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B0,S1,Z0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239240" y="4343024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B0,S0,Z1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19638" y="4343024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B1,S0,Z0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867542" y="2743079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B1,S0,Z2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39240" y="2743079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B0,S1,Z2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19638" y="2743079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B1,S1,Z1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67542" y="1981200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B1,S1,Z2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886200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B1,S1,Z0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57898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B1,S0,Z1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553391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B0,S1,Z1</a:t>
              </a:r>
              <a:endParaRPr lang="en-US" b="0" dirty="0">
                <a:latin typeface="+mn-lt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925089" y="3581145"/>
              <a:ext cx="989084" cy="3698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latin typeface="+mn-lt"/>
                </a:rPr>
                <a:t>B0,S0,Z2</a:t>
              </a:r>
              <a:endParaRPr lang="en-US" b="0" dirty="0">
                <a:latin typeface="+mn-lt"/>
              </a:endParaRPr>
            </a:p>
          </p:txBody>
        </p:sp>
        <p:cxnSp>
          <p:nvCxnSpPr>
            <p:cNvPr id="41008" name="Straight Arrow Connector 61"/>
            <p:cNvCxnSpPr>
              <a:cxnSpLocks noChangeShapeType="1"/>
              <a:stCxn id="49" idx="1"/>
              <a:endCxn id="52" idx="2"/>
            </p:cNvCxnSpPr>
            <p:nvPr/>
          </p:nvCxnSpPr>
          <p:spPr bwMode="auto">
            <a:xfrm rot="10800000">
              <a:off x="4914288" y="4712732"/>
              <a:ext cx="953113" cy="5773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09" name="Straight Arrow Connector 63"/>
            <p:cNvCxnSpPr>
              <a:cxnSpLocks noChangeShapeType="1"/>
              <a:stCxn id="49" idx="0"/>
              <a:endCxn id="50" idx="2"/>
            </p:cNvCxnSpPr>
            <p:nvPr/>
          </p:nvCxnSpPr>
          <p:spPr bwMode="auto">
            <a:xfrm rot="5400000" flipH="1" flipV="1">
              <a:off x="6165753" y="4909066"/>
              <a:ext cx="3926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0" name="Straight Arrow Connector 65"/>
            <p:cNvCxnSpPr>
              <a:cxnSpLocks noChangeShapeType="1"/>
              <a:stCxn id="49" idx="3"/>
              <a:endCxn id="51" idx="2"/>
            </p:cNvCxnSpPr>
            <p:nvPr/>
          </p:nvCxnSpPr>
          <p:spPr bwMode="auto">
            <a:xfrm flipV="1">
              <a:off x="6856773" y="4712732"/>
              <a:ext cx="876914" cy="57733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1" name="Straight Arrow Connector 67"/>
            <p:cNvCxnSpPr>
              <a:cxnSpLocks noChangeShapeType="1"/>
              <a:stCxn id="52" idx="0"/>
              <a:endCxn id="57" idx="2"/>
            </p:cNvCxnSpPr>
            <p:nvPr/>
          </p:nvCxnSpPr>
          <p:spPr bwMode="auto">
            <a:xfrm rot="16200000" flipV="1">
              <a:off x="4451253" y="3880366"/>
              <a:ext cx="392668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2" name="Straight Arrow Connector 73"/>
            <p:cNvCxnSpPr>
              <a:cxnSpLocks noChangeShapeType="1"/>
              <a:stCxn id="52" idx="0"/>
              <a:endCxn id="58" idx="2"/>
            </p:cNvCxnSpPr>
            <p:nvPr/>
          </p:nvCxnSpPr>
          <p:spPr bwMode="auto">
            <a:xfrm rot="5400000" flipH="1" flipV="1">
              <a:off x="5137053" y="3727966"/>
              <a:ext cx="392668" cy="838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3" name="Straight Arrow Connector 75"/>
            <p:cNvCxnSpPr>
              <a:cxnSpLocks noChangeShapeType="1"/>
              <a:stCxn id="50" idx="0"/>
              <a:endCxn id="57" idx="2"/>
            </p:cNvCxnSpPr>
            <p:nvPr/>
          </p:nvCxnSpPr>
          <p:spPr bwMode="auto">
            <a:xfrm rot="16200000" flipV="1">
              <a:off x="5175153" y="3156466"/>
              <a:ext cx="392668" cy="1981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4" name="Straight Arrow Connector 77"/>
            <p:cNvCxnSpPr>
              <a:cxnSpLocks noChangeShapeType="1"/>
              <a:stCxn id="50" idx="0"/>
              <a:endCxn id="59" idx="2"/>
            </p:cNvCxnSpPr>
            <p:nvPr/>
          </p:nvCxnSpPr>
          <p:spPr bwMode="auto">
            <a:xfrm rot="5400000" flipH="1" flipV="1">
              <a:off x="6508653" y="3804166"/>
              <a:ext cx="3926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5" name="Straight Arrow Connector 81"/>
            <p:cNvCxnSpPr>
              <a:cxnSpLocks noChangeShapeType="1"/>
              <a:stCxn id="51" idx="0"/>
              <a:endCxn id="60" idx="2"/>
            </p:cNvCxnSpPr>
            <p:nvPr/>
          </p:nvCxnSpPr>
          <p:spPr bwMode="auto">
            <a:xfrm rot="5400000" flipH="1" flipV="1">
              <a:off x="7880253" y="3804166"/>
              <a:ext cx="3926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6" name="Straight Arrow Connector 83"/>
            <p:cNvCxnSpPr>
              <a:cxnSpLocks noChangeShapeType="1"/>
              <a:stCxn id="51" idx="0"/>
              <a:endCxn id="59" idx="2"/>
            </p:cNvCxnSpPr>
            <p:nvPr/>
          </p:nvCxnSpPr>
          <p:spPr bwMode="auto">
            <a:xfrm rot="16200000" flipV="1">
              <a:off x="7194453" y="3804166"/>
              <a:ext cx="3926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7" name="Straight Arrow Connector 85"/>
            <p:cNvCxnSpPr>
              <a:cxnSpLocks noChangeShapeType="1"/>
              <a:stCxn id="51" idx="0"/>
              <a:endCxn id="58" idx="2"/>
            </p:cNvCxnSpPr>
            <p:nvPr/>
          </p:nvCxnSpPr>
          <p:spPr bwMode="auto">
            <a:xfrm rot="16200000" flipV="1">
              <a:off x="6546753" y="3156466"/>
              <a:ext cx="392668" cy="1981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8" name="Straight Arrow Connector 87"/>
            <p:cNvCxnSpPr>
              <a:cxnSpLocks noChangeShapeType="1"/>
              <a:stCxn id="57" idx="0"/>
              <a:endCxn id="55" idx="2"/>
            </p:cNvCxnSpPr>
            <p:nvPr/>
          </p:nvCxnSpPr>
          <p:spPr bwMode="auto">
            <a:xfrm rot="5400000" flipH="1" flipV="1">
              <a:off x="4413153" y="3080266"/>
              <a:ext cx="468868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19" name="Straight Arrow Connector 89"/>
            <p:cNvCxnSpPr>
              <a:cxnSpLocks noChangeShapeType="1"/>
              <a:stCxn id="58" idx="0"/>
              <a:endCxn id="55" idx="2"/>
            </p:cNvCxnSpPr>
            <p:nvPr/>
          </p:nvCxnSpPr>
          <p:spPr bwMode="auto">
            <a:xfrm rot="16200000" flipV="1">
              <a:off x="5098953" y="2927866"/>
              <a:ext cx="468868" cy="838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0" name="Straight Arrow Connector 91"/>
            <p:cNvCxnSpPr>
              <a:cxnSpLocks noChangeShapeType="1"/>
              <a:stCxn id="58" idx="0"/>
              <a:endCxn id="53" idx="2"/>
            </p:cNvCxnSpPr>
            <p:nvPr/>
          </p:nvCxnSpPr>
          <p:spPr bwMode="auto">
            <a:xfrm rot="5400000" flipH="1" flipV="1">
              <a:off x="5822853" y="3042166"/>
              <a:ext cx="468868" cy="609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1" name="Straight Arrow Connector 93"/>
            <p:cNvCxnSpPr>
              <a:cxnSpLocks noChangeShapeType="1"/>
              <a:stCxn id="59" idx="0"/>
              <a:endCxn id="54" idx="2"/>
            </p:cNvCxnSpPr>
            <p:nvPr/>
          </p:nvCxnSpPr>
          <p:spPr bwMode="auto">
            <a:xfrm rot="5400000" flipH="1" flipV="1">
              <a:off x="7156353" y="3004066"/>
              <a:ext cx="4688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2" name="Straight Arrow Connector 95"/>
            <p:cNvCxnSpPr>
              <a:cxnSpLocks noChangeShapeType="1"/>
              <a:stCxn id="59" idx="0"/>
              <a:endCxn id="55" idx="2"/>
            </p:cNvCxnSpPr>
            <p:nvPr/>
          </p:nvCxnSpPr>
          <p:spPr bwMode="auto">
            <a:xfrm rot="16200000" flipV="1">
              <a:off x="5746653" y="2280166"/>
              <a:ext cx="468868" cy="2133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3" name="Straight Arrow Connector 97"/>
            <p:cNvCxnSpPr>
              <a:cxnSpLocks noChangeShapeType="1"/>
              <a:stCxn id="60" idx="0"/>
              <a:endCxn id="54" idx="2"/>
            </p:cNvCxnSpPr>
            <p:nvPr/>
          </p:nvCxnSpPr>
          <p:spPr bwMode="auto">
            <a:xfrm rot="16200000" flipV="1">
              <a:off x="7842153" y="3004066"/>
              <a:ext cx="468868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4" name="Straight Arrow Connector 101"/>
            <p:cNvCxnSpPr>
              <a:cxnSpLocks noChangeShapeType="1"/>
            </p:cNvCxnSpPr>
            <p:nvPr/>
          </p:nvCxnSpPr>
          <p:spPr bwMode="auto">
            <a:xfrm rot="10800000">
              <a:off x="6362088" y="3112532"/>
              <a:ext cx="1867513" cy="46886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5" name="Straight Arrow Connector 103"/>
            <p:cNvCxnSpPr>
              <a:cxnSpLocks noChangeShapeType="1"/>
              <a:stCxn id="55" idx="0"/>
              <a:endCxn id="56" idx="2"/>
            </p:cNvCxnSpPr>
            <p:nvPr/>
          </p:nvCxnSpPr>
          <p:spPr bwMode="auto">
            <a:xfrm rot="5400000" flipH="1" flipV="1">
              <a:off x="5441853" y="1822966"/>
              <a:ext cx="392668" cy="1447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6" name="Straight Arrow Connector 105"/>
            <p:cNvCxnSpPr>
              <a:cxnSpLocks noChangeShapeType="1"/>
              <a:stCxn id="53" idx="0"/>
              <a:endCxn id="56" idx="2"/>
            </p:cNvCxnSpPr>
            <p:nvPr/>
          </p:nvCxnSpPr>
          <p:spPr bwMode="auto">
            <a:xfrm rot="5400000" flipH="1" flipV="1">
              <a:off x="6165753" y="2546866"/>
              <a:ext cx="39266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27" name="Straight Arrow Connector 107"/>
            <p:cNvCxnSpPr>
              <a:cxnSpLocks noChangeShapeType="1"/>
              <a:stCxn id="54" idx="0"/>
              <a:endCxn id="56" idx="2"/>
            </p:cNvCxnSpPr>
            <p:nvPr/>
          </p:nvCxnSpPr>
          <p:spPr bwMode="auto">
            <a:xfrm rot="16200000" flipV="1">
              <a:off x="6851553" y="1861066"/>
              <a:ext cx="392668" cy="1371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0975" name="Oval 66"/>
          <p:cNvSpPr>
            <a:spLocks noChangeArrowheads="1"/>
          </p:cNvSpPr>
          <p:nvPr/>
        </p:nvSpPr>
        <p:spPr bwMode="auto">
          <a:xfrm>
            <a:off x="838200" y="3657600"/>
            <a:ext cx="685800" cy="381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sp>
        <p:nvSpPr>
          <p:cNvPr id="40976" name="Oval 68"/>
          <p:cNvSpPr>
            <a:spLocks noChangeArrowheads="1"/>
          </p:cNvSpPr>
          <p:nvPr/>
        </p:nvSpPr>
        <p:spPr bwMode="auto">
          <a:xfrm>
            <a:off x="838200" y="2971800"/>
            <a:ext cx="685800" cy="381000"/>
          </a:xfrm>
          <a:prstGeom prst="ellipse">
            <a:avLst/>
          </a:prstGeom>
          <a:noFill/>
          <a:ln w="9525" algn="ctr">
            <a:solidFill>
              <a:srgbClr val="33CC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sp>
        <p:nvSpPr>
          <p:cNvPr id="40977" name="Oval 71"/>
          <p:cNvSpPr>
            <a:spLocks noChangeArrowheads="1"/>
          </p:cNvSpPr>
          <p:nvPr/>
        </p:nvSpPr>
        <p:spPr bwMode="auto">
          <a:xfrm>
            <a:off x="838200" y="2286000"/>
            <a:ext cx="685800" cy="381000"/>
          </a:xfrm>
          <a:prstGeom prst="ellipse">
            <a:avLst/>
          </a:prstGeom>
          <a:noFill/>
          <a:ln w="9525" algn="ctr">
            <a:solidFill>
              <a:srgbClr val="33CC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sp>
        <p:nvSpPr>
          <p:cNvPr id="40978" name="Oval 72"/>
          <p:cNvSpPr>
            <a:spLocks noChangeArrowheads="1"/>
          </p:cNvSpPr>
          <p:nvPr/>
        </p:nvSpPr>
        <p:spPr bwMode="auto">
          <a:xfrm>
            <a:off x="1600200" y="2971800"/>
            <a:ext cx="685800" cy="381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sp>
        <p:nvSpPr>
          <p:cNvPr id="40979" name="Oval 74"/>
          <p:cNvSpPr>
            <a:spLocks noChangeArrowheads="1"/>
          </p:cNvSpPr>
          <p:nvPr/>
        </p:nvSpPr>
        <p:spPr bwMode="auto">
          <a:xfrm>
            <a:off x="2362200" y="2971800"/>
            <a:ext cx="685800" cy="381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sp>
        <p:nvSpPr>
          <p:cNvPr id="40980" name="Oval 76"/>
          <p:cNvSpPr>
            <a:spLocks noChangeArrowheads="1"/>
          </p:cNvSpPr>
          <p:nvPr/>
        </p:nvSpPr>
        <p:spPr bwMode="auto">
          <a:xfrm>
            <a:off x="1600200" y="2286000"/>
            <a:ext cx="685800" cy="381000"/>
          </a:xfrm>
          <a:prstGeom prst="ellipse">
            <a:avLst/>
          </a:prstGeom>
          <a:noFill/>
          <a:ln w="9525" algn="ctr">
            <a:solidFill>
              <a:srgbClr val="33CC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sp>
        <p:nvSpPr>
          <p:cNvPr id="40981" name="Oval 78"/>
          <p:cNvSpPr>
            <a:spLocks noChangeArrowheads="1"/>
          </p:cNvSpPr>
          <p:nvPr/>
        </p:nvSpPr>
        <p:spPr bwMode="auto">
          <a:xfrm>
            <a:off x="2362200" y="2286000"/>
            <a:ext cx="685800" cy="381000"/>
          </a:xfrm>
          <a:prstGeom prst="ellipse">
            <a:avLst/>
          </a:prstGeom>
          <a:noFill/>
          <a:ln w="9525" algn="ctr">
            <a:solidFill>
              <a:srgbClr val="33CC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solidFill>
                <a:srgbClr val="C00000"/>
              </a:solidFill>
            </a:endParaRPr>
          </a:p>
        </p:txBody>
      </p:sp>
      <p:grpSp>
        <p:nvGrpSpPr>
          <p:cNvPr id="8" name="Group 86"/>
          <p:cNvGrpSpPr/>
          <p:nvPr/>
        </p:nvGrpSpPr>
        <p:grpSpPr bwMode="auto">
          <a:xfrm>
            <a:off x="1295400" y="3581400"/>
            <a:ext cx="2819400" cy="2438400"/>
            <a:chOff x="816" y="2256"/>
            <a:chExt cx="1776" cy="1536"/>
          </a:xfrm>
        </p:grpSpPr>
        <p:sp>
          <p:nvSpPr>
            <p:cNvPr id="40989" name="Oval 79"/>
            <p:cNvSpPr>
              <a:spLocks noChangeArrowheads="1"/>
            </p:cNvSpPr>
            <p:nvPr/>
          </p:nvSpPr>
          <p:spPr bwMode="auto">
            <a:xfrm>
              <a:off x="1488" y="3552"/>
              <a:ext cx="432" cy="24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0990" name="Oval 82"/>
            <p:cNvSpPr>
              <a:spLocks noChangeArrowheads="1"/>
            </p:cNvSpPr>
            <p:nvPr/>
          </p:nvSpPr>
          <p:spPr bwMode="auto">
            <a:xfrm>
              <a:off x="2160" y="3168"/>
              <a:ext cx="432" cy="24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40991" name="Group 85"/>
            <p:cNvGrpSpPr/>
            <p:nvPr/>
          </p:nvGrpSpPr>
          <p:grpSpPr bwMode="auto">
            <a:xfrm>
              <a:off x="816" y="2256"/>
              <a:ext cx="1776" cy="1152"/>
              <a:chOff x="816" y="2256"/>
              <a:chExt cx="1776" cy="1152"/>
            </a:xfrm>
          </p:grpSpPr>
          <p:sp>
            <p:nvSpPr>
              <p:cNvPr id="40992" name="Oval 80"/>
              <p:cNvSpPr>
                <a:spLocks noChangeArrowheads="1"/>
              </p:cNvSpPr>
              <p:nvPr/>
            </p:nvSpPr>
            <p:spPr bwMode="auto">
              <a:xfrm>
                <a:off x="816" y="3168"/>
                <a:ext cx="432" cy="240"/>
              </a:xfrm>
              <a:prstGeom prst="ellipse">
                <a:avLst/>
              </a:prstGeom>
              <a:noFill/>
              <a:ln w="9525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40993" name="Oval 84"/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432" cy="240"/>
              </a:xfrm>
              <a:prstGeom prst="ellipse">
                <a:avLst/>
              </a:prstGeom>
              <a:noFill/>
              <a:ln w="9525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40994" name="Oval 86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432" cy="240"/>
              </a:xfrm>
              <a:prstGeom prst="ellipse">
                <a:avLst/>
              </a:prstGeom>
              <a:noFill/>
              <a:ln w="9525" algn="ctr">
                <a:solidFill>
                  <a:srgbClr val="33CC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40995" name="Oval 88"/>
              <p:cNvSpPr>
                <a:spLocks noChangeArrowheads="1"/>
              </p:cNvSpPr>
              <p:nvPr/>
            </p:nvSpPr>
            <p:spPr bwMode="auto">
              <a:xfrm>
                <a:off x="1488" y="2256"/>
                <a:ext cx="432" cy="240"/>
              </a:xfrm>
              <a:prstGeom prst="ellipse">
                <a:avLst/>
              </a:prstGeom>
              <a:noFill/>
              <a:ln w="9525" algn="ctr">
                <a:solidFill>
                  <a:srgbClr val="33CC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</p:grpSp>
      </p:grpSp>
      <p:grpSp>
        <p:nvGrpSpPr>
          <p:cNvPr id="10" name="Group 84"/>
          <p:cNvGrpSpPr/>
          <p:nvPr/>
        </p:nvGrpSpPr>
        <p:grpSpPr bwMode="auto">
          <a:xfrm>
            <a:off x="3886200" y="1981200"/>
            <a:ext cx="4343400" cy="1981200"/>
            <a:chOff x="2448" y="1248"/>
            <a:chExt cx="2736" cy="1248"/>
          </a:xfrm>
        </p:grpSpPr>
        <p:sp>
          <p:nvSpPr>
            <p:cNvPr id="40984" name="Oval 94"/>
            <p:cNvSpPr>
              <a:spLocks noChangeArrowheads="1"/>
            </p:cNvSpPr>
            <p:nvPr/>
          </p:nvSpPr>
          <p:spPr bwMode="auto">
            <a:xfrm>
              <a:off x="2448" y="2256"/>
              <a:ext cx="624" cy="24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0985" name="Oval 100"/>
            <p:cNvSpPr>
              <a:spLocks noChangeArrowheads="1"/>
            </p:cNvSpPr>
            <p:nvPr/>
          </p:nvSpPr>
          <p:spPr bwMode="auto">
            <a:xfrm>
              <a:off x="3696" y="1728"/>
              <a:ext cx="624" cy="24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0986" name="Oval 102"/>
            <p:cNvSpPr>
              <a:spLocks noChangeArrowheads="1"/>
            </p:cNvSpPr>
            <p:nvPr/>
          </p:nvSpPr>
          <p:spPr bwMode="auto">
            <a:xfrm>
              <a:off x="4560" y="1728"/>
              <a:ext cx="624" cy="24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0987" name="Oval 104"/>
            <p:cNvSpPr>
              <a:spLocks noChangeArrowheads="1"/>
            </p:cNvSpPr>
            <p:nvPr/>
          </p:nvSpPr>
          <p:spPr bwMode="auto">
            <a:xfrm>
              <a:off x="2784" y="1728"/>
              <a:ext cx="624" cy="240"/>
            </a:xfrm>
            <a:prstGeom prst="ellipse">
              <a:avLst/>
            </a:prstGeom>
            <a:noFill/>
            <a:ln w="9525" algn="ctr">
              <a:solidFill>
                <a:srgbClr val="33CC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0988" name="Oval 106"/>
            <p:cNvSpPr>
              <a:spLocks noChangeArrowheads="1"/>
            </p:cNvSpPr>
            <p:nvPr/>
          </p:nvSpPr>
          <p:spPr bwMode="auto">
            <a:xfrm>
              <a:off x="3696" y="1248"/>
              <a:ext cx="624" cy="240"/>
            </a:xfrm>
            <a:prstGeom prst="ellipse">
              <a:avLst/>
            </a:prstGeom>
            <a:noFill/>
            <a:ln w="9525" algn="ctr">
              <a:solidFill>
                <a:srgbClr val="33CC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9F71349-73B4-4064-81E4-0D45C6F6CFDE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19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Incognito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[LeFevre+ 05]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Subset Property</a:t>
            </a:r>
            <a:r>
              <a:rPr lang="en-US" altLang="zh-CN" dirty="0">
                <a:ea typeface="宋体" panose="02010600030101010101" pitchFamily="2" charset="-122"/>
              </a:rPr>
              <a:t>: If table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is k-anonymous wrt attributes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ea typeface="宋体" panose="02010600030101010101" pitchFamily="2" charset="-122"/>
              </a:rPr>
              <a:t>, then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is k-anonymous wrt any set of attributes that is a subset of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Q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Generalization Property</a:t>
            </a:r>
            <a:r>
              <a:rPr lang="en-US" altLang="zh-CN" dirty="0">
                <a:ea typeface="宋体" panose="02010600030101010101" pitchFamily="2" charset="-122"/>
              </a:rPr>
              <a:t>:  If table</a:t>
            </a:r>
            <a:r>
              <a:rPr lang="en-US" altLang="zh-CN" dirty="0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is a generalization of table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and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is k-anonymous, then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is k-anonymous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Computes all 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minimal</a:t>
            </a:r>
            <a:r>
              <a:rPr lang="en-US" altLang="zh-CN" dirty="0">
                <a:ea typeface="宋体" panose="02010600030101010101" pitchFamily="2" charset="-122"/>
              </a:rPr>
              <a:t>” full-domain generalizations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Set of minimal full-domain generalizations forms an anti-chain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use any reasonable utility metric to choose “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optimal</a:t>
            </a:r>
            <a:r>
              <a:rPr lang="en-US" altLang="zh-CN" dirty="0">
                <a:ea typeface="宋体" panose="02010600030101010101" pitchFamily="2" charset="-122"/>
              </a:rPr>
              <a:t>” solution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E9D892-9091-45EE-A3CA-630B0CCF6F56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30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Mondrian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Computes one “good” multi-dimensional generalization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Uses local recoding to explore a larger search space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Treats all attributes as ordered, chooses partition boundaries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Utility metrics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Discernability</a:t>
            </a:r>
            <a:r>
              <a:rPr lang="en-US" altLang="zh-CN" dirty="0">
                <a:ea typeface="宋体" panose="02010600030101010101" pitchFamily="2" charset="-122"/>
              </a:rPr>
              <a:t>: sum of squares of group sizes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Normalized average group size</a:t>
            </a:r>
            <a:r>
              <a:rPr lang="en-US" altLang="zh-CN" dirty="0">
                <a:ea typeface="宋体" panose="02010600030101010101" pitchFamily="2" charset="-122"/>
              </a:rPr>
              <a:t> = (total tuples / total groups) /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k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Efficient</a:t>
            </a:r>
            <a:r>
              <a:rPr lang="en-US" altLang="zh-CN" dirty="0">
                <a:ea typeface="宋体" panose="02010600030101010101" pitchFamily="2" charset="-122"/>
              </a:rPr>
              <a:t>: greedy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O(n log n) </a:t>
            </a:r>
            <a:r>
              <a:rPr lang="en-US" altLang="zh-CN" dirty="0">
                <a:ea typeface="宋体" panose="02010600030101010101" pitchFamily="2" charset="-122"/>
              </a:rPr>
              <a:t>heuristic for NP-hard problem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Quality guarantee</a:t>
            </a:r>
            <a:r>
              <a:rPr lang="en-US" altLang="zh-CN" dirty="0">
                <a:ea typeface="宋体" panose="02010600030101010101" pitchFamily="2" charset="-122"/>
              </a:rPr>
              <a:t>: solution is a constant-factor approximation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B48380-99C4-4A60-B1EF-6D369E0E56B5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grpSp>
        <p:nvGrpSpPr>
          <p:cNvPr id="3" name="Group 158"/>
          <p:cNvGrpSpPr/>
          <p:nvPr/>
        </p:nvGrpSpPr>
        <p:grpSpPr bwMode="auto">
          <a:xfrm>
            <a:off x="4876800" y="3810000"/>
            <a:ext cx="3657600" cy="1981200"/>
            <a:chOff x="3072" y="2400"/>
            <a:chExt cx="2304" cy="1248"/>
          </a:xfrm>
        </p:grpSpPr>
        <p:grpSp>
          <p:nvGrpSpPr>
            <p:cNvPr id="44140" name="Group 157"/>
            <p:cNvGrpSpPr/>
            <p:nvPr/>
          </p:nvGrpSpPr>
          <p:grpSpPr bwMode="auto">
            <a:xfrm>
              <a:off x="3312" y="2400"/>
              <a:ext cx="1776" cy="1248"/>
              <a:chOff x="3312" y="2400"/>
              <a:chExt cx="1776" cy="1248"/>
            </a:xfrm>
          </p:grpSpPr>
          <p:sp>
            <p:nvSpPr>
              <p:cNvPr id="44142" name="Rectangle 107"/>
              <p:cNvSpPr>
                <a:spLocks noChangeArrowheads="1"/>
              </p:cNvSpPr>
              <p:nvPr/>
            </p:nvSpPr>
            <p:spPr bwMode="auto">
              <a:xfrm>
                <a:off x="3312" y="2400"/>
                <a:ext cx="1776" cy="624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44143" name="Rectangle 106"/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1776" cy="624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</p:grpSp>
        <p:cxnSp>
          <p:nvCxnSpPr>
            <p:cNvPr id="44141" name="Straight Connector 23"/>
            <p:cNvCxnSpPr>
              <a:cxnSpLocks noChangeShapeType="1"/>
            </p:cNvCxnSpPr>
            <p:nvPr/>
          </p:nvCxnSpPr>
          <p:spPr bwMode="auto">
            <a:xfrm>
              <a:off x="3072" y="3024"/>
              <a:ext cx="2304" cy="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18288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Uses ideas from spatial kd-tree construction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QI tuples = points in a multi-dimensional space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Hyper-rectangles with ≥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points = k-anonymous groups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Choose axis-parallel line to partition point-multiset at median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Mondrian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4083" name="Straight Arrow Connector 7"/>
          <p:cNvCxnSpPr>
            <a:cxnSpLocks noChangeShapeType="1"/>
          </p:cNvCxnSpPr>
          <p:nvPr/>
        </p:nvCxnSpPr>
        <p:spPr bwMode="auto">
          <a:xfrm rot="5400000" flipH="1" flipV="1">
            <a:off x="4114801" y="4800600"/>
            <a:ext cx="22860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84" name="Straight Arrow Connector 11"/>
          <p:cNvCxnSpPr>
            <a:cxnSpLocks noChangeShapeType="1"/>
          </p:cNvCxnSpPr>
          <p:nvPr/>
        </p:nvCxnSpPr>
        <p:spPr bwMode="auto">
          <a:xfrm>
            <a:off x="5257800" y="5943600"/>
            <a:ext cx="2895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7543800" y="6019800"/>
            <a:ext cx="6048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DOB</a:t>
            </a:r>
            <a:endParaRPr lang="en-US" b="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8200" y="3733800"/>
            <a:ext cx="5016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Sex</a:t>
            </a:r>
            <a:endParaRPr lang="en-US" b="0" dirty="0">
              <a:latin typeface="+mn-lt"/>
            </a:endParaRPr>
          </a:p>
        </p:txBody>
      </p:sp>
      <p:sp>
        <p:nvSpPr>
          <p:cNvPr id="44087" name="Oval 15"/>
          <p:cNvSpPr>
            <a:spLocks noChangeArrowheads="1"/>
          </p:cNvSpPr>
          <p:nvPr/>
        </p:nvSpPr>
        <p:spPr bwMode="auto">
          <a:xfrm>
            <a:off x="5943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cxnSp>
        <p:nvCxnSpPr>
          <p:cNvPr id="44088" name="Straight Connector 19"/>
          <p:cNvCxnSpPr>
            <a:cxnSpLocks noChangeShapeType="1"/>
          </p:cNvCxnSpPr>
          <p:nvPr/>
        </p:nvCxnSpPr>
        <p:spPr bwMode="auto">
          <a:xfrm rot="5400000" flipH="1" flipV="1">
            <a:off x="5943601" y="5943600"/>
            <a:ext cx="1524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89" name="Straight Connector 20"/>
          <p:cNvCxnSpPr>
            <a:cxnSpLocks noChangeShapeType="1"/>
          </p:cNvCxnSpPr>
          <p:nvPr/>
        </p:nvCxnSpPr>
        <p:spPr bwMode="auto">
          <a:xfrm rot="5400000" flipH="1" flipV="1">
            <a:off x="6630194" y="5942806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90" name="Straight Connector 21"/>
          <p:cNvCxnSpPr>
            <a:cxnSpLocks noChangeShapeType="1"/>
          </p:cNvCxnSpPr>
          <p:nvPr/>
        </p:nvCxnSpPr>
        <p:spPr bwMode="auto">
          <a:xfrm rot="5400000" flipH="1" flipV="1">
            <a:off x="7315994" y="5942806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91" name="Straight Connector 24"/>
          <p:cNvCxnSpPr>
            <a:cxnSpLocks noChangeShapeType="1"/>
          </p:cNvCxnSpPr>
          <p:nvPr/>
        </p:nvCxnSpPr>
        <p:spPr bwMode="auto">
          <a:xfrm>
            <a:off x="5181600" y="4495800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92" name="Straight Connector 25"/>
          <p:cNvCxnSpPr>
            <a:cxnSpLocks noChangeShapeType="1"/>
          </p:cNvCxnSpPr>
          <p:nvPr/>
        </p:nvCxnSpPr>
        <p:spPr bwMode="auto">
          <a:xfrm>
            <a:off x="5181600" y="5181600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93" name="Oval 26"/>
          <p:cNvSpPr>
            <a:spLocks noChangeArrowheads="1"/>
          </p:cNvSpPr>
          <p:nvPr/>
        </p:nvSpPr>
        <p:spPr bwMode="auto">
          <a:xfrm>
            <a:off x="60198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4094" name="Oval 27"/>
          <p:cNvSpPr>
            <a:spLocks noChangeArrowheads="1"/>
          </p:cNvSpPr>
          <p:nvPr/>
        </p:nvSpPr>
        <p:spPr bwMode="auto">
          <a:xfrm>
            <a:off x="6705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4095" name="Oval 28"/>
          <p:cNvSpPr>
            <a:spLocks noChangeArrowheads="1"/>
          </p:cNvSpPr>
          <p:nvPr/>
        </p:nvSpPr>
        <p:spPr bwMode="auto">
          <a:xfrm>
            <a:off x="73152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4096" name="Oval 29"/>
          <p:cNvSpPr>
            <a:spLocks noChangeArrowheads="1"/>
          </p:cNvSpPr>
          <p:nvPr/>
        </p:nvSpPr>
        <p:spPr bwMode="auto">
          <a:xfrm>
            <a:off x="67056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4097" name="Oval 30"/>
          <p:cNvSpPr>
            <a:spLocks noChangeArrowheads="1"/>
          </p:cNvSpPr>
          <p:nvPr/>
        </p:nvSpPr>
        <p:spPr bwMode="auto">
          <a:xfrm>
            <a:off x="73914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B82863-28FD-4C28-BE94-D5E0CF9C9D57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grpSp>
        <p:nvGrpSpPr>
          <p:cNvPr id="2" name="Group 151"/>
          <p:cNvGrpSpPr/>
          <p:nvPr/>
        </p:nvGrpSpPr>
        <p:grpSpPr bwMode="auto">
          <a:xfrm>
            <a:off x="5257800" y="3581400"/>
            <a:ext cx="2895600" cy="2590800"/>
            <a:chOff x="3312" y="2256"/>
            <a:chExt cx="1824" cy="1632"/>
          </a:xfrm>
        </p:grpSpPr>
        <p:sp>
          <p:nvSpPr>
            <p:cNvPr id="45164" name="Rectangle 152"/>
            <p:cNvSpPr>
              <a:spLocks noChangeArrowheads="1"/>
            </p:cNvSpPr>
            <p:nvPr/>
          </p:nvSpPr>
          <p:spPr bwMode="auto">
            <a:xfrm>
              <a:off x="3312" y="2352"/>
              <a:ext cx="912" cy="139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5165" name="Rectangle 153"/>
            <p:cNvSpPr>
              <a:spLocks noChangeArrowheads="1"/>
            </p:cNvSpPr>
            <p:nvPr/>
          </p:nvSpPr>
          <p:spPr bwMode="auto">
            <a:xfrm>
              <a:off x="4224" y="2352"/>
              <a:ext cx="912" cy="139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cxnSp>
          <p:nvCxnSpPr>
            <p:cNvPr id="45166" name="Straight Connector 31"/>
            <p:cNvCxnSpPr>
              <a:cxnSpLocks noChangeShapeType="1"/>
            </p:cNvCxnSpPr>
            <p:nvPr/>
          </p:nvCxnSpPr>
          <p:spPr bwMode="auto">
            <a:xfrm rot="5400000">
              <a:off x="3409" y="3071"/>
              <a:ext cx="1632" cy="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67" name="Straight Arrow Connector 37"/>
            <p:cNvCxnSpPr>
              <a:cxnSpLocks noChangeShapeType="1"/>
            </p:cNvCxnSpPr>
            <p:nvPr/>
          </p:nvCxnSpPr>
          <p:spPr bwMode="auto">
            <a:xfrm rot="16200000" flipH="1">
              <a:off x="4337" y="2801"/>
              <a:ext cx="151" cy="29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68" name="Straight Arrow Connector 39"/>
            <p:cNvCxnSpPr>
              <a:cxnSpLocks noChangeShapeType="1"/>
            </p:cNvCxnSpPr>
            <p:nvPr/>
          </p:nvCxnSpPr>
          <p:spPr bwMode="auto">
            <a:xfrm rot="5400000" flipH="1">
              <a:off x="3991" y="3017"/>
              <a:ext cx="185" cy="29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0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18288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Uses ideas from spatial kd-tree construction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QI tuples = points in a multi-dimensional space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Hyper-rectangles with ≥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points = k-anonymous groups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Choose axis-parallel line to partition point-multiset at median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Mondrian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[LeFevre+ 06]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5107" name="Straight Arrow Connector 7"/>
          <p:cNvCxnSpPr>
            <a:cxnSpLocks noChangeShapeType="1"/>
          </p:cNvCxnSpPr>
          <p:nvPr/>
        </p:nvCxnSpPr>
        <p:spPr bwMode="auto">
          <a:xfrm rot="5400000" flipH="1" flipV="1">
            <a:off x="4114801" y="4800600"/>
            <a:ext cx="22860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108" name="Straight Arrow Connector 11"/>
          <p:cNvCxnSpPr>
            <a:cxnSpLocks noChangeShapeType="1"/>
          </p:cNvCxnSpPr>
          <p:nvPr/>
        </p:nvCxnSpPr>
        <p:spPr bwMode="auto">
          <a:xfrm>
            <a:off x="5257800" y="5943600"/>
            <a:ext cx="2895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7543800" y="6019800"/>
            <a:ext cx="6048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DOB</a:t>
            </a:r>
            <a:endParaRPr lang="en-US" b="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8200" y="3733800"/>
            <a:ext cx="5016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Sex</a:t>
            </a:r>
            <a:endParaRPr lang="en-US" b="0" dirty="0">
              <a:latin typeface="+mn-lt"/>
            </a:endParaRPr>
          </a:p>
        </p:txBody>
      </p:sp>
      <p:sp>
        <p:nvSpPr>
          <p:cNvPr id="45111" name="Oval 15"/>
          <p:cNvSpPr>
            <a:spLocks noChangeArrowheads="1"/>
          </p:cNvSpPr>
          <p:nvPr/>
        </p:nvSpPr>
        <p:spPr bwMode="auto">
          <a:xfrm>
            <a:off x="5943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cxnSp>
        <p:nvCxnSpPr>
          <p:cNvPr id="45112" name="Straight Connector 19"/>
          <p:cNvCxnSpPr>
            <a:cxnSpLocks noChangeShapeType="1"/>
          </p:cNvCxnSpPr>
          <p:nvPr/>
        </p:nvCxnSpPr>
        <p:spPr bwMode="auto">
          <a:xfrm rot="5400000" flipH="1" flipV="1">
            <a:off x="5943601" y="5943600"/>
            <a:ext cx="1524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113" name="Straight Connector 20"/>
          <p:cNvCxnSpPr>
            <a:cxnSpLocks noChangeShapeType="1"/>
          </p:cNvCxnSpPr>
          <p:nvPr/>
        </p:nvCxnSpPr>
        <p:spPr bwMode="auto">
          <a:xfrm rot="5400000" flipH="1" flipV="1">
            <a:off x="6630194" y="5942806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114" name="Straight Connector 21"/>
          <p:cNvCxnSpPr>
            <a:cxnSpLocks noChangeShapeType="1"/>
          </p:cNvCxnSpPr>
          <p:nvPr/>
        </p:nvCxnSpPr>
        <p:spPr bwMode="auto">
          <a:xfrm rot="5400000" flipH="1" flipV="1">
            <a:off x="7315994" y="5942806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115" name="Straight Connector 24"/>
          <p:cNvCxnSpPr>
            <a:cxnSpLocks noChangeShapeType="1"/>
          </p:cNvCxnSpPr>
          <p:nvPr/>
        </p:nvCxnSpPr>
        <p:spPr bwMode="auto">
          <a:xfrm>
            <a:off x="5181600" y="4495800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116" name="Straight Connector 25"/>
          <p:cNvCxnSpPr>
            <a:cxnSpLocks noChangeShapeType="1"/>
          </p:cNvCxnSpPr>
          <p:nvPr/>
        </p:nvCxnSpPr>
        <p:spPr bwMode="auto">
          <a:xfrm>
            <a:off x="5181600" y="5181600"/>
            <a:ext cx="152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117" name="Oval 26"/>
          <p:cNvSpPr>
            <a:spLocks noChangeArrowheads="1"/>
          </p:cNvSpPr>
          <p:nvPr/>
        </p:nvSpPr>
        <p:spPr bwMode="auto">
          <a:xfrm>
            <a:off x="60198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5118" name="Oval 27"/>
          <p:cNvSpPr>
            <a:spLocks noChangeArrowheads="1"/>
          </p:cNvSpPr>
          <p:nvPr/>
        </p:nvSpPr>
        <p:spPr bwMode="auto">
          <a:xfrm>
            <a:off x="6705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5119" name="Oval 28"/>
          <p:cNvSpPr>
            <a:spLocks noChangeArrowheads="1"/>
          </p:cNvSpPr>
          <p:nvPr/>
        </p:nvSpPr>
        <p:spPr bwMode="auto">
          <a:xfrm>
            <a:off x="73152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5120" name="Oval 29"/>
          <p:cNvSpPr>
            <a:spLocks noChangeArrowheads="1"/>
          </p:cNvSpPr>
          <p:nvPr/>
        </p:nvSpPr>
        <p:spPr bwMode="auto">
          <a:xfrm>
            <a:off x="67056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5121" name="Oval 30"/>
          <p:cNvSpPr>
            <a:spLocks noChangeArrowheads="1"/>
          </p:cNvSpPr>
          <p:nvPr/>
        </p:nvSpPr>
        <p:spPr bwMode="auto">
          <a:xfrm>
            <a:off x="73914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8942B4D-7BB1-49D6-B88D-7704B201A3C0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60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Homogeneity Attack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[Machanavajjhala+ 06]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60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190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Issue</a:t>
            </a:r>
            <a:r>
              <a:rPr lang="en-US" altLang="zh-CN" dirty="0">
                <a:ea typeface="宋体" panose="02010600030101010101" pitchFamily="2" charset="-122"/>
              </a:rPr>
              <a:t>: k-anonymity requires each tuple in (the multiset)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T[QI]</a:t>
            </a:r>
            <a:r>
              <a:rPr lang="en-US" altLang="zh-CN" dirty="0">
                <a:ea typeface="宋体" panose="02010600030101010101" pitchFamily="2" charset="-122"/>
              </a:rPr>
              <a:t> to appear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≥ k</a:t>
            </a:r>
            <a:r>
              <a:rPr lang="en-US" altLang="zh-CN" dirty="0">
                <a:ea typeface="宋体" panose="02010600030101010101" pitchFamily="2" charset="-122"/>
              </a:rPr>
              <a:t> times, but does not say anything about the SA values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(almost) all SA values in a QI group are equal, loss of privacy!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problem is with the choice of grouping, not the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153"/>
          <p:cNvGraphicFramePr>
            <a:graphicFrameLocks noGrp="1"/>
          </p:cNvGraphicFramePr>
          <p:nvPr/>
        </p:nvGraphicFramePr>
        <p:xfrm>
          <a:off x="52578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72" name="TextBox 7"/>
          <p:cNvSpPr txBox="1">
            <a:spLocks noChangeArrowheads="1"/>
          </p:cNvSpPr>
          <p:nvPr/>
        </p:nvSpPr>
        <p:spPr bwMode="auto">
          <a:xfrm>
            <a:off x="4343400" y="441960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4800">
                <a:ea typeface="宋体" panose="02010600030101010101" pitchFamily="2" charset="-122"/>
              </a:rPr>
              <a:t>→</a:t>
            </a:r>
            <a:endParaRPr lang="en-US" altLang="zh-CN" sz="4800"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200" y="4419600"/>
            <a:ext cx="91757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latin typeface="+mn-lt"/>
              </a:rPr>
              <a:t>Not Ok!</a:t>
            </a:r>
            <a:endParaRPr lang="en-US" b="0" dirty="0">
              <a:latin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C81CE3-2A53-4A10-8362-D70CBFE89AF1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71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Homogeneity Attack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[Machanavajjhala+ 06]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190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Issue</a:t>
            </a:r>
            <a:r>
              <a:rPr lang="en-US" altLang="zh-CN" dirty="0">
                <a:ea typeface="宋体" panose="02010600030101010101" pitchFamily="2" charset="-122"/>
              </a:rPr>
              <a:t>: k-anonymity requires each tuple in (the multiset)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T[QI]</a:t>
            </a:r>
            <a:r>
              <a:rPr lang="en-US" altLang="zh-CN" dirty="0">
                <a:ea typeface="宋体" panose="02010600030101010101" pitchFamily="2" charset="-122"/>
              </a:rPr>
              <a:t> to appear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≥ k </a:t>
            </a:r>
            <a:r>
              <a:rPr lang="en-US" altLang="zh-CN" dirty="0">
                <a:ea typeface="宋体" panose="02010600030101010101" pitchFamily="2" charset="-122"/>
              </a:rPr>
              <a:t>times, but does not say anything about the SA values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(almost) all SA values in a QI group are equal, loss of privacy!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problem is with the choice of grouping, not the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For some groupings, no loss of privacy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990600" y="3886200"/>
          <a:ext cx="3213099" cy="21336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47154" name="TextBox 7"/>
          <p:cNvSpPr txBox="1">
            <a:spLocks noChangeArrowheads="1"/>
          </p:cNvSpPr>
          <p:nvPr/>
        </p:nvSpPr>
        <p:spPr bwMode="auto">
          <a:xfrm>
            <a:off x="4343400" y="441960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4800">
                <a:ea typeface="宋体" panose="02010600030101010101" pitchFamily="2" charset="-122"/>
              </a:rPr>
              <a:t>→</a:t>
            </a:r>
            <a:endParaRPr lang="en-US" altLang="zh-CN" sz="4800">
              <a:ea typeface="宋体" panose="02010600030101010101" pitchFamily="2" charset="-122"/>
            </a:endParaRPr>
          </a:p>
        </p:txBody>
      </p:sp>
      <p:graphicFrame>
        <p:nvGraphicFramePr>
          <p:cNvPr id="2" name="Group 153"/>
          <p:cNvGraphicFramePr>
            <a:graphicFrameLocks noGrp="1"/>
          </p:cNvGraphicFramePr>
          <p:nvPr/>
        </p:nvGraphicFramePr>
        <p:xfrm>
          <a:off x="52578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76-86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97" name="TextBox 8"/>
          <p:cNvSpPr txBox="1">
            <a:spLocks noChangeArrowheads="1"/>
          </p:cNvSpPr>
          <p:nvPr/>
        </p:nvSpPr>
        <p:spPr bwMode="auto">
          <a:xfrm>
            <a:off x="4343400" y="4433888"/>
            <a:ext cx="8382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b="0">
                <a:latin typeface="Calibri" panose="020F0502020204030204" pitchFamily="34" charset="0"/>
                <a:ea typeface="宋体" panose="02010600030101010101" pitchFamily="2" charset="-122"/>
              </a:rPr>
              <a:t>Ok!</a:t>
            </a:r>
            <a:endParaRPr lang="en-US" altLang="zh-CN" b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A3EB88-E92A-48ED-9DF5-8EC4F53AE46D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81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Homogeneity and Uncertainty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81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20574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Intuition</a:t>
            </a:r>
            <a:r>
              <a:rPr lang="en-US" altLang="zh-CN" dirty="0">
                <a:ea typeface="宋体" panose="02010600030101010101" pitchFamily="2" charset="-122"/>
              </a:rPr>
              <a:t>: A k-anonymized table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T’</a:t>
            </a:r>
            <a:r>
              <a:rPr lang="en-US" altLang="zh-CN" dirty="0">
                <a:ea typeface="宋体" panose="02010600030101010101" pitchFamily="2" charset="-122"/>
              </a:rPr>
              <a:t> represents the set of all “possible world” tables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s.t.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T’ </a:t>
            </a:r>
            <a:r>
              <a:rPr lang="en-US" altLang="zh-CN" dirty="0">
                <a:ea typeface="宋体" panose="02010600030101010101" pitchFamily="2" charset="-122"/>
              </a:rPr>
              <a:t>is a k-anonymization of T</a:t>
            </a:r>
            <a:r>
              <a:rPr lang="en-US" altLang="zh-CN" baseline="-25000" dirty="0">
                <a:ea typeface="宋体" panose="02010600030101010101" pitchFamily="2" charset="-122"/>
              </a:rPr>
              <a:t>i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Lack of diversity of SA values implies that in a large fraction of possible worlds, some fact is true, which can violate privacy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" name="Group 153"/>
          <p:cNvGraphicFramePr>
            <a:graphicFrameLocks noGrp="1"/>
          </p:cNvGraphicFramePr>
          <p:nvPr/>
        </p:nvGraphicFramePr>
        <p:xfrm>
          <a:off x="9906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153"/>
          <p:cNvGraphicFramePr>
            <a:graphicFrameLocks noGrp="1"/>
          </p:cNvGraphicFramePr>
          <p:nvPr/>
        </p:nvGraphicFramePr>
        <p:xfrm>
          <a:off x="4953000" y="3886200"/>
          <a:ext cx="3352799" cy="6096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8195" name="Straight Connector 11"/>
          <p:cNvCxnSpPr>
            <a:cxnSpLocks noChangeShapeType="1"/>
          </p:cNvCxnSpPr>
          <p:nvPr/>
        </p:nvCxnSpPr>
        <p:spPr bwMode="auto">
          <a:xfrm>
            <a:off x="4191000" y="43434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96" name="Straight Connector 12"/>
          <p:cNvCxnSpPr>
            <a:cxnSpLocks noChangeShapeType="1"/>
          </p:cNvCxnSpPr>
          <p:nvPr/>
        </p:nvCxnSpPr>
        <p:spPr bwMode="auto">
          <a:xfrm rot="5400000" flipH="1" flipV="1">
            <a:off x="4114800" y="4419600"/>
            <a:ext cx="9144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2CB0E7-1D58-4583-8707-1FC1E2503152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491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-Diversity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[Machanavajjhala+ 06]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91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-Diversity Principle: a table is </a:t>
            </a:r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-diverse if each of its QI groups contains at least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“well-represented” values for the SA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Statement about possible worlds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Different definitions of </a:t>
            </a:r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-diversity based on formalizing the intuition of a “well-represented” value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Entropy </a:t>
            </a:r>
            <a:r>
              <a:rPr lang="en-US" altLang="zh-CN" i="1" dirty="0">
                <a:solidFill>
                  <a:srgbClr val="CC3300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-diversity:</a:t>
            </a:r>
            <a:r>
              <a:rPr lang="en-US" altLang="zh-CN" dirty="0">
                <a:ea typeface="宋体" panose="02010600030101010101" pitchFamily="2" charset="-122"/>
              </a:rPr>
              <a:t> for each QI group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g, entropy(g) ≥ log(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Recursive (c,</a:t>
            </a:r>
            <a:r>
              <a:rPr lang="en-US" altLang="zh-CN" i="1" dirty="0">
                <a:solidFill>
                  <a:srgbClr val="CC3300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)-diversity</a:t>
            </a:r>
            <a:r>
              <a:rPr lang="en-US" altLang="zh-CN" dirty="0">
                <a:ea typeface="宋体" panose="02010600030101010101" pitchFamily="2" charset="-122"/>
              </a:rPr>
              <a:t>: for each QI group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 with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SA values, and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the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’th highest frequency,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&lt; c (r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l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+ r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l+1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+ … + r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Folk </a:t>
            </a:r>
            <a:r>
              <a:rPr lang="en-US" altLang="zh-CN" i="1" dirty="0">
                <a:solidFill>
                  <a:srgbClr val="CC3300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-diversity</a:t>
            </a:r>
            <a:r>
              <a:rPr lang="en-US" altLang="zh-CN" dirty="0">
                <a:ea typeface="宋体" panose="02010600030101010101" pitchFamily="2" charset="-122"/>
              </a:rPr>
              <a:t>: for each QI group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, no SA value should occur more than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1/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 fraction of the time = Recursive(1/</a:t>
            </a:r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, 1)-diversity</a:t>
            </a:r>
            <a:endParaRPr lang="en-US" altLang="zh-CN" i="1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72F985-26B3-4B30-993F-6FB5CD521D46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-Diversity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[Machanavajjhala+ 06]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Intuition</a:t>
            </a:r>
            <a:r>
              <a:rPr lang="en-US" altLang="zh-CN" dirty="0">
                <a:ea typeface="宋体" panose="02010600030101010101" pitchFamily="2" charset="-122"/>
              </a:rPr>
              <a:t>: Most frequent value does not appear too often compared to the less frequent values in a QI group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Entropy </a:t>
            </a:r>
            <a:r>
              <a:rPr lang="en-US" altLang="zh-CN" i="1" dirty="0">
                <a:solidFill>
                  <a:srgbClr val="CC3300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-diversity</a:t>
            </a:r>
            <a:r>
              <a:rPr lang="en-US" altLang="zh-CN" dirty="0">
                <a:ea typeface="宋体" panose="02010600030101010101" pitchFamily="2" charset="-122"/>
              </a:rPr>
              <a:t>: for each QI group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g, entropy(g) ≥ log(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l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-diversity((1/21/76, *, 537**)) = </a:t>
            </a:r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??</a:t>
            </a:r>
            <a:endParaRPr lang="en-US" altLang="zh-CN" dirty="0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2895600" y="3810000"/>
          <a:ext cx="3213099" cy="2209800"/>
        </p:xfrm>
        <a:graphic>
          <a:graphicData uri="http://schemas.openxmlformats.org/drawingml/2006/table">
            <a:tbl>
              <a:tblPr/>
              <a:tblGrid>
                <a:gridCol w="977899"/>
                <a:gridCol w="558800"/>
                <a:gridCol w="838199"/>
                <a:gridCol w="83820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8592" name="Rectangle 48"/>
          <p:cNvSpPr>
            <a:spLocks noChangeArrowheads="1"/>
          </p:cNvSpPr>
          <p:nvPr/>
        </p:nvSpPr>
        <p:spPr bwMode="auto">
          <a:xfrm>
            <a:off x="4749800" y="3281362"/>
            <a:ext cx="457200" cy="427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2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endParaRPr lang="en-US" altLang="zh-CN" sz="22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9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7955EF-87E0-43E8-B889-DDD1B79AB9D1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512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Computing 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-Diversity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[Machanavajjhala+ 06]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Key Observation</a:t>
            </a:r>
            <a:r>
              <a:rPr lang="en-US" altLang="zh-CN">
                <a:ea typeface="宋体" panose="02010600030101010101" pitchFamily="2" charset="-122"/>
              </a:rPr>
              <a:t>: entropy 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-diversity and recursive(c,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)-diversity possess the Subset Property and the Generalization Property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Algorithm Template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Take </a:t>
            </a:r>
            <a:r>
              <a:rPr lang="en-US" altLang="zh-CN">
                <a:solidFill>
                  <a:srgbClr val="CC3300"/>
                </a:solidFill>
                <a:ea typeface="宋体" panose="02010600030101010101" pitchFamily="2" charset="-122"/>
              </a:rPr>
              <a:t>any</a:t>
            </a:r>
            <a:r>
              <a:rPr lang="en-US" altLang="zh-CN">
                <a:ea typeface="宋体" panose="02010600030101010101" pitchFamily="2" charset="-122"/>
              </a:rPr>
              <a:t> algorithm for k-anonymity and replace the k-anonymity test for a generalized table by the 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-diversity test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Easy to check based on counts of SA values in QI groups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805B69-0419-4DE8-BDBC-4D190299191F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>
              <a:latin typeface="Calibri" panose="020F0502020204030204" pitchFamily="34" charset="0"/>
            </a:endParaRPr>
          </a:p>
        </p:txBody>
      </p:sp>
      <p:sp>
        <p:nvSpPr>
          <p:cNvPr id="522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t-Closeness </a:t>
            </a:r>
            <a:r>
              <a:rPr lang="en-US" altLang="zh-CN">
                <a:latin typeface="Arial Narrow" panose="020B0606020202030204" pitchFamily="34" charset="0"/>
                <a:ea typeface="宋体" panose="02010600030101010101" pitchFamily="2" charset="-122"/>
              </a:rPr>
              <a:t>[Li+ 07]</a:t>
            </a:r>
            <a:endParaRPr lang="en-US" altLang="zh-CN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Limitations of </a:t>
            </a:r>
            <a:r>
              <a:rPr lang="en-US" altLang="zh-CN" i="1" dirty="0">
                <a:ea typeface="宋体" panose="02010600030101010101" pitchFamily="2" charset="-122"/>
              </a:rPr>
              <a:t>l</a:t>
            </a:r>
            <a:r>
              <a:rPr lang="en-US" altLang="zh-CN" dirty="0">
                <a:ea typeface="宋体" panose="02010600030101010101" pitchFamily="2" charset="-122"/>
              </a:rPr>
              <a:t>-diversity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Similarity attack: SA values are distinct, but semantically similar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C3300"/>
                </a:solidFill>
                <a:ea typeface="宋体" panose="02010600030101010101" pitchFamily="2" charset="-122"/>
              </a:rPr>
              <a:t>t-Closeness Principle</a:t>
            </a:r>
            <a:r>
              <a:rPr lang="en-US" altLang="zh-CN" dirty="0">
                <a:ea typeface="宋体" panose="02010600030101010101" pitchFamily="2" charset="-122"/>
              </a:rPr>
              <a:t>: a table has t-closeness if in each of its QI groups, the distance between the distribution of  SA values in the group and in the whole table is no more than threshold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" name="Group 153"/>
          <p:cNvGraphicFramePr>
            <a:graphicFrameLocks noGrp="1"/>
          </p:cNvGraphicFramePr>
          <p:nvPr/>
        </p:nvGraphicFramePr>
        <p:xfrm>
          <a:off x="990600" y="2514600"/>
          <a:ext cx="3213100" cy="2209800"/>
        </p:xfrm>
        <a:graphic>
          <a:graphicData uri="http://schemas.openxmlformats.org/drawingml/2006/table">
            <a:tbl>
              <a:tblPr/>
              <a:tblGrid>
                <a:gridCol w="977900"/>
                <a:gridCol w="558800"/>
                <a:gridCol w="8382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50,001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4/13/86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55,001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2/28/76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537**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60,001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153"/>
          <p:cNvGraphicFramePr>
            <a:graphicFrameLocks noGrp="1"/>
          </p:cNvGraphicFramePr>
          <p:nvPr/>
        </p:nvGraphicFramePr>
        <p:xfrm>
          <a:off x="4953000" y="2590800"/>
          <a:ext cx="3352799" cy="609600"/>
        </p:xfrm>
        <a:graphic>
          <a:graphicData uri="http://schemas.openxmlformats.org/drawingml/2006/table">
            <a:tbl>
              <a:tblPr/>
              <a:tblGrid>
                <a:gridCol w="977899"/>
                <a:gridCol w="977900"/>
                <a:gridCol w="558800"/>
                <a:gridCol w="8382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SSN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DOB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Calibri" panose="020F0502020204030204" pitchFamily="34" charset="0"/>
                        </a:rPr>
                        <a:t>ZIP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11-1-111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1/21/76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53715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52291" name="Straight Connector 11"/>
          <p:cNvCxnSpPr>
            <a:cxnSpLocks noChangeShapeType="1"/>
          </p:cNvCxnSpPr>
          <p:nvPr/>
        </p:nvCxnSpPr>
        <p:spPr bwMode="auto">
          <a:xfrm>
            <a:off x="4191000" y="3048000"/>
            <a:ext cx="7620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2" name="Straight Connector 12"/>
          <p:cNvCxnSpPr>
            <a:cxnSpLocks noChangeShapeType="1"/>
          </p:cNvCxnSpPr>
          <p:nvPr/>
        </p:nvCxnSpPr>
        <p:spPr bwMode="auto">
          <a:xfrm rot="5400000" flipH="1" flipV="1">
            <a:off x="4114800" y="3124200"/>
            <a:ext cx="9144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8CACF9-1A23-47F1-A1D9-625F911F6BCB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 dirty="0">
              <a:latin typeface="Calibri" panose="020F0502020204030204" pitchFamily="34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600" b="1" dirty="0">
                <a:solidFill>
                  <a:srgbClr val="CC3300"/>
                </a:solidFill>
                <a:ea typeface="宋体" panose="02010600030101010101" pitchFamily="2" charset="-122"/>
              </a:rPr>
              <a:t>Part 1</a:t>
            </a:r>
            <a:endParaRPr lang="en-US" altLang="zh-CN" sz="36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Anonymization and Uncertainty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Tabular Data Anonymization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200" b="1" dirty="0">
                <a:solidFill>
                  <a:srgbClr val="CC3300"/>
                </a:solidFill>
                <a:ea typeface="宋体" panose="02010600030101010101" pitchFamily="2" charset="-122"/>
              </a:rPr>
              <a:t>Part 2</a:t>
            </a:r>
            <a:endParaRPr lang="en-US" altLang="zh-CN" sz="32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Differential Privacy 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Local Differential Privacy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Formulation of Privacy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39875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information can be published?</a:t>
            </a:r>
            <a:endParaRPr lang="en-US" dirty="0"/>
          </a:p>
          <a:p>
            <a:pPr lvl="1"/>
            <a:r>
              <a:rPr lang="en-US" dirty="0"/>
              <a:t>Average height of US people</a:t>
            </a:r>
            <a:endParaRPr lang="en-US" dirty="0"/>
          </a:p>
          <a:p>
            <a:pPr lvl="1"/>
            <a:r>
              <a:rPr lang="en-US" dirty="0"/>
              <a:t>Height of an individual</a:t>
            </a:r>
            <a:endParaRPr lang="en-US" dirty="0"/>
          </a:p>
          <a:p>
            <a:r>
              <a:rPr lang="en-US" dirty="0"/>
              <a:t>Intuition:</a:t>
            </a:r>
            <a:endParaRPr lang="en-US" dirty="0"/>
          </a:p>
          <a:p>
            <a:pPr lvl="1"/>
            <a:r>
              <a:rPr lang="en-US" dirty="0"/>
              <a:t>If something is insensitive to the change of any individual tuple, then it should not be considered private</a:t>
            </a:r>
            <a:endParaRPr lang="en-US" dirty="0"/>
          </a:p>
          <a:p>
            <a:r>
              <a:rPr lang="en-US" dirty="0"/>
              <a:t>Example:</a:t>
            </a:r>
            <a:endParaRPr lang="en-US" dirty="0"/>
          </a:p>
          <a:p>
            <a:pPr lvl="1"/>
            <a:r>
              <a:rPr lang="en-US" dirty="0"/>
              <a:t>Assume that we arbitrarily change the height of an individual in the US</a:t>
            </a:r>
            <a:endParaRPr lang="en-US" dirty="0"/>
          </a:p>
          <a:p>
            <a:pPr lvl="1"/>
            <a:r>
              <a:rPr lang="en-US" dirty="0"/>
              <a:t>The average height of US people would remain roughly the same</a:t>
            </a:r>
            <a:endParaRPr lang="en-US" dirty="0"/>
          </a:p>
          <a:p>
            <a:pPr lvl="1"/>
            <a:r>
              <a:rPr lang="en-US" dirty="0"/>
              <a:t>i.e., The average height reveals little information about the exact height of any particular individual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1034" name="Picture 10" descr="C:\Users\Administrator\AppData\Roaming\Tencent\Users\38334910\QQ\WinTemp\RichOle\I_ZKBCH~5J[4]UD$4DE7LJK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867296"/>
            <a:ext cx="450121" cy="34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Roaming\Tencent\Users\38334910\QQ\WinTemp\RichOle\8}W7LUWG4KO[$IIAXKPG78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824" y="2299344"/>
            <a:ext cx="335297" cy="33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51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SG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435280" cy="475252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Motivation:</a:t>
                </a:r>
                <a:endParaRPr lang="en-US" dirty="0"/>
              </a:p>
              <a:p>
                <a:pPr lvl="1"/>
                <a:r>
                  <a:rPr lang="en-US" dirty="0"/>
                  <a:t>It is OK to publish information that is insensitive to the change of any particular tuple in the dataset</a:t>
                </a:r>
                <a:endParaRPr lang="en-US" dirty="0"/>
              </a:p>
              <a:p>
                <a:r>
                  <a:rPr lang="en-US" dirty="0"/>
                  <a:t>Definition:</a:t>
                </a:r>
                <a:endParaRPr lang="en-US" dirty="0"/>
              </a:p>
              <a:p>
                <a:pPr lvl="1"/>
                <a:r>
                  <a:rPr lang="en-US" dirty="0"/>
                  <a:t>Neighboring datasets: Two datasets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 </m:t>
                    </m:r>
                  </m:oMath>
                </a14:m>
                <a:r>
                  <a:rPr lang="en-US" dirty="0"/>
                  <a:t>can be obtained by </a:t>
                </a:r>
                <a:r>
                  <a:rPr lang="en-US" dirty="0">
                    <a:solidFill>
                      <a:srgbClr val="FF0000"/>
                    </a:solidFill>
                  </a:rPr>
                  <a:t>changing one single tuple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randomized algorithm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𝛆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-differential privacy</a:t>
                </a:r>
                <a:r>
                  <a:rPr lang="en-US" dirty="0"/>
                  <a:t>, </a:t>
                </a:r>
                <a:r>
                  <a:rPr lang="en-US" dirty="0" err="1"/>
                  <a:t>iff</a:t>
                </a:r>
                <a:r>
                  <a:rPr lang="en-US" dirty="0"/>
                  <a:t> for any two neighboring datasets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 and for any output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𝑶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435280" cy="4752528"/>
              </a:xfrm>
              <a:blipFill rotWithShape="1">
                <a:blip r:embed="rId2"/>
                <a:stretch>
                  <a:fillRect t="-11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52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SG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69976"/>
                <a:ext cx="8435280" cy="50405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Intuition:</a:t>
                </a:r>
                <a:endParaRPr lang="en-US" dirty="0"/>
              </a:p>
              <a:p>
                <a:pPr lvl="1"/>
                <a:r>
                  <a:rPr lang="en-US" dirty="0"/>
                  <a:t>It is OK to publish information that is insensitive to changes of any particular tuple</a:t>
                </a:r>
                <a:endParaRPr lang="en-US" dirty="0"/>
              </a:p>
              <a:p>
                <a:r>
                  <a:rPr lang="en-US" dirty="0"/>
                  <a:t>Definition:</a:t>
                </a:r>
                <a:endParaRPr lang="en-US" dirty="0"/>
              </a:p>
              <a:p>
                <a:pPr lvl="1"/>
                <a:r>
                  <a:rPr lang="en-US" dirty="0"/>
                  <a:t>Neighboring datasets: Two datasets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 </m:t>
                    </m:r>
                  </m:oMath>
                </a14:m>
                <a:r>
                  <a:rPr lang="en-US" dirty="0"/>
                  <a:t>can be obtained by changing one single tuple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randomized algorithm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𝛆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-differential privacy</a:t>
                </a:r>
                <a:r>
                  <a:rPr lang="en-US" dirty="0"/>
                  <a:t>, </a:t>
                </a:r>
                <a:r>
                  <a:rPr lang="en-US" dirty="0" err="1"/>
                  <a:t>iff</a:t>
                </a:r>
                <a:r>
                  <a:rPr lang="en-US" dirty="0"/>
                  <a:t> for any two neighboring datasets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 and for any output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𝑶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altLang="zh-CN" dirty="0"/>
                  <a:t>The value of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 decides the degree of privacy protection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69976"/>
                <a:ext cx="8435280" cy="5040560"/>
              </a:xfrm>
              <a:blipFill rotWithShape="1">
                <a:blip r:embed="rId2"/>
                <a:stretch>
                  <a:fillRect t="-11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467544" y="1331476"/>
            <a:ext cx="8262454" cy="1953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198" y="1690355"/>
            <a:ext cx="6357798" cy="1172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9" name="Straight Arrow Connector 18"/>
          <p:cNvCxnSpPr/>
          <p:nvPr/>
        </p:nvCxnSpPr>
        <p:spPr>
          <a:xfrm>
            <a:off x="1025142" y="1546339"/>
            <a:ext cx="0" cy="144016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025142" y="2986499"/>
            <a:ext cx="7200800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8153934" y="2740858"/>
                <a:ext cx="44275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𝑶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934" y="2740858"/>
                <a:ext cx="442750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121" t="-49" r="12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1052945" y="1474331"/>
                <a:ext cx="177112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sz="2000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45" y="1474331"/>
                <a:ext cx="1771126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" t="-124" r="13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1053734" y="1791391"/>
                <a:ext cx="183685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sz="20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34" y="1791391"/>
                <a:ext cx="1836850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5" t="-14" r="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2853145" y="1690355"/>
            <a:ext cx="692277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853145" y="1978387"/>
            <a:ext cx="69227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209718" y="1196752"/>
            <a:ext cx="0" cy="194421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209718" y="1474331"/>
            <a:ext cx="792088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6209718" y="1582343"/>
            <a:ext cx="792088" cy="3646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7580324" y="1300698"/>
                <a:ext cx="12401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sz="2000" b="0" i="1" dirty="0" smtClean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sz="2000" b="0" i="1" dirty="0" smtClean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24" y="1300698"/>
                <a:ext cx="1240148" cy="400110"/>
              </a:xfrm>
              <a:prstGeom prst="rect">
                <a:avLst/>
              </a:prstGeom>
              <a:blipFill rotWithShape="1">
                <a:blip r:embed="rId7"/>
                <a:stretch>
                  <a:fillRect l="-27" t="-54" r="2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7001806" y="1300698"/>
            <a:ext cx="670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ratio</a:t>
            </a:r>
            <a:endParaRPr lang="en-SG" sz="2000" dirty="0"/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53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Achieving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SG" dirty="0"/>
              </a:p>
            </p:txBody>
          </p:sp>
        </mc:Choice>
        <mc:Fallback>
          <p:sp>
            <p:nvSpPr>
              <p:cNvPr id="17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439542" cy="334372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Example:</a:t>
                </a:r>
                <a:endParaRPr lang="en-US" dirty="0"/>
              </a:p>
              <a:p>
                <a:pPr lvl="1"/>
                <a:r>
                  <a:rPr lang="en-US" dirty="0"/>
                  <a:t>Dataset: 		A set of patients</a:t>
                </a:r>
                <a:endParaRPr lang="en-US" dirty="0"/>
              </a:p>
              <a:p>
                <a:pPr lvl="1"/>
                <a:r>
                  <a:rPr lang="en-US" dirty="0"/>
                  <a:t>Objective:		Release the number of diabetes patients						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endParaRPr lang="en-US" sz="500" dirty="0"/>
              </a:p>
              <a:p>
                <a:r>
                  <a:rPr lang="en-US" dirty="0"/>
                  <a:t>It won’t work if we release the number directly: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an arbitrary patient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𝑫</m:t>
                                </m:r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  <m:r>
                      <a:rPr lang="en-US" i="1" dirty="0" smtClean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exp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⁡(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)∙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𝑫</m:t>
                                </m:r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does not hold for any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439542" cy="3343726"/>
              </a:xfrm>
              <a:blipFill rotWithShape="1">
                <a:blip r:embed="rId2"/>
                <a:stretch>
                  <a:fillRect t="-548" r="5" b="-200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4869160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174596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9037" y="5075892"/>
            <a:ext cx="7569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100%</a:t>
            </a:r>
            <a:endParaRPr lang="en-SG" sz="2000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1043608" y="5229200"/>
            <a:ext cx="590465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6" t="-24" r="10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9" t="-24" r="84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 flipH="1" flipV="1">
            <a:off x="3059833" y="5229200"/>
            <a:ext cx="1" cy="936104"/>
          </a:xfrm>
          <a:prstGeom prst="line">
            <a:avLst/>
          </a:prstGeom>
          <a:ln w="1270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" t="-58" r="23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 flipV="1">
            <a:off x="5004049" y="5229200"/>
            <a:ext cx="1" cy="936104"/>
          </a:xfrm>
          <a:prstGeom prst="line">
            <a:avLst/>
          </a:prstGeom>
          <a:ln w="1270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′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1" t="-58" r="6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6516216" y="6156012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54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8" grpId="0"/>
      <p:bldP spid="21" grpId="0"/>
      <p:bldP spid="23" grpId="0"/>
      <p:bldP spid="2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Achieving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SG" dirty="0"/>
              </a:p>
            </p:txBody>
          </p:sp>
        </mc:Choice>
        <mc:Fallback>
          <p:sp>
            <p:nvSpPr>
              <p:cNvPr id="17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439542" cy="3343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Example:</a:t>
                </a:r>
                <a:endParaRPr lang="en-US" dirty="0"/>
              </a:p>
              <a:p>
                <a:pPr lvl="1"/>
                <a:r>
                  <a:rPr lang="en-US" dirty="0"/>
                  <a:t>Dataset: 		A set of patients</a:t>
                </a:r>
                <a:endParaRPr lang="en-US" dirty="0"/>
              </a:p>
              <a:p>
                <a:pPr lvl="1"/>
                <a:r>
                  <a:rPr lang="en-US" dirty="0"/>
                  <a:t>Objective:		Release the number of diabetes patients						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endParaRPr lang="en-US" sz="50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Idea</a:t>
                </a:r>
                <a:r>
                  <a:rPr lang="en-US" dirty="0"/>
                  <a:t>: </a:t>
                </a:r>
                <a:endParaRPr lang="en-US" dirty="0"/>
              </a:p>
              <a:p>
                <a:pPr lvl="1"/>
                <a:r>
                  <a:rPr lang="en-US" dirty="0"/>
                  <a:t>Perturb the number of diabetes patients to obtain a smooth distribution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439542" cy="3343726"/>
              </a:xfrm>
              <a:blipFill rotWithShape="1">
                <a:blip r:embed="rId2"/>
                <a:stretch>
                  <a:fillRect t="-16" r="5" b="-18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4869160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174596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9037" y="5075892"/>
            <a:ext cx="7569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100%</a:t>
            </a:r>
            <a:endParaRPr lang="en-SG" sz="2000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1043608" y="5229200"/>
            <a:ext cx="590465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3059833" y="5229200"/>
            <a:ext cx="1" cy="936104"/>
          </a:xfrm>
          <a:prstGeom prst="line">
            <a:avLst/>
          </a:prstGeom>
          <a:ln w="1270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5004049" y="5229200"/>
            <a:ext cx="1" cy="936104"/>
          </a:xfrm>
          <a:prstGeom prst="line">
            <a:avLst/>
          </a:prstGeom>
          <a:ln w="1270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6" t="-24" r="10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9" t="-24" r="84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" t="-58" r="23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′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1" t="-58" r="6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6516216" y="6156012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55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>
            <a:off x="1115616" y="4869160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174596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9037" y="5075892"/>
            <a:ext cx="7569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100%</a:t>
            </a:r>
            <a:endParaRPr lang="en-SG" sz="2000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1043608" y="5229200"/>
            <a:ext cx="590465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113183" y="5401816"/>
            <a:ext cx="1958008" cy="586408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7" name="Straight Connector 26"/>
          <p:cNvCxnSpPr/>
          <p:nvPr/>
        </p:nvCxnSpPr>
        <p:spPr>
          <a:xfrm flipH="1" flipV="1">
            <a:off x="5004049" y="5229200"/>
            <a:ext cx="1" cy="936104"/>
          </a:xfrm>
          <a:prstGeom prst="line">
            <a:avLst/>
          </a:prstGeom>
          <a:ln w="1270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 flipH="1">
            <a:off x="3059832" y="5393094"/>
            <a:ext cx="1944217" cy="586408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>
            <a:off x="4989443" y="5983153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Achieving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SG" dirty="0"/>
              </a:p>
            </p:txBody>
          </p:sp>
        </mc:Choice>
        <mc:Fallback>
          <p:sp>
            <p:nvSpPr>
              <p:cNvPr id="26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363272" cy="3343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Example:</a:t>
                </a:r>
                <a:endParaRPr lang="en-US" dirty="0"/>
              </a:p>
              <a:p>
                <a:pPr lvl="1"/>
                <a:r>
                  <a:rPr lang="en-US" dirty="0"/>
                  <a:t>Dataset: 		A set of patients</a:t>
                </a:r>
                <a:endParaRPr lang="en-US" dirty="0"/>
              </a:p>
              <a:p>
                <a:pPr lvl="1"/>
                <a:r>
                  <a:rPr lang="en-US" dirty="0"/>
                  <a:t>Objective:		Release the number of diabetes patients 					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US" dirty="0"/>
              </a:p>
              <a:p>
                <a:pPr marL="39306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endParaRPr lang="en-US" sz="50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Idea</a:t>
                </a:r>
                <a:r>
                  <a:rPr lang="en-US" dirty="0"/>
                  <a:t>: </a:t>
                </a:r>
                <a:endParaRPr lang="en-US" dirty="0"/>
              </a:p>
              <a:p>
                <a:pPr lvl="1"/>
                <a:r>
                  <a:rPr lang="en-US" dirty="0"/>
                  <a:t>Perturb the number of diabetes patients to obtain a smooth distribution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2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363272" cy="3343726"/>
              </a:xfrm>
              <a:blipFill rotWithShape="1">
                <a:blip r:embed="rId2"/>
                <a:stretch>
                  <a:fillRect t="-16" r="4" b="-8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6" t="-24" r="10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9" t="-24" r="84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" t="-58" r="23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′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1" t="-58" r="6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6516216" y="6156012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56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>
            <a:off x="1115616" y="4869160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174596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113183" y="5401816"/>
            <a:ext cx="1958008" cy="586408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Freeform 23"/>
          <p:cNvSpPr/>
          <p:nvPr/>
        </p:nvSpPr>
        <p:spPr>
          <a:xfrm flipH="1">
            <a:off x="3059832" y="5393094"/>
            <a:ext cx="1944217" cy="586408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>
            <a:off x="4989443" y="5983153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6" name="Group 5"/>
          <p:cNvGrpSpPr/>
          <p:nvPr/>
        </p:nvGrpSpPr>
        <p:grpSpPr>
          <a:xfrm flipH="1">
            <a:off x="1163690" y="5397962"/>
            <a:ext cx="5784574" cy="725151"/>
            <a:chOff x="1265583" y="5469970"/>
            <a:chExt cx="5784574" cy="725151"/>
          </a:xfrm>
        </p:grpSpPr>
        <p:sp>
          <p:nvSpPr>
            <p:cNvPr id="17" name="Freeform 16"/>
            <p:cNvSpPr/>
            <p:nvPr/>
          </p:nvSpPr>
          <p:spPr>
            <a:xfrm>
              <a:off x="1265583" y="5478692"/>
              <a:ext cx="1958008" cy="586408"/>
            </a:xfrm>
            <a:custGeom>
              <a:avLst/>
              <a:gdLst>
                <a:gd name="connsiteX0" fmla="*/ 1958008 w 1958008"/>
                <a:gd name="connsiteY0" fmla="*/ 0 h 586408"/>
                <a:gd name="connsiteX1" fmla="*/ 1461052 w 1958008"/>
                <a:gd name="connsiteY1" fmla="*/ 278295 h 586408"/>
                <a:gd name="connsiteX2" fmla="*/ 924339 w 1958008"/>
                <a:gd name="connsiteY2" fmla="*/ 457200 h 586408"/>
                <a:gd name="connsiteX3" fmla="*/ 0 w 1958008"/>
                <a:gd name="connsiteY3" fmla="*/ 586408 h 58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8008" h="586408">
                  <a:moveTo>
                    <a:pt x="1958008" y="0"/>
                  </a:moveTo>
                  <a:cubicBezTo>
                    <a:pt x="1795669" y="101047"/>
                    <a:pt x="1633330" y="202095"/>
                    <a:pt x="1461052" y="278295"/>
                  </a:cubicBezTo>
                  <a:cubicBezTo>
                    <a:pt x="1288774" y="354495"/>
                    <a:pt x="1167848" y="405848"/>
                    <a:pt x="924339" y="457200"/>
                  </a:cubicBezTo>
                  <a:cubicBezTo>
                    <a:pt x="680830" y="508552"/>
                    <a:pt x="0" y="586408"/>
                    <a:pt x="0" y="586408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Freeform 18"/>
            <p:cNvSpPr/>
            <p:nvPr/>
          </p:nvSpPr>
          <p:spPr>
            <a:xfrm flipH="1">
              <a:off x="3212232" y="5469970"/>
              <a:ext cx="1944217" cy="586408"/>
            </a:xfrm>
            <a:custGeom>
              <a:avLst/>
              <a:gdLst>
                <a:gd name="connsiteX0" fmla="*/ 1958008 w 1958008"/>
                <a:gd name="connsiteY0" fmla="*/ 0 h 586408"/>
                <a:gd name="connsiteX1" fmla="*/ 1461052 w 1958008"/>
                <a:gd name="connsiteY1" fmla="*/ 278295 h 586408"/>
                <a:gd name="connsiteX2" fmla="*/ 924339 w 1958008"/>
                <a:gd name="connsiteY2" fmla="*/ 457200 h 586408"/>
                <a:gd name="connsiteX3" fmla="*/ 0 w 1958008"/>
                <a:gd name="connsiteY3" fmla="*/ 586408 h 58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8008" h="586408">
                  <a:moveTo>
                    <a:pt x="1958008" y="0"/>
                  </a:moveTo>
                  <a:cubicBezTo>
                    <a:pt x="1795669" y="101047"/>
                    <a:pt x="1633330" y="202095"/>
                    <a:pt x="1461052" y="278295"/>
                  </a:cubicBezTo>
                  <a:cubicBezTo>
                    <a:pt x="1288774" y="354495"/>
                    <a:pt x="1167848" y="405848"/>
                    <a:pt x="924339" y="457200"/>
                  </a:cubicBezTo>
                  <a:cubicBezTo>
                    <a:pt x="680830" y="508552"/>
                    <a:pt x="0" y="586408"/>
                    <a:pt x="0" y="586408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5141843" y="6055973"/>
              <a:ext cx="1908314" cy="139148"/>
            </a:xfrm>
            <a:custGeom>
              <a:avLst/>
              <a:gdLst>
                <a:gd name="connsiteX0" fmla="*/ 0 w 1908314"/>
                <a:gd name="connsiteY0" fmla="*/ 0 h 139148"/>
                <a:gd name="connsiteX1" fmla="*/ 1908314 w 1908314"/>
                <a:gd name="connsiteY1" fmla="*/ 139148 h 13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8314" h="139148">
                  <a:moveTo>
                    <a:pt x="0" y="0"/>
                  </a:moveTo>
                  <a:lnTo>
                    <a:pt x="1908314" y="139148"/>
                  </a:ln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Achieving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SG" dirty="0"/>
              </a:p>
            </p:txBody>
          </p:sp>
        </mc:Choice>
        <mc:Fallback>
          <p:sp>
            <p:nvSpPr>
              <p:cNvPr id="26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363272" cy="3343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Example:</a:t>
                </a:r>
                <a:endParaRPr lang="en-US" dirty="0"/>
              </a:p>
              <a:p>
                <a:pPr lvl="1"/>
                <a:r>
                  <a:rPr lang="en-US" dirty="0"/>
                  <a:t>Dataset: 		A set of patients</a:t>
                </a:r>
                <a:endParaRPr lang="en-US" dirty="0"/>
              </a:p>
              <a:p>
                <a:pPr lvl="1"/>
                <a:r>
                  <a:rPr lang="en-US" dirty="0"/>
                  <a:t>Objective:		Release the number of diabetes patients 					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dirty="0"/>
                  <a:t>differential privacy</a:t>
                </a:r>
                <a:endParaRPr lang="en-US" dirty="0"/>
              </a:p>
              <a:p>
                <a:pPr marL="39306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endParaRPr lang="en-US" sz="50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Idea</a:t>
                </a:r>
                <a:r>
                  <a:rPr lang="en-US" dirty="0"/>
                  <a:t>: </a:t>
                </a:r>
                <a:endParaRPr lang="en-US" dirty="0"/>
              </a:p>
              <a:p>
                <a:pPr lvl="1"/>
                <a:r>
                  <a:rPr lang="en-US" dirty="0"/>
                  <a:t>Perturb the number of diabetes patients to obtain a smooth distribution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2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363272" cy="3343726"/>
              </a:xfrm>
              <a:blipFill rotWithShape="1">
                <a:blip r:embed="rId2"/>
                <a:stretch>
                  <a:fillRect t="-16" r="4" b="-8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54" y="6165304"/>
                <a:ext cx="38343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6" t="-24" r="10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22" y="6165304"/>
                <a:ext cx="44275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9" t="-24" r="84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001" y="4859868"/>
                <a:ext cx="159101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" t="-58" r="23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′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510" y="4859868"/>
                <a:ext cx="170963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1" t="-58" r="6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6084168" y="5230196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084168" y="4950460"/>
            <a:ext cx="1008112" cy="11030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7" idx="2"/>
          </p:cNvCxnSpPr>
          <p:nvPr/>
        </p:nvCxnSpPr>
        <p:spPr>
          <a:xfrm flipH="1">
            <a:off x="6023925" y="4950460"/>
            <a:ext cx="873833" cy="9134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44208" y="4518811"/>
            <a:ext cx="16646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ratio bounded</a:t>
            </a:r>
            <a:endParaRPr lang="en-SG" sz="2000" dirty="0"/>
          </a:p>
        </p:txBody>
      </p:sp>
      <p:sp>
        <p:nvSpPr>
          <p:cNvPr id="27" name="Rectangle 26"/>
          <p:cNvSpPr/>
          <p:nvPr/>
        </p:nvSpPr>
        <p:spPr>
          <a:xfrm>
            <a:off x="6516216" y="6156012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57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9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Laplace Distribution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2250"/>
                <a:ext cx="8229600" cy="208823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/>
                      </a:rPr>
                      <m:t>𝑝𝑑𝑓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/>
                          </a:rPr>
                          <m:t>2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𝝀</m:t>
                            </m:r>
                          </m:den>
                        </m:f>
                      </m:e>
                    </m:d>
                  </m:oMath>
                </a14:m>
                <a:r>
                  <a:rPr lang="en-SG" dirty="0"/>
                  <a:t>;       </a:t>
                </a:r>
                <a:endParaRPr lang="en-SG" i="1" dirty="0"/>
              </a:p>
              <a:p>
                <a:r>
                  <a:rPr lang="en-US" dirty="0"/>
                  <a:t>increase/decrease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𝒙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𝜶</m:t>
                    </m:r>
                  </m:oMath>
                </a14:m>
                <a:endParaRPr lang="en-US" b="1" dirty="0">
                  <a:ea typeface="Cambria Math" panose="02040503050406030204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	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/>
                      </a:rPr>
                      <m:t>𝑝𝑑𝑓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 changes by a factor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𝜶</m:t>
                                </m:r>
                              </m:e>
                            </m:d>
                          </m:num>
                          <m:den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𝝀</m:t>
                            </m:r>
                          </m:den>
                        </m:f>
                      </m:e>
                    </m:d>
                  </m:oMath>
                </a14:m>
                <a:endParaRPr lang="en-SG" i="1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variance</m:t>
                    </m:r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  <m:sup>
                        <m:r>
                          <a:rPr lang="en-US" i="1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; 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</m:oMath>
                </a14:m>
                <a:r>
                  <a:rPr lang="en-SG" dirty="0"/>
                  <a:t> is referred as the </a:t>
                </a:r>
                <a:r>
                  <a:rPr lang="en-SG" i="1" dirty="0"/>
                  <a:t>scale</a:t>
                </a:r>
                <a:endParaRPr lang="en-US" dirty="0"/>
              </a:p>
              <a:p>
                <a:endParaRPr lang="en-US" b="1" dirty="0">
                  <a:ea typeface="Cambria Math" panose="02040503050406030204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2250"/>
                <a:ext cx="8229600" cy="2088232"/>
              </a:xfrm>
              <a:blipFill rotWithShape="1">
                <a:blip r:embed="rId1"/>
                <a:stretch>
                  <a:fillRect t="-1" b="-56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308474"/>
            <a:ext cx="918210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582210" y="3668514"/>
                <a:ext cx="8701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sz="2000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/>
                        </a:rPr>
                        <m:t>1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210" y="3668514"/>
                <a:ext cx="87011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50" t="-30" r="68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7380312" y="3874599"/>
            <a:ext cx="692277" cy="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380312" y="4152692"/>
            <a:ext cx="692277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6588224" y="3946607"/>
                <a:ext cx="8701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sz="2000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/>
                        </a:rPr>
                        <m:t>2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3946607"/>
                <a:ext cx="870110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11" t="-20" r="3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6588224" y="4235286"/>
                <a:ext cx="8701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sz="2000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/>
                        </a:rPr>
                        <m:t>4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4235286"/>
                <a:ext cx="870110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11" t="-118" r="30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7380312" y="4430785"/>
            <a:ext cx="692277" cy="0"/>
          </a:xfrm>
          <a:prstGeom prst="line">
            <a:avLst/>
          </a:prstGeom>
          <a:ln w="31750"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58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4127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450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# of diabetes patients =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a patient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450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1113183" y="4293220"/>
            <a:ext cx="7843894" cy="2232248"/>
            <a:chOff x="1113183" y="4509120"/>
            <a:chExt cx="7843894" cy="2232248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1115616" y="5003884"/>
              <a:ext cx="0" cy="1305436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 flipH="1">
              <a:off x="1115616" y="6309320"/>
              <a:ext cx="5976664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/>
                <p:cNvSpPr/>
                <p:nvPr/>
              </p:nvSpPr>
              <p:spPr>
                <a:xfrm>
                  <a:off x="2881196" y="6300028"/>
                  <a:ext cx="3946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𝒉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196" y="6300028"/>
                  <a:ext cx="394660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/>
                <p:cNvSpPr/>
                <p:nvPr/>
              </p:nvSpPr>
              <p:spPr>
                <a:xfrm>
                  <a:off x="4788024" y="6300028"/>
                  <a:ext cx="4539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𝒉</m:t>
                        </m:r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′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024" y="6300028"/>
                  <a:ext cx="453970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Freeform 10"/>
            <p:cNvSpPr/>
            <p:nvPr/>
          </p:nvSpPr>
          <p:spPr>
            <a:xfrm>
              <a:off x="1113183" y="5186844"/>
              <a:ext cx="1958008" cy="922931"/>
            </a:xfrm>
            <a:custGeom>
              <a:avLst/>
              <a:gdLst>
                <a:gd name="connsiteX0" fmla="*/ 1958008 w 1958008"/>
                <a:gd name="connsiteY0" fmla="*/ 0 h 586408"/>
                <a:gd name="connsiteX1" fmla="*/ 1461052 w 1958008"/>
                <a:gd name="connsiteY1" fmla="*/ 278295 h 586408"/>
                <a:gd name="connsiteX2" fmla="*/ 924339 w 1958008"/>
                <a:gd name="connsiteY2" fmla="*/ 457200 h 586408"/>
                <a:gd name="connsiteX3" fmla="*/ 0 w 1958008"/>
                <a:gd name="connsiteY3" fmla="*/ 586408 h 58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8008" h="586408">
                  <a:moveTo>
                    <a:pt x="1958008" y="0"/>
                  </a:moveTo>
                  <a:cubicBezTo>
                    <a:pt x="1795669" y="101047"/>
                    <a:pt x="1633330" y="202095"/>
                    <a:pt x="1461052" y="278295"/>
                  </a:cubicBezTo>
                  <a:cubicBezTo>
                    <a:pt x="1288774" y="354495"/>
                    <a:pt x="1167848" y="405848"/>
                    <a:pt x="924339" y="457200"/>
                  </a:cubicBezTo>
                  <a:cubicBezTo>
                    <a:pt x="680830" y="508552"/>
                    <a:pt x="0" y="586408"/>
                    <a:pt x="0" y="586408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Freeform 11"/>
            <p:cNvSpPr/>
            <p:nvPr/>
          </p:nvSpPr>
          <p:spPr>
            <a:xfrm flipH="1">
              <a:off x="3059831" y="5178122"/>
              <a:ext cx="1944217" cy="922931"/>
            </a:xfrm>
            <a:custGeom>
              <a:avLst/>
              <a:gdLst>
                <a:gd name="connsiteX0" fmla="*/ 1958008 w 1958008"/>
                <a:gd name="connsiteY0" fmla="*/ 0 h 586408"/>
                <a:gd name="connsiteX1" fmla="*/ 1461052 w 1958008"/>
                <a:gd name="connsiteY1" fmla="*/ 278295 h 586408"/>
                <a:gd name="connsiteX2" fmla="*/ 924339 w 1958008"/>
                <a:gd name="connsiteY2" fmla="*/ 457200 h 586408"/>
                <a:gd name="connsiteX3" fmla="*/ 0 w 1958008"/>
                <a:gd name="connsiteY3" fmla="*/ 586408 h 58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8008" h="586408">
                  <a:moveTo>
                    <a:pt x="1958008" y="0"/>
                  </a:moveTo>
                  <a:cubicBezTo>
                    <a:pt x="1795669" y="101047"/>
                    <a:pt x="1633330" y="202095"/>
                    <a:pt x="1461052" y="278295"/>
                  </a:cubicBezTo>
                  <a:cubicBezTo>
                    <a:pt x="1288774" y="354495"/>
                    <a:pt x="1167848" y="405848"/>
                    <a:pt x="924339" y="457200"/>
                  </a:cubicBezTo>
                  <a:cubicBezTo>
                    <a:pt x="680830" y="508552"/>
                    <a:pt x="0" y="586408"/>
                    <a:pt x="0" y="586408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4989443" y="6096238"/>
              <a:ext cx="1908314" cy="139148"/>
            </a:xfrm>
            <a:custGeom>
              <a:avLst/>
              <a:gdLst>
                <a:gd name="connsiteX0" fmla="*/ 0 w 1908314"/>
                <a:gd name="connsiteY0" fmla="*/ 0 h 139148"/>
                <a:gd name="connsiteX1" fmla="*/ 1908314 w 1908314"/>
                <a:gd name="connsiteY1" fmla="*/ 139148 h 13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8314" h="139148">
                  <a:moveTo>
                    <a:pt x="0" y="0"/>
                  </a:moveTo>
                  <a:lnTo>
                    <a:pt x="1908314" y="139148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Freeform 14"/>
            <p:cNvSpPr/>
            <p:nvPr/>
          </p:nvSpPr>
          <p:spPr>
            <a:xfrm flipH="1">
              <a:off x="4990256" y="5147900"/>
              <a:ext cx="1958008" cy="922931"/>
            </a:xfrm>
            <a:custGeom>
              <a:avLst/>
              <a:gdLst>
                <a:gd name="connsiteX0" fmla="*/ 1958008 w 1958008"/>
                <a:gd name="connsiteY0" fmla="*/ 0 h 586408"/>
                <a:gd name="connsiteX1" fmla="*/ 1461052 w 1958008"/>
                <a:gd name="connsiteY1" fmla="*/ 278295 h 586408"/>
                <a:gd name="connsiteX2" fmla="*/ 924339 w 1958008"/>
                <a:gd name="connsiteY2" fmla="*/ 457200 h 586408"/>
                <a:gd name="connsiteX3" fmla="*/ 0 w 1958008"/>
                <a:gd name="connsiteY3" fmla="*/ 586408 h 58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8008" h="586408">
                  <a:moveTo>
                    <a:pt x="1958008" y="0"/>
                  </a:moveTo>
                  <a:cubicBezTo>
                    <a:pt x="1795669" y="101047"/>
                    <a:pt x="1633330" y="202095"/>
                    <a:pt x="1461052" y="278295"/>
                  </a:cubicBezTo>
                  <a:cubicBezTo>
                    <a:pt x="1288774" y="354495"/>
                    <a:pt x="1167848" y="405848"/>
                    <a:pt x="924339" y="457200"/>
                  </a:cubicBezTo>
                  <a:cubicBezTo>
                    <a:pt x="680830" y="508552"/>
                    <a:pt x="0" y="586408"/>
                    <a:pt x="0" y="586408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3057398" y="5147900"/>
              <a:ext cx="1944217" cy="922931"/>
            </a:xfrm>
            <a:custGeom>
              <a:avLst/>
              <a:gdLst>
                <a:gd name="connsiteX0" fmla="*/ 1958008 w 1958008"/>
                <a:gd name="connsiteY0" fmla="*/ 0 h 586408"/>
                <a:gd name="connsiteX1" fmla="*/ 1461052 w 1958008"/>
                <a:gd name="connsiteY1" fmla="*/ 278295 h 586408"/>
                <a:gd name="connsiteX2" fmla="*/ 924339 w 1958008"/>
                <a:gd name="connsiteY2" fmla="*/ 457200 h 586408"/>
                <a:gd name="connsiteX3" fmla="*/ 0 w 1958008"/>
                <a:gd name="connsiteY3" fmla="*/ 586408 h 58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8008" h="586408">
                  <a:moveTo>
                    <a:pt x="1958008" y="0"/>
                  </a:moveTo>
                  <a:cubicBezTo>
                    <a:pt x="1795669" y="101047"/>
                    <a:pt x="1633330" y="202095"/>
                    <a:pt x="1461052" y="278295"/>
                  </a:cubicBezTo>
                  <a:cubicBezTo>
                    <a:pt x="1288774" y="354495"/>
                    <a:pt x="1167848" y="405848"/>
                    <a:pt x="924339" y="457200"/>
                  </a:cubicBezTo>
                  <a:cubicBezTo>
                    <a:pt x="680830" y="508552"/>
                    <a:pt x="0" y="586408"/>
                    <a:pt x="0" y="586408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Freeform 16"/>
            <p:cNvSpPr/>
            <p:nvPr/>
          </p:nvSpPr>
          <p:spPr>
            <a:xfrm flipH="1">
              <a:off x="1163690" y="6065109"/>
              <a:ext cx="1908314" cy="199092"/>
            </a:xfrm>
            <a:custGeom>
              <a:avLst/>
              <a:gdLst>
                <a:gd name="connsiteX0" fmla="*/ 0 w 1908314"/>
                <a:gd name="connsiteY0" fmla="*/ 0 h 139148"/>
                <a:gd name="connsiteX1" fmla="*/ 1908314 w 1908314"/>
                <a:gd name="connsiteY1" fmla="*/ 139148 h 13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8314" h="139148">
                  <a:moveTo>
                    <a:pt x="0" y="0"/>
                  </a:moveTo>
                  <a:lnTo>
                    <a:pt x="1908314" y="139148"/>
                  </a:ln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Rectangle 17"/>
                <p:cNvSpPr/>
                <p:nvPr/>
              </p:nvSpPr>
              <p:spPr>
                <a:xfrm>
                  <a:off x="6039963" y="5219908"/>
                  <a:ext cx="16839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𝑶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963" y="5219908"/>
                  <a:ext cx="1683987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/>
                <p:cNvSpPr/>
                <p:nvPr/>
              </p:nvSpPr>
              <p:spPr>
                <a:xfrm>
                  <a:off x="6069780" y="5507940"/>
                  <a:ext cx="16839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𝑶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9780" y="5507940"/>
                  <a:ext cx="1683987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/>
            <p:cNvCxnSpPr/>
            <p:nvPr/>
          </p:nvCxnSpPr>
          <p:spPr>
            <a:xfrm>
              <a:off x="7696147" y="5435932"/>
              <a:ext cx="692277" cy="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7696147" y="5723964"/>
              <a:ext cx="69227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059832" y="5219908"/>
              <a:ext cx="0" cy="107082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004048" y="5219908"/>
              <a:ext cx="0" cy="107082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499992" y="5219908"/>
              <a:ext cx="0" cy="107082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 22"/>
                <p:cNvSpPr/>
                <p:nvPr/>
              </p:nvSpPr>
              <p:spPr>
                <a:xfrm>
                  <a:off x="4283968" y="6300028"/>
                  <a:ext cx="37542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𝒚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968" y="6300028"/>
                  <a:ext cx="375424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/>
            <p:cNvCxnSpPr/>
            <p:nvPr/>
          </p:nvCxnSpPr>
          <p:spPr>
            <a:xfrm>
              <a:off x="3779912" y="4869160"/>
              <a:ext cx="720080" cy="11239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923928" y="4950460"/>
              <a:ext cx="548227" cy="6387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2979385" y="4509120"/>
              <a:ext cx="16646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+mj-lt"/>
                </a:rPr>
                <a:t>ratio bounded</a:t>
              </a:r>
              <a:endParaRPr lang="en-SG" sz="2000" dirty="0">
                <a:latin typeface="+mj-lt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16216" y="6341258"/>
              <a:ext cx="2440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+mj-lt"/>
                </a:rPr>
                <a:t># of diabetes patients</a:t>
              </a:r>
              <a:endParaRPr lang="en-SG" sz="2000" dirty="0">
                <a:latin typeface="+mj-lt"/>
              </a:endParaRPr>
            </a:p>
          </p:txBody>
        </p:sp>
      </p:grpSp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59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2857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a patient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086338" y="4725144"/>
                <a:ext cx="15829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38" y="4725144"/>
                <a:ext cx="158299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1" t="-30" r="27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518674" y="4715852"/>
                <a:ext cx="1621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𝑝𝑑𝑓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674" y="4715852"/>
                <a:ext cx="162127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" t="-93" r="24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1" t="-93" r="19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341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60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22226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the height of an individual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3608" y="4401772"/>
                <a:ext cx="1664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01772"/>
                <a:ext cx="166475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8" t="-159" r="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2547926" y="4392480"/>
                <a:ext cx="1680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𝑝𝑑𝑓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26" y="4392480"/>
                <a:ext cx="168058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8" t="-50" r="3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1" t="-162" r="2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33006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61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8572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the height of an individual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086338" y="4725144"/>
                <a:ext cx="15829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38" y="4725144"/>
                <a:ext cx="1582997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1" t="-30" r="27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518674" y="4715852"/>
                <a:ext cx="1621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𝑝𝑑𝑓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674" y="4715852"/>
                <a:ext cx="1621278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6" t="-93" r="24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1" t="-93" r="19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3608" y="4401772"/>
                <a:ext cx="1664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01772"/>
                <a:ext cx="1664750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8" t="-159" r="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2547926" y="4392480"/>
                <a:ext cx="1680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𝑝𝑑𝑓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26" y="4392480"/>
                <a:ext cx="1680588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8" t="-50" r="3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11" t="-162" r="2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087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62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2222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the height of an individual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518674" y="4715852"/>
                <a:ext cx="1621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𝑝𝑑𝑓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674" y="4715852"/>
                <a:ext cx="1621278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6" t="-93" r="24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1" t="-93" r="19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  <a:blipFill rotWithShape="1">
                <a:blip r:embed="rId9"/>
                <a:stretch>
                  <a:fillRect l="-18" t="-47" r="3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2547926" y="4392480"/>
                <a:ext cx="1680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𝑝𝑑𝑓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26" y="4392480"/>
                <a:ext cx="1680588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8" t="-50" r="3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1" t="-162" r="2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2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4050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63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317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the height of an individual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𝒉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84" y="4715852"/>
                <a:ext cx="2515432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1" t="-93" r="19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  <a:blipFill rotWithShape="1">
                <a:blip r:embed="rId8"/>
                <a:stretch>
                  <a:fillRect l="-18" t="-47" r="3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−|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𝒚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|/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𝝀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086" y="4427820"/>
                <a:ext cx="262604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1" t="-162" r="2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1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  <a:blipFill rotWithShape="1">
                <a:blip r:embed="rId10"/>
                <a:stretch>
                  <a:fillRect l="-14" t="-4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2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468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64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2857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the height of an individual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  <a:blipFill rotWithShape="1">
                <a:blip r:embed="rId7"/>
                <a:stretch>
                  <a:fillRect l="-18" t="-47" r="3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1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  <a:blipFill rotWithShape="1">
                <a:blip r:embed="rId8"/>
                <a:stretch>
                  <a:fillRect l="-14" t="-4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/>
              <p:cNvSpPr/>
              <p:nvPr/>
            </p:nvSpPr>
            <p:spPr>
              <a:xfrm>
                <a:off x="3995936" y="4407241"/>
                <a:ext cx="2627642" cy="6829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>
                              <a:latin typeface="Cambria Math" panose="02040503050406030204"/>
                              <a:ea typeface="Cambria Math" panose="02040503050406030204"/>
                            </a:rPr>
                            <m:t>−|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𝒉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′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|/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  <m:r>
                            <a:rPr lang="en-US" altLang="zh-CN" i="1" dirty="0"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lang="en-US" altLang="zh-CN" i="1" dirty="0"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m:rPr>
                              <m:nor/>
                            </m:rPr>
                            <a:rPr lang="en-SG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>
                              <a:latin typeface="Cambria Math" panose="02040503050406030204"/>
                              <a:ea typeface="Cambria Math" panose="02040503050406030204"/>
                            </a:rPr>
                            <m:t>−|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|/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  <m:r>
                            <a:rPr lang="en-US" altLang="zh-CN" i="1" dirty="0"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lang="en-US" altLang="zh-CN" i="1" dirty="0"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407241"/>
                <a:ext cx="2627642" cy="682944"/>
              </a:xfrm>
              <a:prstGeom prst="rect">
                <a:avLst/>
              </a:prstGeom>
              <a:blipFill rotWithShape="1">
                <a:blip r:embed="rId9"/>
                <a:stretch>
                  <a:fillRect l="-20" t="-50" r="20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0240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65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317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Dataset: 	A set of patients</a:t>
                </a:r>
                <a:endParaRPr lang="en-US" dirty="0"/>
              </a:p>
              <a:p>
                <a:r>
                  <a:rPr lang="en-US" dirty="0"/>
                  <a:t>Objective:	Release # of diabetes patients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Method:	Release the number + Laplace noise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𝑝𝑑𝑓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  <m:t>2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Rationale: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: the original dataset; 		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: modify the height of an individual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; 	# of diabetes patients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𝒉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3281010"/>
              </a:xfrm>
              <a:blipFill rotWithShape="1">
                <a:blip r:embed="rId1"/>
                <a:stretch>
                  <a:fillRect t="-13" r="7" b="-3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  <a:blipFill rotWithShape="1">
                <a:blip r:embed="rId7"/>
                <a:stretch>
                  <a:fillRect l="-18" t="-47" r="3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1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  <a:blipFill rotWithShape="1">
                <a:blip r:embed="rId8"/>
                <a:stretch>
                  <a:fillRect l="-14" t="-4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/>
              <p:cNvSpPr/>
              <p:nvPr/>
            </p:nvSpPr>
            <p:spPr>
              <a:xfrm>
                <a:off x="3995936" y="4407241"/>
                <a:ext cx="2257348" cy="6829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>
                              <a:latin typeface="Cambria Math" panose="02040503050406030204"/>
                              <a:ea typeface="Cambria Math" panose="02040503050406030204"/>
                            </a:rPr>
                            <m:t>−|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𝒉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′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|/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SG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>
                              <a:latin typeface="Cambria Math" panose="02040503050406030204"/>
                              <a:ea typeface="Cambria Math" panose="02040503050406030204"/>
                            </a:rPr>
                            <m:t>−|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|/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407241"/>
                <a:ext cx="2257348" cy="682944"/>
              </a:xfrm>
              <a:prstGeom prst="rect">
                <a:avLst/>
              </a:prstGeom>
              <a:blipFill rotWithShape="1">
                <a:blip r:embed="rId9"/>
                <a:stretch>
                  <a:fillRect l="-23" t="-50" r="19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6084168" y="4384414"/>
                <a:ext cx="1913152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  <a:ea typeface="Cambria Math" panose="02040503050406030204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𝒉</m:t>
                                      </m:r>
                                      <m:r>
                                        <a:rPr lang="en-US" i="1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𝒉</m:t>
                                          </m:r>
                                        </m:e>
                                        <m:sup>
                                          <m:r>
                                            <a:rPr lang="en-US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4384414"/>
                <a:ext cx="1913152" cy="714683"/>
              </a:xfrm>
              <a:prstGeom prst="rect">
                <a:avLst/>
              </a:prstGeom>
              <a:blipFill rotWithShape="1">
                <a:blip r:embed="rId10"/>
                <a:stretch>
                  <a:fillRect l="-12" t="-52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087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66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28650" y="-9524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435280" cy="30708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aim to ensure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r>
                  <a:rPr lang="en-US" dirty="0"/>
                  <a:t>How large should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</m:oMath>
                </a14:m>
                <a:r>
                  <a:rPr lang="en-US" dirty="0"/>
                  <a:t> be?</a:t>
                </a:r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  <a:ea typeface="Cambria Math" panose="02040503050406030204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𝒉</m:t>
                                    </m:r>
                                    <m:r>
                                      <a:rPr lang="en-US" i="1" dirty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1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</a:rPr>
                                          <m:t>𝒉</m:t>
                                        </m:r>
                                      </m:e>
                                      <m:sup>
                                        <m:r>
                                          <a:rPr lang="en-US" b="1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𝝀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exp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⁡(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r>
                  <a:rPr lang="en-US" dirty="0"/>
                  <a:t>    </a:t>
                </a:r>
                <a:r>
                  <a:rPr lang="en-US" dirty="0">
                    <a:sym typeface="Wingdings" panose="05000000000000000000" pitchFamily="2" charset="2"/>
                  </a:rPr>
                  <a:t>  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|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−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𝒉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′</m:t>
                        </m:r>
                      </m:sup>
                    </m:sSup>
                    <m: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|</m:t>
                    </m:r>
                    <m:r>
                      <a:rPr lang="en-US" b="0" i="0" dirty="0" smtClean="0">
                        <a:latin typeface="Cambria Math" panose="02040503050406030204"/>
                        <a:ea typeface="Cambria Math" panose="02040503050406030204"/>
                      </a:rPr>
                      <m:t>/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endParaRPr lang="en-SG" dirty="0"/>
              </a:p>
              <a:p>
                <a:r>
                  <a:rPr lang="en-US" dirty="0"/>
                  <a:t>How large can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|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−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𝒉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′</m:t>
                        </m:r>
                      </m:sup>
                    </m:sSup>
                    <m: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|</m:t>
                    </m:r>
                  </m:oMath>
                </a14:m>
                <a:r>
                  <a:rPr lang="en-SG" dirty="0"/>
                  <a:t> be?</a:t>
                </a:r>
                <a:endParaRPr lang="en-SG" dirty="0"/>
              </a:p>
              <a:p>
                <a:pPr lvl="1"/>
                <a:r>
                  <a:rPr lang="en-US" dirty="0"/>
                  <a:t>Change of a patient’s data would change the number of diabetes patients by at most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/>
                        <a:ea typeface="Cambria Math" panose="02040503050406030204"/>
                      </a:rPr>
                      <m:t>1</m:t>
                    </m:r>
                  </m:oMath>
                </a14:m>
                <a:r>
                  <a:rPr lang="en-US" dirty="0"/>
                  <a:t>, i.e.,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|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−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𝒉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′</m:t>
                        </m:r>
                      </m:sup>
                    </m:sSup>
                    <m: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/>
                        <a:ea typeface="Cambria Math" panose="02040503050406030204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Conclusion: Setting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i="1"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/>
                        <a:ea typeface="Cambria Math" panose="02040503050406030204"/>
                      </a:rPr>
                      <m:t>1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/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 would ensure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-differential privacy</a:t>
                </a:r>
                <a:endParaRPr lang="en-US" dirty="0"/>
              </a:p>
              <a:p>
                <a:endParaRPr lang="en-SG" dirty="0"/>
              </a:p>
              <a:p>
                <a:pPr marL="393065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435280" cy="3070898"/>
              </a:xfrm>
              <a:blipFill rotWithShape="1">
                <a:blip r:embed="rId1"/>
                <a:stretch>
                  <a:fillRect t="-9" r="7" b="-20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5003884"/>
            <a:ext cx="0" cy="130543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115616" y="6309320"/>
            <a:ext cx="597666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96" y="6300028"/>
                <a:ext cx="39466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1" t="-52" r="133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𝒉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6300028"/>
                <a:ext cx="45397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52" r="15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1113183" y="5186844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 11"/>
          <p:cNvSpPr/>
          <p:nvPr/>
        </p:nvSpPr>
        <p:spPr>
          <a:xfrm flipH="1">
            <a:off x="3059831" y="5178122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 12"/>
          <p:cNvSpPr/>
          <p:nvPr/>
        </p:nvSpPr>
        <p:spPr>
          <a:xfrm>
            <a:off x="4989443" y="6096238"/>
            <a:ext cx="1908314" cy="139148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 14"/>
          <p:cNvSpPr/>
          <p:nvPr/>
        </p:nvSpPr>
        <p:spPr>
          <a:xfrm flipH="1">
            <a:off x="4990256" y="5147900"/>
            <a:ext cx="1958008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 15"/>
          <p:cNvSpPr/>
          <p:nvPr/>
        </p:nvSpPr>
        <p:spPr>
          <a:xfrm>
            <a:off x="3057398" y="5147900"/>
            <a:ext cx="1944217" cy="922931"/>
          </a:xfrm>
          <a:custGeom>
            <a:avLst/>
            <a:gdLst>
              <a:gd name="connsiteX0" fmla="*/ 1958008 w 1958008"/>
              <a:gd name="connsiteY0" fmla="*/ 0 h 586408"/>
              <a:gd name="connsiteX1" fmla="*/ 1461052 w 1958008"/>
              <a:gd name="connsiteY1" fmla="*/ 278295 h 586408"/>
              <a:gd name="connsiteX2" fmla="*/ 924339 w 1958008"/>
              <a:gd name="connsiteY2" fmla="*/ 457200 h 586408"/>
              <a:gd name="connsiteX3" fmla="*/ 0 w 1958008"/>
              <a:gd name="connsiteY3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008" h="586408">
                <a:moveTo>
                  <a:pt x="1958008" y="0"/>
                </a:moveTo>
                <a:cubicBezTo>
                  <a:pt x="1795669" y="101047"/>
                  <a:pt x="1633330" y="202095"/>
                  <a:pt x="1461052" y="278295"/>
                </a:cubicBezTo>
                <a:cubicBezTo>
                  <a:pt x="1288774" y="354495"/>
                  <a:pt x="1167848" y="405848"/>
                  <a:pt x="924339" y="457200"/>
                </a:cubicBezTo>
                <a:cubicBezTo>
                  <a:pt x="680830" y="508552"/>
                  <a:pt x="0" y="586408"/>
                  <a:pt x="0" y="58640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 16"/>
          <p:cNvSpPr/>
          <p:nvPr/>
        </p:nvSpPr>
        <p:spPr>
          <a:xfrm flipH="1">
            <a:off x="1163690" y="6065109"/>
            <a:ext cx="1908314" cy="199092"/>
          </a:xfrm>
          <a:custGeom>
            <a:avLst/>
            <a:gdLst>
              <a:gd name="connsiteX0" fmla="*/ 0 w 1908314"/>
              <a:gd name="connsiteY0" fmla="*/ 0 h 139148"/>
              <a:gd name="connsiteX1" fmla="*/ 1908314 w 1908314"/>
              <a:gd name="connsiteY1" fmla="*/ 139148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8314" h="139148">
                <a:moveTo>
                  <a:pt x="0" y="0"/>
                </a:moveTo>
                <a:lnTo>
                  <a:pt x="1908314" y="13914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2" name="Straight Connector 21"/>
          <p:cNvCxnSpPr/>
          <p:nvPr/>
        </p:nvCxnSpPr>
        <p:spPr>
          <a:xfrm>
            <a:off x="3059832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04048" y="5219908"/>
            <a:ext cx="0" cy="1070828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63" y="5219908"/>
                <a:ext cx="16839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" t="-56" r="26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80" y="5507940"/>
                <a:ext cx="168398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58" r="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7696147" y="5435932"/>
            <a:ext cx="692277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696147" y="5723964"/>
            <a:ext cx="6922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499992" y="5219908"/>
            <a:ext cx="0" cy="107082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/>
              <p:cNvSpPr/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6300028"/>
                <a:ext cx="37542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9" t="-52" r="10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11666"/>
                <a:ext cx="1642308" cy="681212"/>
              </a:xfrm>
              <a:prstGeom prst="rect">
                <a:avLst/>
              </a:prstGeom>
              <a:blipFill rotWithShape="1">
                <a:blip r:embed="rId7"/>
                <a:stretch>
                  <a:fillRect l="-18" t="-47" r="3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/>
              <p:cNvSpPr/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𝑝𝑑𝑓</m:t>
                          </m:r>
                          <m:r>
                            <a:rPr lang="en-US" b="1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b="0" i="1" dirty="0" smtClean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817" y="4409743"/>
                <a:ext cx="1690142" cy="677943"/>
              </a:xfrm>
              <a:prstGeom prst="rect">
                <a:avLst/>
              </a:prstGeom>
              <a:blipFill rotWithShape="1">
                <a:blip r:embed="rId8"/>
                <a:stretch>
                  <a:fillRect l="-14" t="-4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3995936" y="4407241"/>
                <a:ext cx="2257348" cy="6829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>
                              <a:latin typeface="Cambria Math" panose="02040503050406030204"/>
                              <a:ea typeface="Cambria Math" panose="02040503050406030204"/>
                            </a:rPr>
                            <m:t>−|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𝒉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′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|/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SG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/>
                            </a:rPr>
                            <m:t>exp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  <m:r>
                            <a:rPr lang="en-US" b="1" i="1" dirty="0">
                              <a:latin typeface="Cambria Math" panose="02040503050406030204"/>
                              <a:ea typeface="Cambria Math" panose="02040503050406030204"/>
                            </a:rPr>
                            <m:t>−|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𝒉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|/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  <m:t>𝝀</m:t>
                          </m:r>
                          <m:r>
                            <a:rPr lang="en-US" i="1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407241"/>
                <a:ext cx="2257348" cy="682944"/>
              </a:xfrm>
              <a:prstGeom prst="rect">
                <a:avLst/>
              </a:prstGeom>
              <a:blipFill rotWithShape="1">
                <a:blip r:embed="rId9"/>
                <a:stretch>
                  <a:fillRect l="-23" t="-50" r="19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/>
              <p:cNvSpPr/>
              <p:nvPr/>
            </p:nvSpPr>
            <p:spPr>
              <a:xfrm>
                <a:off x="6084168" y="4384414"/>
                <a:ext cx="1913152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  <a:ea typeface="Cambria Math" panose="02040503050406030204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𝒉</m:t>
                                      </m:r>
                                      <m:r>
                                        <a:rPr lang="en-US" i="1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𝒉</m:t>
                                          </m:r>
                                        </m:e>
                                        <m:sup>
                                          <m:r>
                                            <a:rPr lang="en-US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𝝀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4384414"/>
                <a:ext cx="1913152" cy="714683"/>
              </a:xfrm>
              <a:prstGeom prst="rect">
                <a:avLst/>
              </a:prstGeom>
              <a:blipFill rotWithShape="1">
                <a:blip r:embed="rId10"/>
                <a:stretch>
                  <a:fillRect l="-12" t="-52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6516216" y="6341258"/>
            <a:ext cx="2440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# of diabetes patients</a:t>
            </a:r>
            <a:endParaRPr lang="en-SG" sz="2000" dirty="0">
              <a:latin typeface="+mj-lt"/>
            </a:endParaRPr>
          </a:p>
        </p:txBody>
      </p:sp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50240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67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637112"/>
              </a:xfrm>
            </p:spPr>
            <p:txBody>
              <a:bodyPr>
                <a:normAutofit/>
              </a:bodyPr>
              <a:lstStyle/>
              <a:p>
                <a:r>
                  <a:rPr lang="en-SG" dirty="0"/>
                  <a:t>In general, if we want to release a value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𝒗</m:t>
                    </m:r>
                  </m:oMath>
                </a14:m>
                <a:endParaRPr lang="en-SG" dirty="0"/>
              </a:p>
              <a:p>
                <a:pPr lvl="1"/>
                <a:r>
                  <a:rPr lang="en-SG" dirty="0"/>
                  <a:t>Add Laplace noise into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𝒗</m:t>
                    </m:r>
                  </m:oMath>
                </a14:m>
                <a:endParaRPr lang="en-SG" dirty="0"/>
              </a:p>
              <a:p>
                <a:r>
                  <a:rPr lang="en-SG" dirty="0"/>
                  <a:t>To decide the scale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SG" dirty="0"/>
                  <a:t>of Laplace noise</a:t>
                </a:r>
                <a:endParaRPr lang="en-SG" dirty="0"/>
              </a:p>
              <a:p>
                <a:pPr lvl="1"/>
                <a:r>
                  <a:rPr lang="en-SG" dirty="0"/>
                  <a:t>Look at the maixmum change that can occur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𝒗</m:t>
                    </m:r>
                  </m:oMath>
                </a14:m>
                <a:r>
                  <a:rPr lang="en-SG" dirty="0"/>
                  <a:t> (when we change one tuple in the dataset)</a:t>
                </a:r>
                <a:endParaRPr lang="en-SG" dirty="0"/>
              </a:p>
              <a:p>
                <a:pPr lvl="1"/>
                <a:r>
                  <a:rPr lang="en-SG" dirty="0"/>
                  <a:t>Set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</m:oMath>
                </a14:m>
                <a:r>
                  <a:rPr lang="en-SG" dirty="0"/>
                  <a:t> to be proportional to the maximum change</a:t>
                </a:r>
                <a:endParaRPr lang="en-SG" dirty="0"/>
              </a:p>
              <a:p>
                <a:pPr marL="457200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637112"/>
              </a:xfrm>
              <a:blipFill rotWithShape="1">
                <a:blip r:embed="rId1"/>
                <a:stretch>
                  <a:fillRect r="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68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Differential Privacy via Laplace Noise</a:t>
            </a:r>
            <a:endParaRPr lang="en-SG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6371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What if we have multiple values?</a:t>
                </a:r>
                <a:endParaRPr lang="en-US" dirty="0"/>
              </a:p>
              <a:p>
                <a:pPr lvl="1"/>
                <a:r>
                  <a:rPr lang="en-US" dirty="0"/>
                  <a:t>Add Laplace noise to each value</a:t>
                </a:r>
                <a:endParaRPr lang="en-US" dirty="0"/>
              </a:p>
              <a:p>
                <a:r>
                  <a:rPr lang="en-US" dirty="0"/>
                  <a:t>How do we decide the noise scale?</a:t>
                </a:r>
                <a:endParaRPr lang="en-US" dirty="0"/>
              </a:p>
              <a:p>
                <a:pPr lvl="1"/>
                <a:r>
                  <a:rPr lang="en-US" dirty="0"/>
                  <a:t>Look at the </a:t>
                </a:r>
                <a:r>
                  <a:rPr lang="en-US" i="1" dirty="0">
                    <a:solidFill>
                      <a:srgbClr val="C00000"/>
                    </a:solidFill>
                  </a:rPr>
                  <a:t>total change</a:t>
                </a:r>
                <a:r>
                  <a:rPr lang="en-US" dirty="0"/>
                  <a:t> that can occur in the values when we modify one tuple in the data</a:t>
                </a:r>
                <a:endParaRPr lang="en-US" dirty="0"/>
              </a:p>
              <a:p>
                <a:pPr lvl="1"/>
                <a:r>
                  <a:rPr lang="en-US" dirty="0"/>
                  <a:t>Total change: sum of the absolute change in each value (i.e., differences in L1 norm)</a:t>
                </a:r>
                <a:endParaRPr lang="en-US" dirty="0"/>
              </a:p>
              <a:p>
                <a:pPr lvl="1"/>
                <a:r>
                  <a:rPr lang="en-US" dirty="0"/>
                  <a:t>Set the scale of the noise to be proportional to the maximum total change</a:t>
                </a:r>
                <a:endParaRPr lang="en-US" dirty="0"/>
              </a:p>
              <a:p>
                <a:r>
                  <a:rPr lang="en-US" dirty="0"/>
                  <a:t>The maximum total change is referred to as the </a:t>
                </a:r>
                <a:r>
                  <a:rPr lang="en-US" i="1" dirty="0">
                    <a:solidFill>
                      <a:srgbClr val="C00000"/>
                    </a:solidFill>
                  </a:rPr>
                  <a:t>sensitivity</a:t>
                </a:r>
                <a:r>
                  <a:rPr lang="en-US" dirty="0"/>
                  <a:t> of the values</a:t>
                </a:r>
                <a:endParaRPr lang="en-US" dirty="0"/>
              </a:p>
              <a:p>
                <a:r>
                  <a:rPr lang="en-US" dirty="0"/>
                  <a:t>Theorem [</a:t>
                </a:r>
                <a:r>
                  <a:rPr lang="en-US" dirty="0" err="1"/>
                  <a:t>Dwork</a:t>
                </a:r>
                <a:r>
                  <a:rPr lang="en-US" dirty="0"/>
                  <a:t> et al. 2006]: Adding Laplace noise of scale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</m:oMath>
                </a14:m>
                <a:r>
                  <a:rPr lang="en-SG" dirty="0"/>
                  <a:t> to each value ensures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SG" dirty="0"/>
                  <a:t>-differential privacy, if </a:t>
                </a:r>
                <a:br>
                  <a:rPr lang="en-SG" dirty="0"/>
                </a:br>
                <a:r>
                  <a:rPr lang="en-SG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sensitivity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values</m:t>
                        </m:r>
                        <m:r>
                          <m:rPr>
                            <m:nor/>
                          </m:rPr>
                          <a:rPr lang="en-SG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𝜺</m:t>
                        </m:r>
                      </m:den>
                    </m:f>
                  </m:oMath>
                </a14:m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637112"/>
              </a:xfrm>
              <a:blipFill rotWithShape="1">
                <a:blip r:embed="rId1"/>
                <a:stretch>
                  <a:fillRect t="-383" r="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69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Sensitivity of Queries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Histogram</a:t>
                </a:r>
                <a:endParaRPr lang="en-US" dirty="0"/>
              </a:p>
              <a:p>
                <a:pPr lvl="1"/>
                <a:r>
                  <a:rPr lang="en-US" dirty="0"/>
                  <a:t>Sensitivity of the bin counts: 2</a:t>
                </a:r>
                <a:endParaRPr lang="en-US" dirty="0"/>
              </a:p>
              <a:p>
                <a:pPr lvl="1"/>
                <a:r>
                  <a:rPr lang="en-US" dirty="0"/>
                  <a:t>Reason: When we modify a tuple in the dataset, at most two bin counts would change; furthermore, each bin count would change by at most 1</a:t>
                </a:r>
                <a:endParaRPr lang="en-US" dirty="0"/>
              </a:p>
              <a:p>
                <a:pPr lvl="1"/>
                <a:r>
                  <a:rPr lang="en-US" dirty="0"/>
                  <a:t>Scale of Laplace noise required: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2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/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more complex queries, the derivation of sensitivity can be much more complicated</a:t>
                </a:r>
                <a:endParaRPr lang="en-US" dirty="0"/>
              </a:p>
              <a:p>
                <a:pPr lvl="1"/>
                <a:r>
                  <a:rPr lang="en-US" dirty="0"/>
                  <a:t>Example: Parameters of a logistic model</a:t>
                </a:r>
                <a:endParaRPr lang="en-US" dirty="0"/>
              </a:p>
              <a:p>
                <a:pPr lvl="1"/>
                <a:endParaRPr lang="en-SG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70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80" y="3369918"/>
            <a:ext cx="7126312" cy="306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20637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Geometric Mechanism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79500"/>
                <a:ext cx="8435280" cy="240486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Suitable for queries with integer outputs [</a:t>
                </a:r>
                <a:r>
                  <a:rPr lang="en-US" dirty="0" err="1"/>
                  <a:t>Ghosh</a:t>
                </a:r>
                <a:r>
                  <a:rPr lang="en-US" dirty="0"/>
                  <a:t> et al. 2009]</a:t>
                </a:r>
                <a:endParaRPr lang="en-US" dirty="0"/>
              </a:p>
              <a:p>
                <a:r>
                  <a:rPr lang="en-US" dirty="0"/>
                  <a:t>Adds noise to each query; the noise follows a two-sided geometric distribution: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/>
                      </a:rPr>
                      <m:t>Pr</m:t>
                    </m:r>
                    <m:r>
                      <a:rPr lang="en-US" b="0" i="1" smtClean="0">
                        <a:latin typeface="Cambria Math" panose="02040503050406030204"/>
                      </a:rPr>
                      <m:t>⁡[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/>
                      </a:rPr>
                      <m:t>]</m:t>
                    </m:r>
                    <m:r>
                      <a:rPr lang="en-US" i="1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/>
                          </a:rPr>
                          <m:t>exp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⁡(−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/>
                          </a:rPr>
                          <m:t>exp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⁡(−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𝝀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for integer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𝒙</m:t>
                    </m:r>
                  </m:oMath>
                </a14:m>
                <a:endParaRPr lang="en-US" dirty="0"/>
              </a:p>
              <a:p>
                <a:r>
                  <a:rPr lang="en-US" dirty="0"/>
                  <a:t>Queries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𝑸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with sensitivity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𝑺</m:t>
                    </m:r>
                    <m:r>
                      <a:rPr lang="en-US" b="0" i="0" smtClean="0">
                        <a:latin typeface="Cambria Math" panose="02040503050406030204"/>
                      </a:rPr>
                      <m:t>(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𝑸</m:t>
                    </m:r>
                    <m:r>
                      <a:rPr lang="en-US" b="0" i="0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SG" dirty="0"/>
                  <a:t> require geometric noise with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𝑺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𝑸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/>
                      </a:rPr>
                      <m:t>/</m:t>
                    </m:r>
                    <m:r>
                      <a:rPr lang="zh-CN" alt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𝜺</m:t>
                    </m:r>
                  </m:oMath>
                </a14:m>
                <a:endParaRPr lang="en-SG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79500"/>
                <a:ext cx="8435280" cy="2404864"/>
              </a:xfrm>
              <a:blipFill rotWithShape="1">
                <a:blip r:embed="rId2"/>
                <a:stretch>
                  <a:fillRect t="-739" r="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148064" y="3725788"/>
            <a:ext cx="9701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Laplace</a:t>
            </a:r>
            <a:endParaRPr lang="en-SG" sz="2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450222" y="3931873"/>
            <a:ext cx="692277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58022" y="4045758"/>
            <a:ext cx="1286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Geometric</a:t>
            </a:r>
            <a:endParaRPr lang="en-SG" sz="20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472011" y="4251843"/>
            <a:ext cx="692277" cy="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71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Exponential Mechanism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Suitable for queries with non-numeric outputs [</a:t>
                </a:r>
                <a:r>
                  <a:rPr lang="en-US" dirty="0" err="1"/>
                  <a:t>McSherry</a:t>
                </a:r>
                <a:r>
                  <a:rPr lang="en-US" dirty="0"/>
                  <a:t> and </a:t>
                </a:r>
                <a:r>
                  <a:rPr lang="en-US" dirty="0" err="1"/>
                  <a:t>Talwar</a:t>
                </a:r>
                <a:r>
                  <a:rPr lang="en-US" dirty="0"/>
                  <a:t> 2007]</a:t>
                </a:r>
                <a:endParaRPr lang="en-US" dirty="0"/>
              </a:p>
              <a:p>
                <a:r>
                  <a:rPr lang="en-US" dirty="0"/>
                  <a:t>Example: Top-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/>
                      </a:rPr>
                      <m:t>1</m:t>
                    </m:r>
                  </m:oMath>
                </a14:m>
                <a:r>
                  <a:rPr lang="en-US" dirty="0"/>
                  <a:t> frequent </a:t>
                </a:r>
                <a:r>
                  <a:rPr lang="en-US" dirty="0" err="1"/>
                  <a:t>itemset</a:t>
                </a:r>
                <a:r>
                  <a:rPr lang="en-US" dirty="0"/>
                  <a:t> from a transaction database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Basic Idea:</a:t>
                </a:r>
                <a:endParaRPr lang="en-US" dirty="0"/>
              </a:p>
              <a:p>
                <a:pPr lvl="1"/>
                <a:r>
                  <a:rPr lang="en-US" dirty="0"/>
                  <a:t>Sample one </a:t>
                </a:r>
                <a:r>
                  <a:rPr lang="en-US" dirty="0" err="1"/>
                  <a:t>itemset</a:t>
                </a:r>
                <a:r>
                  <a:rPr lang="en-US" dirty="0"/>
                  <a:t> from the set of all possible </a:t>
                </a:r>
                <a:r>
                  <a:rPr lang="en-US" dirty="0" err="1"/>
                  <a:t>itemsets</a:t>
                </a:r>
                <a:r>
                  <a:rPr lang="en-US" dirty="0"/>
                  <a:t> </a:t>
                </a:r>
                <a:endParaRPr lang="en-US" dirty="0"/>
              </a:p>
              <a:p>
                <a:pPr lvl="1"/>
                <a:r>
                  <a:rPr lang="en-US" dirty="0" err="1"/>
                  <a:t>Itemsets</a:t>
                </a:r>
                <a:r>
                  <a:rPr lang="en-US" dirty="0"/>
                  <a:t> with higher frequencies are more likely to be sampled</a:t>
                </a:r>
                <a:endParaRPr lang="en-US" dirty="0"/>
              </a:p>
              <a:p>
                <a:pPr lvl="1"/>
                <a:r>
                  <a:rPr lang="en-US" dirty="0"/>
                  <a:t>Any change of a single transaction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should lead to only bounded change in the sampling probability</a:t>
                </a:r>
                <a:endParaRPr lang="en-US" dirty="0"/>
              </a:p>
              <a:p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72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Exponential Mechanism (cont.)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8531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Details:</a:t>
                </a:r>
                <a:endParaRPr lang="en-US" dirty="0"/>
              </a:p>
              <a:p>
                <a:pPr lvl="1"/>
                <a:r>
                  <a:rPr lang="en-US" dirty="0"/>
                  <a:t>Denote the frequency an </a:t>
                </a:r>
                <a:r>
                  <a:rPr lang="en-US" dirty="0" err="1"/>
                  <a:t>itemset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𝑰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(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𝑰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Sampling probability 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𝑰</m:t>
                    </m:r>
                  </m:oMath>
                </a14:m>
                <a:r>
                  <a:rPr lang="en-US" dirty="0"/>
                  <a:t>:  proportional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𝒇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𝑰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)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SG" dirty="0"/>
                  <a:t>Why this ensures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SG" dirty="0"/>
                  <a:t>-differential privacy:</a:t>
                </a:r>
                <a:endParaRPr lang="en-SG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500" b="0" i="0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sz="3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500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𝑰</m:t>
                        </m:r>
                        <m:r>
                          <a:rPr lang="en-US" sz="3500" b="0" i="0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500" b="0" i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is</m:t>
                        </m:r>
                        <m:r>
                          <a:rPr lang="en-US" sz="3500" b="0" i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500" b="0" i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sampled</m:t>
                        </m:r>
                      </m:e>
                    </m:d>
                    <m:r>
                      <a:rPr lang="en-US" sz="3500" b="0" i="0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= </m:t>
                    </m:r>
                    <m:f>
                      <m:fPr>
                        <m:ctrlPr>
                          <a:rPr lang="en-US" sz="3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500" dirty="0">
                            <a:latin typeface="Cambria Math" panose="02040503050406030204"/>
                          </a:rPr>
                          <m:t>exp</m:t>
                        </m:r>
                        <m:d>
                          <m:dPr>
                            <m:ctrlPr>
                              <a:rPr lang="en-US" sz="3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500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𝒇</m:t>
                            </m:r>
                            <m:r>
                              <a:rPr lang="en-US" sz="3500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lang="en-US" sz="3500" b="1" i="1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𝑰</m:t>
                            </m:r>
                            <m:r>
                              <a:rPr lang="en-US" sz="3500" b="1" i="1">
                                <a:latin typeface="Cambria Math" panose="02040503050406030204"/>
                              </a:rPr>
                              <m:t>)</m:t>
                            </m:r>
                            <m:r>
                              <a:rPr lang="en-US" sz="3500" b="1" i="1">
                                <a:latin typeface="Cambria Math" panose="02040503050406030204"/>
                                <a:ea typeface="Cambria Math" panose="02040503050406030204"/>
                              </a:rPr>
                              <m:t>/</m:t>
                            </m:r>
                            <m:r>
                              <a:rPr lang="en-US" sz="3500" b="1" i="1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𝝀</m:t>
                            </m:r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3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3500" b="0" i="1" smtClean="0">
                                <a:solidFill>
                                  <a:schemeClr val="tx1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∀</m:t>
                            </m:r>
                            <m:r>
                              <a:rPr lang="en-US" sz="3500" i="1">
                                <a:latin typeface="Cambria Math" panose="02040503050406030204"/>
                              </a:rPr>
                              <m:t> </m:t>
                            </m:r>
                            <m:r>
                              <m:rPr>
                                <m:brk m:alnAt="9"/>
                              </m:rPr>
                              <a:rPr lang="en-US" sz="3500" b="1" i="1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𝑰</m:t>
                            </m:r>
                            <m:r>
                              <a:rPr lang="en-US" sz="3500" b="1" i="1" baseline="30000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′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sz="3500" dirty="0">
                                <a:latin typeface="Cambria Math" panose="02040503050406030204"/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en-US" sz="35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5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𝒇</m:t>
                                </m:r>
                                <m:r>
                                  <a:rPr lang="en-US" sz="3500">
                                    <a:latin typeface="Cambria Math" panose="02040503050406030204"/>
                                  </a:rPr>
                                  <m:t>(</m:t>
                                </m:r>
                                <m:r>
                                  <a:rPr lang="en-US" sz="35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𝑰</m:t>
                                </m:r>
                                <m:r>
                                  <a:rPr lang="en-US" sz="3500" b="1" i="1" baseline="3000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′</m:t>
                                </m:r>
                                <m:r>
                                  <a:rPr lang="en-US" sz="3500" b="1" i="1">
                                    <a:latin typeface="Cambria Math" panose="02040503050406030204"/>
                                  </a:rPr>
                                  <m:t>)</m:t>
                                </m:r>
                                <m:r>
                                  <a:rPr lang="en-US" sz="3500" b="1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/</m:t>
                                </m:r>
                                <m:r>
                                  <a:rPr lang="en-US" sz="35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𝝀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SG" sz="3500" dirty="0"/>
              </a:p>
              <a:p>
                <a:pPr lvl="1"/>
                <a:r>
                  <a:rPr lang="en-SG" dirty="0"/>
                  <a:t>When change one transaction in the dataset</a:t>
                </a:r>
                <a:endParaRPr lang="en-SG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𝑰</m:t>
                    </m:r>
                    <m:r>
                      <a:rPr lang="en-US" b="1" i="1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SG" dirty="0"/>
                  <a:t> changes by at most 1</a:t>
                </a:r>
                <a:endParaRPr lang="en-SG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𝒇</m:t>
                        </m:r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𝑰</m:t>
                        </m:r>
                        <m:r>
                          <a:rPr lang="en-US" b="1" i="1">
                            <a:latin typeface="Cambria Math" panose="02040503050406030204"/>
                          </a:rPr>
                          <m:t>)</m:t>
                        </m:r>
                        <m:r>
                          <a:rPr lang="en-US" b="1" i="1">
                            <a:latin typeface="Cambria Math" panose="02040503050406030204"/>
                            <a:ea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</m:d>
                  </m:oMath>
                </a14:m>
                <a:r>
                  <a:rPr lang="en-SG" dirty="0"/>
                  <a:t> changes by a factor of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/>
                          </a:rPr>
                          <m:t>1</m:t>
                        </m:r>
                        <m:r>
                          <a:rPr lang="en-US" b="1" i="1">
                            <a:latin typeface="Cambria Math" panose="02040503050406030204"/>
                            <a:ea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</m:d>
                  </m:oMath>
                </a14:m>
                <a:endParaRPr lang="en-SG" dirty="0"/>
              </a:p>
              <a:p>
                <a:pPr lvl="1"/>
                <a:r>
                  <a:rPr lang="en-US" dirty="0"/>
                  <a:t>F</a:t>
                </a:r>
                <a:r>
                  <a:rPr lang="en-US" b="0" dirty="0">
                    <a:solidFill>
                      <a:schemeClr val="tx1"/>
                    </a:solidFill>
                  </a:rPr>
                  <a:t>or any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𝑰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𝑰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  <m:r>
                      <a:rPr lang="en-US" b="1" i="1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SG" dirty="0"/>
                  <a:t> changes by at most 1</a:t>
                </a:r>
                <a:endParaRPr lang="en-SG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/>
                            <a:ea typeface="Cambria Math" panose="02040503050406030204"/>
                          </a:rPr>
                          <m:t>∀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brk m:alnAt="9"/>
                          </m:r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𝑰</m:t>
                        </m:r>
                        <m:r>
                          <a:rPr lang="en-US" b="1" i="1" baseline="3000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exp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𝒇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𝑰</m:t>
                            </m:r>
                            <m:r>
                              <a:rPr lang="en-US" b="1" i="1" baseline="3000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′</m:t>
                            </m:r>
                            <m:r>
                              <a:rPr lang="en-US" b="1" i="1">
                                <a:latin typeface="Cambria Math" panose="02040503050406030204"/>
                              </a:rPr>
                              <m:t>)</m:t>
                            </m:r>
                            <m:r>
                              <a:rPr lang="en-US" b="1" i="1">
                                <a:latin typeface="Cambria Math" panose="02040503050406030204"/>
                                <a:ea typeface="Cambria Math" panose="02040503050406030204"/>
                              </a:rPr>
                              <m:t>/</m:t>
                            </m:r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𝝀</m:t>
                            </m:r>
                          </m:e>
                        </m:d>
                      </m:e>
                    </m:nary>
                  </m:oMath>
                </a14:m>
                <a:r>
                  <a:rPr lang="en-SG" dirty="0"/>
                  <a:t> changes by a factor of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/>
                          </a:rPr>
                          <m:t>1</m:t>
                        </m:r>
                        <m:r>
                          <a:rPr lang="en-US" b="1" i="1">
                            <a:latin typeface="Cambria Math" panose="02040503050406030204"/>
                            <a:ea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</m:d>
                  </m:oMath>
                </a14:m>
                <a:endParaRPr lang="en-SG" dirty="0"/>
              </a:p>
              <a:p>
                <a:pPr lvl="1"/>
                <a:r>
                  <a:rPr lang="en-SG" dirty="0"/>
                  <a:t>Thus,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𝑰</m:t>
                        </m:r>
                        <m: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/>
                          </a:rPr>
                          <m:t>is</m:t>
                        </m:r>
                        <m: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/>
                          </a:rPr>
                          <m:t>sampled</m:t>
                        </m:r>
                      </m:e>
                    </m:d>
                  </m:oMath>
                </a14:m>
                <a:r>
                  <a:rPr lang="en-SG" dirty="0"/>
                  <a:t> changes by a factor of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</a:rPr>
                      <m:t>exp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/>
                          </a:rPr>
                          <m:t>2</m:t>
                        </m:r>
                        <m:r>
                          <a:rPr lang="en-US" b="1" i="1">
                            <a:latin typeface="Cambria Math" panose="02040503050406030204"/>
                            <a:ea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</m:d>
                  </m:oMath>
                </a14:m>
                <a:endParaRPr lang="en-SG" dirty="0"/>
              </a:p>
              <a:p>
                <a:pPr lvl="1"/>
                <a:r>
                  <a:rPr lang="en-SG" dirty="0"/>
                  <a:t>We can achieve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SG" dirty="0"/>
                  <a:t>-differential privacy by setting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i="1" dirty="0">
                        <a:latin typeface="Cambria Math" panose="02040503050406030204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/>
                      </a:rPr>
                      <m:t>/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853136"/>
              </a:xfrm>
              <a:blipFill rotWithShape="1">
                <a:blip r:embed="rId1"/>
                <a:stretch>
                  <a:fillRect t="-366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73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Exponential Mechanism (cont.)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General case:</a:t>
                </a:r>
                <a:endParaRPr lang="en-US" dirty="0"/>
              </a:p>
              <a:p>
                <a:pPr lvl="1"/>
                <a:r>
                  <a:rPr lang="en-US" dirty="0"/>
                  <a:t>A dataset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 output space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𝑬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score function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  <m:r>
                      <a:rPr lang="en-US" b="1" i="1">
                        <a:latin typeface="Cambria Math" panose="02040503050406030204"/>
                      </a:rPr>
                      <m:t>(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>
                        <a:latin typeface="Cambria Math" panose="02040503050406030204"/>
                      </a:rPr>
                      <m:t>, 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𝒆</m:t>
                    </m:r>
                    <m:r>
                      <a:rPr lang="en-US" b="1" i="1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dirty="0"/>
                  <a:t> measures the “goodness” 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𝒆</m:t>
                    </m:r>
                    <m:r>
                      <a:rPr lang="en-US" i="1">
                        <a:latin typeface="Cambria Math" panose="02040503050406030204"/>
                        <a:ea typeface="Cambria Math" panose="02040503050406030204"/>
                      </a:rPr>
                      <m:t>∈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𝑬</m:t>
                    </m:r>
                  </m:oMath>
                </a14:m>
                <a:r>
                  <a:rPr lang="en-US" dirty="0"/>
                  <a:t> given dataset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any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𝒆</m:t>
                    </m:r>
                    <m:r>
                      <a:rPr lang="en-US" i="1">
                        <a:latin typeface="Cambria Math" panose="02040503050406030204"/>
                        <a:ea typeface="Cambria Math" panose="02040503050406030204"/>
                      </a:rPr>
                      <m:t>∈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𝑬</m:t>
                    </m:r>
                  </m:oMath>
                </a14:m>
                <a:r>
                  <a:rPr lang="en-US" dirty="0"/>
                  <a:t> with probability proportional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exp</m:t>
                    </m:r>
                    <m:r>
                      <a:rPr lang="en-US" i="1">
                        <a:latin typeface="Cambria Math" panose="02040503050406030204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𝒇</m:t>
                        </m:r>
                        <m:r>
                          <a:rPr lang="en-US" b="1" i="1">
                            <a:latin typeface="Cambria Math" panose="02040503050406030204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𝑫</m:t>
                        </m:r>
                        <m:r>
                          <a:rPr lang="en-US" b="1" i="1">
                            <a:latin typeface="Cambria Math" panose="02040503050406030204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𝒆</m:t>
                        </m:r>
                        <m:r>
                          <a:rPr lang="en-US" b="1" i="1">
                            <a:latin typeface="Cambria Math" panose="02040503050406030204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𝝀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Theorem [</a:t>
                </a:r>
                <a:r>
                  <a:rPr lang="en-US" dirty="0" err="1"/>
                  <a:t>McSherry</a:t>
                </a:r>
                <a:r>
                  <a:rPr lang="en-US" dirty="0"/>
                  <a:t> and </a:t>
                </a:r>
                <a:r>
                  <a:rPr lang="en-US" dirty="0" err="1"/>
                  <a:t>Talwar</a:t>
                </a:r>
                <a:r>
                  <a:rPr lang="en-US" dirty="0"/>
                  <a:t> 2007]:</a:t>
                </a:r>
                <a:endParaRPr lang="en-US" dirty="0"/>
              </a:p>
              <a:p>
                <a:pPr lvl="1"/>
                <a:r>
                  <a:rPr lang="en-US" dirty="0"/>
                  <a:t>Achieve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SG" dirty="0"/>
                  <a:t>-differential privacy by setting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𝝀</m:t>
                    </m:r>
                    <m:r>
                      <a:rPr lang="en-US" b="1" i="1"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i="1" dirty="0">
                        <a:latin typeface="Cambria Math" panose="02040503050406030204"/>
                      </a:rPr>
                      <m:t>2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𝑺</m:t>
                    </m:r>
                    <m:r>
                      <a:rPr lang="en-US" b="0" i="1" dirty="0" smtClean="0">
                        <a:latin typeface="Cambria Math" panose="02040503050406030204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  <m:r>
                      <a:rPr lang="en-US" b="0" i="1" dirty="0" smtClean="0">
                        <a:latin typeface="Cambria Math" panose="02040503050406030204"/>
                      </a:rPr>
                      <m:t>)</m:t>
                    </m:r>
                    <m:r>
                      <a:rPr lang="en-US" i="1" dirty="0">
                        <a:latin typeface="Cambria Math" panose="02040503050406030204"/>
                      </a:rPr>
                      <m:t>/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𝑺</m:t>
                    </m:r>
                    <m:r>
                      <a:rPr lang="en-US" i="1" dirty="0">
                        <a:latin typeface="Cambria Math" panose="02040503050406030204"/>
                      </a:rPr>
                      <m:t>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  <m:r>
                      <a:rPr lang="en-US" i="1" dirty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dirty="0"/>
                  <a:t> denotes the sensitivity of the score function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𝒇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74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Composition of Differential Privacy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SG" dirty="0"/>
                  <a:t>What if we want to compute the top-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en-SG" dirty="0"/>
                  <a:t> frequent </a:t>
                </a:r>
                <a:r>
                  <a:rPr lang="en-SG" dirty="0" err="1"/>
                  <a:t>itemsets</a:t>
                </a:r>
                <a:r>
                  <a:rPr lang="en-SG" dirty="0"/>
                  <a:t>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SG" dirty="0"/>
                  <a:t>-differential privacy?</a:t>
                </a:r>
                <a:endParaRPr lang="en-SG" dirty="0"/>
              </a:p>
              <a:p>
                <a:r>
                  <a:rPr lang="en-SG" dirty="0"/>
                  <a:t>Solution: Apply the previous exponential mechanism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𝒌</m:t>
                    </m:r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SG" dirty="0"/>
                  <a:t>times, each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𝜺</m:t>
                        </m:r>
                        <m:r>
                          <a:rPr lang="en-US" b="1" i="1" dirty="0">
                            <a:latin typeface="Cambria Math" panose="02040503050406030204"/>
                            <a:ea typeface="Cambria Math" panose="02040503050406030204"/>
                          </a:rPr>
                          <m:t>/</m:t>
                        </m:r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𝒌</m:t>
                        </m:r>
                      </m:e>
                    </m:d>
                  </m:oMath>
                </a14:m>
                <a:r>
                  <a:rPr lang="en-SG" dirty="0"/>
                  <a:t>-differential privacy</a:t>
                </a:r>
                <a:endParaRPr lang="en-SG" dirty="0"/>
              </a:p>
              <a:p>
                <a:r>
                  <a:rPr lang="en-SG" dirty="0"/>
                  <a:t>Corollary from [</a:t>
                </a:r>
                <a:r>
                  <a:rPr lang="en-SG" dirty="0" err="1"/>
                  <a:t>McSherry</a:t>
                </a:r>
                <a:r>
                  <a:rPr lang="en-SG" dirty="0"/>
                  <a:t> and </a:t>
                </a:r>
                <a:r>
                  <a:rPr lang="en-SG" dirty="0" err="1"/>
                  <a:t>Tulwar</a:t>
                </a:r>
                <a:r>
                  <a:rPr lang="en-SG" dirty="0"/>
                  <a:t> 2008]:</a:t>
                </a:r>
                <a:endParaRPr lang="en-SG" dirty="0"/>
              </a:p>
              <a:p>
                <a:pPr lvl="1"/>
                <a:r>
                  <a:rPr lang="en-SG" dirty="0"/>
                  <a:t>The sequential application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𝒎</m:t>
                    </m:r>
                  </m:oMath>
                </a14:m>
                <a:r>
                  <a:rPr lang="en-SG" dirty="0"/>
                  <a:t> algorithms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𝑨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𝑨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𝟐</m:t>
                        </m:r>
                      </m:sub>
                    </m:sSub>
                    <m:r>
                      <a:rPr lang="en-US" b="1" i="1" dirty="0">
                        <a:latin typeface="Cambria Math" panose="02040503050406030204"/>
                        <a:ea typeface="Cambria Math" panose="02040503050406030204"/>
                      </a:rPr>
                      <m:t>,⋯</m:t>
                    </m:r>
                    <m:r>
                      <a:rPr lang="en-US" b="1" i="1" dirty="0" smtClean="0">
                        <a:latin typeface="Cambria Math" panose="02040503050406030204"/>
                        <a:ea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𝑨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𝒎</m:t>
                        </m:r>
                      </m:sub>
                    </m:sSub>
                    <m:r>
                      <a:rPr lang="en-US" b="1" i="1" dirty="0">
                        <a:latin typeface="Cambria Math" panose="02040503050406030204"/>
                        <a:ea typeface="Cambria Math" panose="02040503050406030204"/>
                      </a:rPr>
                      <m:t>,</m:t>
                    </m:r>
                  </m:oMath>
                </a14:m>
                <a:r>
                  <a:rPr lang="en-SG" dirty="0"/>
                  <a:t> each giving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𝜺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SG" dirty="0"/>
                  <a:t>-differential privacy, would ensure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𝒊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𝒎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SG" dirty="0"/>
                  <a:t>-differential privacy.</a:t>
                </a:r>
                <a:endParaRPr lang="en-S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75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Variants of Differential Privacy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Alternative definition of neighboring dataset:</a:t>
                </a:r>
                <a:endParaRPr lang="en-US" dirty="0"/>
              </a:p>
              <a:p>
                <a:pPr lvl="1"/>
                <a:r>
                  <a:rPr lang="en-US" dirty="0"/>
                  <a:t>Two datasets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obtained by adding/deleting one tuple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𝑫</m:t>
                                </m:r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exp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⁡(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)∙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𝑫</m:t>
                                </m:r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Even if a tuple is added to or removed from the dataset, the output distribution of the algorithm is roughly the same</a:t>
                </a:r>
                <a:endParaRPr lang="en-US" dirty="0"/>
              </a:p>
              <a:p>
                <a:pPr lvl="1"/>
                <a:r>
                  <a:rPr lang="en-US" dirty="0"/>
                  <a:t>i.e., the output of the algorithm does not reveal the presence of a tuple</a:t>
                </a:r>
                <a:endParaRPr lang="en-US" dirty="0"/>
              </a:p>
              <a:p>
                <a:r>
                  <a:rPr lang="en-US" dirty="0"/>
                  <a:t>Refer to this version as “unbounded” differential privacy, and the previous version as “bounded” differential privacy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76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Variants of Differential Privacy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6856" y="1600200"/>
                <a:ext cx="8229600" cy="4709120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Bounded: 	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obtained by changing the values 					of one tuple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Unbounded: 	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obtained by adding/removing one 					tuple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Observation 1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/>
                  <a:t>Change of a tuple can be regarded as removing a tuple from the dataset and then inserting a new one</a:t>
                </a:r>
                <a:endParaRPr lang="en-SG" dirty="0"/>
              </a:p>
              <a:p>
                <a:pPr lvl="1"/>
                <a:r>
                  <a:rPr lang="en-US" dirty="0">
                    <a:ea typeface="Cambria Math" panose="02040503050406030204"/>
                  </a:rPr>
                  <a:t>Indication: Unbounded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</m:oMath>
                </a14:m>
                <a:r>
                  <a:rPr lang="en-SG" dirty="0"/>
                  <a:t>-differential privacy implies bounded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/>
                            <a:ea typeface="Cambria Math" panose="02040503050406030204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𝜺</m:t>
                        </m:r>
                      </m:e>
                    </m:d>
                  </m:oMath>
                </a14:m>
                <a:r>
                  <a:rPr lang="en-SG" dirty="0"/>
                  <a:t>-differential privacy</a:t>
                </a:r>
                <a:endParaRPr lang="en-SG" dirty="0"/>
              </a:p>
              <a:p>
                <a:pPr lvl="1"/>
                <a:r>
                  <a:rPr lang="en-US" dirty="0"/>
                  <a:t>Proof: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  <a:ea typeface="Cambria Math" panose="02040503050406030204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𝜺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i="1" dirty="0">
                    <a:latin typeface="Cambria Math" panose="02040503050406030204"/>
                    <a:ea typeface="Cambria Math" panose="02040503050406030204"/>
                  </a:rPr>
                  <a:t> </a:t>
                </a:r>
                <a:endParaRPr lang="en-US" i="1" dirty="0">
                  <a:latin typeface="Cambria Math" panose="02040503050406030204"/>
                  <a:ea typeface="Cambria Math" panose="02040503050406030204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/>
                  </a:rPr>
                  <a:t> 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exp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⁡(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)∙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exp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⁡(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)∙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856" y="1600200"/>
                <a:ext cx="8229600" cy="4709120"/>
              </a:xfrm>
              <a:blipFill rotWithShape="1">
                <a:blip r:embed="rId1"/>
                <a:stretch>
                  <a:fillRect l="-5" r="5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77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Variants of Differential Privacy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Bounded: 	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obtained by changing the 						values of one tuple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Unbounded: 	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obtained by adding/removing 						one tuple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endParaRPr lang="en-US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Observation 2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SG" dirty="0"/>
                  <a:t>Bounded differential privacy allows us to directly publish the number of tuples in the dataset</a:t>
                </a:r>
                <a:endParaRPr lang="en-SG" dirty="0"/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𝑫</m:t>
                                </m:r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/>
                        <a:ea typeface="Cambria Math" panose="02040503050406030204"/>
                      </a:rPr>
                      <m:t>exp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⁡(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  <a:ea typeface="Cambria Math" panose="02040503050406030204"/>
                      </a:rPr>
                      <m:t>𝜺</m:t>
                    </m:r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)∙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𝑫</m:t>
                                </m:r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i="1" dirty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</a:rPr>
                              <m:t>𝑶</m:t>
                            </m:r>
                          </m:e>
                        </m:d>
                      </m:e>
                    </m:func>
                  </m:oMath>
                </a14:m>
                <a:endParaRPr lang="en-SG" dirty="0"/>
              </a:p>
              <a:p>
                <a:pPr lvl="1"/>
                <a:r>
                  <a:rPr lang="en-US" dirty="0"/>
                  <a:t>Unbounded differential privacy does not allow this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78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2382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Variants of Differential Privacy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63600"/>
                <a:ext cx="8435280" cy="334096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, </m:t>
                        </m:r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𝜹</m:t>
                        </m:r>
                      </m:e>
                    </m:d>
                  </m:oMath>
                </a14:m>
                <a:r>
                  <a:rPr lang="en-SG" dirty="0"/>
                  <a:t>-</a:t>
                </a:r>
                <a:r>
                  <a:rPr lang="en-US" dirty="0"/>
                  <a:t>differential privacy</a:t>
                </a:r>
                <a:endParaRPr lang="en-US" dirty="0"/>
              </a:p>
              <a:p>
                <a:pPr lvl="1"/>
                <a:r>
                  <a:rPr lang="en-US" dirty="0"/>
                  <a:t>Allows a small probability of failure</a:t>
                </a:r>
                <a:endParaRPr lang="en-US" dirty="0"/>
              </a:p>
              <a:p>
                <a:pPr lvl="1"/>
                <a:r>
                  <a:rPr lang="en-US" dirty="0"/>
                  <a:t>For any two neighboring datasets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dirty="0"/>
                  <a:t>, and for any set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𝑺</m:t>
                    </m:r>
                  </m:oMath>
                </a14:m>
                <a:r>
                  <a:rPr lang="en-US" dirty="0"/>
                  <a:t> of outputs, 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∈</m:t>
                              </m:r>
                              <m:r>
                                <a:rPr lang="en-US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𝑺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  <a:ea typeface="Cambria Math" panose="02040503050406030204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𝜺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/>
                          <a:ea typeface="Cambria Math" panose="02040503050406030204"/>
                        </a:rPr>
                        <m:t>∙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𝑫</m:t>
                                      </m:r>
                                    </m:e>
                                    <m:sup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i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∈</m:t>
                              </m:r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𝑺</m:t>
                              </m:r>
                            </m:e>
                          </m:d>
                        </m:e>
                      </m:func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</a:rPr>
                        <m:t>+</m:t>
                      </m:r>
                      <m:r>
                        <a:rPr lang="en-US" b="1" i="1" dirty="0" smtClean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𝜹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Relaxation of privacy provides more room for utility</a:t>
                </a:r>
                <a:endParaRPr lang="en-US" dirty="0"/>
              </a:p>
              <a:p>
                <a:pPr lvl="1"/>
                <a:r>
                  <a:rPr lang="en-US" dirty="0"/>
                  <a:t>Example: Use of Gaussian noise instead of Laplace noise</a:t>
                </a: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Composition</a:t>
                </a:r>
                <a:r>
                  <a:rPr lang="en-US" dirty="0"/>
                  <a:t>: a set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𝜺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𝒊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/>
                            <a:ea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-differentially private algorithms </a:t>
                </a:r>
                <a:br>
                  <a:rPr lang="en-US" altLang="zh-CN" dirty="0"/>
                </a:br>
                <a:r>
                  <a:rPr lang="en-US" altLang="zh-CN" dirty="0"/>
                  <a:t>			</a:t>
                </a:r>
                <a:r>
                  <a:rPr lang="en-US" altLang="zh-CN" dirty="0">
                    <a:sym typeface="Wingdings" panose="05000000000000000000" pitchFamily="2" charset="2"/>
                  </a:rPr>
                  <a:t>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  <m:r>
                          <a:rPr lang="en-US" i="1" dirty="0">
                            <a:latin typeface="Cambria Math" panose="02040503050406030204"/>
                            <a:ea typeface="Cambria Math" panose="02040503050406030204"/>
                          </a:rPr>
                          <m:t>,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𝜹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altLang="zh-CN" dirty="0"/>
                  <a:t>-differential privacy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63600"/>
                <a:ext cx="8435280" cy="3340968"/>
              </a:xfrm>
              <a:blipFill rotWithShape="1">
                <a:blip r:embed="rId1"/>
                <a:stretch>
                  <a:fillRect r="7" b="-17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899592" y="4311610"/>
            <a:ext cx="7571542" cy="2025516"/>
            <a:chOff x="899592" y="4787860"/>
            <a:chExt cx="7571542" cy="202551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1965" y="5229200"/>
              <a:ext cx="6357798" cy="1188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Straight Arrow Connector 4"/>
            <p:cNvCxnSpPr/>
            <p:nvPr/>
          </p:nvCxnSpPr>
          <p:spPr>
            <a:xfrm>
              <a:off x="899592" y="5085184"/>
              <a:ext cx="0" cy="144016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H="1">
              <a:off x="899592" y="6525344"/>
              <a:ext cx="72008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/>
                <p:cNvSpPr/>
                <p:nvPr/>
              </p:nvSpPr>
              <p:spPr>
                <a:xfrm>
                  <a:off x="8028384" y="6279703"/>
                  <a:ext cx="44275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𝑶</m:t>
                        </m:r>
                      </m:oMath>
                    </m:oMathPara>
                  </a14:m>
                  <a:endParaRPr lang="en-SG" sz="2000" dirty="0"/>
                </a:p>
              </p:txBody>
            </p:sp>
          </mc:Choice>
          <mc:Fallback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384" y="6279703"/>
                  <a:ext cx="442750" cy="40011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/>
                <p:cNvSpPr/>
                <p:nvPr/>
              </p:nvSpPr>
              <p:spPr>
                <a:xfrm>
                  <a:off x="927395" y="5147900"/>
                  <a:ext cx="16839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𝑶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395" y="5147900"/>
                  <a:ext cx="1683987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/>
                <p:cNvSpPr/>
                <p:nvPr/>
              </p:nvSpPr>
              <p:spPr>
                <a:xfrm>
                  <a:off x="957212" y="5435932"/>
                  <a:ext cx="16839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𝑫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/>
                                  </a:rPr>
                                  <m:t>𝑶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SG" dirty="0"/>
                </a:p>
              </p:txBody>
            </p:sp>
          </mc:Choice>
          <mc:Fallback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12" y="5435932"/>
                  <a:ext cx="1683987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/>
            <p:cNvCxnSpPr/>
            <p:nvPr/>
          </p:nvCxnSpPr>
          <p:spPr>
            <a:xfrm>
              <a:off x="2583579" y="5363924"/>
              <a:ext cx="692277" cy="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583579" y="5651956"/>
              <a:ext cx="69227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092280" y="4869160"/>
              <a:ext cx="0" cy="19442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868144" y="5094476"/>
              <a:ext cx="936104" cy="2694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732240" y="4869160"/>
              <a:ext cx="0" cy="19442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angle 14"/>
                <p:cNvSpPr/>
                <p:nvPr/>
              </p:nvSpPr>
              <p:spPr>
                <a:xfrm>
                  <a:off x="1835696" y="4787860"/>
                  <a:ext cx="491775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latin typeface="+mj-lt"/>
                    </a:rPr>
                    <a:t>Region where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</m:oMath>
                  </a14:m>
                  <a:r>
                    <a:rPr lang="en-SG" dirty="0">
                      <a:latin typeface="+mj-lt"/>
                    </a:rPr>
                    <a:t>-differential privacy is not satisfied</a:t>
                  </a:r>
                  <a:r>
                    <a:rPr lang="en-US" dirty="0">
                      <a:latin typeface="+mj-lt"/>
                    </a:rPr>
                    <a:t> </a:t>
                  </a:r>
                  <a:endParaRPr lang="en-SG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696" y="4787860"/>
                  <a:ext cx="4917757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79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Differential Privacy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Differential privacy tends to be less effective when there exist correlations among the tuples</a:t>
            </a:r>
            <a:endParaRPr lang="en-US" dirty="0"/>
          </a:p>
          <a:p>
            <a:pPr marL="514350" lvl="2">
              <a:spcBef>
                <a:spcPts val="750"/>
              </a:spcBef>
            </a:pPr>
            <a:r>
              <a:rPr lang="en-US" altLang="zh-CN" dirty="0"/>
              <a:t>Amount of noise needed depends on the correlations among the tuples, which is not captured by differential privacy</a:t>
            </a:r>
            <a:endParaRPr lang="en-US" dirty="0"/>
          </a:p>
          <a:p>
            <a:r>
              <a:rPr lang="en-US" dirty="0"/>
              <a:t>Example (from [</a:t>
            </a:r>
            <a:r>
              <a:rPr lang="en-US" dirty="0" err="1"/>
              <a:t>Kifer</a:t>
            </a:r>
            <a:r>
              <a:rPr lang="en-US" dirty="0"/>
              <a:t> and </a:t>
            </a:r>
            <a:r>
              <a:rPr lang="en-US" dirty="0" err="1"/>
              <a:t>Machanavajjhala</a:t>
            </a:r>
            <a:r>
              <a:rPr lang="en-US" dirty="0"/>
              <a:t> 2011]):</a:t>
            </a:r>
            <a:endParaRPr lang="en-US" dirty="0"/>
          </a:p>
          <a:p>
            <a:pPr lvl="1"/>
            <a:r>
              <a:rPr lang="en-US" dirty="0"/>
              <a:t>Bob’s family includes 10 people, and all of them are in a database</a:t>
            </a:r>
            <a:endParaRPr lang="en-US" dirty="0"/>
          </a:p>
          <a:p>
            <a:pPr lvl="1"/>
            <a:r>
              <a:rPr lang="en-US" dirty="0"/>
              <a:t>There is a highly contagious disease, such that if one family member contracts the disease, then the whole family will be infected</a:t>
            </a:r>
            <a:endParaRPr lang="en-US" dirty="0"/>
          </a:p>
          <a:p>
            <a:pPr lvl="1"/>
            <a:r>
              <a:rPr lang="en-US" dirty="0"/>
              <a:t>Differential privacy would underestimate the risk of disclosure</a:t>
            </a:r>
            <a:endParaRPr lang="en-US" dirty="0"/>
          </a:p>
          <a:p>
            <a:r>
              <a:rPr lang="en-US" altLang="zh-CN" dirty="0"/>
              <a:t>Differential privacy needs a </a:t>
            </a:r>
            <a:r>
              <a:rPr lang="en-US" altLang="zh-CN" i="1" dirty="0">
                <a:solidFill>
                  <a:srgbClr val="FF0000"/>
                </a:solidFill>
              </a:rPr>
              <a:t>trusted </a:t>
            </a:r>
            <a:r>
              <a:rPr lang="en-GB" altLang="zh-CN" i="1" dirty="0">
                <a:solidFill>
                  <a:srgbClr val="FF0000"/>
                </a:solidFill>
              </a:rPr>
              <a:t>centralized </a:t>
            </a:r>
            <a:r>
              <a:rPr lang="en-US" altLang="zh-CN" i="1" dirty="0">
                <a:solidFill>
                  <a:srgbClr val="FF0000"/>
                </a:solidFill>
              </a:rPr>
              <a:t>server </a:t>
            </a:r>
            <a:r>
              <a:rPr lang="en-US" altLang="zh-CN" dirty="0"/>
              <a:t>who publishes the anonymized data</a:t>
            </a: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80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8CACF9-1A23-47F1-A1D9-625F911F6BCB}" type="slidenum">
              <a:rPr lang="en-US" altLang="zh-CN" b="0">
                <a:latin typeface="Calibri" panose="020F0502020204030204" pitchFamily="34" charset="0"/>
              </a:rPr>
            </a:fld>
            <a:endParaRPr lang="en-US" altLang="zh-CN" b="0" dirty="0">
              <a:latin typeface="Calibri" panose="020F0502020204030204" pitchFamily="34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600" b="1" dirty="0">
                <a:solidFill>
                  <a:srgbClr val="CC3300"/>
                </a:solidFill>
                <a:ea typeface="宋体" panose="02010600030101010101" pitchFamily="2" charset="-122"/>
              </a:rPr>
              <a:t>Part 1</a:t>
            </a:r>
            <a:endParaRPr lang="en-US" altLang="zh-CN" sz="36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Anonymization and Uncertainty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Tabular Data Anonymization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3200" b="1" dirty="0">
                <a:solidFill>
                  <a:srgbClr val="CC3300"/>
                </a:solidFill>
                <a:ea typeface="宋体" panose="02010600030101010101" pitchFamily="2" charset="-122"/>
              </a:rPr>
              <a:t>Part 2</a:t>
            </a:r>
            <a:endParaRPr lang="en-US" altLang="zh-CN" sz="3200" b="1" dirty="0">
              <a:solidFill>
                <a:srgbClr val="CC33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Differential Privacy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Local Differential Privacy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Differential Privacy:</a:t>
            </a:r>
            <a:r>
              <a:rPr lang="en-US" altLang="zh-CN" dirty="0"/>
              <a:t> A Brief 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  <a:p>
            <a:r>
              <a:rPr lang="en-US" dirty="0"/>
              <a:t>Can achieve ε-DP for counts by adding a </a:t>
            </a:r>
            <a:r>
              <a:rPr lang="en-US" dirty="0">
                <a:solidFill>
                  <a:srgbClr val="C00000"/>
                </a:solidFill>
              </a:rPr>
              <a:t>random noise </a:t>
            </a:r>
            <a:r>
              <a:rPr lang="en-US" dirty="0"/>
              <a:t>value</a:t>
            </a:r>
            <a:endParaRPr lang="en-US" dirty="0"/>
          </a:p>
          <a:p>
            <a:endParaRPr lang="en-US" dirty="0"/>
          </a:p>
          <a:p>
            <a:r>
              <a:rPr lang="en-US" dirty="0"/>
              <a:t>Uncertainty due to noise → </a:t>
            </a:r>
            <a:r>
              <a:rPr lang="en-US" dirty="0">
                <a:solidFill>
                  <a:srgbClr val="C00000"/>
                </a:solidFill>
              </a:rPr>
              <a:t>plausible deniability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Hides whether someone is present in the data</a:t>
            </a:r>
            <a:endParaRPr lang="en-GB" dirty="0"/>
          </a:p>
        </p:txBody>
      </p:sp>
      <p:sp>
        <p:nvSpPr>
          <p:cNvPr id="17" name="Rounded Rectangle 16"/>
          <p:cNvSpPr/>
          <p:nvPr/>
        </p:nvSpPr>
        <p:spPr>
          <a:xfrm>
            <a:off x="914400" y="1560139"/>
            <a:ext cx="7010400" cy="2531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defTabSz="457200">
              <a:defRPr/>
            </a:pPr>
            <a:r>
              <a:rPr lang="en-US" sz="2400" dirty="0">
                <a:solidFill>
                  <a:srgbClr val="000000"/>
                </a:solidFill>
              </a:rPr>
              <a:t>A </a:t>
            </a:r>
            <a:r>
              <a:rPr lang="en-US" sz="2400" dirty="0">
                <a:solidFill>
                  <a:srgbClr val="00B050"/>
                </a:solidFill>
              </a:rPr>
              <a:t>randomized algorithm </a:t>
            </a:r>
            <a:r>
              <a:rPr lang="en-US" sz="2400" dirty="0">
                <a:solidFill>
                  <a:srgbClr val="002060"/>
                </a:solidFill>
              </a:rPr>
              <a:t>K</a:t>
            </a:r>
            <a:r>
              <a:rPr lang="en-US" sz="2400" dirty="0">
                <a:solidFill>
                  <a:srgbClr val="000000"/>
                </a:solidFill>
              </a:rPr>
              <a:t> satisfies </a:t>
            </a:r>
            <a:r>
              <a:rPr lang="en-US" sz="2400" dirty="0">
                <a:solidFill>
                  <a:srgbClr val="BB0000"/>
                </a:solidFill>
              </a:rPr>
              <a:t>ε-differential privacy</a:t>
            </a:r>
            <a:r>
              <a:rPr lang="en-US" sz="2400" dirty="0">
                <a:solidFill>
                  <a:srgbClr val="000000"/>
                </a:solidFill>
              </a:rPr>
              <a:t> if:</a:t>
            </a:r>
            <a:endParaRPr lang="en-US" sz="2400" dirty="0">
              <a:solidFill>
                <a:srgbClr val="000000"/>
              </a:solidFill>
            </a:endParaRPr>
          </a:p>
          <a:p>
            <a:pPr lvl="1" defTabSz="457200">
              <a:defRPr/>
            </a:pPr>
            <a:r>
              <a:rPr lang="en-US" sz="2400" dirty="0">
                <a:solidFill>
                  <a:srgbClr val="000000"/>
                </a:solidFill>
              </a:rPr>
              <a:t>Given two data sets that differ by one individual,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2060"/>
                </a:solidFill>
              </a:rPr>
              <a:t>D</a:t>
            </a:r>
            <a:r>
              <a:rPr lang="en-US" sz="2400" dirty="0">
                <a:solidFill>
                  <a:srgbClr val="000000"/>
                </a:solidFill>
              </a:rPr>
              <a:t> and </a:t>
            </a:r>
            <a:r>
              <a:rPr lang="en-US" sz="2400" dirty="0">
                <a:solidFill>
                  <a:srgbClr val="002060"/>
                </a:solidFill>
              </a:rPr>
              <a:t>D’</a:t>
            </a:r>
            <a:r>
              <a:rPr lang="en-US" sz="2400" dirty="0">
                <a:solidFill>
                  <a:srgbClr val="000000"/>
                </a:solidFill>
              </a:rPr>
              <a:t>, any property </a:t>
            </a:r>
            <a:r>
              <a:rPr lang="en-US" sz="2400" dirty="0">
                <a:solidFill>
                  <a:srgbClr val="002060"/>
                </a:solidFill>
              </a:rPr>
              <a:t>S, </a:t>
            </a:r>
            <a:r>
              <a:rPr lang="en-US" sz="2400" dirty="0">
                <a:solidFill>
                  <a:schemeClr val="tx1"/>
                </a:solidFill>
              </a:rPr>
              <a:t>and </a:t>
            </a:r>
            <a:r>
              <a:rPr lang="el-GR" sz="2400" dirty="0">
                <a:solidFill>
                  <a:srgbClr val="002060"/>
                </a:solidFill>
              </a:rPr>
              <a:t>ε &gt; 0</a:t>
            </a:r>
            <a:r>
              <a:rPr lang="en-US" sz="2400" dirty="0">
                <a:solidFill>
                  <a:srgbClr val="000000"/>
                </a:solidFill>
              </a:rPr>
              <a:t>:</a:t>
            </a:r>
            <a:endParaRPr lang="en-US" sz="2400" dirty="0">
              <a:solidFill>
                <a:srgbClr val="000000"/>
              </a:solidFill>
            </a:endParaRPr>
          </a:p>
          <a:p>
            <a:pPr lvl="1" defTabSz="457200">
              <a:defRPr/>
            </a:pPr>
            <a:endParaRPr lang="en-US" sz="2400" dirty="0">
              <a:solidFill>
                <a:srgbClr val="000000"/>
              </a:solidFill>
            </a:endParaRPr>
          </a:p>
          <a:p>
            <a:pPr lvl="1" defTabSz="457200">
              <a:defRPr/>
            </a:pPr>
            <a:r>
              <a:rPr lang="en-US" sz="2400" dirty="0">
                <a:solidFill>
                  <a:srgbClr val="BB0000"/>
                </a:solidFill>
              </a:rPr>
              <a:t>	</a:t>
            </a:r>
            <a:r>
              <a:rPr lang="en-US" sz="2400" dirty="0" err="1">
                <a:solidFill>
                  <a:srgbClr val="BB0000"/>
                </a:solidFill>
              </a:rPr>
              <a:t>Pr</a:t>
            </a:r>
            <a:r>
              <a:rPr lang="en-US" sz="2400" dirty="0">
                <a:solidFill>
                  <a:srgbClr val="BB0000"/>
                </a:solidFill>
              </a:rPr>
              <a:t>[ K(D) </a:t>
            </a:r>
            <a:r>
              <a:rPr lang="en-US" sz="2400" dirty="0">
                <a:solidFill>
                  <a:srgbClr val="BB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sz="2400" dirty="0">
                <a:solidFill>
                  <a:srgbClr val="BB0000"/>
                </a:solidFill>
              </a:rPr>
              <a:t> S]  ≤  </a:t>
            </a:r>
            <a:r>
              <a:rPr lang="en-US" sz="2400" dirty="0" err="1">
                <a:solidFill>
                  <a:srgbClr val="BB0000"/>
                </a:solidFill>
              </a:rPr>
              <a:t>e</a:t>
            </a:r>
            <a:r>
              <a:rPr lang="en-US" sz="2400" baseline="30000" dirty="0" err="1">
                <a:solidFill>
                  <a:srgbClr val="BB0000"/>
                </a:solidFill>
              </a:rPr>
              <a:t>ε</a:t>
            </a:r>
            <a:r>
              <a:rPr lang="en-US" sz="2400" dirty="0">
                <a:solidFill>
                  <a:srgbClr val="BB0000"/>
                </a:solidFill>
              </a:rPr>
              <a:t> </a:t>
            </a:r>
            <a:r>
              <a:rPr lang="en-US" sz="2400" dirty="0" err="1">
                <a:solidFill>
                  <a:srgbClr val="BB0000"/>
                </a:solidFill>
              </a:rPr>
              <a:t>Pr</a:t>
            </a:r>
            <a:r>
              <a:rPr lang="en-US" sz="2400" dirty="0">
                <a:solidFill>
                  <a:srgbClr val="BB0000"/>
                </a:solidFill>
              </a:rPr>
              <a:t>[ K(D’) </a:t>
            </a:r>
            <a:r>
              <a:rPr lang="en-US" sz="2400" dirty="0">
                <a:solidFill>
                  <a:srgbClr val="BB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sz="2400" dirty="0">
                <a:solidFill>
                  <a:srgbClr val="BB0000"/>
                </a:solidFill>
              </a:rPr>
              <a:t> S] </a:t>
            </a:r>
            <a:endParaRPr lang="en-US" sz="2400" dirty="0">
              <a:solidFill>
                <a:srgbClr val="BB0000"/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82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</a:t>
            </a:r>
            <a:r>
              <a:rPr lang="el-GR" dirty="0"/>
              <a:t>ε-</a:t>
            </a:r>
            <a:r>
              <a:rPr lang="en-US" dirty="0"/>
              <a:t>DP </a:t>
            </a:r>
            <a:r>
              <a:rPr lang="en-GB" dirty="0"/>
              <a:t>in the Centralized Model</a:t>
            </a:r>
            <a:endParaRPr lang="en-US" dirty="0"/>
          </a:p>
        </p:txBody>
      </p:sp>
      <p:sp>
        <p:nvSpPr>
          <p:cNvPr id="8" name="Content Placeholder 3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9" name="Rounded Rectangle 8"/>
          <p:cNvSpPr/>
          <p:nvPr/>
        </p:nvSpPr>
        <p:spPr>
          <a:xfrm>
            <a:off x="760430" y="1652039"/>
            <a:ext cx="7616825" cy="137239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defTabSz="457200">
              <a:buClr>
                <a:schemeClr val="bg2"/>
              </a:buClr>
              <a:buSzPct val="150000"/>
            </a:pPr>
            <a:r>
              <a:rPr lang="en-US" sz="2200" b="0" dirty="0">
                <a:solidFill>
                  <a:srgbClr val="000000"/>
                </a:solidFill>
                <a:latin typeface="Calibri" panose="020F0502020204030204" pitchFamily="34" charset="0"/>
              </a:rPr>
              <a:t>  </a:t>
            </a:r>
            <a:r>
              <a:rPr lang="en-US" sz="2200" b="0" dirty="0">
                <a:solidFill>
                  <a:srgbClr val="000000"/>
                </a:solidFill>
              </a:rPr>
              <a:t>(Global) Sensitivity of publishing:	 </a:t>
            </a:r>
            <a:br>
              <a:rPr lang="en-US" sz="2200" b="0" dirty="0">
                <a:solidFill>
                  <a:srgbClr val="000000"/>
                </a:solidFill>
              </a:rPr>
            </a:br>
            <a:r>
              <a:rPr lang="en-US" sz="2200" b="0" dirty="0">
                <a:solidFill>
                  <a:srgbClr val="000000"/>
                </a:solidFill>
              </a:rPr>
              <a:t>		</a:t>
            </a:r>
            <a:r>
              <a:rPr lang="en-US" sz="2200" b="0" dirty="0">
                <a:solidFill>
                  <a:srgbClr val="002060"/>
                </a:solidFill>
              </a:rPr>
              <a:t>s = </a:t>
            </a:r>
            <a:r>
              <a:rPr lang="en-US" sz="2200" b="0" dirty="0" err="1">
                <a:solidFill>
                  <a:srgbClr val="002060"/>
                </a:solidFill>
              </a:rPr>
              <a:t>max</a:t>
            </a:r>
            <a:r>
              <a:rPr lang="en-US" sz="2200" baseline="-25000" dirty="0" err="1">
                <a:solidFill>
                  <a:srgbClr val="002060"/>
                </a:solidFill>
              </a:rPr>
              <a:t>D,D</a:t>
            </a:r>
            <a:r>
              <a:rPr lang="en-US" sz="2200" b="0" baseline="-25000" dirty="0">
                <a:solidFill>
                  <a:srgbClr val="002060"/>
                </a:solidFill>
              </a:rPr>
              <a:t>’ </a:t>
            </a:r>
            <a:r>
              <a:rPr lang="en-US" sz="2200" b="0" dirty="0">
                <a:solidFill>
                  <a:srgbClr val="002060"/>
                </a:solidFill>
              </a:rPr>
              <a:t>|F(D) – F(D’)|, D, D’ </a:t>
            </a:r>
            <a:r>
              <a:rPr lang="en-US" sz="2200" b="0" dirty="0">
                <a:solidFill>
                  <a:srgbClr val="000000"/>
                </a:solidFill>
              </a:rPr>
              <a:t>differ by 1 individual</a:t>
            </a:r>
            <a:endParaRPr lang="en-US" sz="2200" b="0" dirty="0">
              <a:solidFill>
                <a:srgbClr val="000000"/>
              </a:solidFill>
            </a:endParaRPr>
          </a:p>
          <a:p>
            <a:pPr defTabSz="457200">
              <a:spcBef>
                <a:spcPts val="600"/>
              </a:spcBef>
              <a:buClr>
                <a:schemeClr val="bg2"/>
              </a:buClr>
              <a:buSzPct val="150000"/>
            </a:pPr>
            <a:r>
              <a:rPr lang="en-US" sz="2200" b="0" dirty="0">
                <a:solidFill>
                  <a:schemeClr val="tx1"/>
                </a:solidFill>
              </a:rPr>
              <a:t>  E.g., count individuals satisfying property </a:t>
            </a:r>
            <a:r>
              <a:rPr lang="en-US" sz="2200" b="0" dirty="0">
                <a:solidFill>
                  <a:srgbClr val="C00000"/>
                </a:solidFill>
              </a:rPr>
              <a:t>P</a:t>
            </a:r>
            <a:r>
              <a:rPr lang="en-US" sz="2200" b="0" dirty="0">
                <a:solidFill>
                  <a:schemeClr val="tx1"/>
                </a:solidFill>
              </a:rPr>
              <a:t>: </a:t>
            </a:r>
            <a:r>
              <a:rPr lang="en-US" sz="2200" b="0" dirty="0">
                <a:solidFill>
                  <a:srgbClr val="C00000"/>
                </a:solidFill>
              </a:rPr>
              <a:t>s = 1</a:t>
            </a:r>
            <a:endParaRPr lang="en-US" sz="2200" b="0" dirty="0">
              <a:solidFill>
                <a:srgbClr val="C00000"/>
              </a:solidFill>
            </a:endParaRPr>
          </a:p>
        </p:txBody>
      </p:sp>
      <p:grpSp>
        <p:nvGrpSpPr>
          <p:cNvPr id="10" name="Group 21"/>
          <p:cNvGrpSpPr/>
          <p:nvPr/>
        </p:nvGrpSpPr>
        <p:grpSpPr bwMode="auto">
          <a:xfrm>
            <a:off x="767548" y="2890960"/>
            <a:ext cx="7816850" cy="1768745"/>
            <a:chOff x="771258" y="3697445"/>
            <a:chExt cx="7817331" cy="1981573"/>
          </a:xfrm>
        </p:grpSpPr>
        <p:sp>
          <p:nvSpPr>
            <p:cNvPr id="11" name="Rounded Rectangle 10"/>
            <p:cNvSpPr/>
            <p:nvPr/>
          </p:nvSpPr>
          <p:spPr>
            <a:xfrm>
              <a:off x="771258" y="4013417"/>
              <a:ext cx="7617294" cy="1665601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57200">
                <a:buClr>
                  <a:schemeClr val="tx1"/>
                </a:buClr>
                <a:buSzPct val="150000"/>
                <a:defRPr/>
              </a:pPr>
              <a:r>
                <a:rPr lang="en-US" sz="2200" b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 </a:t>
              </a:r>
              <a:r>
                <a:rPr lang="en-US" sz="2200" b="0" dirty="0">
                  <a:solidFill>
                    <a:srgbClr val="000000"/>
                  </a:solidFill>
                </a:rPr>
                <a:t>For every value that is output:</a:t>
              </a:r>
              <a:endParaRPr lang="en-US" sz="2200" b="0" dirty="0">
                <a:solidFill>
                  <a:srgbClr val="002060"/>
                </a:solidFill>
              </a:endParaRPr>
            </a:p>
            <a:p>
              <a:pPr marL="800100" lvl="1" indent="-342900" defTabSz="457200">
                <a:spcBef>
                  <a:spcPts val="600"/>
                </a:spcBef>
                <a:buClr>
                  <a:schemeClr val="tx1"/>
                </a:buClr>
                <a:buSzPct val="150000"/>
                <a:buFont typeface="Arial" panose="020B0604020202020204" pitchFamily="34" charset="0"/>
                <a:buChar char="•"/>
                <a:defRPr/>
              </a:pPr>
              <a:r>
                <a:rPr lang="en-US" sz="2200" b="0" dirty="0">
                  <a:solidFill>
                    <a:schemeClr val="tx1"/>
                  </a:solidFill>
                </a:rPr>
                <a:t>Add Laplacian noise </a:t>
              </a:r>
              <a:r>
                <a:rPr lang="en-US" sz="2200" b="0" dirty="0">
                  <a:solidFill>
                    <a:srgbClr val="002060"/>
                  </a:solidFill>
                </a:rPr>
                <a:t>Lap(ε/s)</a:t>
              </a:r>
              <a:r>
                <a:rPr lang="en-US" sz="2200" b="0" dirty="0">
                  <a:solidFill>
                    <a:schemeClr val="tx1"/>
                  </a:solidFill>
                </a:rPr>
                <a:t>:</a:t>
              </a:r>
              <a:endParaRPr lang="en-US" sz="2200" b="0" dirty="0">
                <a:solidFill>
                  <a:schemeClr val="tx1"/>
                </a:solidFill>
              </a:endParaRPr>
            </a:p>
            <a:p>
              <a:pPr marL="800100" lvl="1" indent="-342900" defTabSz="457200">
                <a:buClr>
                  <a:schemeClr val="tx1"/>
                </a:buClr>
                <a:buSzPct val="150000"/>
                <a:buFont typeface="Arial" panose="020B0604020202020204" pitchFamily="34" charset="0"/>
                <a:buChar char="•"/>
                <a:defRPr/>
              </a:pPr>
              <a:r>
                <a:rPr lang="en-US" sz="2200" b="0" dirty="0">
                  <a:solidFill>
                    <a:schemeClr val="tx1"/>
                  </a:solidFill>
                </a:rPr>
                <a:t>Or Geometric noise for discrete case: </a:t>
              </a:r>
              <a:endParaRPr lang="en-US" sz="2200" b="0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Group 22"/>
            <p:cNvGrpSpPr/>
            <p:nvPr/>
          </p:nvGrpSpPr>
          <p:grpSpPr bwMode="auto">
            <a:xfrm>
              <a:off x="5147735" y="3697445"/>
              <a:ext cx="3440854" cy="1012507"/>
              <a:chOff x="4585545" y="5283199"/>
              <a:chExt cx="3440854" cy="1012507"/>
            </a:xfrm>
          </p:grpSpPr>
          <p:sp>
            <p:nvSpPr>
              <p:cNvPr id="26" name="Arc 25"/>
              <p:cNvSpPr/>
              <p:nvPr/>
            </p:nvSpPr>
            <p:spPr>
              <a:xfrm flipH="1" flipV="1">
                <a:off x="6248289" y="5283199"/>
                <a:ext cx="1778110" cy="982846"/>
              </a:xfrm>
              <a:prstGeom prst="arc">
                <a:avLst>
                  <a:gd name="adj1" fmla="val 16200000"/>
                  <a:gd name="adj2" fmla="val 2"/>
                </a:avLst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27" name="Arc 26"/>
              <p:cNvSpPr/>
              <p:nvPr/>
            </p:nvSpPr>
            <p:spPr>
              <a:xfrm flipV="1">
                <a:off x="4586075" y="5283199"/>
                <a:ext cx="1662214" cy="982846"/>
              </a:xfrm>
              <a:prstGeom prst="arc">
                <a:avLst>
                  <a:gd name="adj1" fmla="val 16200000"/>
                  <a:gd name="adj2" fmla="val 2"/>
                </a:avLst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sp>
          <p:cxnSp>
            <p:nvCxnSpPr>
              <p:cNvPr id="28" name="Straight Connector 27"/>
              <p:cNvCxnSpPr/>
              <p:nvPr/>
            </p:nvCxnSpPr>
            <p:spPr>
              <a:xfrm rot="5400000" flipH="1" flipV="1">
                <a:off x="5943433" y="5954837"/>
                <a:ext cx="608126" cy="1587"/>
              </a:xfrm>
              <a:prstGeom prst="line">
                <a:avLst/>
              </a:prstGeom>
              <a:ln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5295731" y="6294626"/>
                <a:ext cx="2087692" cy="1588"/>
              </a:xfrm>
              <a:prstGeom prst="line">
                <a:avLst/>
              </a:prstGeom>
              <a:ln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46"/>
            <p:cNvGrpSpPr/>
            <p:nvPr/>
          </p:nvGrpSpPr>
          <p:grpSpPr bwMode="auto">
            <a:xfrm>
              <a:off x="5857245" y="4815767"/>
              <a:ext cx="2087880" cy="644210"/>
              <a:chOff x="5814910" y="5256051"/>
              <a:chExt cx="2087880" cy="644210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 rot="5400000" flipH="1" flipV="1">
                <a:off x="6463288" y="5558808"/>
                <a:ext cx="608126" cy="1587"/>
              </a:xfrm>
              <a:prstGeom prst="line">
                <a:avLst/>
              </a:prstGeom>
              <a:ln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815586" y="5898597"/>
                <a:ext cx="2087691" cy="1588"/>
              </a:xfrm>
              <a:prstGeom prst="line">
                <a:avLst/>
              </a:prstGeom>
              <a:ln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rot="16200000" flipH="1">
                <a:off x="6507746" y="5638198"/>
                <a:ext cx="520798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5400000">
                <a:off x="6773681" y="5721557"/>
                <a:ext cx="319148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6444254" y="5739818"/>
                <a:ext cx="320735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7016592" y="5777131"/>
                <a:ext cx="192123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rot="5400000">
                <a:off x="6343450" y="5788245"/>
                <a:ext cx="192124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rot="5400000">
                <a:off x="7239655" y="5820795"/>
                <a:ext cx="101619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rot="5400000">
                <a:off x="6241850" y="5832703"/>
                <a:ext cx="100031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rot="5400000">
                <a:off x="6106907" y="5856521"/>
                <a:ext cx="46046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>
                <a:off x="7420645" y="5847787"/>
                <a:ext cx="44458" cy="0"/>
              </a:xfrm>
              <a:prstGeom prst="line">
                <a:avLst/>
              </a:prstGeom>
              <a:ln>
                <a:solidFill>
                  <a:srgbClr val="BB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Rounded Rectangle 29"/>
          <p:cNvSpPr/>
          <p:nvPr/>
        </p:nvSpPr>
        <p:spPr>
          <a:xfrm>
            <a:off x="533400" y="4812598"/>
            <a:ext cx="8229600" cy="149471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defTabSz="457200">
              <a:buClr>
                <a:schemeClr val="bg2"/>
              </a:buClr>
              <a:buSzPct val="150000"/>
            </a:pPr>
            <a:r>
              <a:rPr lang="en-US" sz="2200" b="0" dirty="0">
                <a:solidFill>
                  <a:srgbClr val="000000"/>
                </a:solidFill>
              </a:rPr>
              <a:t>Simple rules for composition of differentially private outputs:</a:t>
            </a:r>
            <a:endParaRPr lang="en-US" sz="2200" b="0" dirty="0">
              <a:solidFill>
                <a:srgbClr val="000000"/>
              </a:solidFill>
            </a:endParaRPr>
          </a:p>
          <a:p>
            <a:pPr defTabSz="457200">
              <a:buClr>
                <a:schemeClr val="bg2"/>
              </a:buClr>
              <a:buSzPct val="150000"/>
            </a:pPr>
            <a:r>
              <a:rPr lang="en-US" sz="2200" b="0" dirty="0">
                <a:solidFill>
                  <a:srgbClr val="000000"/>
                </a:solidFill>
              </a:rPr>
              <a:t> Given output </a:t>
            </a:r>
            <a:r>
              <a:rPr lang="en-US" sz="2200" b="0" dirty="0">
                <a:solidFill>
                  <a:srgbClr val="002060"/>
                </a:solidFill>
              </a:rPr>
              <a:t>O</a:t>
            </a:r>
            <a:r>
              <a:rPr lang="en-US" sz="2200" b="0" baseline="-25000" dirty="0">
                <a:solidFill>
                  <a:srgbClr val="002060"/>
                </a:solidFill>
              </a:rPr>
              <a:t>1</a:t>
            </a:r>
            <a:r>
              <a:rPr lang="en-US" sz="2200" b="0" dirty="0">
                <a:solidFill>
                  <a:srgbClr val="000000"/>
                </a:solidFill>
              </a:rPr>
              <a:t> that is </a:t>
            </a:r>
            <a:r>
              <a:rPr lang="en-US" sz="2200" b="0" dirty="0">
                <a:solidFill>
                  <a:srgbClr val="002060"/>
                </a:solidFill>
                <a:sym typeface="Symbol" panose="05050102010706020507"/>
              </a:rPr>
              <a:t></a:t>
            </a:r>
            <a:r>
              <a:rPr lang="en-US" sz="2200" b="0" baseline="-25000" dirty="0">
                <a:solidFill>
                  <a:srgbClr val="002060"/>
                </a:solidFill>
                <a:sym typeface="Symbol" panose="05050102010706020507"/>
              </a:rPr>
              <a:t>1</a:t>
            </a:r>
            <a:r>
              <a:rPr lang="en-US" sz="2200" dirty="0">
                <a:solidFill>
                  <a:srgbClr val="000000"/>
                </a:solidFill>
                <a:sym typeface="Symbol" panose="05050102010706020507"/>
              </a:rPr>
              <a:t>-</a:t>
            </a:r>
            <a:r>
              <a:rPr lang="en-US" sz="2200" b="0" dirty="0">
                <a:solidFill>
                  <a:srgbClr val="000000"/>
                </a:solidFill>
              </a:rPr>
              <a:t>DP and </a:t>
            </a:r>
            <a:r>
              <a:rPr lang="en-US" sz="2200" b="0" dirty="0">
                <a:solidFill>
                  <a:srgbClr val="002060"/>
                </a:solidFill>
              </a:rPr>
              <a:t>O</a:t>
            </a:r>
            <a:r>
              <a:rPr lang="en-US" sz="2200" b="0" baseline="-25000" dirty="0">
                <a:solidFill>
                  <a:srgbClr val="002060"/>
                </a:solidFill>
              </a:rPr>
              <a:t>2</a:t>
            </a:r>
            <a:r>
              <a:rPr lang="en-US" sz="2200" b="0" dirty="0">
                <a:solidFill>
                  <a:srgbClr val="000000"/>
                </a:solidFill>
              </a:rPr>
              <a:t> that is </a:t>
            </a:r>
            <a:r>
              <a:rPr lang="en-US" sz="2200" b="0" dirty="0">
                <a:solidFill>
                  <a:srgbClr val="002060"/>
                </a:solidFill>
                <a:sym typeface="Symbol" panose="05050102010706020507"/>
              </a:rPr>
              <a:t></a:t>
            </a:r>
            <a:r>
              <a:rPr lang="en-US" sz="2200" b="0" baseline="-25000" dirty="0">
                <a:solidFill>
                  <a:srgbClr val="002060"/>
                </a:solidFill>
              </a:rPr>
              <a:t>2</a:t>
            </a:r>
            <a:r>
              <a:rPr lang="en-US" sz="2200" dirty="0">
                <a:solidFill>
                  <a:srgbClr val="000000"/>
                </a:solidFill>
              </a:rPr>
              <a:t>-</a:t>
            </a:r>
            <a:r>
              <a:rPr lang="en-US" sz="2200" b="0" dirty="0">
                <a:solidFill>
                  <a:srgbClr val="000000"/>
                </a:solidFill>
              </a:rPr>
              <a:t>DP</a:t>
            </a:r>
            <a:endParaRPr lang="en-US" sz="2200" b="0" dirty="0">
              <a:solidFill>
                <a:srgbClr val="000000"/>
              </a:solidFill>
            </a:endParaRPr>
          </a:p>
          <a:p>
            <a:pPr marL="342900" indent="-342900" defTabSz="45720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33CC33"/>
                </a:solidFill>
              </a:rPr>
              <a:t>(Sequential composition) </a:t>
            </a:r>
            <a:r>
              <a:rPr lang="en-US" sz="2200" b="0" dirty="0">
                <a:solidFill>
                  <a:srgbClr val="000000"/>
                </a:solidFill>
              </a:rPr>
              <a:t>If inputs overlap, result is (</a:t>
            </a:r>
            <a:r>
              <a:rPr lang="en-US" sz="2200" b="0" dirty="0">
                <a:solidFill>
                  <a:srgbClr val="002060"/>
                </a:solidFill>
                <a:sym typeface="Symbol" panose="05050102010706020507"/>
              </a:rPr>
              <a:t></a:t>
            </a:r>
            <a:r>
              <a:rPr lang="en-US" sz="2200" b="0" baseline="-25000" dirty="0">
                <a:solidFill>
                  <a:srgbClr val="002060"/>
                </a:solidFill>
                <a:sym typeface="Symbol" panose="05050102010706020507"/>
              </a:rPr>
              <a:t>1</a:t>
            </a:r>
            <a:r>
              <a:rPr lang="en-US" sz="2200" b="0" dirty="0">
                <a:solidFill>
                  <a:srgbClr val="002060"/>
                </a:solidFill>
              </a:rPr>
              <a:t> + </a:t>
            </a:r>
            <a:r>
              <a:rPr lang="en-US" sz="2200" b="0" dirty="0">
                <a:solidFill>
                  <a:srgbClr val="002060"/>
                </a:solidFill>
                <a:sym typeface="Symbol" panose="05050102010706020507"/>
              </a:rPr>
              <a:t></a:t>
            </a:r>
            <a:r>
              <a:rPr lang="en-US" sz="2200" b="0" baseline="-25000" dirty="0">
                <a:solidFill>
                  <a:srgbClr val="002060"/>
                </a:solidFill>
                <a:sym typeface="Symbol" panose="05050102010706020507"/>
              </a:rPr>
              <a:t>2</a:t>
            </a:r>
            <a:r>
              <a:rPr lang="en-US" sz="2200" dirty="0">
                <a:solidFill>
                  <a:srgbClr val="002060"/>
                </a:solidFill>
                <a:sym typeface="Symbol" panose="05050102010706020507"/>
              </a:rPr>
              <a:t>)-</a:t>
            </a:r>
            <a:r>
              <a:rPr lang="en-US" sz="2200" dirty="0">
                <a:solidFill>
                  <a:srgbClr val="000000"/>
                </a:solidFill>
              </a:rPr>
              <a:t>DP</a:t>
            </a:r>
            <a:endParaRPr lang="en-US" sz="2200" b="0" dirty="0">
              <a:solidFill>
                <a:srgbClr val="000000"/>
              </a:solidFill>
            </a:endParaRPr>
          </a:p>
          <a:p>
            <a:pPr marL="342900" indent="-342900" defTabSz="45720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33CC33"/>
                </a:solidFill>
              </a:rPr>
              <a:t>(Parallel composition) </a:t>
            </a:r>
            <a:r>
              <a:rPr lang="en-US" sz="2200" b="0" dirty="0">
                <a:solidFill>
                  <a:srgbClr val="000000"/>
                </a:solidFill>
              </a:rPr>
              <a:t>If inputs disjoint, result is </a:t>
            </a:r>
            <a:r>
              <a:rPr lang="en-US" sz="2200" b="0" dirty="0">
                <a:solidFill>
                  <a:srgbClr val="002060"/>
                </a:solidFill>
              </a:rPr>
              <a:t>max(</a:t>
            </a:r>
            <a:r>
              <a:rPr lang="en-US" sz="2200" b="0" dirty="0">
                <a:solidFill>
                  <a:srgbClr val="002060"/>
                </a:solidFill>
                <a:sym typeface="Symbol" panose="05050102010706020507"/>
              </a:rPr>
              <a:t></a:t>
            </a:r>
            <a:r>
              <a:rPr lang="en-US" sz="2200" b="0" baseline="-25000" dirty="0">
                <a:solidFill>
                  <a:srgbClr val="002060"/>
                </a:solidFill>
                <a:sym typeface="Symbol" panose="05050102010706020507"/>
              </a:rPr>
              <a:t>1</a:t>
            </a:r>
            <a:r>
              <a:rPr lang="en-US" sz="2200" b="0" dirty="0">
                <a:solidFill>
                  <a:srgbClr val="002060"/>
                </a:solidFill>
              </a:rPr>
              <a:t>, </a:t>
            </a:r>
            <a:r>
              <a:rPr lang="en-US" sz="2200" b="0" dirty="0">
                <a:solidFill>
                  <a:srgbClr val="002060"/>
                </a:solidFill>
                <a:sym typeface="Symbol" panose="05050102010706020507"/>
              </a:rPr>
              <a:t></a:t>
            </a:r>
            <a:r>
              <a:rPr lang="en-US" sz="2200" b="0" baseline="-25000" dirty="0">
                <a:solidFill>
                  <a:srgbClr val="002060"/>
                </a:solidFill>
                <a:sym typeface="Symbol" panose="05050102010706020507"/>
              </a:rPr>
              <a:t>2</a:t>
            </a:r>
            <a:r>
              <a:rPr lang="en-US" sz="2200" b="0" dirty="0">
                <a:solidFill>
                  <a:srgbClr val="002060"/>
                </a:solidFill>
              </a:rPr>
              <a:t>)-DP</a:t>
            </a:r>
            <a:endParaRPr lang="en-US" sz="2200" b="0" dirty="0">
              <a:solidFill>
                <a:srgbClr val="000000"/>
              </a:solidFill>
            </a:endParaRP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83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to Reduce Trust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349887" cy="4351338"/>
          </a:xfrm>
        </p:spPr>
        <p:txBody>
          <a:bodyPr>
            <a:normAutofit/>
          </a:bodyPr>
          <a:lstStyle/>
          <a:p>
            <a:r>
              <a:rPr lang="en-GB" dirty="0"/>
              <a:t>Most work on differential privacy assumes a </a:t>
            </a:r>
            <a:r>
              <a:rPr lang="en-GB" dirty="0">
                <a:solidFill>
                  <a:srgbClr val="C00000"/>
                </a:solidFill>
              </a:rPr>
              <a:t>trusted party</a:t>
            </a:r>
            <a:endParaRPr lang="en-GB" dirty="0">
              <a:solidFill>
                <a:srgbClr val="C00000"/>
              </a:solidFill>
            </a:endParaRPr>
          </a:p>
          <a:p>
            <a:pPr lvl="1"/>
            <a:r>
              <a:rPr lang="en-GB" dirty="0">
                <a:solidFill>
                  <a:srgbClr val="C00000"/>
                </a:solidFill>
              </a:rPr>
              <a:t>Centralized </a:t>
            </a:r>
            <a:r>
              <a:rPr lang="en-GB" dirty="0"/>
              <a:t>data aggregator that sees the true, raw data</a:t>
            </a:r>
            <a:endParaRPr lang="en-GB" dirty="0"/>
          </a:p>
          <a:p>
            <a:pPr lvl="1"/>
            <a:r>
              <a:rPr lang="en-GB" dirty="0"/>
              <a:t>Can compute exact query answers, then perturb for privacy</a:t>
            </a:r>
            <a:endParaRPr lang="en-GB" dirty="0"/>
          </a:p>
          <a:p>
            <a:endParaRPr lang="en-GB" dirty="0"/>
          </a:p>
          <a:p>
            <a:r>
              <a:rPr lang="en-GB" dirty="0"/>
              <a:t>A reasonable question: can we </a:t>
            </a:r>
            <a:r>
              <a:rPr lang="en-GB" dirty="0">
                <a:solidFill>
                  <a:srgbClr val="C00000"/>
                </a:solidFill>
              </a:rPr>
              <a:t>reduce the amount of trust</a:t>
            </a:r>
            <a:r>
              <a:rPr lang="en-GB" dirty="0"/>
              <a:t>?</a:t>
            </a:r>
            <a:endParaRPr lang="en-GB" dirty="0"/>
          </a:p>
          <a:p>
            <a:pPr lvl="1"/>
            <a:r>
              <a:rPr lang="en-GB" dirty="0"/>
              <a:t>Can we remove the trusted party from the equation?</a:t>
            </a:r>
            <a:endParaRPr lang="en-GB" dirty="0"/>
          </a:p>
          <a:p>
            <a:pPr lvl="1"/>
            <a:r>
              <a:rPr lang="en-GB" dirty="0"/>
              <a:t>Users produce </a:t>
            </a:r>
            <a:r>
              <a:rPr lang="en-GB" dirty="0">
                <a:solidFill>
                  <a:srgbClr val="C00000"/>
                </a:solidFill>
              </a:rPr>
              <a:t>locally private output</a:t>
            </a:r>
            <a:r>
              <a:rPr lang="en-GB" dirty="0"/>
              <a:t>, aggregate to answer queries</a:t>
            </a:r>
            <a:endParaRPr lang="en-GB" dirty="0"/>
          </a:p>
          <a:p>
            <a:endParaRPr lang="en-GB" dirty="0"/>
          </a:p>
          <a:p>
            <a:r>
              <a:rPr lang="en-GB" dirty="0"/>
              <a:t>One approach is to use </a:t>
            </a:r>
            <a:r>
              <a:rPr lang="en-GB" dirty="0">
                <a:solidFill>
                  <a:srgbClr val="C00000"/>
                </a:solidFill>
              </a:rPr>
              <a:t>SMC </a:t>
            </a:r>
            <a:r>
              <a:rPr lang="en-GB" dirty="0"/>
              <a:t>or</a:t>
            </a:r>
            <a:r>
              <a:rPr lang="en-GB" dirty="0">
                <a:solidFill>
                  <a:srgbClr val="C00000"/>
                </a:solidFill>
              </a:rPr>
              <a:t> homomorphic encryption</a:t>
            </a:r>
            <a:endParaRPr lang="en-GB" dirty="0">
              <a:solidFill>
                <a:srgbClr val="C00000"/>
              </a:solidFill>
            </a:endParaRPr>
          </a:p>
          <a:p>
            <a:pPr lvl="1"/>
            <a:r>
              <a:rPr lang="en-GB" dirty="0"/>
              <a:t>Merge encrypted data, and add noise for privacy inside encryption</a:t>
            </a:r>
            <a:endParaRPr lang="en-GB" dirty="0"/>
          </a:p>
          <a:p>
            <a:pPr lvl="1"/>
            <a:r>
              <a:rPr lang="en-GB" dirty="0"/>
              <a:t>Complex to get right, and very high computational overhead</a:t>
            </a:r>
            <a:endParaRPr lang="en-GB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84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Differential Privacy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97636" cy="4351338"/>
          </a:xfrm>
        </p:spPr>
        <p:txBody>
          <a:bodyPr>
            <a:normAutofit/>
          </a:bodyPr>
          <a:lstStyle/>
          <a:p>
            <a:r>
              <a:rPr lang="en-GB" dirty="0"/>
              <a:t>What about having </a:t>
            </a:r>
            <a:r>
              <a:rPr lang="en-GB" dirty="0">
                <a:solidFill>
                  <a:srgbClr val="C00000"/>
                </a:solidFill>
              </a:rPr>
              <a:t>each user run a DP algorithm </a:t>
            </a:r>
            <a:r>
              <a:rPr lang="en-GB" dirty="0"/>
              <a:t>on their data?</a:t>
            </a:r>
            <a:endParaRPr lang="en-GB" dirty="0"/>
          </a:p>
          <a:p>
            <a:pPr lvl="1"/>
            <a:r>
              <a:rPr lang="en-GB" dirty="0"/>
              <a:t>Then combine all the results to get a final answer</a:t>
            </a:r>
            <a:endParaRPr lang="en-GB" dirty="0"/>
          </a:p>
          <a:p>
            <a:endParaRPr lang="en-GB" dirty="0"/>
          </a:p>
          <a:p>
            <a:r>
              <a:rPr lang="en-GB" dirty="0"/>
              <a:t>On first glance, this idea seems crazy!</a:t>
            </a:r>
            <a:endParaRPr lang="en-GB" dirty="0"/>
          </a:p>
          <a:p>
            <a:pPr lvl="1"/>
            <a:r>
              <a:rPr lang="en-GB" dirty="0"/>
              <a:t>Each user adds noise to mask their own input</a:t>
            </a:r>
            <a:endParaRPr lang="en-GB" dirty="0"/>
          </a:p>
          <a:p>
            <a:pPr lvl="1"/>
            <a:r>
              <a:rPr lang="en-GB" dirty="0"/>
              <a:t>So surely the </a:t>
            </a:r>
            <a:r>
              <a:rPr lang="en-GB" dirty="0">
                <a:solidFill>
                  <a:srgbClr val="C00000"/>
                </a:solidFill>
              </a:rPr>
              <a:t>noise</a:t>
            </a:r>
            <a:r>
              <a:rPr lang="en-GB" dirty="0"/>
              <a:t> will always </a:t>
            </a:r>
            <a:r>
              <a:rPr lang="en-GB" dirty="0">
                <a:solidFill>
                  <a:srgbClr val="C00000"/>
                </a:solidFill>
              </a:rPr>
              <a:t>overwhelm the signal</a:t>
            </a:r>
            <a:r>
              <a:rPr lang="en-GB" dirty="0"/>
              <a:t>?</a:t>
            </a:r>
            <a:endParaRPr lang="en-GB" dirty="0"/>
          </a:p>
          <a:p>
            <a:endParaRPr lang="en-GB" dirty="0"/>
          </a:p>
          <a:p>
            <a:r>
              <a:rPr lang="en-GB" dirty="0"/>
              <a:t>But … noise can </a:t>
            </a:r>
            <a:r>
              <a:rPr lang="en-GB" dirty="0">
                <a:solidFill>
                  <a:srgbClr val="C00000"/>
                </a:solidFill>
              </a:rPr>
              <a:t>cancel out </a:t>
            </a:r>
            <a:r>
              <a:rPr lang="en-GB" dirty="0"/>
              <a:t>or be </a:t>
            </a:r>
            <a:r>
              <a:rPr lang="en-GB" dirty="0">
                <a:solidFill>
                  <a:srgbClr val="C00000"/>
                </a:solidFill>
              </a:rPr>
              <a:t>subtracted out</a:t>
            </a:r>
            <a:endParaRPr lang="en-GB" dirty="0">
              <a:solidFill>
                <a:srgbClr val="C00000"/>
              </a:solidFill>
            </a:endParaRPr>
          </a:p>
          <a:p>
            <a:pPr lvl="1"/>
            <a:r>
              <a:rPr lang="en-GB" dirty="0"/>
              <a:t>We end up with the true answer, plus noise which can be smaller</a:t>
            </a:r>
            <a:endParaRPr lang="en-GB" dirty="0"/>
          </a:p>
          <a:p>
            <a:pPr lvl="1"/>
            <a:r>
              <a:rPr lang="en-GB" dirty="0"/>
              <a:t>However, noise is still </a:t>
            </a:r>
            <a:r>
              <a:rPr lang="en-GB" dirty="0">
                <a:solidFill>
                  <a:srgbClr val="C00000"/>
                </a:solidFill>
              </a:rPr>
              <a:t>larger than </a:t>
            </a:r>
            <a:r>
              <a:rPr lang="en-GB" dirty="0"/>
              <a:t>in the </a:t>
            </a:r>
            <a:r>
              <a:rPr lang="en-GB" dirty="0">
                <a:solidFill>
                  <a:srgbClr val="C00000"/>
                </a:solidFill>
              </a:rPr>
              <a:t>centralized case 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85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Differential Privacy: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4"/>
            <a:ext cx="8445681" cy="4784181"/>
          </a:xfrm>
        </p:spPr>
        <p:txBody>
          <a:bodyPr>
            <a:normAutofit/>
          </a:bodyPr>
          <a:lstStyle/>
          <a:p>
            <a:r>
              <a:rPr lang="en-GB" dirty="0"/>
              <a:t>Each of </a:t>
            </a:r>
            <a:r>
              <a:rPr lang="en-GB" dirty="0">
                <a:solidFill>
                  <a:schemeClr val="accent1"/>
                </a:solidFill>
              </a:rPr>
              <a:t>N</a:t>
            </a:r>
            <a:r>
              <a:rPr lang="en-GB" dirty="0"/>
              <a:t> users has 0/1 value, estimate total population sum</a:t>
            </a:r>
            <a:endParaRPr lang="en-GB" dirty="0"/>
          </a:p>
          <a:p>
            <a:pPr lvl="1"/>
            <a:r>
              <a:rPr lang="en-GB" dirty="0"/>
              <a:t>Each user adds independent Laplace noise: mean 0, variance </a:t>
            </a:r>
            <a:r>
              <a:rPr lang="en-GB" dirty="0">
                <a:solidFill>
                  <a:schemeClr val="accent1"/>
                </a:solidFill>
              </a:rPr>
              <a:t>2/</a:t>
            </a:r>
            <a:r>
              <a:rPr lang="el-GR" dirty="0">
                <a:solidFill>
                  <a:schemeClr val="accent1"/>
                </a:solidFill>
              </a:rPr>
              <a:t>ε</a:t>
            </a:r>
            <a:r>
              <a:rPr lang="en-GB" baseline="30000" dirty="0">
                <a:solidFill>
                  <a:schemeClr val="accent1"/>
                </a:solidFill>
              </a:rPr>
              <a:t>2</a:t>
            </a:r>
            <a:endParaRPr lang="en-GB" baseline="30000" dirty="0">
              <a:solidFill>
                <a:schemeClr val="accent1"/>
              </a:solidFill>
            </a:endParaRPr>
          </a:p>
          <a:p>
            <a:endParaRPr lang="en-GB" dirty="0"/>
          </a:p>
          <a:p>
            <a:r>
              <a:rPr lang="en-GB" dirty="0"/>
              <a:t>Adding user results: true answer + sum of </a:t>
            </a:r>
            <a:r>
              <a:rPr lang="en-GB" dirty="0">
                <a:solidFill>
                  <a:schemeClr val="accent1"/>
                </a:solidFill>
              </a:rPr>
              <a:t>N</a:t>
            </a:r>
            <a:r>
              <a:rPr lang="en-GB" dirty="0"/>
              <a:t> Laplace distributions</a:t>
            </a:r>
            <a:endParaRPr lang="en-GB" dirty="0"/>
          </a:p>
          <a:p>
            <a:pPr lvl="1"/>
            <a:r>
              <a:rPr lang="en-GB" dirty="0"/>
              <a:t>Error is random variable, with mean 0, variance </a:t>
            </a:r>
            <a:r>
              <a:rPr lang="en-GB" dirty="0">
                <a:solidFill>
                  <a:schemeClr val="accent1"/>
                </a:solidFill>
              </a:rPr>
              <a:t>2N/</a:t>
            </a:r>
            <a:r>
              <a:rPr lang="el-GR" dirty="0">
                <a:solidFill>
                  <a:schemeClr val="accent1"/>
                </a:solidFill>
              </a:rPr>
              <a:t>ε</a:t>
            </a:r>
            <a:r>
              <a:rPr lang="en-GB" baseline="30000" dirty="0">
                <a:solidFill>
                  <a:schemeClr val="accent1"/>
                </a:solidFill>
              </a:rPr>
              <a:t>2</a:t>
            </a:r>
            <a:r>
              <a:rPr lang="en-GB" dirty="0">
                <a:solidFill>
                  <a:srgbClr val="002060"/>
                </a:solidFill>
              </a:rPr>
              <a:t> </a:t>
            </a:r>
            <a:endParaRPr lang="en-GB" dirty="0">
              <a:solidFill>
                <a:srgbClr val="002060"/>
              </a:solidFill>
            </a:endParaRPr>
          </a:p>
          <a:p>
            <a:pPr lvl="1"/>
            <a:r>
              <a:rPr lang="en-GB" dirty="0"/>
              <a:t>Confidence bounds: ~95% chance of being within 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2σ</a:t>
            </a:r>
            <a:r>
              <a:rPr lang="en-GB" dirty="0"/>
              <a:t> of the mean</a:t>
            </a:r>
            <a:endParaRPr lang="en-GB" dirty="0"/>
          </a:p>
          <a:p>
            <a:pPr lvl="1"/>
            <a:r>
              <a:rPr lang="en-GB" dirty="0"/>
              <a:t>So error looks like </a:t>
            </a:r>
            <a:r>
              <a:rPr lang="en-GB" dirty="0">
                <a:solidFill>
                  <a:schemeClr val="accent1"/>
                </a:solidFill>
              </a:rPr>
              <a:t>√N/</a:t>
            </a:r>
            <a:r>
              <a:rPr lang="el-GR" dirty="0">
                <a:solidFill>
                  <a:schemeClr val="accent1"/>
                </a:solidFill>
              </a:rPr>
              <a:t>ε</a:t>
            </a:r>
            <a:r>
              <a:rPr lang="en-GB" dirty="0"/>
              <a:t>, but true value may be proportional to </a:t>
            </a:r>
            <a:r>
              <a:rPr lang="en-GB" dirty="0">
                <a:solidFill>
                  <a:schemeClr val="accent1"/>
                </a:solidFill>
              </a:rPr>
              <a:t>N</a:t>
            </a:r>
            <a:endParaRPr lang="en-GB" dirty="0">
              <a:solidFill>
                <a:schemeClr val="accent1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dirty="0"/>
              <a:t>Numeric example: suppose true answer is </a:t>
            </a:r>
            <a:r>
              <a:rPr lang="en-GB" dirty="0">
                <a:solidFill>
                  <a:schemeClr val="accent1"/>
                </a:solidFill>
              </a:rPr>
              <a:t>N/2</a:t>
            </a:r>
            <a:r>
              <a:rPr lang="en-GB" dirty="0"/>
              <a:t>, </a:t>
            </a:r>
            <a:r>
              <a:rPr lang="el-GR" dirty="0">
                <a:solidFill>
                  <a:schemeClr val="accent1"/>
                </a:solidFill>
              </a:rPr>
              <a:t>ε</a:t>
            </a:r>
            <a:r>
              <a:rPr lang="en-GB" dirty="0">
                <a:solidFill>
                  <a:schemeClr val="accent1"/>
                </a:solidFill>
              </a:rPr>
              <a:t> = 1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N = 1M</a:t>
            </a:r>
            <a:endParaRPr lang="en-GB" dirty="0">
              <a:solidFill>
                <a:schemeClr val="accent1"/>
              </a:solidFill>
            </a:endParaRPr>
          </a:p>
          <a:p>
            <a:pPr lvl="1"/>
            <a:r>
              <a:rPr lang="en-GB" dirty="0"/>
              <a:t>We see </a:t>
            </a:r>
            <a:r>
              <a:rPr lang="en-GB" dirty="0">
                <a:solidFill>
                  <a:schemeClr val="accent1"/>
                </a:solidFill>
              </a:rPr>
              <a:t>500K ± 2800 </a:t>
            </a:r>
            <a:r>
              <a:rPr lang="en-GB" dirty="0"/>
              <a:t>: about 1% uncertainty</a:t>
            </a:r>
            <a:endParaRPr lang="en-GB" dirty="0"/>
          </a:p>
          <a:p>
            <a:pPr lvl="1"/>
            <a:r>
              <a:rPr lang="en-GB" dirty="0"/>
              <a:t>Error in centralized case would be close to 1 (0.001%)</a:t>
            </a:r>
            <a:endParaRPr lang="en-GB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86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Differential Privacy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402229" cy="4627426"/>
          </a:xfrm>
        </p:spPr>
        <p:txBody>
          <a:bodyPr>
            <a:normAutofit/>
          </a:bodyPr>
          <a:lstStyle/>
          <a:p>
            <a:r>
              <a:rPr lang="en-GB" dirty="0"/>
              <a:t>We can achieve LDP, and obtain reasonable accuracy (for large N)</a:t>
            </a:r>
            <a:endParaRPr lang="en-GB" dirty="0"/>
          </a:p>
          <a:p>
            <a:pPr lvl="1"/>
            <a:r>
              <a:rPr lang="en-GB" dirty="0"/>
              <a:t>The error typically scales with </a:t>
            </a:r>
            <a:r>
              <a:rPr lang="en-GB" dirty="0">
                <a:solidFill>
                  <a:srgbClr val="002060"/>
                </a:solidFill>
              </a:rPr>
              <a:t>√N</a:t>
            </a:r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dirty="0"/>
              <a:t>Generic approach: apply centralized DP algorithm to local data</a:t>
            </a:r>
            <a:endParaRPr lang="en-GB" dirty="0"/>
          </a:p>
          <a:p>
            <a:pPr lvl="1"/>
            <a:r>
              <a:rPr lang="en-GB" dirty="0"/>
              <a:t>But error might still be quite large</a:t>
            </a:r>
            <a:endParaRPr lang="en-GB" dirty="0"/>
          </a:p>
          <a:p>
            <a:pPr lvl="1"/>
            <a:r>
              <a:rPr lang="en-GB" dirty="0"/>
              <a:t>Unclear how to merge private outputs (e.g. private clustering)</a:t>
            </a:r>
            <a:endParaRPr lang="en-GB" dirty="0"/>
          </a:p>
          <a:p>
            <a:endParaRPr lang="en-GB" dirty="0"/>
          </a:p>
          <a:p>
            <a:r>
              <a:rPr lang="en-GB" dirty="0"/>
              <a:t>So we seek to design </a:t>
            </a:r>
            <a:r>
              <a:rPr lang="en-GB" dirty="0">
                <a:solidFill>
                  <a:srgbClr val="C00000"/>
                </a:solidFill>
              </a:rPr>
              <a:t>new LDP algorithms </a:t>
            </a:r>
            <a:endParaRPr lang="en-GB" dirty="0">
              <a:solidFill>
                <a:srgbClr val="C00000"/>
              </a:solidFill>
            </a:endParaRPr>
          </a:p>
          <a:p>
            <a:pPr lvl="1"/>
            <a:r>
              <a:rPr lang="en-GB" dirty="0"/>
              <a:t>Maximize the accuracy of the results</a:t>
            </a:r>
            <a:endParaRPr lang="en-GB" dirty="0"/>
          </a:p>
          <a:p>
            <a:pPr lvl="1"/>
            <a:r>
              <a:rPr lang="en-GB" dirty="0"/>
              <a:t>Minimize the costs to the users (space, time, communication)</a:t>
            </a:r>
            <a:endParaRPr lang="en-GB" dirty="0"/>
          </a:p>
          <a:p>
            <a:pPr lvl="1"/>
            <a:r>
              <a:rPr lang="en-GB" dirty="0"/>
              <a:t>Ensure that there is an accurate algorithm for aggregation</a:t>
            </a:r>
            <a:endParaRPr lang="en-GB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87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i2.wp.com/www.donnaonthebeach.com/blog/wp-content/uploads/2010/04/iStock_cointoss.jpg?resize=283%2C42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36789" y="1425023"/>
            <a:ext cx="1600200" cy="239745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/>
          <a:lstStyle/>
          <a:p>
            <a:r>
              <a:rPr lang="en-GB" dirty="0"/>
              <a:t>Privacy with a coin toss: Randomized Response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97636" cy="4351338"/>
          </a:xfrm>
        </p:spPr>
        <p:txBody>
          <a:bodyPr>
            <a:normAutofit/>
          </a:bodyPr>
          <a:lstStyle/>
          <a:p>
            <a:r>
              <a:rPr lang="en-US" dirty="0"/>
              <a:t>Each user has a </a:t>
            </a:r>
            <a:r>
              <a:rPr lang="en-US" dirty="0">
                <a:solidFill>
                  <a:srgbClr val="C00000"/>
                </a:solidFill>
              </a:rPr>
              <a:t>single bit </a:t>
            </a:r>
            <a:r>
              <a:rPr lang="en-US" dirty="0"/>
              <a:t>of private information</a:t>
            </a:r>
            <a:endParaRPr lang="en-US" dirty="0"/>
          </a:p>
          <a:p>
            <a:pPr lvl="1"/>
            <a:r>
              <a:rPr lang="en-GB" dirty="0"/>
              <a:t>Encoding e.g. political/sexual/religious preference, illness, etc.</a:t>
            </a:r>
            <a:endParaRPr lang="en-GB" dirty="0"/>
          </a:p>
          <a:p>
            <a:endParaRPr lang="en-GB" dirty="0"/>
          </a:p>
          <a:p>
            <a:r>
              <a:rPr lang="en-GB" dirty="0"/>
              <a:t>Randomize Response (RR): toss an unbiased coin </a:t>
            </a:r>
            <a:r>
              <a:rPr lang="en-GB" b="1" dirty="0">
                <a:solidFill>
                  <a:srgbClr val="0000FF"/>
                </a:solidFill>
              </a:rPr>
              <a:t>[Warner 65]</a:t>
            </a:r>
            <a:endParaRPr lang="en-GB" b="1" dirty="0">
              <a:solidFill>
                <a:srgbClr val="0000FF"/>
              </a:solidFill>
            </a:endParaRPr>
          </a:p>
          <a:p>
            <a:pPr lvl="1"/>
            <a:r>
              <a:rPr lang="en-GB" dirty="0"/>
              <a:t>If </a:t>
            </a:r>
            <a:r>
              <a:rPr lang="en-GB" dirty="0">
                <a:solidFill>
                  <a:srgbClr val="C00000"/>
                </a:solidFill>
              </a:rPr>
              <a:t>Heads</a:t>
            </a:r>
            <a:r>
              <a:rPr lang="en-GB" dirty="0"/>
              <a:t> (probability </a:t>
            </a:r>
            <a:r>
              <a:rPr lang="en-GB" dirty="0">
                <a:solidFill>
                  <a:srgbClr val="002060"/>
                </a:solidFill>
              </a:rPr>
              <a:t>p = ½)</a:t>
            </a:r>
            <a:r>
              <a:rPr lang="en-GB" dirty="0"/>
              <a:t>, report the </a:t>
            </a:r>
            <a:r>
              <a:rPr lang="en-GB" dirty="0">
                <a:solidFill>
                  <a:srgbClr val="C00000"/>
                </a:solidFill>
              </a:rPr>
              <a:t>true answer</a:t>
            </a:r>
            <a:endParaRPr lang="en-GB" dirty="0">
              <a:solidFill>
                <a:srgbClr val="C00000"/>
              </a:solidFill>
            </a:endParaRPr>
          </a:p>
          <a:p>
            <a:pPr lvl="1"/>
            <a:r>
              <a:rPr lang="en-GB" dirty="0"/>
              <a:t>Else, toss unbiased coin again: if </a:t>
            </a:r>
            <a:r>
              <a:rPr lang="en-GB" dirty="0">
                <a:solidFill>
                  <a:srgbClr val="C00000"/>
                </a:solidFill>
              </a:rPr>
              <a:t>Heads</a:t>
            </a:r>
            <a:r>
              <a:rPr lang="en-GB" dirty="0"/>
              <a:t>, report </a:t>
            </a:r>
            <a:r>
              <a:rPr lang="en-GB" dirty="0">
                <a:solidFill>
                  <a:srgbClr val="C00000"/>
                </a:solidFill>
              </a:rPr>
              <a:t>true answer</a:t>
            </a:r>
            <a:r>
              <a:rPr lang="en-GB" dirty="0"/>
              <a:t>, else lie</a:t>
            </a:r>
            <a:endParaRPr lang="en-GB" dirty="0"/>
          </a:p>
          <a:p>
            <a:endParaRPr lang="en-GB" dirty="0"/>
          </a:p>
          <a:p>
            <a:r>
              <a:rPr lang="en-GB" dirty="0"/>
              <a:t>Collect responses from </a:t>
            </a:r>
            <a:r>
              <a:rPr lang="en-GB" dirty="0">
                <a:solidFill>
                  <a:srgbClr val="002060"/>
                </a:solidFill>
              </a:rPr>
              <a:t>N</a:t>
            </a:r>
            <a:r>
              <a:rPr lang="en-GB" dirty="0"/>
              <a:t> users, subtract noise</a:t>
            </a:r>
            <a:endParaRPr lang="en-GB" dirty="0"/>
          </a:p>
          <a:p>
            <a:pPr lvl="1"/>
            <a:r>
              <a:rPr lang="en-GB" dirty="0"/>
              <a:t>Error in the estimate is proportional to </a:t>
            </a:r>
            <a:r>
              <a:rPr lang="en-GB" dirty="0">
                <a:solidFill>
                  <a:srgbClr val="002060"/>
                </a:solidFill>
              </a:rPr>
              <a:t>1/√N</a:t>
            </a:r>
            <a:endParaRPr lang="en-GB" dirty="0">
              <a:solidFill>
                <a:srgbClr val="002060"/>
              </a:solidFill>
            </a:endParaRPr>
          </a:p>
          <a:p>
            <a:pPr lvl="1"/>
            <a:r>
              <a:rPr lang="en-GB" dirty="0"/>
              <a:t>Simple LDP algorithm with parameter </a:t>
            </a:r>
            <a:r>
              <a:rPr lang="el-GR" dirty="0">
                <a:solidFill>
                  <a:srgbClr val="002060"/>
                </a:solidFill>
              </a:rPr>
              <a:t>ε</a:t>
            </a:r>
            <a:r>
              <a:rPr lang="en-GB" dirty="0">
                <a:solidFill>
                  <a:srgbClr val="002060"/>
                </a:solidFill>
              </a:rPr>
              <a:t>=ln((¾)/(¼)) = ln(3)</a:t>
            </a:r>
            <a:endParaRPr lang="en-GB" dirty="0">
              <a:solidFill>
                <a:srgbClr val="002060"/>
              </a:solidFill>
            </a:endParaRPr>
          </a:p>
          <a:p>
            <a:pPr lvl="1"/>
            <a:r>
              <a:rPr lang="en-GB" dirty="0"/>
              <a:t>Generalization: allow biased coins </a:t>
            </a:r>
            <a:r>
              <a:rPr lang="en-GB" dirty="0">
                <a:solidFill>
                  <a:srgbClr val="002060"/>
                </a:solidFill>
              </a:rPr>
              <a:t>(p ≠ ½</a:t>
            </a:r>
            <a:r>
              <a:rPr lang="en-GB" dirty="0"/>
              <a:t>)</a:t>
            </a:r>
            <a:endParaRPr lang="en-GB" dirty="0">
              <a:solidFill>
                <a:srgbClr val="002060"/>
              </a:solidFill>
            </a:endParaRPr>
          </a:p>
          <a:p>
            <a:pPr lvl="1"/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88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mage result for Google Log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133" y="130052"/>
            <a:ext cx="3786187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/>
          <a:lstStyle/>
          <a:p>
            <a:r>
              <a:rPr lang="en-GB" dirty="0"/>
              <a:t>Privacy in practice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97636" cy="4708990"/>
          </a:xfrm>
        </p:spPr>
        <p:txBody>
          <a:bodyPr>
            <a:normAutofit/>
          </a:bodyPr>
          <a:lstStyle/>
          <a:p>
            <a:r>
              <a:rPr lang="en-US" dirty="0"/>
              <a:t>Differential privacy based on coin tossing is widely deployed!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Google Chrome browser</a:t>
            </a:r>
            <a:r>
              <a:rPr lang="en-US" dirty="0"/>
              <a:t>, to collect browsing statistics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Apple iOS </a:t>
            </a:r>
            <a:r>
              <a:rPr lang="en-US" dirty="0"/>
              <a:t>and </a:t>
            </a:r>
            <a:r>
              <a:rPr lang="en-US" dirty="0" err="1">
                <a:solidFill>
                  <a:srgbClr val="C00000"/>
                </a:solidFill>
              </a:rPr>
              <a:t>MacOS</a:t>
            </a:r>
            <a:r>
              <a:rPr lang="en-US" dirty="0"/>
              <a:t>, to collect typing statistics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Microsoft Windows </a:t>
            </a:r>
            <a:r>
              <a:rPr lang="en-US" dirty="0"/>
              <a:t>to collect telemetry data over time</a:t>
            </a:r>
            <a:endParaRPr lang="en-US" dirty="0"/>
          </a:p>
          <a:p>
            <a:pPr lvl="1"/>
            <a:r>
              <a:rPr lang="en-US" dirty="0"/>
              <a:t>From </a:t>
            </a:r>
            <a:r>
              <a:rPr lang="en-US" dirty="0">
                <a:solidFill>
                  <a:srgbClr val="C00000"/>
                </a:solidFill>
              </a:rPr>
              <a:t>Snap</a:t>
            </a:r>
            <a:r>
              <a:rPr lang="en-US" dirty="0"/>
              <a:t> to perform modeling of user preference</a:t>
            </a:r>
            <a:endParaRPr lang="en-US" dirty="0"/>
          </a:p>
          <a:p>
            <a:pPr lvl="1"/>
            <a:r>
              <a:rPr lang="en-US" dirty="0"/>
              <a:t>This yields deployments of over 100 million users each</a:t>
            </a:r>
            <a:endParaRPr lang="en-US" dirty="0"/>
          </a:p>
          <a:p>
            <a:endParaRPr lang="en-US" dirty="0"/>
          </a:p>
          <a:p>
            <a:r>
              <a:rPr lang="en-US" dirty="0"/>
              <a:t>All deployments are based on RR, but extend it substantially</a:t>
            </a:r>
            <a:endParaRPr lang="en-US" dirty="0"/>
          </a:p>
          <a:p>
            <a:pPr lvl="1"/>
            <a:r>
              <a:rPr lang="en-US" dirty="0"/>
              <a:t>To handle the large space of possible values a user might have</a:t>
            </a:r>
            <a:endParaRPr lang="en-US" dirty="0"/>
          </a:p>
          <a:p>
            <a:endParaRPr lang="en-US" dirty="0"/>
          </a:p>
          <a:p>
            <a:r>
              <a:rPr lang="en-US" dirty="0"/>
              <a:t>Local Differential Privacy is state of the art today</a:t>
            </a:r>
            <a:endParaRPr lang="en-US" dirty="0"/>
          </a:p>
          <a:p>
            <a:pPr lvl="1"/>
            <a:r>
              <a:rPr lang="en-US" dirty="0"/>
              <a:t>Randomized response invented in 1965: over five decades ago!</a:t>
            </a:r>
            <a:endParaRPr lang="en-US" dirty="0"/>
          </a:p>
        </p:txBody>
      </p:sp>
      <p:pic>
        <p:nvPicPr>
          <p:cNvPr id="9" name="Picture 2" descr="Image result for apple logo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27" y="523486"/>
            <a:ext cx="940149" cy="115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mage result for windows logo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876" y="620045"/>
            <a:ext cx="1373051" cy="102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89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935181" y="3525445"/>
                <a:ext cx="7024255" cy="106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100" dirty="0"/>
                  <a:t>A randomized algorithm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sz="2100" dirty="0"/>
                  <a:t> satisfies </a:t>
                </a:r>
                <a14:m>
                  <m:oMath xmlns:m="http://schemas.openxmlformats.org/officeDocument/2006/math">
                    <m:r>
                      <a:rPr lang="en-US" sz="2100" b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𝛆</m:t>
                    </m:r>
                  </m:oMath>
                </a14:m>
                <a:r>
                  <a:rPr lang="en-US" sz="2100" dirty="0">
                    <a:solidFill>
                      <a:srgbClr val="C00000"/>
                    </a:solidFill>
                  </a:rPr>
                  <a:t>-local differential privacy</a:t>
                </a:r>
                <a:r>
                  <a:rPr lang="en-US" sz="2100" dirty="0"/>
                  <a:t>, </a:t>
                </a:r>
                <a:r>
                  <a:rPr lang="en-US" sz="2100" dirty="0" err="1"/>
                  <a:t>iff</a:t>
                </a:r>
                <a:r>
                  <a:rPr lang="en-US" sz="2100" dirty="0"/>
                  <a:t> for </a:t>
                </a:r>
                <a:r>
                  <a:rPr lang="en-US" sz="2100" dirty="0">
                    <a:solidFill>
                      <a:schemeClr val="accent2"/>
                    </a:solidFill>
                  </a:rPr>
                  <a:t>any </a:t>
                </a:r>
                <a:r>
                  <a:rPr lang="en-US" sz="2100" dirty="0"/>
                  <a:t>two inputs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100" dirty="0"/>
                  <a:t> and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sz="2100" dirty="0"/>
                  <a:t> and for any output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sz="2100" dirty="0"/>
                  <a:t>of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sz="2100" dirty="0"/>
                  <a:t>, </a:t>
                </a:r>
                <a:br>
                  <a:rPr lang="en-US" sz="21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2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sz="2100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sz="21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  <m:r>
                        <a:rPr lang="en-US" sz="2100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100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sz="2100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sz="2100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sz="2100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2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1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sz="2100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sz="21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81" y="3525445"/>
                <a:ext cx="7024255" cy="1061829"/>
              </a:xfrm>
              <a:prstGeom prst="rect">
                <a:avLst/>
              </a:prstGeom>
              <a:blipFill rotWithShape="1">
                <a:blip r:embed="rId1"/>
                <a:stretch>
                  <a:fillRect l="-7" t="-53" r="5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/>
          <p:cNvSpPr/>
          <p:nvPr/>
        </p:nvSpPr>
        <p:spPr>
          <a:xfrm>
            <a:off x="1882259" y="2405602"/>
            <a:ext cx="3426588" cy="32776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935182" y="2048669"/>
                <a:ext cx="7024255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100" dirty="0"/>
                  <a:t>A randomized algorithm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sz="2100" dirty="0"/>
                  <a:t> satisfies </a:t>
                </a:r>
                <a14:m>
                  <m:oMath xmlns:m="http://schemas.openxmlformats.org/officeDocument/2006/math">
                    <m:r>
                      <a:rPr lang="en-US" sz="2100" b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𝛆</m:t>
                    </m:r>
                  </m:oMath>
                </a14:m>
                <a:r>
                  <a:rPr lang="en-US" sz="2100" dirty="0">
                    <a:solidFill>
                      <a:srgbClr val="C00000"/>
                    </a:solidFill>
                  </a:rPr>
                  <a:t>-differential privacy</a:t>
                </a:r>
                <a:r>
                  <a:rPr lang="en-US" sz="2100" dirty="0"/>
                  <a:t>, </a:t>
                </a:r>
                <a:r>
                  <a:rPr lang="en-US" sz="2100" dirty="0" err="1"/>
                  <a:t>iff</a:t>
                </a:r>
                <a:r>
                  <a:rPr lang="en-US" sz="2100" dirty="0"/>
                  <a:t> for any two </a:t>
                </a:r>
                <a:r>
                  <a:rPr lang="en-US" sz="2100" dirty="0">
                    <a:solidFill>
                      <a:schemeClr val="accent2"/>
                    </a:solidFill>
                  </a:rPr>
                  <a:t>neighboring</a:t>
                </a:r>
                <a:r>
                  <a:rPr lang="en-US" sz="2100" dirty="0"/>
                  <a:t> datasets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</m:oMath>
                </a14:m>
                <a:r>
                  <a:rPr lang="en-US" sz="2100" dirty="0"/>
                  <a:t> and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𝑫</m:t>
                    </m:r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′</m:t>
                    </m:r>
                  </m:oMath>
                </a14:m>
                <a:r>
                  <a:rPr lang="en-US" sz="2100" dirty="0"/>
                  <a:t> and for any output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𝑶</m:t>
                    </m:r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sz="2100" dirty="0"/>
                  <a:t>of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en-US" sz="2100" dirty="0"/>
                  <a:t>, </a:t>
                </a:r>
                <a:br>
                  <a:rPr lang="en-US" sz="21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2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sz="2100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sz="21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  <m:r>
                        <a:rPr lang="en-US" sz="2100" i="1" dirty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100" dirty="0">
                          <a:latin typeface="Cambria Math" panose="02040503050406030204"/>
                          <a:ea typeface="Cambria Math" panose="02040503050406030204"/>
                        </a:rPr>
                        <m:t>exp</m:t>
                      </m:r>
                      <m:r>
                        <a:rPr lang="en-US" sz="2100" i="1" dirty="0">
                          <a:latin typeface="Cambria Math" panose="02040503050406030204"/>
                          <a:ea typeface="Cambria Math" panose="02040503050406030204"/>
                        </a:rPr>
                        <m:t>⁡(</m:t>
                      </m:r>
                      <m:r>
                        <a:rPr lang="en-US" sz="2100" b="1" i="1" dirty="0">
                          <a:solidFill>
                            <a:srgbClr val="0000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𝜺</m:t>
                      </m:r>
                      <m:r>
                        <a:rPr lang="en-US" sz="2100" i="1" dirty="0">
                          <a:latin typeface="Cambria Math" panose="02040503050406030204"/>
                          <a:ea typeface="Cambria Math" panose="02040503050406030204"/>
                        </a:rPr>
                        <m:t>)∙</m:t>
                      </m:r>
                      <m:func>
                        <m:func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 dirty="0">
                              <a:latin typeface="Cambria Math" panose="02040503050406030204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2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𝑫</m:t>
                                  </m:r>
                                  <m:r>
                                    <a:rPr lang="en-US" sz="21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sz="2100" i="1" dirty="0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sz="21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82" y="2048669"/>
                <a:ext cx="7024255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7" t="-11" r="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/>
          <p:cNvSpPr/>
          <p:nvPr/>
        </p:nvSpPr>
        <p:spPr>
          <a:xfrm>
            <a:off x="1609746" y="3906905"/>
            <a:ext cx="2588125" cy="298908"/>
          </a:xfrm>
          <a:prstGeom prst="round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11124"/>
            <a:ext cx="7886700" cy="1325563"/>
          </a:xfrm>
        </p:spPr>
        <p:txBody>
          <a:bodyPr/>
          <a:lstStyle/>
          <a:p>
            <a:r>
              <a:rPr lang="en-US" dirty="0"/>
              <a:t>From DP to LDP: Formal Definition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idx="1"/>
          </p:nvPr>
        </p:nvSpPr>
        <p:spPr>
          <a:xfrm>
            <a:off x="926627" y="1302226"/>
            <a:ext cx="7282191" cy="804015"/>
          </a:xfrm>
          <a:solidFill>
            <a:schemeClr val="accent3">
              <a:lumMod val="75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Idea of DP: Any output should be about as likely regardless of whether or not I am in the dataset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Line 49"/>
          <p:cNvSpPr>
            <a:spLocks noChangeShapeType="1"/>
          </p:cNvSpPr>
          <p:nvPr/>
        </p:nvSpPr>
        <p:spPr bwMode="auto">
          <a:xfrm flipV="1">
            <a:off x="2618101" y="3299367"/>
            <a:ext cx="0" cy="1361912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1449416" y="4707801"/>
            <a:ext cx="23823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Run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by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the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server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Line 49"/>
          <p:cNvSpPr>
            <a:spLocks noChangeShapeType="1"/>
          </p:cNvSpPr>
          <p:nvPr/>
        </p:nvSpPr>
        <p:spPr bwMode="auto">
          <a:xfrm flipH="1" flipV="1">
            <a:off x="5425651" y="4578564"/>
            <a:ext cx="9713" cy="424368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4197871" y="5038762"/>
            <a:ext cx="3427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Run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by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each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single person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413282" y="4677012"/>
                <a:ext cx="4308879" cy="7386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100" dirty="0"/>
                  <a:t>is also called privacy budget</a:t>
                </a:r>
                <a:endParaRPr lang="en-US" altLang="zh-CN" sz="2100" dirty="0"/>
              </a:p>
              <a:p>
                <a:pPr algn="ctr"/>
                <a:r>
                  <a:rPr lang="en-US" altLang="zh-CN" sz="2100" dirty="0"/>
                  <a:t>Smaller</a:t>
                </a:r>
                <a:r>
                  <a:rPr lang="zh-CN" alt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100" dirty="0">
                    <a:sym typeface="Wingdings" panose="05000000000000000000"/>
                  </a:rPr>
                  <a:t> </a:t>
                </a:r>
                <a:r>
                  <a:rPr lang="en-US" altLang="zh-CN" sz="2100" dirty="0">
                    <a:sym typeface="Wingdings" panose="05000000000000000000"/>
                  </a:rPr>
                  <a:t>stronger</a:t>
                </a:r>
                <a:r>
                  <a:rPr lang="zh-CN" altLang="en-US" sz="2100" dirty="0">
                    <a:sym typeface="Wingdings" panose="05000000000000000000"/>
                  </a:rPr>
                  <a:t> </a:t>
                </a:r>
                <a:r>
                  <a:rPr lang="en-US" altLang="zh-CN" sz="2100" dirty="0">
                    <a:sym typeface="Wingdings" panose="05000000000000000000"/>
                  </a:rPr>
                  <a:t>privacy</a:t>
                </a:r>
                <a:endParaRPr lang="en-US" sz="21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282" y="4677012"/>
                <a:ext cx="4308879" cy="738664"/>
              </a:xfrm>
              <a:prstGeom prst="rect">
                <a:avLst/>
              </a:prstGeom>
              <a:blipFill rotWithShape="1">
                <a:blip r:embed="rId3"/>
                <a:stretch>
                  <a:fillRect l="-1127" t="-3987" r="-1104" b="-9059"/>
                </a:stretch>
              </a:blipFill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1"/>
          <p:cNvSpPr txBox="1"/>
          <p:nvPr/>
        </p:nvSpPr>
        <p:spPr>
          <a:xfrm>
            <a:off x="1609746" y="5511059"/>
            <a:ext cx="5915949" cy="80401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Idea of LDP: Any output should be about as likely regardless of my secret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90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 build="p"/>
      <p:bldP spid="7" grpId="0" animBg="1"/>
      <p:bldP spid="8" grpId="0"/>
      <p:bldP spid="9" grpId="0" animBg="1"/>
      <p:bldP spid="10" grpId="0"/>
      <p:bldP spid="11" grpId="0" animBg="1"/>
      <p:bldP spid="1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difference between DP and LDP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DP concerns two neighboring datasets</a:t>
                </a:r>
                <a:endParaRPr lang="en-US" dirty="0"/>
              </a:p>
              <a:p>
                <a:r>
                  <a:rPr lang="en-US" dirty="0"/>
                  <a:t>LDP concerns any two values</a:t>
                </a:r>
                <a:endParaRPr lang="en-US" dirty="0"/>
              </a:p>
              <a:p>
                <a:r>
                  <a:rPr lang="en-US" dirty="0"/>
                  <a:t>As a result, the amount of noise is different: In aggregated result for </a:t>
                </a:r>
                <a:r>
                  <a:rPr lang="en-US" dirty="0">
                    <a:solidFill>
                      <a:schemeClr val="accent2"/>
                    </a:solidFill>
                  </a:rPr>
                  <a:t>counting queries</a:t>
                </a:r>
                <a:endParaRPr lang="en-US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en-US" dirty="0"/>
                  <a:t>Noise in DP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solidFill>
                          <a:schemeClr val="accent5"/>
                        </a:solidFill>
                        <a:latin typeface="Cambria Math" panose="02040503050406030204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solidFill>
                              <a:schemeClr val="accent5"/>
                            </a:solidFill>
                            <a:latin typeface="Cambria Math" panose="02040503050406030204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(sensitivity is constant)</a:t>
                </a:r>
                <a:endParaRPr lang="en-US" dirty="0"/>
              </a:p>
              <a:p>
                <a:pPr lvl="1"/>
                <a:r>
                  <a:rPr lang="en-US" dirty="0"/>
                  <a:t>But in LDP, even if noise for each user is constant, the aggregated result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CC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en-US" b="0" dirty="0">
                    <a:solidFill>
                      <a:srgbClr val="CC0000"/>
                    </a:solidFill>
                  </a:rPr>
                  <a:t> </a:t>
                </a:r>
                <a:endParaRPr lang="en-US" b="0" dirty="0"/>
              </a:p>
              <a:p>
                <a:pPr lvl="1"/>
                <a:r>
                  <a:rPr lang="en-US" dirty="0"/>
                  <a:t>If the result is normalized (divide the result with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), noise is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/>
                  <a:t>versus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solidFill>
                          <a:srgbClr val="CC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6546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2" imgW="2743200" imgH="4267200" progId="Equation.DSMT4">
                  <p:embed/>
                </p:oleObj>
              </mc:Choice>
              <mc:Fallback>
                <p:oleObj name="Equation" r:id="rId2" imgW="2743200" imgH="42672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6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546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Equation" r:id="rId4" imgW="2743200" imgH="4267200" progId="Equation.DSMT4">
                  <p:embed/>
                </p:oleObj>
              </mc:Choice>
              <mc:Fallback>
                <p:oleObj name="Equation" r:id="rId4" imgW="2743200" imgH="42672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6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 dirty="0">
                <a:latin typeface="Calibri" panose="020F0502020204030204" pitchFamily="34" charset="0"/>
              </a:rPr>
              <a:t>91</a:t>
            </a:r>
            <a:endParaRPr lang="en-US" altLang="zh-CN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41630</Words>
  <Application>WPS 演示</Application>
  <PresentationFormat>全屏显示(4:3)</PresentationFormat>
  <Paragraphs>3635</Paragraphs>
  <Slides>91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108" baseType="lpstr">
      <vt:lpstr>Arial</vt:lpstr>
      <vt:lpstr>宋体</vt:lpstr>
      <vt:lpstr>Wingdings</vt:lpstr>
      <vt:lpstr>Symbol</vt:lpstr>
      <vt:lpstr>Calibri</vt:lpstr>
      <vt:lpstr>Arial Narrow</vt:lpstr>
      <vt:lpstr>Calibri Light</vt:lpstr>
      <vt:lpstr>微软雅黑</vt:lpstr>
      <vt:lpstr>Arial Unicode MS</vt:lpstr>
      <vt:lpstr>等线</vt:lpstr>
      <vt:lpstr>Cambria Math</vt:lpstr>
      <vt:lpstr>Cambria Math</vt:lpstr>
      <vt:lpstr>Symbol</vt:lpstr>
      <vt:lpstr>Wingdings</vt:lpstr>
      <vt:lpstr>Office Theme</vt:lpstr>
      <vt:lpstr>Equation.DSMT4</vt:lpstr>
      <vt:lpstr>Equation.DSMT4</vt:lpstr>
      <vt:lpstr>Big Data Privacy Preservation </vt:lpstr>
      <vt:lpstr>Outline</vt:lpstr>
      <vt:lpstr>Why Anonymize?</vt:lpstr>
      <vt:lpstr>Why Privacy?</vt:lpstr>
      <vt:lpstr>Case Study: US Census</vt:lpstr>
      <vt:lpstr>Case Study: Netflix Prize</vt:lpstr>
      <vt:lpstr>Case Study: AOL Search Data</vt:lpstr>
      <vt:lpstr>Three Abstract Examples</vt:lpstr>
      <vt:lpstr>Models of Anonymization</vt:lpstr>
      <vt:lpstr>Objectives for Anonymization</vt:lpstr>
      <vt:lpstr>Utility</vt:lpstr>
      <vt:lpstr>Measures of Utility</vt:lpstr>
      <vt:lpstr>Definitions of Technical Terms</vt:lpstr>
      <vt:lpstr>Summary of Anonymization Motivation</vt:lpstr>
      <vt:lpstr>Anonymization as Uncertainty</vt:lpstr>
      <vt:lpstr>Possible Worlds</vt:lpstr>
      <vt:lpstr>Outline</vt:lpstr>
      <vt:lpstr>Tabular Data Example</vt:lpstr>
      <vt:lpstr>Tabular Data Example: De-Identification</vt:lpstr>
      <vt:lpstr>Tabular Data Example: Linking Attack</vt:lpstr>
      <vt:lpstr>Tabular Data Example: Linking Attack</vt:lpstr>
      <vt:lpstr>Tabular Data Example: Linking Attack</vt:lpstr>
      <vt:lpstr>Tabular Data Example: Anonymization</vt:lpstr>
      <vt:lpstr>Tabular Data Example: Anonymization</vt:lpstr>
      <vt:lpstr>Tabular Data Example: Anonymization</vt:lpstr>
      <vt:lpstr>Tabular Data Example: Anonymization</vt:lpstr>
      <vt:lpstr>k-Anonymization [Samarati, Sweeney 98]</vt:lpstr>
      <vt:lpstr>k-Anonymization and Uncertainty</vt:lpstr>
      <vt:lpstr>k-Anonymization and Uncertainty</vt:lpstr>
      <vt:lpstr>k-Anonymization and Uncertainty</vt:lpstr>
      <vt:lpstr>Computing k-Anonymizations</vt:lpstr>
      <vt:lpstr>Computing k-Anonymizations</vt:lpstr>
      <vt:lpstr>Computing k-Anonymizations</vt:lpstr>
      <vt:lpstr>Incognito [LeFevre+ 05]</vt:lpstr>
      <vt:lpstr>Incognito [LeFevre+ 05]</vt:lpstr>
      <vt:lpstr>Incognito [LeFevre+ 05]</vt:lpstr>
      <vt:lpstr>Incognito [LeFevre+ 05]</vt:lpstr>
      <vt:lpstr>Incognito [LeFevre+ 05]</vt:lpstr>
      <vt:lpstr>Incognito [LeFevre+ 05]</vt:lpstr>
      <vt:lpstr>Mondrian [LeFevre+ 06]</vt:lpstr>
      <vt:lpstr>Mondrian [LeFevre+ 06]</vt:lpstr>
      <vt:lpstr>Mondrian [LeFevre+ 06]</vt:lpstr>
      <vt:lpstr>Homogeneity Attack [Machanavajjhala+ 06]</vt:lpstr>
      <vt:lpstr>Homogeneity Attack [Machanavajjhala+ 06]</vt:lpstr>
      <vt:lpstr>Homogeneity and Uncertainty</vt:lpstr>
      <vt:lpstr>l-Diversity [Machanavajjhala+ 06]</vt:lpstr>
      <vt:lpstr>l-Diversity [Machanavajjhala+ 06]</vt:lpstr>
      <vt:lpstr>Computing l-Diversity [Machanavajjhala+ 06]</vt:lpstr>
      <vt:lpstr>t-Closeness [Li+ 07]</vt:lpstr>
      <vt:lpstr>Outline</vt:lpstr>
      <vt:lpstr>Formulation of Privacy</vt:lpstr>
      <vt:lpstr>-Differential Privacy</vt:lpstr>
      <vt:lpstr>-Differential Privacy</vt:lpstr>
      <vt:lpstr>Achieving -Differential Privacy</vt:lpstr>
      <vt:lpstr>Achieving -Differential Privacy</vt:lpstr>
      <vt:lpstr>Achieving -Differential Privacy</vt:lpstr>
      <vt:lpstr>Achieving -Differential Privacy</vt:lpstr>
      <vt:lpstr>Laplace Distribution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Differential Privacy via Laplace Noise</vt:lpstr>
      <vt:lpstr>Sensitivity of Queries</vt:lpstr>
      <vt:lpstr>Geometric Mechanism</vt:lpstr>
      <vt:lpstr>Exponential Mechanism</vt:lpstr>
      <vt:lpstr>Exponential Mechanism (cont.)</vt:lpstr>
      <vt:lpstr>Exponential Mechanism (cont.)</vt:lpstr>
      <vt:lpstr>Composition of Differential Privacy</vt:lpstr>
      <vt:lpstr>Variants of Differential Privacy</vt:lpstr>
      <vt:lpstr>Variants of Differential Privacy</vt:lpstr>
      <vt:lpstr>Variants of Differential Privacy</vt:lpstr>
      <vt:lpstr>Variants of Differential Privacy</vt:lpstr>
      <vt:lpstr>Limitations of Differential Privacy</vt:lpstr>
      <vt:lpstr>Outline</vt:lpstr>
      <vt:lpstr>Differential Privacy: A Brief Recap</vt:lpstr>
      <vt:lpstr>Achieving ε-DP in the Centralized Model</vt:lpstr>
      <vt:lpstr>Trying to Reduce Trust</vt:lpstr>
      <vt:lpstr>Local Differential Privacy</vt:lpstr>
      <vt:lpstr>Local Differential Privacy: Example</vt:lpstr>
      <vt:lpstr>Local Differential Privacy</vt:lpstr>
      <vt:lpstr>Privacy with a coin toss: Randomized Response</vt:lpstr>
      <vt:lpstr>Privacy in practice</vt:lpstr>
      <vt:lpstr>From DP to LDP: Formal Definition</vt:lpstr>
      <vt:lpstr>Key difference between DP and LDP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 at Scale: Local Differential Privacy in Practice</dc:title>
  <dc:creator>Tianhao Wang</dc:creator>
  <cp:lastModifiedBy>李荣华</cp:lastModifiedBy>
  <cp:revision>161</cp:revision>
  <dcterms:created xsi:type="dcterms:W3CDTF">2018-05-29T20:49:00Z</dcterms:created>
  <dcterms:modified xsi:type="dcterms:W3CDTF">2025-11-22T13:05:51Z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C8CD3A80BA974687A1545862A605687B_12</vt:lpwstr>
  </property>
  <property fmtid="{D5CDD505-2E9C-101B-9397-08002B2CF9AE}" pid="3" name="KSOProductBuildVer">
    <vt:lpwstr>2052-12.1.0.23542</vt:lpwstr>
  </property>
</Properties>
</file>